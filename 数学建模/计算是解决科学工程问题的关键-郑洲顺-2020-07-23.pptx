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handoutMasterIdLst>
    <p:handoutMasterId r:id="rId40"/>
  </p:handoutMasterIdLst>
  <p:sldIdLst>
    <p:sldId id="270" r:id="rId2"/>
    <p:sldId id="259" r:id="rId3"/>
    <p:sldId id="280" r:id="rId4"/>
    <p:sldId id="281" r:id="rId5"/>
    <p:sldId id="268" r:id="rId6"/>
    <p:sldId id="279" r:id="rId7"/>
    <p:sldId id="282" r:id="rId8"/>
    <p:sldId id="283" r:id="rId9"/>
    <p:sldId id="284" r:id="rId10"/>
    <p:sldId id="285" r:id="rId11"/>
    <p:sldId id="286" r:id="rId12"/>
    <p:sldId id="287" r:id="rId13"/>
    <p:sldId id="269" r:id="rId14"/>
    <p:sldId id="271" r:id="rId15"/>
    <p:sldId id="288" r:id="rId16"/>
    <p:sldId id="289" r:id="rId17"/>
    <p:sldId id="290" r:id="rId18"/>
    <p:sldId id="291" r:id="rId19"/>
    <p:sldId id="292" r:id="rId20"/>
    <p:sldId id="293" r:id="rId21"/>
    <p:sldId id="294" r:id="rId22"/>
    <p:sldId id="295" r:id="rId23"/>
    <p:sldId id="296" r:id="rId24"/>
    <p:sldId id="297" r:id="rId25"/>
    <p:sldId id="298" r:id="rId26"/>
    <p:sldId id="299" r:id="rId27"/>
    <p:sldId id="300" r:id="rId28"/>
    <p:sldId id="301" r:id="rId29"/>
    <p:sldId id="302" r:id="rId30"/>
    <p:sldId id="303" r:id="rId31"/>
    <p:sldId id="304" r:id="rId32"/>
    <p:sldId id="305" r:id="rId33"/>
    <p:sldId id="306" r:id="rId34"/>
    <p:sldId id="307" r:id="rId35"/>
    <p:sldId id="308" r:id="rId36"/>
    <p:sldId id="309" r:id="rId37"/>
    <p:sldId id="275"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0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83" d="100"/>
          <a:sy n="83" d="100"/>
        </p:scale>
        <p:origin x="45" y="255"/>
      </p:cViewPr>
      <p:guideLst/>
    </p:cSldViewPr>
  </p:slideViewPr>
  <p:notesTextViewPr>
    <p:cViewPr>
      <p:scale>
        <a:sx n="1" d="1"/>
        <a:sy n="1" d="1"/>
      </p:scale>
      <p:origin x="0" y="0"/>
    </p:cViewPr>
  </p:notesTextViewPr>
  <p:notesViewPr>
    <p:cSldViewPr snapToGrid="0">
      <p:cViewPr varScale="1">
        <p:scale>
          <a:sx n="69" d="100"/>
          <a:sy n="69" d="100"/>
        </p:scale>
        <p:origin x="2784"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D5A785B-D11D-476E-8FE3-B9A32AAEF3ED}" type="datetimeFigureOut">
              <a:rPr lang="en-US" smtClean="0"/>
              <a:t>7/2/2024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A5BAD6D-9C3B-46AE-9ED7-53C2ADD3C885}" type="slidenum">
              <a:rPr lang="en-US" smtClean="0"/>
              <a:t>‹#›</a:t>
            </a:fld>
            <a:endParaRPr lang="en-US"/>
          </a:p>
        </p:txBody>
      </p:sp>
    </p:spTree>
    <p:extLst>
      <p:ext uri="{BB962C8B-B14F-4D97-AF65-F5344CB8AC3E}">
        <p14:creationId xmlns:p14="http://schemas.microsoft.com/office/powerpoint/2010/main" val="4011419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46EEAB-DFFE-48A0-95F8-1347266830D1}" type="datetimeFigureOut">
              <a:rPr lang="en-US" smtClean="0"/>
              <a:t>7/2/2024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6C1AB1-D682-4F2C-8579-D9DF0DCC073A}" type="slidenum">
              <a:rPr lang="en-US" smtClean="0"/>
              <a:t>‹#›</a:t>
            </a:fld>
            <a:endParaRPr lang="en-US"/>
          </a:p>
        </p:txBody>
      </p:sp>
    </p:spTree>
    <p:extLst>
      <p:ext uri="{BB962C8B-B14F-4D97-AF65-F5344CB8AC3E}">
        <p14:creationId xmlns:p14="http://schemas.microsoft.com/office/powerpoint/2010/main" val="2410758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86C1AB1-D682-4F2C-8579-D9DF0DCC073A}" type="slidenum">
              <a:rPr lang="en-US" smtClean="0"/>
              <a:t>1</a:t>
            </a:fld>
            <a:endParaRPr lang="en-US"/>
          </a:p>
        </p:txBody>
      </p:sp>
    </p:spTree>
    <p:extLst>
      <p:ext uri="{BB962C8B-B14F-4D97-AF65-F5344CB8AC3E}">
        <p14:creationId xmlns:p14="http://schemas.microsoft.com/office/powerpoint/2010/main" val="22137279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p:cNvSpPr/>
          <p:nvPr/>
        </p:nvSpPr>
        <p:spPr bwMode="ltGray">
          <a:xfrm>
            <a:off x="2513012" y="1371600"/>
            <a:ext cx="7162800" cy="4114800"/>
          </a:xfrm>
          <a:prstGeom prst="rect">
            <a:avLst/>
          </a:prstGeom>
          <a:gradFill>
            <a:gsLst>
              <a:gs pos="417">
                <a:schemeClr val="bg2">
                  <a:lumMod val="35000"/>
                  <a:lumOff val="65000"/>
                </a:schemeClr>
              </a:gs>
              <a:gs pos="100000">
                <a:schemeClr val="bg2"/>
              </a:gs>
            </a:gsLst>
            <a:lin ang="5400000" scaled="0"/>
          </a:gradFill>
          <a:ln w="152400">
            <a:solidFill>
              <a:srgbClr val="FFFFFF"/>
            </a:solidFill>
            <a:miter lim="800000"/>
          </a:ln>
          <a:scene3d>
            <a:camera prst="orthographicFront"/>
            <a:lightRig rig="threePt" dir="t"/>
          </a:scene3d>
          <a:sp3d contourW="12700">
            <a:contourClr>
              <a:schemeClr val="bg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2804160" y="1557867"/>
            <a:ext cx="6583680" cy="2560320"/>
          </a:xfrm>
        </p:spPr>
        <p:txBody>
          <a:bodyPr anchor="b">
            <a:normAutofit/>
          </a:bodyPr>
          <a:lstStyle>
            <a:lvl1pPr algn="ctr">
              <a:lnSpc>
                <a:spcPct val="80000"/>
              </a:lnSpc>
              <a:defRPr sz="6600"/>
            </a:lvl1pPr>
          </a:lstStyle>
          <a:p>
            <a:r>
              <a:rPr lang="zh-CN" altLang="en-US"/>
              <a:t>单击此处编辑母版标题样式</a:t>
            </a:r>
            <a:endParaRPr lang="en-US" dirty="0"/>
          </a:p>
        </p:txBody>
      </p:sp>
      <p:sp>
        <p:nvSpPr>
          <p:cNvPr id="3" name="Subtitle 2"/>
          <p:cNvSpPr>
            <a:spLocks noGrp="1"/>
          </p:cNvSpPr>
          <p:nvPr>
            <p:ph type="subTitle" idx="1"/>
          </p:nvPr>
        </p:nvSpPr>
        <p:spPr>
          <a:xfrm>
            <a:off x="2804160" y="4185919"/>
            <a:ext cx="6583680" cy="1097278"/>
          </a:xfrm>
        </p:spPr>
        <p:txBody>
          <a:bodyPr>
            <a:normAutofit/>
          </a:bodyPr>
          <a:lstStyle>
            <a:lvl1pPr marL="0" indent="0" algn="ctr">
              <a:spcBef>
                <a:spcPts val="120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Tree>
    <p:extLst>
      <p:ext uri="{BB962C8B-B14F-4D97-AF65-F5344CB8AC3E}">
        <p14:creationId xmlns:p14="http://schemas.microsoft.com/office/powerpoint/2010/main" val="2468490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Rectangle 6"/>
          <p:cNvSpPr/>
          <p:nvPr/>
        </p:nvSpPr>
        <p:spPr bwMode="ltGray">
          <a:xfrm>
            <a:off x="-1" y="457200"/>
            <a:ext cx="12188826" cy="1270000"/>
          </a:xfrm>
          <a:prstGeom prst="rect">
            <a:avLst/>
          </a:prstGeom>
          <a:gradFill>
            <a:gsLst>
              <a:gs pos="417">
                <a:schemeClr val="bg2">
                  <a:lumMod val="20000"/>
                  <a:lumOff val="80000"/>
                </a:schemeClr>
              </a:gs>
              <a:gs pos="100000">
                <a:schemeClr val="bg2"/>
              </a:gs>
            </a:gsLst>
            <a:lin ang="5400000" scaled="0"/>
          </a:gradFill>
          <a:ln w="152400">
            <a:noFill/>
            <a:miter lim="800000"/>
          </a:ln>
          <a:scene3d>
            <a:camera prst="orthographicFront"/>
            <a:lightRig rig="threePt" dir="t"/>
          </a:scene3d>
          <a:sp3d>
            <a:contourClr>
              <a:srgbClr val="B0BCBC"/>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bwMode="ltGray">
          <a:xfrm>
            <a:off x="0" y="1697736"/>
            <a:ext cx="12188825" cy="54864"/>
          </a:xfrm>
          <a:prstGeom prst="rect">
            <a:avLst/>
          </a:prstGeom>
          <a:solidFill>
            <a:schemeClr val="bg1"/>
          </a:solidFill>
          <a:ln w="152400">
            <a:noFill/>
            <a:miter lim="800000"/>
          </a:ln>
          <a:scene3d>
            <a:camera prst="orthographicFront"/>
            <a:lightRig rig="threePt" dir="t"/>
          </a:scene3d>
          <a:sp3d contourW="12700">
            <a:contourClr>
              <a:schemeClr val="bg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bwMode="ltGray">
          <a:xfrm>
            <a:off x="0" y="457200"/>
            <a:ext cx="12188825" cy="54864"/>
          </a:xfrm>
          <a:prstGeom prst="rect">
            <a:avLst/>
          </a:prstGeom>
          <a:solidFill>
            <a:schemeClr val="bg1"/>
          </a:solidFill>
          <a:ln w="152400">
            <a:noFill/>
            <a:miter lim="800000"/>
          </a:ln>
          <a:scene3d>
            <a:camera prst="orthographicFront"/>
            <a:lightRig rig="threePt" dir="t"/>
          </a:scene3d>
          <a:sp3d contourW="12700">
            <a:contourClr>
              <a:schemeClr val="bg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B1BD3024-A370-4736-A073-CFE51D74BDB4}" type="datetimeFigureOut">
              <a:rPr lang="en-US" smtClean="0"/>
              <a:t>7/2/2024</a:t>
            </a:fld>
            <a:endParaRPr lang="en-US"/>
          </a:p>
        </p:txBody>
      </p:sp>
      <p:sp>
        <p:nvSpPr>
          <p:cNvPr id="6" name="Slide Number Placeholder 5"/>
          <p:cNvSpPr>
            <a:spLocks noGrp="1"/>
          </p:cNvSpPr>
          <p:nvPr>
            <p:ph type="sldNum" sz="quarter" idx="12"/>
          </p:nvPr>
        </p:nvSpPr>
        <p:spPr/>
        <p:txBody>
          <a:bodyPr/>
          <a:lstStyle/>
          <a:p>
            <a:fld id="{5E3DCFCC-8C7B-4574-91B2-C3342261C6C2}" type="slidenum">
              <a:rPr lang="en-US" smtClean="0"/>
              <a:t>‹#›</a:t>
            </a:fld>
            <a:endParaRPr lang="en-US"/>
          </a:p>
        </p:txBody>
      </p:sp>
    </p:spTree>
    <p:extLst>
      <p:ext uri="{BB962C8B-B14F-4D97-AF65-F5344CB8AC3E}">
        <p14:creationId xmlns:p14="http://schemas.microsoft.com/office/powerpoint/2010/main" val="3760529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Rectangle 6"/>
          <p:cNvSpPr/>
          <p:nvPr/>
        </p:nvSpPr>
        <p:spPr bwMode="ltGray">
          <a:xfrm>
            <a:off x="5334000" y="762000"/>
            <a:ext cx="6400800" cy="3340100"/>
          </a:xfrm>
          <a:prstGeom prst="rect">
            <a:avLst/>
          </a:prstGeom>
          <a:gradFill>
            <a:gsLst>
              <a:gs pos="417">
                <a:schemeClr val="bg2">
                  <a:lumMod val="35000"/>
                  <a:lumOff val="65000"/>
                </a:schemeClr>
              </a:gs>
              <a:gs pos="100000">
                <a:schemeClr val="bg2"/>
              </a:gs>
            </a:gsLst>
            <a:lin ang="5400000" scaled="0"/>
          </a:gradFill>
          <a:ln w="152400">
            <a:solidFill>
              <a:srgbClr val="FFFFFF"/>
            </a:solidFill>
            <a:miter lim="800000"/>
          </a:ln>
          <a:scene3d>
            <a:camera prst="orthographicFront"/>
            <a:lightRig rig="threePt" dir="t"/>
          </a:scene3d>
          <a:sp3d contourW="12700">
            <a:contourClr>
              <a:schemeClr val="bg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4040" y="1016001"/>
            <a:ext cx="5760720" cy="1828800"/>
          </a:xfrm>
        </p:spPr>
        <p:txBody>
          <a:bodyPr anchor="b">
            <a:normAutofit/>
          </a:bodyPr>
          <a:lstStyle>
            <a:lvl1pPr algn="ctr">
              <a:lnSpc>
                <a:spcPct val="80000"/>
              </a:lnSpc>
              <a:defRPr sz="5400"/>
            </a:lvl1pPr>
          </a:lstStyle>
          <a:p>
            <a:r>
              <a:rPr lang="zh-CN" altLang="en-US"/>
              <a:t>单击此处编辑母版标题样式</a:t>
            </a:r>
            <a:endParaRPr lang="en-US" dirty="0"/>
          </a:p>
        </p:txBody>
      </p:sp>
      <p:sp>
        <p:nvSpPr>
          <p:cNvPr id="3" name="Text Placeholder 2"/>
          <p:cNvSpPr>
            <a:spLocks noGrp="1"/>
          </p:cNvSpPr>
          <p:nvPr>
            <p:ph type="body" idx="1"/>
          </p:nvPr>
        </p:nvSpPr>
        <p:spPr>
          <a:xfrm>
            <a:off x="5654040" y="2980267"/>
            <a:ext cx="5760720" cy="914400"/>
          </a:xfrm>
        </p:spPr>
        <p:txBody>
          <a:bodyPr>
            <a:normAutofit/>
          </a:bodyPr>
          <a:lstStyle>
            <a:lvl1pPr marL="0" indent="0" algn="ctr">
              <a:spcBef>
                <a:spcPts val="1200"/>
              </a:spcBef>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Tree>
    <p:extLst>
      <p:ext uri="{BB962C8B-B14F-4D97-AF65-F5344CB8AC3E}">
        <p14:creationId xmlns:p14="http://schemas.microsoft.com/office/powerpoint/2010/main" val="2171674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ummer Section Header">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p:cNvSpPr/>
          <p:nvPr/>
        </p:nvSpPr>
        <p:spPr bwMode="ltGray">
          <a:xfrm>
            <a:off x="5334000" y="762000"/>
            <a:ext cx="6400800" cy="3340100"/>
          </a:xfrm>
          <a:prstGeom prst="rect">
            <a:avLst/>
          </a:prstGeom>
          <a:gradFill>
            <a:gsLst>
              <a:gs pos="417">
                <a:schemeClr val="bg2">
                  <a:lumMod val="35000"/>
                  <a:lumOff val="65000"/>
                </a:schemeClr>
              </a:gs>
              <a:gs pos="100000">
                <a:schemeClr val="bg2"/>
              </a:gs>
            </a:gsLst>
            <a:lin ang="5400000" scaled="0"/>
          </a:gradFill>
          <a:ln w="152400">
            <a:solidFill>
              <a:srgbClr val="FFFFFF"/>
            </a:solidFill>
            <a:miter lim="800000"/>
          </a:ln>
          <a:scene3d>
            <a:camera prst="orthographicFront"/>
            <a:lightRig rig="threePt" dir="t"/>
          </a:scene3d>
          <a:sp3d contourW="12700">
            <a:contourClr>
              <a:schemeClr val="bg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4040" y="1016001"/>
            <a:ext cx="5760720" cy="1828800"/>
          </a:xfrm>
        </p:spPr>
        <p:txBody>
          <a:bodyPr anchor="b">
            <a:normAutofit/>
          </a:bodyPr>
          <a:lstStyle>
            <a:lvl1pPr algn="ctr">
              <a:lnSpc>
                <a:spcPct val="80000"/>
              </a:lnSpc>
              <a:defRPr sz="5400"/>
            </a:lvl1pPr>
          </a:lstStyle>
          <a:p>
            <a:r>
              <a:rPr lang="zh-CN" altLang="en-US"/>
              <a:t>单击此处编辑母版标题样式</a:t>
            </a:r>
            <a:endParaRPr lang="en-US" dirty="0"/>
          </a:p>
        </p:txBody>
      </p:sp>
      <p:sp>
        <p:nvSpPr>
          <p:cNvPr id="3" name="Text Placeholder 2"/>
          <p:cNvSpPr>
            <a:spLocks noGrp="1"/>
          </p:cNvSpPr>
          <p:nvPr>
            <p:ph type="body" idx="1"/>
          </p:nvPr>
        </p:nvSpPr>
        <p:spPr>
          <a:xfrm>
            <a:off x="5654040" y="2980267"/>
            <a:ext cx="5760720" cy="914400"/>
          </a:xfrm>
        </p:spPr>
        <p:txBody>
          <a:bodyPr>
            <a:normAutofit/>
          </a:bodyPr>
          <a:lstStyle>
            <a:lvl1pPr marL="0" indent="0" algn="ctr">
              <a:spcBef>
                <a:spcPts val="1200"/>
              </a:spcBef>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Tree>
    <p:extLst>
      <p:ext uri="{BB962C8B-B14F-4D97-AF65-F5344CB8AC3E}">
        <p14:creationId xmlns:p14="http://schemas.microsoft.com/office/powerpoint/2010/main" val="1292129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Autumn Section Header">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Rectangle 6"/>
          <p:cNvSpPr/>
          <p:nvPr/>
        </p:nvSpPr>
        <p:spPr bwMode="ltGray">
          <a:xfrm>
            <a:off x="5334000" y="762000"/>
            <a:ext cx="6400800" cy="3340100"/>
          </a:xfrm>
          <a:prstGeom prst="rect">
            <a:avLst/>
          </a:prstGeom>
          <a:gradFill>
            <a:gsLst>
              <a:gs pos="417">
                <a:schemeClr val="bg2">
                  <a:lumMod val="35000"/>
                  <a:lumOff val="65000"/>
                </a:schemeClr>
              </a:gs>
              <a:gs pos="100000">
                <a:schemeClr val="bg2"/>
              </a:gs>
            </a:gsLst>
            <a:lin ang="5400000" scaled="0"/>
          </a:gradFill>
          <a:ln w="152400">
            <a:solidFill>
              <a:srgbClr val="FFFFFF"/>
            </a:solidFill>
            <a:miter lim="800000"/>
          </a:ln>
          <a:scene3d>
            <a:camera prst="orthographicFront"/>
            <a:lightRig rig="threePt" dir="t"/>
          </a:scene3d>
          <a:sp3d contourW="12700">
            <a:contourClr>
              <a:schemeClr val="bg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4040" y="1016001"/>
            <a:ext cx="5760720" cy="1828800"/>
          </a:xfrm>
        </p:spPr>
        <p:txBody>
          <a:bodyPr anchor="b">
            <a:normAutofit/>
          </a:bodyPr>
          <a:lstStyle>
            <a:lvl1pPr algn="ctr">
              <a:lnSpc>
                <a:spcPct val="80000"/>
              </a:lnSpc>
              <a:defRPr sz="5400"/>
            </a:lvl1pPr>
          </a:lstStyle>
          <a:p>
            <a:r>
              <a:rPr lang="zh-CN" altLang="en-US"/>
              <a:t>单击此处编辑母版标题样式</a:t>
            </a:r>
            <a:endParaRPr lang="en-US" dirty="0"/>
          </a:p>
        </p:txBody>
      </p:sp>
      <p:sp>
        <p:nvSpPr>
          <p:cNvPr id="3" name="Text Placeholder 2"/>
          <p:cNvSpPr>
            <a:spLocks noGrp="1"/>
          </p:cNvSpPr>
          <p:nvPr>
            <p:ph type="body" idx="1"/>
          </p:nvPr>
        </p:nvSpPr>
        <p:spPr>
          <a:xfrm>
            <a:off x="5654040" y="2980267"/>
            <a:ext cx="5760720" cy="914400"/>
          </a:xfrm>
        </p:spPr>
        <p:txBody>
          <a:bodyPr>
            <a:normAutofit/>
          </a:bodyPr>
          <a:lstStyle>
            <a:lvl1pPr marL="0" indent="0" algn="ctr">
              <a:spcBef>
                <a:spcPts val="1200"/>
              </a:spcBef>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Tree>
    <p:extLst>
      <p:ext uri="{BB962C8B-B14F-4D97-AF65-F5344CB8AC3E}">
        <p14:creationId xmlns:p14="http://schemas.microsoft.com/office/powerpoint/2010/main" val="20454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Winter Section Header">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Rectangle 6"/>
          <p:cNvSpPr/>
          <p:nvPr/>
        </p:nvSpPr>
        <p:spPr bwMode="ltGray">
          <a:xfrm>
            <a:off x="5334000" y="762000"/>
            <a:ext cx="6400800" cy="3340100"/>
          </a:xfrm>
          <a:prstGeom prst="rect">
            <a:avLst/>
          </a:prstGeom>
          <a:gradFill>
            <a:gsLst>
              <a:gs pos="417">
                <a:schemeClr val="bg2">
                  <a:lumMod val="35000"/>
                  <a:lumOff val="65000"/>
                </a:schemeClr>
              </a:gs>
              <a:gs pos="100000">
                <a:schemeClr val="bg2"/>
              </a:gs>
            </a:gsLst>
            <a:lin ang="5400000" scaled="0"/>
          </a:gradFill>
          <a:ln w="152400">
            <a:solidFill>
              <a:srgbClr val="FFFFFF"/>
            </a:solidFill>
            <a:miter lim="800000"/>
          </a:ln>
          <a:scene3d>
            <a:camera prst="orthographicFront"/>
            <a:lightRig rig="threePt" dir="t"/>
          </a:scene3d>
          <a:sp3d contourW="12700">
            <a:contourClr>
              <a:schemeClr val="bg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54040" y="1016001"/>
            <a:ext cx="5760720" cy="1828800"/>
          </a:xfrm>
        </p:spPr>
        <p:txBody>
          <a:bodyPr anchor="b">
            <a:normAutofit/>
          </a:bodyPr>
          <a:lstStyle>
            <a:lvl1pPr algn="ctr">
              <a:lnSpc>
                <a:spcPct val="80000"/>
              </a:lnSpc>
              <a:defRPr sz="5400"/>
            </a:lvl1pPr>
          </a:lstStyle>
          <a:p>
            <a:r>
              <a:rPr lang="zh-CN" altLang="en-US"/>
              <a:t>单击此处编辑母版标题样式</a:t>
            </a:r>
            <a:endParaRPr lang="en-US" dirty="0"/>
          </a:p>
        </p:txBody>
      </p:sp>
      <p:sp>
        <p:nvSpPr>
          <p:cNvPr id="3" name="Text Placeholder 2"/>
          <p:cNvSpPr>
            <a:spLocks noGrp="1"/>
          </p:cNvSpPr>
          <p:nvPr>
            <p:ph type="body" idx="1"/>
          </p:nvPr>
        </p:nvSpPr>
        <p:spPr>
          <a:xfrm>
            <a:off x="5654040" y="2980267"/>
            <a:ext cx="5760720" cy="914400"/>
          </a:xfrm>
        </p:spPr>
        <p:txBody>
          <a:bodyPr>
            <a:normAutofit/>
          </a:bodyPr>
          <a:lstStyle>
            <a:lvl1pPr marL="0" indent="0" algn="ctr">
              <a:spcBef>
                <a:spcPts val="1200"/>
              </a:spcBef>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Tree>
    <p:extLst>
      <p:ext uri="{BB962C8B-B14F-4D97-AF65-F5344CB8AC3E}">
        <p14:creationId xmlns:p14="http://schemas.microsoft.com/office/powerpoint/2010/main" val="2305349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Rectangle 7"/>
          <p:cNvSpPr/>
          <p:nvPr/>
        </p:nvSpPr>
        <p:spPr bwMode="ltGray">
          <a:xfrm>
            <a:off x="-1" y="457200"/>
            <a:ext cx="12188826" cy="1270000"/>
          </a:xfrm>
          <a:prstGeom prst="rect">
            <a:avLst/>
          </a:prstGeom>
          <a:gradFill>
            <a:gsLst>
              <a:gs pos="417">
                <a:schemeClr val="bg2">
                  <a:lumMod val="20000"/>
                  <a:lumOff val="80000"/>
                </a:schemeClr>
              </a:gs>
              <a:gs pos="100000">
                <a:schemeClr val="bg2"/>
              </a:gs>
            </a:gsLst>
            <a:lin ang="5400000" scaled="0"/>
          </a:gradFill>
          <a:ln w="152400">
            <a:noFill/>
            <a:miter lim="800000"/>
          </a:ln>
          <a:scene3d>
            <a:camera prst="orthographicFront"/>
            <a:lightRig rig="threePt" dir="t"/>
          </a:scene3d>
          <a:sp3d>
            <a:contourClr>
              <a:srgbClr val="B0BCBC"/>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bwMode="ltGray">
          <a:xfrm>
            <a:off x="0" y="1697736"/>
            <a:ext cx="12188825" cy="54864"/>
          </a:xfrm>
          <a:prstGeom prst="rect">
            <a:avLst/>
          </a:prstGeom>
          <a:solidFill>
            <a:schemeClr val="bg1"/>
          </a:solidFill>
          <a:ln w="152400">
            <a:noFill/>
            <a:miter lim="800000"/>
          </a:ln>
          <a:scene3d>
            <a:camera prst="orthographicFront"/>
            <a:lightRig rig="threePt" dir="t"/>
          </a:scene3d>
          <a:sp3d contourW="12700">
            <a:contourClr>
              <a:schemeClr val="bg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bwMode="ltGray">
          <a:xfrm>
            <a:off x="0" y="457200"/>
            <a:ext cx="12188825" cy="54864"/>
          </a:xfrm>
          <a:prstGeom prst="rect">
            <a:avLst/>
          </a:prstGeom>
          <a:solidFill>
            <a:schemeClr val="bg1"/>
          </a:solidFill>
          <a:ln w="152400">
            <a:noFill/>
            <a:miter lim="800000"/>
          </a:ln>
          <a:scene3d>
            <a:camera prst="orthographicFront"/>
            <a:lightRig rig="threePt" dir="t"/>
          </a:scene3d>
          <a:sp3d contourW="12700">
            <a:contourClr>
              <a:schemeClr val="bg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1066800" y="2057399"/>
            <a:ext cx="4846320" cy="434340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278880" y="2057399"/>
            <a:ext cx="4846320" cy="434340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B1BD3024-A370-4736-A073-CFE51D74BDB4}" type="datetimeFigureOut">
              <a:rPr lang="en-US" smtClean="0"/>
              <a:t>7/2/2024</a:t>
            </a:fld>
            <a:endParaRPr lang="en-US"/>
          </a:p>
        </p:txBody>
      </p:sp>
      <p:sp>
        <p:nvSpPr>
          <p:cNvPr id="7" name="Slide Number Placeholder 6"/>
          <p:cNvSpPr>
            <a:spLocks noGrp="1"/>
          </p:cNvSpPr>
          <p:nvPr>
            <p:ph type="sldNum" sz="quarter" idx="12"/>
          </p:nvPr>
        </p:nvSpPr>
        <p:spPr/>
        <p:txBody>
          <a:bodyPr/>
          <a:lstStyle/>
          <a:p>
            <a:fld id="{5E3DCFCC-8C7B-4574-91B2-C3342261C6C2}" type="slidenum">
              <a:rPr lang="en-US" smtClean="0"/>
              <a:t>‹#›</a:t>
            </a:fld>
            <a:endParaRPr lang="en-US"/>
          </a:p>
        </p:txBody>
      </p:sp>
    </p:spTree>
    <p:extLst>
      <p:ext uri="{BB962C8B-B14F-4D97-AF65-F5344CB8AC3E}">
        <p14:creationId xmlns:p14="http://schemas.microsoft.com/office/powerpoint/2010/main" val="3427792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Rectangle 9"/>
          <p:cNvSpPr/>
          <p:nvPr/>
        </p:nvSpPr>
        <p:spPr bwMode="ltGray">
          <a:xfrm>
            <a:off x="-1" y="457200"/>
            <a:ext cx="12188826" cy="1270000"/>
          </a:xfrm>
          <a:prstGeom prst="rect">
            <a:avLst/>
          </a:prstGeom>
          <a:gradFill>
            <a:gsLst>
              <a:gs pos="417">
                <a:schemeClr val="bg2">
                  <a:lumMod val="20000"/>
                  <a:lumOff val="80000"/>
                </a:schemeClr>
              </a:gs>
              <a:gs pos="100000">
                <a:schemeClr val="bg2"/>
              </a:gs>
            </a:gsLst>
            <a:lin ang="5400000" scaled="0"/>
          </a:gradFill>
          <a:ln w="152400">
            <a:noFill/>
            <a:miter lim="800000"/>
          </a:ln>
          <a:scene3d>
            <a:camera prst="orthographicFront"/>
            <a:lightRig rig="threePt" dir="t"/>
          </a:scene3d>
          <a:sp3d>
            <a:contourClr>
              <a:srgbClr val="B0BCBC"/>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bwMode="ltGray">
          <a:xfrm>
            <a:off x="0" y="1697736"/>
            <a:ext cx="12188825" cy="54864"/>
          </a:xfrm>
          <a:prstGeom prst="rect">
            <a:avLst/>
          </a:prstGeom>
          <a:solidFill>
            <a:schemeClr val="bg1"/>
          </a:solidFill>
          <a:ln w="152400">
            <a:noFill/>
            <a:miter lim="800000"/>
          </a:ln>
          <a:scene3d>
            <a:camera prst="orthographicFront"/>
            <a:lightRig rig="threePt" dir="t"/>
          </a:scene3d>
          <a:sp3d contourW="12700">
            <a:contourClr>
              <a:schemeClr val="bg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bwMode="ltGray">
          <a:xfrm>
            <a:off x="0" y="457200"/>
            <a:ext cx="12188825" cy="54864"/>
          </a:xfrm>
          <a:prstGeom prst="rect">
            <a:avLst/>
          </a:prstGeom>
          <a:solidFill>
            <a:schemeClr val="bg1"/>
          </a:solidFill>
          <a:ln w="152400">
            <a:noFill/>
            <a:miter lim="800000"/>
          </a:ln>
          <a:scene3d>
            <a:camera prst="orthographicFront"/>
            <a:lightRig rig="threePt" dir="t"/>
          </a:scene3d>
          <a:sp3d contourW="12700">
            <a:contourClr>
              <a:schemeClr val="bg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1066800" y="2057399"/>
            <a:ext cx="4846320" cy="868681"/>
          </a:xfrm>
        </p:spPr>
        <p:txBody>
          <a:bodyPr anchor="ctr"/>
          <a:lstStyle>
            <a:lvl1pPr marL="0" indent="0">
              <a:buNone/>
              <a:defRPr sz="2400" b="0" cap="sm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066800" y="2926080"/>
            <a:ext cx="4846320" cy="347472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6278880" y="2057399"/>
            <a:ext cx="4846320" cy="868681"/>
          </a:xfrm>
        </p:spPr>
        <p:txBody>
          <a:bodyPr anchor="ctr"/>
          <a:lstStyle>
            <a:lvl1pPr marL="0" indent="0">
              <a:buNone/>
              <a:defRPr sz="2400" b="0" cap="sm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278880" y="2926080"/>
            <a:ext cx="4846320" cy="347472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B1BD3024-A370-4736-A073-CFE51D74BDB4}" type="datetimeFigureOut">
              <a:rPr lang="en-US" smtClean="0"/>
              <a:t>7/2/2024</a:t>
            </a:fld>
            <a:endParaRPr lang="en-US"/>
          </a:p>
        </p:txBody>
      </p:sp>
      <p:sp>
        <p:nvSpPr>
          <p:cNvPr id="9" name="Slide Number Placeholder 8"/>
          <p:cNvSpPr>
            <a:spLocks noGrp="1"/>
          </p:cNvSpPr>
          <p:nvPr>
            <p:ph type="sldNum" sz="quarter" idx="12"/>
          </p:nvPr>
        </p:nvSpPr>
        <p:spPr/>
        <p:txBody>
          <a:bodyPr/>
          <a:lstStyle/>
          <a:p>
            <a:fld id="{5E3DCFCC-8C7B-4574-91B2-C3342261C6C2}" type="slidenum">
              <a:rPr lang="en-US" smtClean="0"/>
              <a:t>‹#›</a:t>
            </a:fld>
            <a:endParaRPr lang="en-US"/>
          </a:p>
        </p:txBody>
      </p:sp>
    </p:spTree>
    <p:extLst>
      <p:ext uri="{BB962C8B-B14F-4D97-AF65-F5344CB8AC3E}">
        <p14:creationId xmlns:p14="http://schemas.microsoft.com/office/powerpoint/2010/main" val="40933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Rectangle 5"/>
          <p:cNvSpPr/>
          <p:nvPr/>
        </p:nvSpPr>
        <p:spPr bwMode="ltGray">
          <a:xfrm>
            <a:off x="-1" y="457200"/>
            <a:ext cx="12188826" cy="1270000"/>
          </a:xfrm>
          <a:prstGeom prst="rect">
            <a:avLst/>
          </a:prstGeom>
          <a:gradFill>
            <a:gsLst>
              <a:gs pos="417">
                <a:schemeClr val="bg2">
                  <a:lumMod val="20000"/>
                  <a:lumOff val="80000"/>
                </a:schemeClr>
              </a:gs>
              <a:gs pos="100000">
                <a:schemeClr val="bg2"/>
              </a:gs>
            </a:gsLst>
            <a:lin ang="5400000" scaled="0"/>
          </a:gradFill>
          <a:ln w="152400">
            <a:noFill/>
            <a:miter lim="800000"/>
          </a:ln>
          <a:scene3d>
            <a:camera prst="orthographicFront"/>
            <a:lightRig rig="threePt" dir="t"/>
          </a:scene3d>
          <a:sp3d>
            <a:contourClr>
              <a:srgbClr val="B0BCBC"/>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bwMode="ltGray">
          <a:xfrm>
            <a:off x="0" y="1697736"/>
            <a:ext cx="12188825" cy="54864"/>
          </a:xfrm>
          <a:prstGeom prst="rect">
            <a:avLst/>
          </a:prstGeom>
          <a:solidFill>
            <a:schemeClr val="bg1"/>
          </a:solidFill>
          <a:ln w="152400">
            <a:noFill/>
            <a:miter lim="800000"/>
          </a:ln>
          <a:scene3d>
            <a:camera prst="orthographicFront"/>
            <a:lightRig rig="threePt" dir="t"/>
          </a:scene3d>
          <a:sp3d contourW="12700">
            <a:contourClr>
              <a:schemeClr val="bg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bwMode="ltGray">
          <a:xfrm>
            <a:off x="0" y="457200"/>
            <a:ext cx="12188825" cy="54864"/>
          </a:xfrm>
          <a:prstGeom prst="rect">
            <a:avLst/>
          </a:prstGeom>
          <a:solidFill>
            <a:schemeClr val="bg1"/>
          </a:solidFill>
          <a:ln w="152400">
            <a:noFill/>
            <a:miter lim="800000"/>
          </a:ln>
          <a:scene3d>
            <a:camera prst="orthographicFront"/>
            <a:lightRig rig="threePt" dir="t"/>
          </a:scene3d>
          <a:sp3d contourW="12700">
            <a:contourClr>
              <a:schemeClr val="bg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zh-CN" altLang="en-US"/>
              <a:t>单击此处编辑母版标题样式</a:t>
            </a:r>
            <a:endParaRPr lang="en-US"/>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B1BD3024-A370-4736-A073-CFE51D74BDB4}" type="datetimeFigureOut">
              <a:rPr lang="en-US" smtClean="0"/>
              <a:t>7/2/2024</a:t>
            </a:fld>
            <a:endParaRPr lang="en-US"/>
          </a:p>
        </p:txBody>
      </p:sp>
      <p:sp>
        <p:nvSpPr>
          <p:cNvPr id="5" name="Slide Number Placeholder 4"/>
          <p:cNvSpPr>
            <a:spLocks noGrp="1"/>
          </p:cNvSpPr>
          <p:nvPr>
            <p:ph type="sldNum" sz="quarter" idx="12"/>
          </p:nvPr>
        </p:nvSpPr>
        <p:spPr/>
        <p:txBody>
          <a:bodyPr/>
          <a:lstStyle/>
          <a:p>
            <a:fld id="{5E3DCFCC-8C7B-4574-91B2-C3342261C6C2}" type="slidenum">
              <a:rPr lang="en-US" smtClean="0"/>
              <a:t>‹#›</a:t>
            </a:fld>
            <a:endParaRPr lang="en-US"/>
          </a:p>
        </p:txBody>
      </p:sp>
    </p:spTree>
    <p:extLst>
      <p:ext uri="{BB962C8B-B14F-4D97-AF65-F5344CB8AC3E}">
        <p14:creationId xmlns:p14="http://schemas.microsoft.com/office/powerpoint/2010/main" val="3992949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B1BD3024-A370-4736-A073-CFE51D74BDB4}" type="datetimeFigureOut">
              <a:rPr lang="en-US" smtClean="0"/>
              <a:t>7/2/2024</a:t>
            </a:fld>
            <a:endParaRPr lang="en-US"/>
          </a:p>
        </p:txBody>
      </p:sp>
      <p:sp>
        <p:nvSpPr>
          <p:cNvPr id="4" name="Slide Number Placeholder 3"/>
          <p:cNvSpPr>
            <a:spLocks noGrp="1"/>
          </p:cNvSpPr>
          <p:nvPr>
            <p:ph type="sldNum" sz="quarter" idx="12"/>
          </p:nvPr>
        </p:nvSpPr>
        <p:spPr/>
        <p:txBody>
          <a:bodyPr/>
          <a:lstStyle/>
          <a:p>
            <a:fld id="{5E3DCFCC-8C7B-4574-91B2-C3342261C6C2}" type="slidenum">
              <a:rPr lang="en-US" smtClean="0"/>
              <a:t>‹#›</a:t>
            </a:fld>
            <a:endParaRPr lang="en-US"/>
          </a:p>
        </p:txBody>
      </p:sp>
    </p:spTree>
    <p:extLst>
      <p:ext uri="{BB962C8B-B14F-4D97-AF65-F5344CB8AC3E}">
        <p14:creationId xmlns:p14="http://schemas.microsoft.com/office/powerpoint/2010/main" val="309224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111067" y="1143000"/>
            <a:ext cx="3471334" cy="2285999"/>
          </a:xfrm>
        </p:spPr>
        <p:txBody>
          <a:bodyPr anchor="b"/>
          <a:lstStyle>
            <a:lvl1pPr>
              <a:defRPr sz="3200"/>
            </a:lvl1pPr>
          </a:lstStyle>
          <a:p>
            <a:r>
              <a:rPr lang="zh-CN" altLang="en-US"/>
              <a:t>单击此处编辑母版标题样式</a:t>
            </a:r>
            <a:endParaRPr lang="en-US"/>
          </a:p>
        </p:txBody>
      </p:sp>
      <p:sp>
        <p:nvSpPr>
          <p:cNvPr id="3" name="Content Placeholder 2"/>
          <p:cNvSpPr>
            <a:spLocks noGrp="1"/>
          </p:cNvSpPr>
          <p:nvPr>
            <p:ph idx="1"/>
          </p:nvPr>
        </p:nvSpPr>
        <p:spPr>
          <a:xfrm>
            <a:off x="609599" y="982132"/>
            <a:ext cx="6995160" cy="5074920"/>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111067" y="3513665"/>
            <a:ext cx="3471333" cy="2103120"/>
          </a:xfrm>
        </p:spPr>
        <p:txBody>
          <a:bodyPr/>
          <a:lstStyle>
            <a:lvl1pPr marL="0" indent="0">
              <a:spcBef>
                <a:spcPts val="12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B1BD3024-A370-4736-A073-CFE51D74BDB4}" type="datetimeFigureOut">
              <a:rPr lang="en-US" smtClean="0"/>
              <a:t>7/2/2024</a:t>
            </a:fld>
            <a:endParaRPr lang="en-US"/>
          </a:p>
        </p:txBody>
      </p:sp>
      <p:sp>
        <p:nvSpPr>
          <p:cNvPr id="7" name="Slide Number Placeholder 6"/>
          <p:cNvSpPr>
            <a:spLocks noGrp="1"/>
          </p:cNvSpPr>
          <p:nvPr>
            <p:ph type="sldNum" sz="quarter" idx="12"/>
          </p:nvPr>
        </p:nvSpPr>
        <p:spPr/>
        <p:txBody>
          <a:bodyPr/>
          <a:lstStyle/>
          <a:p>
            <a:fld id="{5E3DCFCC-8C7B-4574-91B2-C3342261C6C2}" type="slidenum">
              <a:rPr lang="en-US" smtClean="0"/>
              <a:t>‹#›</a:t>
            </a:fld>
            <a:endParaRPr lang="en-US"/>
          </a:p>
        </p:txBody>
      </p:sp>
    </p:spTree>
    <p:extLst>
      <p:ext uri="{BB962C8B-B14F-4D97-AF65-F5344CB8AC3E}">
        <p14:creationId xmlns:p14="http://schemas.microsoft.com/office/powerpoint/2010/main" val="3753454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111067" y="1143000"/>
            <a:ext cx="3471334" cy="2285999"/>
          </a:xfrm>
        </p:spPr>
        <p:txBody>
          <a:bodyPr anchor="b"/>
          <a:lstStyle>
            <a:lvl1pPr>
              <a:defRPr sz="3200"/>
            </a:lvl1pPr>
          </a:lstStyle>
          <a:p>
            <a:r>
              <a:rPr lang="zh-CN" altLang="en-US"/>
              <a:t>单击此处编辑母版标题样式</a:t>
            </a:r>
            <a:endParaRPr lang="en-US" dirty="0"/>
          </a:p>
        </p:txBody>
      </p:sp>
      <p:sp>
        <p:nvSpPr>
          <p:cNvPr id="8" name="Rectangle 7"/>
          <p:cNvSpPr/>
          <p:nvPr/>
        </p:nvSpPr>
        <p:spPr bwMode="ltGray">
          <a:xfrm>
            <a:off x="694265" y="1051560"/>
            <a:ext cx="6858000" cy="4937760"/>
          </a:xfrm>
          <a:prstGeom prst="rect">
            <a:avLst/>
          </a:prstGeom>
          <a:solidFill>
            <a:schemeClr val="bg1"/>
          </a:solidFill>
          <a:ln w="152400">
            <a:solidFill>
              <a:srgbClr val="FFFFFF"/>
            </a:solidFill>
            <a:miter lim="800000"/>
          </a:ln>
          <a:scene3d>
            <a:camera prst="orthographicFront"/>
            <a:lightRig rig="threePt" dir="t"/>
          </a:scene3d>
          <a:sp3d contourW="12700">
            <a:contourClr>
              <a:schemeClr val="bg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descr="An empty placeholder to add an image. Click on the placeholder and select the image that you wish to add"/>
          <p:cNvSpPr>
            <a:spLocks noGrp="1"/>
          </p:cNvSpPr>
          <p:nvPr>
            <p:ph type="pic" idx="1"/>
          </p:nvPr>
        </p:nvSpPr>
        <p:spPr>
          <a:xfrm>
            <a:off x="772051" y="1143000"/>
            <a:ext cx="6686024" cy="4754880"/>
          </a:xfrm>
          <a:solidFill>
            <a:schemeClr val="bg2">
              <a:lumMod val="40000"/>
              <a:lumOff val="60000"/>
            </a:schemeClr>
          </a:solidFill>
        </p:spPr>
        <p:txBody>
          <a:bodyPr tIns="27432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8111067" y="3513665"/>
            <a:ext cx="3471333" cy="2103120"/>
          </a:xfrm>
        </p:spPr>
        <p:txBody>
          <a:bodyPr/>
          <a:lstStyle>
            <a:lvl1pPr marL="0" indent="0">
              <a:spcBef>
                <a:spcPts val="12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10" name="Footer Placeholder 9"/>
          <p:cNvSpPr>
            <a:spLocks noGrp="1"/>
          </p:cNvSpPr>
          <p:nvPr>
            <p:ph type="ftr" sz="quarter" idx="11"/>
          </p:nvPr>
        </p:nvSpPr>
        <p:spPr/>
        <p:txBody>
          <a:bodyPr/>
          <a:lstStyle/>
          <a:p>
            <a:r>
              <a:rPr lang="en-US" dirty="0"/>
              <a:t>Add a footer</a:t>
            </a:r>
          </a:p>
        </p:txBody>
      </p:sp>
      <p:sp>
        <p:nvSpPr>
          <p:cNvPr id="9" name="Date Placeholder 8"/>
          <p:cNvSpPr>
            <a:spLocks noGrp="1"/>
          </p:cNvSpPr>
          <p:nvPr>
            <p:ph type="dt" sz="half" idx="10"/>
          </p:nvPr>
        </p:nvSpPr>
        <p:spPr/>
        <p:txBody>
          <a:bodyPr/>
          <a:lstStyle/>
          <a:p>
            <a:fld id="{B1BD3024-A370-4736-A073-CFE51D74BDB4}" type="datetimeFigureOut">
              <a:rPr lang="en-US" smtClean="0"/>
              <a:pPr/>
              <a:t>7/2/2024</a:t>
            </a:fld>
            <a:endParaRPr lang="en-US"/>
          </a:p>
        </p:txBody>
      </p:sp>
      <p:sp>
        <p:nvSpPr>
          <p:cNvPr id="11" name="Slide Number Placeholder 10"/>
          <p:cNvSpPr>
            <a:spLocks noGrp="1"/>
          </p:cNvSpPr>
          <p:nvPr>
            <p:ph type="sldNum" sz="quarter" idx="12"/>
          </p:nvPr>
        </p:nvSpPr>
        <p:spPr/>
        <p:txBody>
          <a:bodyPr/>
          <a:lstStyle/>
          <a:p>
            <a:fld id="{5E3DCFCC-8C7B-4574-91B2-C3342261C6C2}" type="slidenum">
              <a:rPr lang="en-US" smtClean="0"/>
              <a:pPr/>
              <a:t>‹#›</a:t>
            </a:fld>
            <a:endParaRPr lang="en-US"/>
          </a:p>
        </p:txBody>
      </p:sp>
    </p:spTree>
    <p:extLst>
      <p:ext uri="{BB962C8B-B14F-4D97-AF65-F5344CB8AC3E}">
        <p14:creationId xmlns:p14="http://schemas.microsoft.com/office/powerpoint/2010/main" val="3186925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7" name="Rectangle 6"/>
          <p:cNvSpPr/>
          <p:nvPr/>
        </p:nvSpPr>
        <p:spPr bwMode="ltGray">
          <a:xfrm>
            <a:off x="-1" y="457200"/>
            <a:ext cx="12188826" cy="1270000"/>
          </a:xfrm>
          <a:prstGeom prst="rect">
            <a:avLst/>
          </a:prstGeom>
          <a:gradFill>
            <a:gsLst>
              <a:gs pos="417">
                <a:schemeClr val="bg2">
                  <a:lumMod val="20000"/>
                  <a:lumOff val="80000"/>
                </a:schemeClr>
              </a:gs>
              <a:gs pos="100000">
                <a:schemeClr val="bg2"/>
              </a:gs>
            </a:gsLst>
            <a:lin ang="5400000" scaled="0"/>
          </a:gradFill>
          <a:ln w="152400">
            <a:noFill/>
            <a:miter lim="800000"/>
          </a:ln>
          <a:scene3d>
            <a:camera prst="orthographicFront"/>
            <a:lightRig rig="threePt" dir="t"/>
          </a:scene3d>
          <a:sp3d>
            <a:contourClr>
              <a:srgbClr val="B0BCBC"/>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bwMode="ltGray">
          <a:xfrm>
            <a:off x="0" y="1697736"/>
            <a:ext cx="12188825" cy="54864"/>
          </a:xfrm>
          <a:prstGeom prst="rect">
            <a:avLst/>
          </a:prstGeom>
          <a:solidFill>
            <a:schemeClr val="bg1"/>
          </a:solidFill>
          <a:ln w="152400">
            <a:noFill/>
            <a:miter lim="800000"/>
          </a:ln>
          <a:scene3d>
            <a:camera prst="orthographicFront"/>
            <a:lightRig rig="threePt" dir="t"/>
          </a:scene3d>
          <a:sp3d contourW="12700">
            <a:contourClr>
              <a:schemeClr val="bg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bwMode="ltGray">
          <a:xfrm>
            <a:off x="0" y="457200"/>
            <a:ext cx="12188825" cy="54864"/>
          </a:xfrm>
          <a:prstGeom prst="rect">
            <a:avLst/>
          </a:prstGeom>
          <a:solidFill>
            <a:schemeClr val="bg1"/>
          </a:solidFill>
          <a:ln w="152400">
            <a:noFill/>
            <a:miter lim="800000"/>
          </a:ln>
          <a:scene3d>
            <a:camera prst="orthographicFront"/>
            <a:lightRig rig="threePt" dir="t"/>
          </a:scene3d>
          <a:sp3d contourW="12700">
            <a:contourClr>
              <a:schemeClr val="bg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B1BD3024-A370-4736-A073-CFE51D74BDB4}" type="datetimeFigureOut">
              <a:rPr lang="en-US" smtClean="0"/>
              <a:t>7/2/2024</a:t>
            </a:fld>
            <a:endParaRPr lang="en-US"/>
          </a:p>
        </p:txBody>
      </p:sp>
      <p:sp>
        <p:nvSpPr>
          <p:cNvPr id="6" name="Slide Number Placeholder 5"/>
          <p:cNvSpPr>
            <a:spLocks noGrp="1"/>
          </p:cNvSpPr>
          <p:nvPr>
            <p:ph type="sldNum" sz="quarter" idx="12"/>
          </p:nvPr>
        </p:nvSpPr>
        <p:spPr/>
        <p:txBody>
          <a:bodyPr/>
          <a:lstStyle/>
          <a:p>
            <a:fld id="{5E3DCFCC-8C7B-4574-91B2-C3342261C6C2}" type="slidenum">
              <a:rPr lang="en-US" smtClean="0"/>
              <a:t>‹#›</a:t>
            </a:fld>
            <a:endParaRPr lang="en-US"/>
          </a:p>
        </p:txBody>
      </p:sp>
    </p:spTree>
    <p:extLst>
      <p:ext uri="{BB962C8B-B14F-4D97-AF65-F5344CB8AC3E}">
        <p14:creationId xmlns:p14="http://schemas.microsoft.com/office/powerpoint/2010/main" val="2448079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6400" y="846666"/>
            <a:ext cx="1828800" cy="5554133"/>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1066798" y="846666"/>
            <a:ext cx="7863840" cy="5554133"/>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B1BD3024-A370-4736-A073-CFE51D74BDB4}" type="datetimeFigureOut">
              <a:rPr lang="en-US" smtClean="0"/>
              <a:t>7/2/2024</a:t>
            </a:fld>
            <a:endParaRPr lang="en-US"/>
          </a:p>
        </p:txBody>
      </p:sp>
      <p:sp>
        <p:nvSpPr>
          <p:cNvPr id="6" name="Slide Number Placeholder 5"/>
          <p:cNvSpPr>
            <a:spLocks noGrp="1"/>
          </p:cNvSpPr>
          <p:nvPr>
            <p:ph type="sldNum" sz="quarter" idx="12"/>
          </p:nvPr>
        </p:nvSpPr>
        <p:spPr/>
        <p:txBody>
          <a:bodyPr/>
          <a:lstStyle/>
          <a:p>
            <a:fld id="{5E3DCFCC-8C7B-4574-91B2-C3342261C6C2}" type="slidenum">
              <a:rPr lang="en-US" smtClean="0"/>
              <a:t>‹#›</a:t>
            </a:fld>
            <a:endParaRPr lang="en-US"/>
          </a:p>
        </p:txBody>
      </p:sp>
    </p:spTree>
    <p:extLst>
      <p:ext uri="{BB962C8B-B14F-4D97-AF65-F5344CB8AC3E}">
        <p14:creationId xmlns:p14="http://schemas.microsoft.com/office/powerpoint/2010/main" val="1533007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6" cstate="email">
            <a:extLst>
              <a:ext uri="{28A0092B-C50C-407E-A947-70E740481C1C}">
                <a14:useLocalDpi xmlns:a14="http://schemas.microsoft.com/office/drawing/2010/main"/>
              </a:ext>
            </a:extLst>
          </a:blip>
          <a:stretch>
            <a:fillRect/>
          </a:stretch>
        </p:blipFill>
        <p:spPr>
          <a:xfrm>
            <a:off x="0" y="0"/>
            <a:ext cx="12188952" cy="455411"/>
          </a:xfrm>
          <a:prstGeom prst="rect">
            <a:avLst/>
          </a:prstGeom>
        </p:spPr>
      </p:pic>
      <p:sp>
        <p:nvSpPr>
          <p:cNvPr id="10" name="Rectangle 9"/>
          <p:cNvSpPr/>
          <p:nvPr userDrawn="1"/>
        </p:nvSpPr>
        <p:spPr bwMode="ltGray">
          <a:xfrm>
            <a:off x="0" y="457200"/>
            <a:ext cx="12188825" cy="54864"/>
          </a:xfrm>
          <a:prstGeom prst="rect">
            <a:avLst/>
          </a:prstGeom>
          <a:solidFill>
            <a:schemeClr val="bg1"/>
          </a:solidFill>
          <a:ln w="152400">
            <a:noFill/>
            <a:miter lim="800000"/>
          </a:ln>
          <a:scene3d>
            <a:camera prst="orthographicFront"/>
            <a:lightRig rig="threePt" dir="t"/>
          </a:scene3d>
          <a:sp3d contourW="12700">
            <a:contourClr>
              <a:schemeClr val="bg2">
                <a:lumMod val="60000"/>
                <a:lumOff val="40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66800" y="562302"/>
            <a:ext cx="10058400" cy="1097280"/>
          </a:xfrm>
          <a:prstGeom prst="rect">
            <a:avLst/>
          </a:prstGeom>
        </p:spPr>
        <p:txBody>
          <a:bodyPr vert="horz" lIns="91440" tIns="45720" rIns="91440" bIns="45720" rtlCol="0" anchor="b">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066800" y="2057400"/>
            <a:ext cx="10058400" cy="43434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Footer Placeholder 4"/>
          <p:cNvSpPr>
            <a:spLocks noGrp="1"/>
          </p:cNvSpPr>
          <p:nvPr>
            <p:ph type="ftr" sz="quarter" idx="3"/>
          </p:nvPr>
        </p:nvSpPr>
        <p:spPr>
          <a:xfrm>
            <a:off x="1066800" y="6519333"/>
            <a:ext cx="7086600" cy="202142"/>
          </a:xfrm>
          <a:prstGeom prst="rect">
            <a:avLst/>
          </a:prstGeom>
        </p:spPr>
        <p:txBody>
          <a:bodyPr vert="horz" lIns="91440" tIns="45720" rIns="91440" bIns="45720" rtlCol="0" anchor="ctr"/>
          <a:lstStyle>
            <a:lvl1pPr algn="l">
              <a:defRPr sz="1100">
                <a:solidFill>
                  <a:schemeClr val="tx1"/>
                </a:solidFill>
              </a:defRPr>
            </a:lvl1pPr>
          </a:lstStyle>
          <a:p>
            <a:r>
              <a:rPr lang="en-US" dirty="0"/>
              <a:t>Add a footer</a:t>
            </a:r>
          </a:p>
        </p:txBody>
      </p:sp>
      <p:sp>
        <p:nvSpPr>
          <p:cNvPr id="4" name="Date Placeholder 3"/>
          <p:cNvSpPr>
            <a:spLocks noGrp="1"/>
          </p:cNvSpPr>
          <p:nvPr>
            <p:ph type="dt" sz="half" idx="2"/>
          </p:nvPr>
        </p:nvSpPr>
        <p:spPr>
          <a:xfrm>
            <a:off x="8382000" y="6519333"/>
            <a:ext cx="1600200" cy="202142"/>
          </a:xfrm>
          <a:prstGeom prst="rect">
            <a:avLst/>
          </a:prstGeom>
        </p:spPr>
        <p:txBody>
          <a:bodyPr vert="horz" lIns="91440" tIns="45720" rIns="91440" bIns="45720" rtlCol="0" anchor="ctr"/>
          <a:lstStyle>
            <a:lvl1pPr algn="r">
              <a:defRPr sz="1100">
                <a:solidFill>
                  <a:schemeClr val="tx1"/>
                </a:solidFill>
              </a:defRPr>
            </a:lvl1pPr>
          </a:lstStyle>
          <a:p>
            <a:fld id="{B1BD3024-A370-4736-A073-CFE51D74BDB4}" type="datetimeFigureOut">
              <a:rPr lang="en-US" smtClean="0"/>
              <a:pPr/>
              <a:t>7/2/2024</a:t>
            </a:fld>
            <a:endParaRPr lang="en-US"/>
          </a:p>
        </p:txBody>
      </p:sp>
      <p:sp>
        <p:nvSpPr>
          <p:cNvPr id="6" name="Slide Number Placeholder 5"/>
          <p:cNvSpPr>
            <a:spLocks noGrp="1"/>
          </p:cNvSpPr>
          <p:nvPr>
            <p:ph type="sldNum" sz="quarter" idx="4"/>
          </p:nvPr>
        </p:nvSpPr>
        <p:spPr>
          <a:xfrm>
            <a:off x="10210800" y="6519333"/>
            <a:ext cx="914400" cy="202142"/>
          </a:xfrm>
          <a:prstGeom prst="rect">
            <a:avLst/>
          </a:prstGeom>
        </p:spPr>
        <p:txBody>
          <a:bodyPr vert="horz" lIns="91440" tIns="45720" rIns="91440" bIns="45720" rtlCol="0" anchor="ctr"/>
          <a:lstStyle>
            <a:lvl1pPr algn="r">
              <a:defRPr sz="1100">
                <a:solidFill>
                  <a:schemeClr val="tx1"/>
                </a:solidFill>
              </a:defRPr>
            </a:lvl1pPr>
          </a:lstStyle>
          <a:p>
            <a:fld id="{5E3DCFCC-8C7B-4574-91B2-C3342261C6C2}" type="slidenum">
              <a:rPr lang="en-US" smtClean="0"/>
              <a:pPr/>
              <a:t>‹#›</a:t>
            </a:fld>
            <a:endParaRPr lang="en-US"/>
          </a:p>
        </p:txBody>
      </p:sp>
    </p:spTree>
    <p:extLst>
      <p:ext uri="{BB962C8B-B14F-4D97-AF65-F5344CB8AC3E}">
        <p14:creationId xmlns:p14="http://schemas.microsoft.com/office/powerpoint/2010/main" val="17965786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61" r:id="rId5"/>
    <p:sldLayoutId id="2147483662"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cap="sm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bg2"/>
        </a:buClr>
        <a:buSzPct val="90000"/>
        <a:buFont typeface="Wingdings" panose="05000000000000000000" pitchFamily="2" charset="2"/>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1200"/>
        </a:spcBef>
        <a:buClr>
          <a:schemeClr val="bg2"/>
        </a:buClr>
        <a:buSzPct val="90000"/>
        <a:buFont typeface="Wingdings" panose="05000000000000000000" pitchFamily="2" charset="2"/>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800"/>
        </a:spcBef>
        <a:buClr>
          <a:schemeClr val="bg2"/>
        </a:buClr>
        <a:buSzPct val="90000"/>
        <a:buFont typeface="Wingdings" panose="05000000000000000000" pitchFamily="2" charset="2"/>
        <a:buChar char="§"/>
        <a:defRPr sz="1800" kern="1200">
          <a:solidFill>
            <a:schemeClr val="tx1"/>
          </a:solidFill>
          <a:latin typeface="+mn-lt"/>
          <a:ea typeface="+mn-ea"/>
          <a:cs typeface="+mn-cs"/>
        </a:defRPr>
      </a:lvl3pPr>
      <a:lvl4pPr marL="1051560" indent="-182880" algn="l" defTabSz="914400" rtl="0" eaLnBrk="1" latinLnBrk="0" hangingPunct="1">
        <a:lnSpc>
          <a:spcPct val="90000"/>
        </a:lnSpc>
        <a:spcBef>
          <a:spcPts val="600"/>
        </a:spcBef>
        <a:buClr>
          <a:schemeClr val="bg2"/>
        </a:buClr>
        <a:buSzPct val="90000"/>
        <a:buFont typeface="Wingdings" panose="05000000000000000000" pitchFamily="2" charset="2"/>
        <a:buChar char="§"/>
        <a:defRPr sz="1600" kern="1200">
          <a:solidFill>
            <a:schemeClr val="tx1"/>
          </a:solidFill>
          <a:latin typeface="+mn-lt"/>
          <a:ea typeface="+mn-ea"/>
          <a:cs typeface="+mn-cs"/>
        </a:defRPr>
      </a:lvl4pPr>
      <a:lvl5pPr marL="1325880" indent="-182880" algn="l" defTabSz="914400" rtl="0" eaLnBrk="1" latinLnBrk="0" hangingPunct="1">
        <a:lnSpc>
          <a:spcPct val="90000"/>
        </a:lnSpc>
        <a:spcBef>
          <a:spcPts val="600"/>
        </a:spcBef>
        <a:buClr>
          <a:schemeClr val="bg2"/>
        </a:buClr>
        <a:buSzPct val="90000"/>
        <a:buFont typeface="Wingdings" panose="05000000000000000000" pitchFamily="2" charset="2"/>
        <a:buChar char="§"/>
        <a:defRPr sz="1600" kern="1200">
          <a:solidFill>
            <a:schemeClr val="tx1"/>
          </a:solidFill>
          <a:latin typeface="+mn-lt"/>
          <a:ea typeface="+mn-ea"/>
          <a:cs typeface="+mn-cs"/>
        </a:defRPr>
      </a:lvl5pPr>
      <a:lvl6pPr marL="1600200" indent="-182880" algn="l" defTabSz="914400" rtl="0" eaLnBrk="1" latinLnBrk="0" hangingPunct="1">
        <a:lnSpc>
          <a:spcPct val="90000"/>
        </a:lnSpc>
        <a:spcBef>
          <a:spcPts val="600"/>
        </a:spcBef>
        <a:buClr>
          <a:schemeClr val="bg2"/>
        </a:buClr>
        <a:buSzPct val="90000"/>
        <a:buFont typeface="Wingdings" panose="05000000000000000000" pitchFamily="2" charset="2"/>
        <a:buChar char="§"/>
        <a:defRPr sz="1600" kern="1200">
          <a:solidFill>
            <a:schemeClr val="tx1"/>
          </a:solidFill>
          <a:latin typeface="+mn-lt"/>
          <a:ea typeface="+mn-ea"/>
          <a:cs typeface="+mn-cs"/>
        </a:defRPr>
      </a:lvl6pPr>
      <a:lvl7pPr marL="1874520" indent="-182880" algn="l" defTabSz="914400" rtl="0" eaLnBrk="1" latinLnBrk="0" hangingPunct="1">
        <a:lnSpc>
          <a:spcPct val="90000"/>
        </a:lnSpc>
        <a:spcBef>
          <a:spcPts val="600"/>
        </a:spcBef>
        <a:buClr>
          <a:schemeClr val="bg2"/>
        </a:buClr>
        <a:buSzPct val="90000"/>
        <a:buFont typeface="Wingdings" panose="05000000000000000000" pitchFamily="2" charset="2"/>
        <a:buChar char="§"/>
        <a:defRPr sz="1600" kern="1200">
          <a:solidFill>
            <a:schemeClr val="tx1"/>
          </a:solidFill>
          <a:latin typeface="+mn-lt"/>
          <a:ea typeface="+mn-ea"/>
          <a:cs typeface="+mn-cs"/>
        </a:defRPr>
      </a:lvl7pPr>
      <a:lvl8pPr marL="2148840" indent="-182880" algn="l" defTabSz="914400" rtl="0" eaLnBrk="1" latinLnBrk="0" hangingPunct="1">
        <a:lnSpc>
          <a:spcPct val="90000"/>
        </a:lnSpc>
        <a:spcBef>
          <a:spcPts val="600"/>
        </a:spcBef>
        <a:buClr>
          <a:schemeClr val="bg2"/>
        </a:buClr>
        <a:buSzPct val="90000"/>
        <a:buFont typeface="Wingdings" panose="05000000000000000000" pitchFamily="2" charset="2"/>
        <a:buChar char="§"/>
        <a:defRPr sz="1600" kern="1200">
          <a:solidFill>
            <a:schemeClr val="tx1"/>
          </a:solidFill>
          <a:latin typeface="+mn-lt"/>
          <a:ea typeface="+mn-ea"/>
          <a:cs typeface="+mn-cs"/>
        </a:defRPr>
      </a:lvl8pPr>
      <a:lvl9pPr marL="2423160" indent="-182880" algn="l" defTabSz="914400" rtl="0" eaLnBrk="1" latinLnBrk="0" hangingPunct="1">
        <a:lnSpc>
          <a:spcPct val="90000"/>
        </a:lnSpc>
        <a:spcBef>
          <a:spcPts val="600"/>
        </a:spcBef>
        <a:buClr>
          <a:schemeClr val="bg2"/>
        </a:buClr>
        <a:buSzPct val="90000"/>
        <a:buFont typeface="Wingdings" panose="05000000000000000000"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zszheng@csu.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wmf"/><Relationship Id="rId7"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slideLayout" Target="../slideLayouts/slideLayout5.xml"/><Relationship Id="rId6" Type="http://schemas.openxmlformats.org/officeDocument/2006/relationships/oleObject" Target="../embeddings/oleObject3.bin"/><Relationship Id="rId5" Type="http://schemas.openxmlformats.org/officeDocument/2006/relationships/image" Target="../media/image9.w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17.wmf"/><Relationship Id="rId3" Type="http://schemas.openxmlformats.org/officeDocument/2006/relationships/image" Target="../media/image12.wmf"/><Relationship Id="rId7" Type="http://schemas.openxmlformats.org/officeDocument/2006/relationships/image" Target="../media/image14.wmf"/><Relationship Id="rId12" Type="http://schemas.openxmlformats.org/officeDocument/2006/relationships/oleObject" Target="../embeddings/oleObject9.bin"/><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11" Type="http://schemas.openxmlformats.org/officeDocument/2006/relationships/image" Target="../media/image16.wmf"/><Relationship Id="rId5" Type="http://schemas.openxmlformats.org/officeDocument/2006/relationships/image" Target="../media/image13.w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15.wmf"/></Relationships>
</file>

<file path=ppt/slides/_rels/slide10.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0.bin"/><Relationship Id="rId1" Type="http://schemas.openxmlformats.org/officeDocument/2006/relationships/slideLayout" Target="../slideLayouts/slideLayout2.xml"/><Relationship Id="rId5" Type="http://schemas.openxmlformats.org/officeDocument/2006/relationships/image" Target="../media/image19.wmf"/><Relationship Id="rId4" Type="http://schemas.openxmlformats.org/officeDocument/2006/relationships/oleObject" Target="../embeddings/oleObject11.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24.wmf"/><Relationship Id="rId18" Type="http://schemas.openxmlformats.org/officeDocument/2006/relationships/oleObject" Target="../embeddings/oleObject20.bin"/><Relationship Id="rId3" Type="http://schemas.openxmlformats.org/officeDocument/2006/relationships/image" Target="../media/image20.wmf"/><Relationship Id="rId21" Type="http://schemas.openxmlformats.org/officeDocument/2006/relationships/image" Target="../media/image28.wmf"/><Relationship Id="rId7" Type="http://schemas.openxmlformats.org/officeDocument/2006/relationships/image" Target="../media/image22.wmf"/><Relationship Id="rId12" Type="http://schemas.openxmlformats.org/officeDocument/2006/relationships/oleObject" Target="../embeddings/oleObject17.bin"/><Relationship Id="rId17" Type="http://schemas.openxmlformats.org/officeDocument/2006/relationships/image" Target="../media/image26.wmf"/><Relationship Id="rId2" Type="http://schemas.openxmlformats.org/officeDocument/2006/relationships/oleObject" Target="../embeddings/oleObject12.bin"/><Relationship Id="rId16" Type="http://schemas.openxmlformats.org/officeDocument/2006/relationships/oleObject" Target="../embeddings/oleObject19.bin"/><Relationship Id="rId20" Type="http://schemas.openxmlformats.org/officeDocument/2006/relationships/oleObject" Target="../embeddings/oleObject21.bin"/><Relationship Id="rId1" Type="http://schemas.openxmlformats.org/officeDocument/2006/relationships/slideLayout" Target="../slideLayouts/slideLayout2.xml"/><Relationship Id="rId6" Type="http://schemas.openxmlformats.org/officeDocument/2006/relationships/oleObject" Target="../embeddings/oleObject14.bin"/><Relationship Id="rId11" Type="http://schemas.openxmlformats.org/officeDocument/2006/relationships/image" Target="../media/image23.wmf"/><Relationship Id="rId5" Type="http://schemas.openxmlformats.org/officeDocument/2006/relationships/image" Target="../media/image21.wmf"/><Relationship Id="rId15" Type="http://schemas.openxmlformats.org/officeDocument/2006/relationships/image" Target="../media/image25.wmf"/><Relationship Id="rId10" Type="http://schemas.openxmlformats.org/officeDocument/2006/relationships/oleObject" Target="../embeddings/oleObject16.bin"/><Relationship Id="rId19" Type="http://schemas.openxmlformats.org/officeDocument/2006/relationships/image" Target="../media/image27.wmf"/><Relationship Id="rId4" Type="http://schemas.openxmlformats.org/officeDocument/2006/relationships/oleObject" Target="../embeddings/oleObject13.bin"/><Relationship Id="rId9" Type="http://schemas.openxmlformats.org/officeDocument/2006/relationships/image" Target="../media/image14.wmf"/><Relationship Id="rId14" Type="http://schemas.openxmlformats.org/officeDocument/2006/relationships/oleObject" Target="../embeddings/oleObject18.bin"/></Relationships>
</file>

<file path=ppt/slides/_rels/slide12.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22.bin"/><Relationship Id="rId1" Type="http://schemas.openxmlformats.org/officeDocument/2006/relationships/slideLayout" Target="../slideLayouts/slideLayout2.xml"/><Relationship Id="rId5" Type="http://schemas.openxmlformats.org/officeDocument/2006/relationships/image" Target="../media/image30.wmf"/><Relationship Id="rId4" Type="http://schemas.openxmlformats.org/officeDocument/2006/relationships/oleObject" Target="../embeddings/oleObject23.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33.jpeg"/></Relationships>
</file>

<file path=ppt/slides/_rels/slide1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jpe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jpeg"/><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27.bin"/><Relationship Id="rId13" Type="http://schemas.openxmlformats.org/officeDocument/2006/relationships/image" Target="../media/image50.wmf"/><Relationship Id="rId3" Type="http://schemas.openxmlformats.org/officeDocument/2006/relationships/image" Target="../media/image45.wmf"/><Relationship Id="rId7" Type="http://schemas.openxmlformats.org/officeDocument/2006/relationships/image" Target="../media/image47.wmf"/><Relationship Id="rId12" Type="http://schemas.openxmlformats.org/officeDocument/2006/relationships/oleObject" Target="../embeddings/oleObject29.bin"/><Relationship Id="rId2" Type="http://schemas.openxmlformats.org/officeDocument/2006/relationships/oleObject" Target="../embeddings/oleObject24.bin"/><Relationship Id="rId1" Type="http://schemas.openxmlformats.org/officeDocument/2006/relationships/slideLayout" Target="../slideLayouts/slideLayout2.xml"/><Relationship Id="rId6" Type="http://schemas.openxmlformats.org/officeDocument/2006/relationships/oleObject" Target="../embeddings/oleObject26.bin"/><Relationship Id="rId11" Type="http://schemas.openxmlformats.org/officeDocument/2006/relationships/image" Target="../media/image49.wmf"/><Relationship Id="rId5" Type="http://schemas.openxmlformats.org/officeDocument/2006/relationships/image" Target="../media/image46.wmf"/><Relationship Id="rId10" Type="http://schemas.openxmlformats.org/officeDocument/2006/relationships/oleObject" Target="../embeddings/oleObject28.bin"/><Relationship Id="rId4" Type="http://schemas.openxmlformats.org/officeDocument/2006/relationships/oleObject" Target="../embeddings/oleObject25.bin"/><Relationship Id="rId9" Type="http://schemas.openxmlformats.org/officeDocument/2006/relationships/image" Target="../media/image48.w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image" Target="../media/image50.wmf"/><Relationship Id="rId3" Type="http://schemas.openxmlformats.org/officeDocument/2006/relationships/image" Target="../media/image51.wmf"/><Relationship Id="rId7" Type="http://schemas.openxmlformats.org/officeDocument/2006/relationships/image" Target="../media/image53.wmf"/><Relationship Id="rId12" Type="http://schemas.openxmlformats.org/officeDocument/2006/relationships/oleObject" Target="../embeddings/oleObject35.bin"/><Relationship Id="rId2" Type="http://schemas.openxmlformats.org/officeDocument/2006/relationships/oleObject" Target="../embeddings/oleObject30.bin"/><Relationship Id="rId1" Type="http://schemas.openxmlformats.org/officeDocument/2006/relationships/slideLayout" Target="../slideLayouts/slideLayout2.xml"/><Relationship Id="rId6" Type="http://schemas.openxmlformats.org/officeDocument/2006/relationships/oleObject" Target="../embeddings/oleObject32.bin"/><Relationship Id="rId11" Type="http://schemas.openxmlformats.org/officeDocument/2006/relationships/image" Target="../media/image55.wmf"/><Relationship Id="rId5" Type="http://schemas.openxmlformats.org/officeDocument/2006/relationships/image" Target="../media/image52.wmf"/><Relationship Id="rId10" Type="http://schemas.openxmlformats.org/officeDocument/2006/relationships/oleObject" Target="../embeddings/oleObject34.bin"/><Relationship Id="rId4" Type="http://schemas.openxmlformats.org/officeDocument/2006/relationships/oleObject" Target="../embeddings/oleObject31.bin"/><Relationship Id="rId9" Type="http://schemas.openxmlformats.org/officeDocument/2006/relationships/image" Target="../media/image54.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39.bin"/><Relationship Id="rId3" Type="http://schemas.openxmlformats.org/officeDocument/2006/relationships/image" Target="../media/image50.wmf"/><Relationship Id="rId7" Type="http://schemas.openxmlformats.org/officeDocument/2006/relationships/image" Target="../media/image57.wmf"/><Relationship Id="rId2" Type="http://schemas.openxmlformats.org/officeDocument/2006/relationships/oleObject" Target="../embeddings/oleObject36.bin"/><Relationship Id="rId1" Type="http://schemas.openxmlformats.org/officeDocument/2006/relationships/slideLayout" Target="../slideLayouts/slideLayout2.xml"/><Relationship Id="rId6" Type="http://schemas.openxmlformats.org/officeDocument/2006/relationships/oleObject" Target="../embeddings/oleObject38.bin"/><Relationship Id="rId11" Type="http://schemas.openxmlformats.org/officeDocument/2006/relationships/oleObject" Target="../embeddings/oleObject41.bin"/><Relationship Id="rId5" Type="http://schemas.openxmlformats.org/officeDocument/2006/relationships/image" Target="../media/image56.wmf"/><Relationship Id="rId10" Type="http://schemas.openxmlformats.org/officeDocument/2006/relationships/oleObject" Target="../embeddings/oleObject40.bin"/><Relationship Id="rId4" Type="http://schemas.openxmlformats.org/officeDocument/2006/relationships/oleObject" Target="../embeddings/oleObject37.bin"/><Relationship Id="rId9" Type="http://schemas.openxmlformats.org/officeDocument/2006/relationships/image" Target="../media/image58.wmf"/></Relationships>
</file>

<file path=ppt/slides/_rels/slide22.xml.rels><?xml version="1.0" encoding="UTF-8" standalone="yes"?>
<Relationships xmlns="http://schemas.openxmlformats.org/package/2006/relationships"><Relationship Id="rId3" Type="http://schemas.openxmlformats.org/officeDocument/2006/relationships/image" Target="../media/image59.wmf"/><Relationship Id="rId7" Type="http://schemas.openxmlformats.org/officeDocument/2006/relationships/image" Target="../media/image50.wmf"/><Relationship Id="rId2" Type="http://schemas.openxmlformats.org/officeDocument/2006/relationships/oleObject" Target="../embeddings/oleObject42.bin"/><Relationship Id="rId1" Type="http://schemas.openxmlformats.org/officeDocument/2006/relationships/slideLayout" Target="../slideLayouts/slideLayout2.xml"/><Relationship Id="rId6" Type="http://schemas.openxmlformats.org/officeDocument/2006/relationships/oleObject" Target="../embeddings/oleObject44.bin"/><Relationship Id="rId5" Type="http://schemas.openxmlformats.org/officeDocument/2006/relationships/image" Target="../media/image60.wmf"/><Relationship Id="rId4" Type="http://schemas.openxmlformats.org/officeDocument/2006/relationships/oleObject" Target="../embeddings/oleObject43.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oleObject" Target="../embeddings/oleObject45.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oleObject" Target="../embeddings/oleObject46.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50.bin"/><Relationship Id="rId3" Type="http://schemas.openxmlformats.org/officeDocument/2006/relationships/image" Target="../media/image63.wmf"/><Relationship Id="rId7" Type="http://schemas.openxmlformats.org/officeDocument/2006/relationships/image" Target="../media/image65.wmf"/><Relationship Id="rId2" Type="http://schemas.openxmlformats.org/officeDocument/2006/relationships/oleObject" Target="../embeddings/oleObject47.bin"/><Relationship Id="rId1" Type="http://schemas.openxmlformats.org/officeDocument/2006/relationships/slideLayout" Target="../slideLayouts/slideLayout2.xml"/><Relationship Id="rId6" Type="http://schemas.openxmlformats.org/officeDocument/2006/relationships/oleObject" Target="../embeddings/oleObject49.bin"/><Relationship Id="rId11" Type="http://schemas.openxmlformats.org/officeDocument/2006/relationships/image" Target="../media/image67.wmf"/><Relationship Id="rId5" Type="http://schemas.openxmlformats.org/officeDocument/2006/relationships/image" Target="../media/image64.wmf"/><Relationship Id="rId10" Type="http://schemas.openxmlformats.org/officeDocument/2006/relationships/oleObject" Target="../embeddings/oleObject51.bin"/><Relationship Id="rId4" Type="http://schemas.openxmlformats.org/officeDocument/2006/relationships/oleObject" Target="../embeddings/oleObject48.bin"/><Relationship Id="rId9" Type="http://schemas.openxmlformats.org/officeDocument/2006/relationships/image" Target="../media/image66.w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55.bin"/><Relationship Id="rId13" Type="http://schemas.openxmlformats.org/officeDocument/2006/relationships/image" Target="../media/image73.wmf"/><Relationship Id="rId18" Type="http://schemas.openxmlformats.org/officeDocument/2006/relationships/oleObject" Target="../embeddings/oleObject60.bin"/><Relationship Id="rId26" Type="http://schemas.openxmlformats.org/officeDocument/2006/relationships/oleObject" Target="../embeddings/oleObject64.bin"/><Relationship Id="rId3" Type="http://schemas.openxmlformats.org/officeDocument/2006/relationships/image" Target="../media/image68.wmf"/><Relationship Id="rId21" Type="http://schemas.openxmlformats.org/officeDocument/2006/relationships/image" Target="../media/image77.wmf"/><Relationship Id="rId7" Type="http://schemas.openxmlformats.org/officeDocument/2006/relationships/image" Target="../media/image70.wmf"/><Relationship Id="rId12" Type="http://schemas.openxmlformats.org/officeDocument/2006/relationships/oleObject" Target="../embeddings/oleObject57.bin"/><Relationship Id="rId17" Type="http://schemas.openxmlformats.org/officeDocument/2006/relationships/image" Target="../media/image75.wmf"/><Relationship Id="rId25" Type="http://schemas.openxmlformats.org/officeDocument/2006/relationships/image" Target="../media/image79.wmf"/><Relationship Id="rId2" Type="http://schemas.openxmlformats.org/officeDocument/2006/relationships/oleObject" Target="../embeddings/oleObject52.bin"/><Relationship Id="rId16" Type="http://schemas.openxmlformats.org/officeDocument/2006/relationships/oleObject" Target="../embeddings/oleObject59.bin"/><Relationship Id="rId20" Type="http://schemas.openxmlformats.org/officeDocument/2006/relationships/oleObject" Target="../embeddings/oleObject61.bin"/><Relationship Id="rId29" Type="http://schemas.openxmlformats.org/officeDocument/2006/relationships/image" Target="../media/image81.wmf"/><Relationship Id="rId1" Type="http://schemas.openxmlformats.org/officeDocument/2006/relationships/slideLayout" Target="../slideLayouts/slideLayout2.xml"/><Relationship Id="rId6" Type="http://schemas.openxmlformats.org/officeDocument/2006/relationships/oleObject" Target="../embeddings/oleObject54.bin"/><Relationship Id="rId11" Type="http://schemas.openxmlformats.org/officeDocument/2006/relationships/image" Target="../media/image72.wmf"/><Relationship Id="rId24" Type="http://schemas.openxmlformats.org/officeDocument/2006/relationships/oleObject" Target="../embeddings/oleObject63.bin"/><Relationship Id="rId5" Type="http://schemas.openxmlformats.org/officeDocument/2006/relationships/image" Target="../media/image69.wmf"/><Relationship Id="rId15" Type="http://schemas.openxmlformats.org/officeDocument/2006/relationships/image" Target="../media/image74.wmf"/><Relationship Id="rId23" Type="http://schemas.openxmlformats.org/officeDocument/2006/relationships/image" Target="../media/image78.wmf"/><Relationship Id="rId28" Type="http://schemas.openxmlformats.org/officeDocument/2006/relationships/oleObject" Target="../embeddings/oleObject65.bin"/><Relationship Id="rId10" Type="http://schemas.openxmlformats.org/officeDocument/2006/relationships/oleObject" Target="../embeddings/oleObject56.bin"/><Relationship Id="rId19" Type="http://schemas.openxmlformats.org/officeDocument/2006/relationships/image" Target="../media/image76.wmf"/><Relationship Id="rId4" Type="http://schemas.openxmlformats.org/officeDocument/2006/relationships/oleObject" Target="../embeddings/oleObject53.bin"/><Relationship Id="rId9" Type="http://schemas.openxmlformats.org/officeDocument/2006/relationships/image" Target="../media/image71.wmf"/><Relationship Id="rId14" Type="http://schemas.openxmlformats.org/officeDocument/2006/relationships/oleObject" Target="../embeddings/oleObject58.bin"/><Relationship Id="rId22" Type="http://schemas.openxmlformats.org/officeDocument/2006/relationships/oleObject" Target="../embeddings/oleObject62.bin"/><Relationship Id="rId27" Type="http://schemas.openxmlformats.org/officeDocument/2006/relationships/image" Target="../media/image80.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03931" y="1449694"/>
            <a:ext cx="6821536" cy="1750845"/>
          </a:xfrm>
        </p:spPr>
        <p:txBody>
          <a:bodyPr>
            <a:noAutofit/>
          </a:bodyPr>
          <a:lstStyle/>
          <a:p>
            <a:pPr>
              <a:lnSpc>
                <a:spcPct val="100000"/>
              </a:lnSpc>
            </a:pPr>
            <a:r>
              <a:rPr lang="zh-CN" altLang="en-US" sz="5660" dirty="0">
                <a:latin typeface="华文楷体" panose="02010600040101010101" pitchFamily="2" charset="-122"/>
                <a:ea typeface="华文楷体" panose="02010600040101010101" pitchFamily="2" charset="-122"/>
              </a:rPr>
              <a:t>计算是解决科学工程问题的关键</a:t>
            </a:r>
            <a:endParaRPr lang="en-US" sz="5660" dirty="0">
              <a:latin typeface="华文楷体" panose="02010600040101010101" pitchFamily="2" charset="-122"/>
              <a:ea typeface="华文楷体" panose="02010600040101010101" pitchFamily="2" charset="-122"/>
            </a:endParaRPr>
          </a:p>
        </p:txBody>
      </p:sp>
      <p:sp>
        <p:nvSpPr>
          <p:cNvPr id="3" name="Subtitle 2"/>
          <p:cNvSpPr>
            <a:spLocks noGrp="1"/>
          </p:cNvSpPr>
          <p:nvPr>
            <p:ph type="subTitle" idx="1"/>
          </p:nvPr>
        </p:nvSpPr>
        <p:spPr>
          <a:xfrm>
            <a:off x="2703931" y="3359987"/>
            <a:ext cx="6917397" cy="2149415"/>
          </a:xfrm>
        </p:spPr>
        <p:txBody>
          <a:bodyPr>
            <a:normAutofit fontScale="77500" lnSpcReduction="20000"/>
          </a:bodyPr>
          <a:lstStyle/>
          <a:p>
            <a:pPr algn="ctr">
              <a:lnSpc>
                <a:spcPct val="100000"/>
              </a:lnSpc>
              <a:buClr>
                <a:schemeClr val="hlink"/>
              </a:buClr>
              <a:buFont typeface="Wingdings" panose="05000000000000000000" pitchFamily="2" charset="2"/>
              <a:buNone/>
            </a:pPr>
            <a:r>
              <a:rPr lang="zh-CN" altLang="en-US" sz="5100" b="1" dirty="0">
                <a:solidFill>
                  <a:srgbClr val="0000FF"/>
                </a:solidFill>
                <a:latin typeface="Tahoma" panose="020B0604030504040204" pitchFamily="34" charset="0"/>
                <a:ea typeface="隶书" pitchFamily="49" charset="-122"/>
              </a:rPr>
              <a:t>郑洲顺</a:t>
            </a:r>
          </a:p>
          <a:p>
            <a:pPr algn="ctr">
              <a:lnSpc>
                <a:spcPct val="100000"/>
              </a:lnSpc>
              <a:buClr>
                <a:schemeClr val="hlink"/>
              </a:buClr>
              <a:buFont typeface="Wingdings" panose="05000000000000000000" pitchFamily="2" charset="2"/>
              <a:buNone/>
            </a:pPr>
            <a:r>
              <a:rPr lang="zh-CN" altLang="en-US" sz="4600" b="1" dirty="0">
                <a:solidFill>
                  <a:srgbClr val="0000B4"/>
                </a:solidFill>
                <a:latin typeface="Tahoma" panose="020B0604030504040204" pitchFamily="34" charset="0"/>
                <a:ea typeface="隶书" pitchFamily="49" charset="-122"/>
              </a:rPr>
              <a:t>中南大学数学与统计学院</a:t>
            </a:r>
          </a:p>
          <a:p>
            <a:pPr algn="ctr">
              <a:lnSpc>
                <a:spcPct val="100000"/>
              </a:lnSpc>
              <a:buClr>
                <a:schemeClr val="hlink"/>
              </a:buClr>
              <a:buFont typeface="Wingdings" panose="05000000000000000000" pitchFamily="2" charset="2"/>
              <a:buNone/>
            </a:pPr>
            <a:r>
              <a:rPr lang="en-US" altLang="zh-CN" sz="3300" dirty="0">
                <a:solidFill>
                  <a:srgbClr val="0033CC"/>
                </a:solidFill>
                <a:latin typeface="Tahoma" panose="020B0604030504040204" pitchFamily="34" charset="0"/>
                <a:ea typeface="隶书" pitchFamily="49" charset="-122"/>
                <a:hlinkClick r:id="rId3">
                  <a:extLst>
                    <a:ext uri="{A12FA001-AC4F-418D-AE19-62706E023703}">
                      <ahyp:hlinkClr xmlns:ahyp="http://schemas.microsoft.com/office/drawing/2018/hyperlinkcolor" val="tx"/>
                    </a:ext>
                  </a:extLst>
                </a:hlinkClick>
              </a:rPr>
              <a:t>zszheng@csu.edu.cn</a:t>
            </a:r>
            <a:endParaRPr lang="en-US" altLang="zh-CN" sz="3300" dirty="0">
              <a:solidFill>
                <a:srgbClr val="0033CC"/>
              </a:solidFill>
              <a:latin typeface="Tahoma" panose="020B0604030504040204" pitchFamily="34" charset="0"/>
              <a:ea typeface="隶书" pitchFamily="49" charset="-122"/>
            </a:endParaRPr>
          </a:p>
          <a:p>
            <a:pPr>
              <a:lnSpc>
                <a:spcPct val="100000"/>
              </a:lnSpc>
              <a:buClr>
                <a:schemeClr val="hlink"/>
              </a:buClr>
            </a:pPr>
            <a:r>
              <a:rPr lang="en-US" altLang="zh-CN" sz="3300" b="1" kern="1200" baseline="0" dirty="0">
                <a:solidFill>
                  <a:srgbClr val="0033CC"/>
                </a:solidFill>
                <a:ea typeface="宋体" panose="02010600030101010101" pitchFamily="2" charset="-122"/>
              </a:rPr>
              <a:t>2024</a:t>
            </a:r>
            <a:r>
              <a:rPr lang="zh-CN" altLang="en-US" sz="3300" b="1" kern="1200" baseline="0" dirty="0">
                <a:solidFill>
                  <a:srgbClr val="0033CC"/>
                </a:solidFill>
                <a:ea typeface="宋体" panose="02010600030101010101" pitchFamily="2" charset="-122"/>
              </a:rPr>
              <a:t>年</a:t>
            </a:r>
            <a:r>
              <a:rPr lang="en-US" altLang="zh-CN" sz="3300" b="1" kern="1200" baseline="0" dirty="0">
                <a:solidFill>
                  <a:srgbClr val="0033CC"/>
                </a:solidFill>
                <a:ea typeface="宋体" panose="02010600030101010101" pitchFamily="2" charset="-122"/>
              </a:rPr>
              <a:t>07</a:t>
            </a:r>
            <a:r>
              <a:rPr lang="zh-CN" altLang="en-US" sz="3300" b="1" kern="1200" baseline="0" dirty="0">
                <a:solidFill>
                  <a:srgbClr val="0033CC"/>
                </a:solidFill>
                <a:ea typeface="宋体" panose="02010600030101010101" pitchFamily="2" charset="-122"/>
              </a:rPr>
              <a:t>月</a:t>
            </a:r>
            <a:r>
              <a:rPr lang="en-US" altLang="zh-CN" sz="3300" b="1" dirty="0">
                <a:solidFill>
                  <a:srgbClr val="0033CC"/>
                </a:solidFill>
                <a:ea typeface="宋体" panose="02010600030101010101" pitchFamily="2" charset="-122"/>
              </a:rPr>
              <a:t>02</a:t>
            </a:r>
            <a:r>
              <a:rPr lang="zh-CN" altLang="en-US" sz="3300" b="1" kern="1200" baseline="0" dirty="0">
                <a:solidFill>
                  <a:srgbClr val="0033CC"/>
                </a:solidFill>
                <a:ea typeface="宋体" panose="02010600030101010101" pitchFamily="2" charset="-122"/>
              </a:rPr>
              <a:t>日  长沙</a:t>
            </a:r>
          </a:p>
          <a:p>
            <a:pPr algn="ctr">
              <a:lnSpc>
                <a:spcPct val="100000"/>
              </a:lnSpc>
              <a:buClr>
                <a:schemeClr val="hlink"/>
              </a:buClr>
              <a:buFont typeface="Wingdings" panose="05000000000000000000" pitchFamily="2" charset="2"/>
              <a:buNone/>
            </a:pPr>
            <a:endParaRPr lang="en-US" dirty="0"/>
          </a:p>
        </p:txBody>
      </p:sp>
      <p:pic>
        <p:nvPicPr>
          <p:cNvPr id="4" name="图片 4103" descr="u=3756818244,978351018&amp;fm=0&amp;gp=8">
            <a:extLst>
              <a:ext uri="{FF2B5EF4-FFF2-40B4-BE49-F238E27FC236}">
                <a16:creationId xmlns:a16="http://schemas.microsoft.com/office/drawing/2014/main" id="{57784A70-07E7-4987-9E2F-173938AEF062}"/>
              </a:ext>
            </a:extLst>
          </p:cNvPr>
          <p:cNvPicPr>
            <a:picLocks noChangeAspect="1"/>
          </p:cNvPicPr>
          <p:nvPr/>
        </p:nvPicPr>
        <p:blipFill>
          <a:blip r:embed="rId4" cstate="print"/>
          <a:stretch>
            <a:fillRect/>
          </a:stretch>
        </p:blipFill>
        <p:spPr>
          <a:xfrm>
            <a:off x="8768284" y="4770119"/>
            <a:ext cx="936625" cy="765175"/>
          </a:xfrm>
          <a:prstGeom prst="rect">
            <a:avLst/>
          </a:prstGeom>
          <a:noFill/>
          <a:ln w="9525">
            <a:noFill/>
          </a:ln>
        </p:spPr>
      </p:pic>
    </p:spTree>
    <p:extLst>
      <p:ext uri="{BB962C8B-B14F-4D97-AF65-F5344CB8AC3E}">
        <p14:creationId xmlns:p14="http://schemas.microsoft.com/office/powerpoint/2010/main" val="2614072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25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25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250"/>
                            </p:stCondLst>
                            <p:childTnLst>
                              <p:par>
                                <p:cTn id="10" presetID="2" presetClass="entr" presetSubtype="4" fill="hold" grpId="0"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25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25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 presetClass="entr" presetSubtype="4" fill="hold" grpId="0" nodeType="after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25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25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750"/>
                            </p:stCondLst>
                            <p:childTnLst>
                              <p:par>
                                <p:cTn id="20" presetID="2" presetClass="entr" presetSubtype="4" fill="hold" grpId="0" nodeType="after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additive="base">
                                        <p:cTn id="22" dur="25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3" dur="25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4040" y="805132"/>
            <a:ext cx="5760720" cy="730371"/>
          </a:xfrm>
        </p:spPr>
        <p:txBody>
          <a:bodyPr>
            <a:normAutofit fontScale="90000"/>
          </a:bodyPr>
          <a:lstStyle/>
          <a:p>
            <a:r>
              <a:rPr lang="zh-CN" altLang="en-US" sz="5400" b="1" dirty="0">
                <a:ea typeface="宋体" panose="02010600030101010101" pitchFamily="2" charset="-122"/>
              </a:rPr>
              <a:t>提    纲</a:t>
            </a:r>
            <a:endParaRPr lang="en-US" dirty="0"/>
          </a:p>
        </p:txBody>
      </p:sp>
      <p:sp>
        <p:nvSpPr>
          <p:cNvPr id="3" name="Text Placeholder 2"/>
          <p:cNvSpPr>
            <a:spLocks noGrp="1"/>
          </p:cNvSpPr>
          <p:nvPr>
            <p:ph type="body" idx="1"/>
          </p:nvPr>
        </p:nvSpPr>
        <p:spPr>
          <a:xfrm>
            <a:off x="5423140" y="1535502"/>
            <a:ext cx="6216769" cy="2501659"/>
          </a:xfrm>
        </p:spPr>
        <p:txBody>
          <a:bodyPr>
            <a:noAutofit/>
          </a:bodyPr>
          <a:lstStyle/>
          <a:p>
            <a:pPr algn="l"/>
            <a:r>
              <a:rPr lang="en-US" altLang="zh-CN" sz="2600" b="1" dirty="0" err="1">
                <a:solidFill>
                  <a:srgbClr val="0099CC"/>
                </a:solidFill>
                <a:latin typeface="Times New Roman" panose="02020603050405020304" pitchFamily="18" charset="0"/>
                <a:ea typeface="宋体" panose="02010600030101010101" pitchFamily="2" charset="-122"/>
              </a:rPr>
              <a:t>数学</a:t>
            </a:r>
            <a:r>
              <a:rPr lang="zh-CN" altLang="en-US" sz="2600" b="1" dirty="0">
                <a:solidFill>
                  <a:srgbClr val="0099CC"/>
                </a:solidFill>
                <a:latin typeface="Times New Roman" panose="02020603050405020304" pitchFamily="18" charset="0"/>
                <a:ea typeface="宋体" panose="02010600030101010101" pitchFamily="2" charset="-122"/>
              </a:rPr>
              <a:t>在生活和工作中</a:t>
            </a:r>
            <a:r>
              <a:rPr lang="en-US" altLang="zh-CN" sz="2600" b="1" dirty="0" err="1">
                <a:solidFill>
                  <a:srgbClr val="0099CC"/>
                </a:solidFill>
                <a:latin typeface="Times New Roman" panose="02020603050405020304" pitchFamily="18" charset="0"/>
                <a:ea typeface="宋体" panose="02010600030101010101" pitchFamily="2" charset="-122"/>
              </a:rPr>
              <a:t>有用吗</a:t>
            </a:r>
            <a:r>
              <a:rPr lang="en-US" altLang="zh-CN" sz="2600" b="1" dirty="0">
                <a:solidFill>
                  <a:srgbClr val="0099CC"/>
                </a:solidFill>
                <a:latin typeface="Times New Roman" panose="02020603050405020304" pitchFamily="18" charset="0"/>
                <a:ea typeface="宋体" panose="02010600030101010101" pitchFamily="2" charset="-122"/>
              </a:rPr>
              <a:t>？</a:t>
            </a:r>
          </a:p>
          <a:p>
            <a:pPr algn="l"/>
            <a:r>
              <a:rPr lang="zh-CN" altLang="en-US" sz="2600" b="1" dirty="0">
                <a:solidFill>
                  <a:srgbClr val="FF9900"/>
                </a:solidFill>
                <a:latin typeface="宋体" panose="02010600030101010101" pitchFamily="2" charset="-122"/>
                <a:ea typeface="宋体" panose="02010600030101010101" pitchFamily="2" charset="-122"/>
              </a:rPr>
              <a:t>生活和工作中不用数学的原因？</a:t>
            </a:r>
            <a:endParaRPr lang="en-US" altLang="zh-CN" sz="2600" b="1" dirty="0">
              <a:solidFill>
                <a:srgbClr val="FF9900"/>
              </a:solidFill>
              <a:latin typeface="宋体" panose="02010600030101010101" pitchFamily="2" charset="-122"/>
              <a:ea typeface="宋体" panose="02010600030101010101" pitchFamily="2" charset="-122"/>
            </a:endParaRPr>
          </a:p>
          <a:p>
            <a:pPr algn="l"/>
            <a:r>
              <a:rPr lang="zh-CN" altLang="en-US" sz="2600" b="1" dirty="0">
                <a:solidFill>
                  <a:srgbClr val="6600FF"/>
                </a:solidFill>
                <a:latin typeface="Arial" panose="020B0604020202020204" pitchFamily="34" charset="0"/>
                <a:ea typeface="宋体" panose="02010600030101010101" pitchFamily="2" charset="-122"/>
              </a:rPr>
              <a:t>数学建模是用数学解决是问题的关键</a:t>
            </a:r>
            <a:endParaRPr lang="en-US" altLang="zh-CN" sz="2600" b="1" dirty="0">
              <a:solidFill>
                <a:srgbClr val="6600FF"/>
              </a:solidFill>
              <a:latin typeface="Arial" panose="020B0604020202020204" pitchFamily="34" charset="0"/>
              <a:ea typeface="宋体" panose="02010600030101010101" pitchFamily="2" charset="-122"/>
            </a:endParaRPr>
          </a:p>
          <a:p>
            <a:pPr algn="l"/>
            <a:r>
              <a:rPr lang="zh-CN" altLang="en-US" sz="2600" b="1" dirty="0">
                <a:solidFill>
                  <a:srgbClr val="0033CC"/>
                </a:solidFill>
                <a:latin typeface="Arial" panose="020B0604020202020204" pitchFamily="34" charset="0"/>
                <a:ea typeface="宋体" panose="02010600030101010101" pitchFamily="2" charset="-122"/>
              </a:rPr>
              <a:t>科学计算是解决科学工程问题的关键</a:t>
            </a:r>
            <a:endParaRPr lang="en-US" altLang="zh-CN" sz="2600" b="1" dirty="0">
              <a:solidFill>
                <a:srgbClr val="0033CC"/>
              </a:solidFill>
              <a:latin typeface="Arial" panose="020B0604020202020204" pitchFamily="34" charset="0"/>
              <a:ea typeface="宋体" panose="02010600030101010101" pitchFamily="2" charset="-122"/>
            </a:endParaRPr>
          </a:p>
          <a:p>
            <a:pPr algn="l"/>
            <a:r>
              <a:rPr lang="zh-CN" altLang="en-US" sz="2600" b="1" dirty="0">
                <a:solidFill>
                  <a:srgbClr val="0000FF"/>
                </a:solidFill>
                <a:latin typeface="Arial" panose="020B0604020202020204" pitchFamily="34" charset="0"/>
                <a:ea typeface="宋体" panose="02010600030101010101" pitchFamily="2" charset="-122"/>
              </a:rPr>
              <a:t>数学技术与数学应用</a:t>
            </a:r>
            <a:endParaRPr lang="en-US" altLang="zh-CN" sz="2600" b="1" dirty="0">
              <a:solidFill>
                <a:srgbClr val="0000FF"/>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32651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25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25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250"/>
                            </p:stCondLst>
                            <p:childTnLst>
                              <p:par>
                                <p:cTn id="10" presetID="2" presetClass="entr" presetSubtype="4" fill="hold" grpId="0"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25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25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 presetClass="entr" presetSubtype="4" fill="hold" grpId="0" nodeType="after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25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25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750"/>
                            </p:stCondLst>
                            <p:childTnLst>
                              <p:par>
                                <p:cTn id="20" presetID="2" presetClass="entr" presetSubtype="4" fill="hold" grpId="0" nodeType="after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additive="base">
                                        <p:cTn id="22" dur="25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3" dur="25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24" fill="hold">
                            <p:stCondLst>
                              <p:cond delay="1000"/>
                            </p:stCondLst>
                            <p:childTnLst>
                              <p:par>
                                <p:cTn id="25" presetID="2" presetClass="entr" presetSubtype="4" fill="hold" grpId="0" nodeType="after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25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25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562302"/>
            <a:ext cx="5426015" cy="731660"/>
          </a:xfrm>
        </p:spPr>
        <p:txBody>
          <a:bodyPr/>
          <a:lstStyle/>
          <a:p>
            <a:r>
              <a:rPr lang="zh-CN" altLang="en-US" b="1" dirty="0">
                <a:solidFill>
                  <a:srgbClr val="000000"/>
                </a:solidFill>
                <a:latin typeface="微软雅黑" charset="-122"/>
                <a:ea typeface="微软雅黑" charset="-122"/>
              </a:rPr>
              <a:t>数学有用吗？</a:t>
            </a:r>
            <a:endParaRPr lang="en-US" b="1" dirty="0">
              <a:solidFill>
                <a:srgbClr val="000000"/>
              </a:solidFill>
              <a:latin typeface="微软雅黑" charset="-122"/>
              <a:ea typeface="微软雅黑" charset="-122"/>
            </a:endParaRPr>
          </a:p>
        </p:txBody>
      </p:sp>
      <p:sp>
        <p:nvSpPr>
          <p:cNvPr id="5" name="文本框 4">
            <a:extLst>
              <a:ext uri="{FF2B5EF4-FFF2-40B4-BE49-F238E27FC236}">
                <a16:creationId xmlns:a16="http://schemas.microsoft.com/office/drawing/2014/main" id="{9EF7DDCA-71AA-4FC4-B85F-E39FF24F3BC4}"/>
              </a:ext>
            </a:extLst>
          </p:cNvPr>
          <p:cNvSpPr txBox="1"/>
          <p:nvPr/>
        </p:nvSpPr>
        <p:spPr>
          <a:xfrm>
            <a:off x="822380" y="1805795"/>
            <a:ext cx="10282692" cy="3254417"/>
          </a:xfrm>
          <a:prstGeom prst="rect">
            <a:avLst/>
          </a:prstGeom>
          <a:noFill/>
        </p:spPr>
        <p:txBody>
          <a:bodyPr wrap="square">
            <a:spAutoFit/>
          </a:bodyPr>
          <a:lstStyle/>
          <a:p>
            <a:pPr>
              <a:lnSpc>
                <a:spcPct val="150000"/>
              </a:lnSpc>
              <a:spcBef>
                <a:spcPts val="600"/>
              </a:spcBef>
            </a:pPr>
            <a:r>
              <a:rPr lang="zh-CN" altLang="en-US" sz="1800" dirty="0">
                <a:latin typeface="Arial" panose="020B0604020202020204" pitchFamily="34" charset="0"/>
                <a:ea typeface="宋体" panose="02010600030101010101" pitchFamily="2" charset="-122"/>
              </a:rPr>
              <a:t>            </a:t>
            </a:r>
            <a:r>
              <a:rPr lang="zh-CN" altLang="en-US" sz="2800" b="1" dirty="0">
                <a:solidFill>
                  <a:srgbClr val="FF0000"/>
                </a:solidFill>
                <a:latin typeface="微软雅黑" charset="-122"/>
                <a:ea typeface="微软雅黑" charset="-122"/>
              </a:rPr>
              <a:t>数学是科学之母，科学技术离不开数学</a:t>
            </a:r>
            <a:r>
              <a:rPr lang="zh-CN" altLang="en-US" sz="2800" b="1" dirty="0">
                <a:solidFill>
                  <a:schemeClr val="tx2"/>
                </a:solidFill>
                <a:latin typeface="微软雅黑" charset="-122"/>
                <a:ea typeface="微软雅黑" charset="-122"/>
              </a:rPr>
              <a:t>，</a:t>
            </a:r>
            <a:r>
              <a:rPr lang="zh-CN" altLang="en-US" sz="2800" b="1" dirty="0">
                <a:latin typeface="微软雅黑" charset="-122"/>
                <a:ea typeface="微软雅黑" charset="-122"/>
              </a:rPr>
              <a:t>它通过建立数学模型与数学产生紧密联系。数学又以各种形式应用于科学技术各领域。数学擅长于处理各种复杂的依赖关系，精细刻画量的变化以及可能性的评估。</a:t>
            </a:r>
            <a:r>
              <a:rPr lang="zh-CN" altLang="en-US" sz="2800" b="1" dirty="0">
                <a:solidFill>
                  <a:srgbClr val="0000CC"/>
                </a:solidFill>
                <a:latin typeface="微软雅黑" charset="-122"/>
                <a:ea typeface="微软雅黑" charset="-122"/>
              </a:rPr>
              <a:t>它可以帮助人们探讨原因、量化过程、控制风险、优化管理、合理预测。</a:t>
            </a:r>
            <a:r>
              <a:rPr lang="zh-CN" altLang="en-US" sz="2800" dirty="0">
                <a:latin typeface="Arial" panose="020B0604020202020204" pitchFamily="34" charset="0"/>
                <a:ea typeface="宋体" panose="02010600030101010101" pitchFamily="2" charset="-122"/>
              </a:rPr>
              <a:t> </a:t>
            </a:r>
            <a:endParaRPr lang="zh-CN" altLang="en-US" sz="2800" dirty="0"/>
          </a:p>
        </p:txBody>
      </p:sp>
      <p:sp>
        <p:nvSpPr>
          <p:cNvPr id="7" name="Text Box 26">
            <a:extLst>
              <a:ext uri="{FF2B5EF4-FFF2-40B4-BE49-F238E27FC236}">
                <a16:creationId xmlns:a16="http://schemas.microsoft.com/office/drawing/2014/main" id="{D0743C42-C215-4DF2-9303-9150738CDB87}"/>
              </a:ext>
            </a:extLst>
          </p:cNvPr>
          <p:cNvSpPr txBox="1"/>
          <p:nvPr/>
        </p:nvSpPr>
        <p:spPr>
          <a:xfrm>
            <a:off x="775420" y="5592709"/>
            <a:ext cx="6269486" cy="662554"/>
          </a:xfrm>
          <a:prstGeom prst="rect">
            <a:avLst/>
          </a:prstGeom>
          <a:noFill/>
          <a:ln w="9525">
            <a:noFill/>
          </a:ln>
        </p:spPr>
        <p:txBody>
          <a:bodyPr wrap="square">
            <a:spAutoFit/>
          </a:bodyPr>
          <a:lstStyle/>
          <a:p>
            <a:pPr>
              <a:lnSpc>
                <a:spcPct val="150000"/>
              </a:lnSpc>
              <a:spcBef>
                <a:spcPct val="50000"/>
              </a:spcBef>
            </a:pPr>
            <a:r>
              <a:rPr lang="zh-CN" altLang="en-US" sz="2800" b="1" dirty="0">
                <a:latin typeface="微软雅黑" charset="-122"/>
                <a:ea typeface="微软雅黑" charset="-122"/>
              </a:rPr>
              <a:t>毋庸置疑数学有用，且是有大用。</a:t>
            </a:r>
          </a:p>
        </p:txBody>
      </p:sp>
    </p:spTree>
    <p:extLst>
      <p:ext uri="{BB962C8B-B14F-4D97-AF65-F5344CB8AC3E}">
        <p14:creationId xmlns:p14="http://schemas.microsoft.com/office/powerpoint/2010/main" val="704184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1+#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1895" y="1044756"/>
            <a:ext cx="6101750" cy="646021"/>
          </a:xfrm>
        </p:spPr>
        <p:txBody>
          <a:bodyPr>
            <a:normAutofit fontScale="90000"/>
          </a:bodyPr>
          <a:lstStyle/>
          <a:p>
            <a:pPr algn="l">
              <a:lnSpc>
                <a:spcPct val="150000"/>
              </a:lnSpc>
              <a:spcBef>
                <a:spcPts val="1200"/>
              </a:spcBef>
            </a:pPr>
            <a:r>
              <a:rPr lang="zh-CN" altLang="en-US" sz="3600" b="1" dirty="0">
                <a:solidFill>
                  <a:srgbClr val="0000FF"/>
                </a:solidFill>
                <a:latin typeface="华文隶书" panose="02010800040101010101" pitchFamily="2" charset="-122"/>
                <a:ea typeface="华文隶书" panose="02010800040101010101" pitchFamily="2" charset="-122"/>
              </a:rPr>
              <a:t>数学有用，且有大用。</a:t>
            </a:r>
            <a:endParaRPr lang="en-US" sz="3600" b="1" dirty="0">
              <a:solidFill>
                <a:srgbClr val="0000FF"/>
              </a:solidFill>
              <a:latin typeface="华文隶书" panose="02010800040101010101" pitchFamily="2" charset="-122"/>
              <a:ea typeface="华文隶书" panose="02010800040101010101" pitchFamily="2" charset="-122"/>
            </a:endParaRPr>
          </a:p>
        </p:txBody>
      </p:sp>
      <p:sp>
        <p:nvSpPr>
          <p:cNvPr id="3" name="Text Placeholder 2"/>
          <p:cNvSpPr>
            <a:spLocks noGrp="1"/>
          </p:cNvSpPr>
          <p:nvPr>
            <p:ph type="body" idx="1"/>
          </p:nvPr>
        </p:nvSpPr>
        <p:spPr>
          <a:xfrm>
            <a:off x="5504514" y="2950228"/>
            <a:ext cx="5760720" cy="828136"/>
          </a:xfrm>
        </p:spPr>
        <p:txBody>
          <a:bodyPr>
            <a:noAutofit/>
          </a:bodyPr>
          <a:lstStyle/>
          <a:p>
            <a:pPr algn="l">
              <a:lnSpc>
                <a:spcPct val="150000"/>
              </a:lnSpc>
            </a:pPr>
            <a:r>
              <a:rPr lang="zh-CN" altLang="en-US" sz="3200" b="1" cap="small" dirty="0">
                <a:solidFill>
                  <a:srgbClr val="0000FF"/>
                </a:solidFill>
                <a:latin typeface="华文隶书" panose="02010800040101010101" pitchFamily="2" charset="-122"/>
                <a:ea typeface="华文隶书" panose="02010800040101010101" pitchFamily="2" charset="-122"/>
                <a:cs typeface="+mj-cs"/>
              </a:rPr>
              <a:t>数学有用，我们为什么不用呢？</a:t>
            </a:r>
            <a:endParaRPr lang="en-US" sz="3200" b="1" cap="small" dirty="0">
              <a:solidFill>
                <a:srgbClr val="0000FF"/>
              </a:solidFill>
              <a:latin typeface="华文隶书" panose="02010800040101010101" pitchFamily="2" charset="-122"/>
              <a:ea typeface="华文隶书" panose="02010800040101010101" pitchFamily="2" charset="-122"/>
              <a:cs typeface="+mj-cs"/>
            </a:endParaRPr>
          </a:p>
        </p:txBody>
      </p:sp>
      <p:sp>
        <p:nvSpPr>
          <p:cNvPr id="6" name="Title 1">
            <a:extLst>
              <a:ext uri="{FF2B5EF4-FFF2-40B4-BE49-F238E27FC236}">
                <a16:creationId xmlns:a16="http://schemas.microsoft.com/office/drawing/2014/main" id="{A99BA611-D4B0-4080-B1B5-D226BA9CFD99}"/>
              </a:ext>
            </a:extLst>
          </p:cNvPr>
          <p:cNvSpPr txBox="1">
            <a:spLocks/>
          </p:cNvSpPr>
          <p:nvPr/>
        </p:nvSpPr>
        <p:spPr>
          <a:xfrm>
            <a:off x="5443268" y="1926086"/>
            <a:ext cx="6101750" cy="828136"/>
          </a:xfrm>
          <a:prstGeom prst="rect">
            <a:avLst/>
          </a:prstGeom>
        </p:spPr>
        <p:txBody>
          <a:bodyPr vert="horz" lIns="91440" tIns="45720" rIns="91440" bIns="45720" rtlCol="0" anchor="b">
            <a:normAutofit fontScale="97500"/>
          </a:bodyPr>
          <a:lstStyle>
            <a:lvl1pPr algn="ctr" defTabSz="914400" rtl="0" eaLnBrk="1" latinLnBrk="0" hangingPunct="1">
              <a:lnSpc>
                <a:spcPct val="80000"/>
              </a:lnSpc>
              <a:spcBef>
                <a:spcPct val="0"/>
              </a:spcBef>
              <a:buNone/>
              <a:defRPr sz="5400" kern="1200" cap="small" baseline="0">
                <a:solidFill>
                  <a:schemeClr val="tx1"/>
                </a:solidFill>
                <a:latin typeface="+mj-lt"/>
                <a:ea typeface="+mj-ea"/>
                <a:cs typeface="+mj-cs"/>
              </a:defRPr>
            </a:lvl1pPr>
          </a:lstStyle>
          <a:p>
            <a:pPr algn="l">
              <a:lnSpc>
                <a:spcPct val="150000"/>
              </a:lnSpc>
              <a:spcBef>
                <a:spcPts val="1200"/>
              </a:spcBef>
            </a:pPr>
            <a:r>
              <a:rPr lang="zh-CN" altLang="en-US" sz="3600" b="1" dirty="0">
                <a:solidFill>
                  <a:srgbClr val="0000FF"/>
                </a:solidFill>
                <a:latin typeface="华文隶书" panose="02010800040101010101" pitchFamily="2" charset="-122"/>
                <a:ea typeface="华文隶书" panose="02010800040101010101" pitchFamily="2" charset="-122"/>
              </a:rPr>
              <a:t>在生活和工作中我们用数学吗？</a:t>
            </a:r>
            <a:endParaRPr lang="en-US" sz="3600" b="1" dirty="0">
              <a:solidFill>
                <a:srgbClr val="0000FF"/>
              </a:solidFill>
              <a:latin typeface="华文隶书" panose="02010800040101010101" pitchFamily="2" charset="-122"/>
              <a:ea typeface="华文隶书" panose="02010800040101010101" pitchFamily="2" charset="-122"/>
            </a:endParaRPr>
          </a:p>
        </p:txBody>
      </p:sp>
    </p:spTree>
    <p:extLst>
      <p:ext uri="{BB962C8B-B14F-4D97-AF65-F5344CB8AC3E}">
        <p14:creationId xmlns:p14="http://schemas.microsoft.com/office/powerpoint/2010/main" val="21784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4040" y="1016001"/>
            <a:ext cx="5760720" cy="680527"/>
          </a:xfrm>
        </p:spPr>
        <p:txBody>
          <a:bodyPr>
            <a:normAutofit/>
          </a:bodyPr>
          <a:lstStyle/>
          <a:p>
            <a:pPr algn="l"/>
            <a:r>
              <a:rPr lang="zh-CN" altLang="en-US" sz="4000" dirty="0"/>
              <a:t>例</a:t>
            </a:r>
            <a:r>
              <a:rPr lang="en-US" altLang="zh-CN" sz="4000" dirty="0"/>
              <a:t>1.</a:t>
            </a:r>
            <a:r>
              <a:rPr lang="zh-CN" altLang="en-US" sz="4000" dirty="0"/>
              <a:t> 在水果市场买水果。</a:t>
            </a:r>
            <a:endParaRPr lang="en-US" dirty="0"/>
          </a:p>
        </p:txBody>
      </p:sp>
      <p:graphicFrame>
        <p:nvGraphicFramePr>
          <p:cNvPr id="5" name="对象 4">
            <a:extLst>
              <a:ext uri="{FF2B5EF4-FFF2-40B4-BE49-F238E27FC236}">
                <a16:creationId xmlns:a16="http://schemas.microsoft.com/office/drawing/2014/main" id="{CCC6A5E0-5187-40EF-A905-3E9E275EA890}"/>
              </a:ext>
            </a:extLst>
          </p:cNvPr>
          <p:cNvGraphicFramePr>
            <a:graphicFrameLocks/>
          </p:cNvGraphicFramePr>
          <p:nvPr>
            <p:extLst>
              <p:ext uri="{D42A27DB-BD31-4B8C-83A1-F6EECF244321}">
                <p14:modId xmlns:p14="http://schemas.microsoft.com/office/powerpoint/2010/main" val="2738181349"/>
              </p:ext>
            </p:extLst>
          </p:nvPr>
        </p:nvGraphicFramePr>
        <p:xfrm>
          <a:off x="7487311" y="1882323"/>
          <a:ext cx="1808189" cy="572786"/>
        </p:xfrm>
        <a:graphic>
          <a:graphicData uri="http://schemas.openxmlformats.org/presentationml/2006/ole">
            <mc:AlternateContent xmlns:mc="http://schemas.openxmlformats.org/markup-compatibility/2006">
              <mc:Choice xmlns:v="urn:schemas-microsoft-com:vml" Requires="v">
                <p:oleObj r:id="rId2" imgW="4075560" imgH="1136160" progId="">
                  <p:embed/>
                </p:oleObj>
              </mc:Choice>
              <mc:Fallback>
                <p:oleObj r:id="rId2" imgW="4075560" imgH="1136160" progId="">
                  <p:embed/>
                  <p:pic>
                    <p:nvPicPr>
                      <p:cNvPr id="5" name="对象 4">
                        <a:extLst>
                          <a:ext uri="{FF2B5EF4-FFF2-40B4-BE49-F238E27FC236}">
                            <a16:creationId xmlns:a16="http://schemas.microsoft.com/office/drawing/2014/main" id="{CCC6A5E0-5187-40EF-A905-3E9E275EA89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7311" y="1882323"/>
                        <a:ext cx="1808189" cy="572786"/>
                      </a:xfrm>
                      <a:prstGeom prst="rect">
                        <a:avLst/>
                      </a:prstGeom>
                      <a:noFill/>
                      <a:ln>
                        <a:noFill/>
                      </a:ln>
                    </p:spPr>
                  </p:pic>
                </p:oleObj>
              </mc:Fallback>
            </mc:AlternateContent>
          </a:graphicData>
        </a:graphic>
      </p:graphicFrame>
      <p:graphicFrame>
        <p:nvGraphicFramePr>
          <p:cNvPr id="6" name="对象 5">
            <a:extLst>
              <a:ext uri="{FF2B5EF4-FFF2-40B4-BE49-F238E27FC236}">
                <a16:creationId xmlns:a16="http://schemas.microsoft.com/office/drawing/2014/main" id="{73ADCCC0-8603-4598-9234-C78881DB4CC0}"/>
              </a:ext>
            </a:extLst>
          </p:cNvPr>
          <p:cNvGraphicFramePr>
            <a:graphicFrameLocks/>
          </p:cNvGraphicFramePr>
          <p:nvPr>
            <p:extLst>
              <p:ext uri="{D42A27DB-BD31-4B8C-83A1-F6EECF244321}">
                <p14:modId xmlns:p14="http://schemas.microsoft.com/office/powerpoint/2010/main" val="313807873"/>
              </p:ext>
            </p:extLst>
          </p:nvPr>
        </p:nvGraphicFramePr>
        <p:xfrm>
          <a:off x="7539011" y="2435023"/>
          <a:ext cx="1808189" cy="572786"/>
        </p:xfrm>
        <a:graphic>
          <a:graphicData uri="http://schemas.openxmlformats.org/presentationml/2006/ole">
            <mc:AlternateContent xmlns:mc="http://schemas.openxmlformats.org/markup-compatibility/2006">
              <mc:Choice xmlns:v="urn:schemas-microsoft-com:vml" Requires="v">
                <p:oleObj r:id="rId4" imgW="3543840" imgH="1144440" progId="">
                  <p:embed/>
                </p:oleObj>
              </mc:Choice>
              <mc:Fallback>
                <p:oleObj r:id="rId4" imgW="3543840" imgH="1144440" progId="">
                  <p:embed/>
                  <p:pic>
                    <p:nvPicPr>
                      <p:cNvPr id="6" name="对象 5">
                        <a:extLst>
                          <a:ext uri="{FF2B5EF4-FFF2-40B4-BE49-F238E27FC236}">
                            <a16:creationId xmlns:a16="http://schemas.microsoft.com/office/drawing/2014/main" id="{73ADCCC0-8603-4598-9234-C78881DB4CC0}"/>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39011" y="2435023"/>
                        <a:ext cx="1808189" cy="572786"/>
                      </a:xfrm>
                      <a:prstGeom prst="rect">
                        <a:avLst/>
                      </a:prstGeom>
                      <a:noFill/>
                      <a:ln>
                        <a:noFill/>
                      </a:ln>
                    </p:spPr>
                  </p:pic>
                </p:oleObj>
              </mc:Fallback>
            </mc:AlternateContent>
          </a:graphicData>
        </a:graphic>
      </p:graphicFrame>
      <p:graphicFrame>
        <p:nvGraphicFramePr>
          <p:cNvPr id="7" name="对象 6">
            <a:extLst>
              <a:ext uri="{FF2B5EF4-FFF2-40B4-BE49-F238E27FC236}">
                <a16:creationId xmlns:a16="http://schemas.microsoft.com/office/drawing/2014/main" id="{79024ECA-B753-481E-8354-E8D58D6C522E}"/>
              </a:ext>
            </a:extLst>
          </p:cNvPr>
          <p:cNvGraphicFramePr>
            <a:graphicFrameLocks/>
          </p:cNvGraphicFramePr>
          <p:nvPr>
            <p:extLst>
              <p:ext uri="{D42A27DB-BD31-4B8C-83A1-F6EECF244321}">
                <p14:modId xmlns:p14="http://schemas.microsoft.com/office/powerpoint/2010/main" val="580982408"/>
              </p:ext>
            </p:extLst>
          </p:nvPr>
        </p:nvGraphicFramePr>
        <p:xfrm>
          <a:off x="7380288" y="3197225"/>
          <a:ext cx="1966912" cy="565714"/>
        </p:xfrm>
        <a:graphic>
          <a:graphicData uri="http://schemas.openxmlformats.org/presentationml/2006/ole">
            <mc:AlternateContent xmlns:mc="http://schemas.openxmlformats.org/markup-compatibility/2006">
              <mc:Choice xmlns:v="urn:schemas-microsoft-com:vml" Requires="v">
                <p:oleObj r:id="rId6" imgW="3009960" imgH="890280" progId="">
                  <p:embed/>
                </p:oleObj>
              </mc:Choice>
              <mc:Fallback>
                <p:oleObj r:id="rId6" imgW="3009960" imgH="890280" progId="">
                  <p:embed/>
                  <p:pic>
                    <p:nvPicPr>
                      <p:cNvPr id="7" name="对象 6">
                        <a:extLst>
                          <a:ext uri="{FF2B5EF4-FFF2-40B4-BE49-F238E27FC236}">
                            <a16:creationId xmlns:a16="http://schemas.microsoft.com/office/drawing/2014/main" id="{79024ECA-B753-481E-8354-E8D58D6C522E}"/>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80288" y="3197225"/>
                        <a:ext cx="1966912" cy="565714"/>
                      </a:xfrm>
                      <a:prstGeom prst="rect">
                        <a:avLst/>
                      </a:prstGeom>
                      <a:noFill/>
                      <a:ln>
                        <a:noFill/>
                      </a:ln>
                    </p:spPr>
                  </p:pic>
                </p:oleObj>
              </mc:Fallback>
            </mc:AlternateContent>
          </a:graphicData>
        </a:graphic>
      </p:graphicFrame>
      <p:cxnSp>
        <p:nvCxnSpPr>
          <p:cNvPr id="8" name="直接连接符 7">
            <a:extLst>
              <a:ext uri="{FF2B5EF4-FFF2-40B4-BE49-F238E27FC236}">
                <a16:creationId xmlns:a16="http://schemas.microsoft.com/office/drawing/2014/main" id="{754FBDFF-256E-4436-8F16-5B2DADC4F7BB}"/>
              </a:ext>
            </a:extLst>
          </p:cNvPr>
          <p:cNvCxnSpPr>
            <a:cxnSpLocks/>
          </p:cNvCxnSpPr>
          <p:nvPr/>
        </p:nvCxnSpPr>
        <p:spPr>
          <a:xfrm>
            <a:off x="7240438" y="3095055"/>
            <a:ext cx="2489203" cy="0"/>
          </a:xfrm>
          <a:prstGeom prst="line">
            <a:avLst/>
          </a:prstGeom>
          <a:ln>
            <a:solidFill>
              <a:schemeClr val="tx1"/>
            </a:solidFill>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2456326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500"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ppt_x</p:attrName>
                                        </p:attrNameLst>
                                      </p:cBhvr>
                                      <p:tavLst>
                                        <p:tav tm="0">
                                          <p:val>
                                            <p:strVal val="0-#ppt_w/2"/>
                                          </p:val>
                                        </p:tav>
                                        <p:tav tm="100000">
                                          <p:val>
                                            <p:strVal val="#ppt_x"/>
                                          </p:val>
                                        </p:tav>
                                      </p:tavLst>
                                    </p:anim>
                                    <p:anim calcmode="lin" valueType="num">
                                      <p:cBhvr>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500"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ppt_x</p:attrName>
                                        </p:attrNameLst>
                                      </p:cBhvr>
                                      <p:tavLst>
                                        <p:tav tm="0">
                                          <p:val>
                                            <p:strVal val="1+#ppt_w/2"/>
                                          </p:val>
                                        </p:tav>
                                        <p:tav tm="100000">
                                          <p:val>
                                            <p:strVal val="#ppt_x"/>
                                          </p:val>
                                        </p:tav>
                                      </p:tavLst>
                                    </p:anim>
                                    <p:anim calcmode="lin" valueType="num">
                                      <p:cBhvr>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500"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ppt_x</p:attrName>
                                        </p:attrNameLst>
                                      </p:cBhvr>
                                      <p:tavLst>
                                        <p:tav tm="0">
                                          <p:val>
                                            <p:strVal val="0-#ppt_w/2"/>
                                          </p:val>
                                        </p:tav>
                                        <p:tav tm="100000">
                                          <p:val>
                                            <p:strVal val="#ppt_x"/>
                                          </p:val>
                                        </p:tav>
                                      </p:tavLst>
                                    </p:anim>
                                    <p:anim calcmode="lin" valueType="num">
                                      <p:cBhvr>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9" fill="hold" nodeType="clickEffect">
                                  <p:stCondLst>
                                    <p:cond delay="0"/>
                                  </p:stCondLst>
                                  <p:childTnLst>
                                    <p:set>
                                      <p:cBhvr>
                                        <p:cTn id="24" dur="500"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ppt_x</p:attrName>
                                        </p:attrNameLst>
                                      </p:cBhvr>
                                      <p:tavLst>
                                        <p:tav tm="0">
                                          <p:val>
                                            <p:strVal val="0-#ppt_w/2"/>
                                          </p:val>
                                        </p:tav>
                                        <p:tav tm="100000">
                                          <p:val>
                                            <p:strVal val="#ppt_x"/>
                                          </p:val>
                                        </p:tav>
                                      </p:tavLst>
                                    </p:anim>
                                    <p:anim calcmode="lin" valueType="num">
                                      <p:cBhvr>
                                        <p:cTn id="26"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562302"/>
            <a:ext cx="5426015" cy="731660"/>
          </a:xfrm>
        </p:spPr>
        <p:txBody>
          <a:bodyPr/>
          <a:lstStyle/>
          <a:p>
            <a:r>
              <a:rPr lang="zh-CN" altLang="en-US" sz="3600" b="1" dirty="0">
                <a:solidFill>
                  <a:srgbClr val="000000"/>
                </a:solidFill>
                <a:latin typeface="微软雅黑" charset="-122"/>
                <a:ea typeface="微软雅黑" charset="-122"/>
              </a:rPr>
              <a:t>例</a:t>
            </a:r>
            <a:r>
              <a:rPr lang="en-US" altLang="zh-CN" sz="3600" b="1" dirty="0">
                <a:solidFill>
                  <a:srgbClr val="000000"/>
                </a:solidFill>
                <a:latin typeface="微软雅黑" charset="-122"/>
                <a:ea typeface="微软雅黑" charset="-122"/>
              </a:rPr>
              <a:t>2 </a:t>
            </a:r>
            <a:r>
              <a:rPr lang="zh-CN" altLang="en-US" sz="3600" b="1" dirty="0">
                <a:solidFill>
                  <a:srgbClr val="000000"/>
                </a:solidFill>
                <a:latin typeface="微软雅黑" charset="-122"/>
                <a:ea typeface="宋体" panose="02010600030101010101" pitchFamily="2" charset="-122"/>
              </a:rPr>
              <a:t>如何选择养老保险？</a:t>
            </a:r>
            <a:endParaRPr lang="en-US" dirty="0"/>
          </a:p>
        </p:txBody>
      </p:sp>
      <p:pic>
        <p:nvPicPr>
          <p:cNvPr id="6" name="图片 5">
            <a:extLst>
              <a:ext uri="{FF2B5EF4-FFF2-40B4-BE49-F238E27FC236}">
                <a16:creationId xmlns:a16="http://schemas.microsoft.com/office/drawing/2014/main" id="{8BD2743E-7249-40F6-9080-E21AE640AA58}"/>
              </a:ext>
            </a:extLst>
          </p:cNvPr>
          <p:cNvPicPr>
            <a:picLocks noChangeAspect="1"/>
          </p:cNvPicPr>
          <p:nvPr/>
        </p:nvPicPr>
        <p:blipFill>
          <a:blip r:embed="rId2" cstate="print"/>
          <a:stretch>
            <a:fillRect/>
          </a:stretch>
        </p:blipFill>
        <p:spPr>
          <a:xfrm>
            <a:off x="684363" y="1955322"/>
            <a:ext cx="9851366" cy="4428226"/>
          </a:xfrm>
          <a:prstGeom prst="rect">
            <a:avLst/>
          </a:prstGeom>
          <a:noFill/>
          <a:ln w="9525">
            <a:noFill/>
          </a:ln>
        </p:spPr>
      </p:pic>
    </p:spTree>
    <p:extLst>
      <p:ext uri="{BB962C8B-B14F-4D97-AF65-F5344CB8AC3E}">
        <p14:creationId xmlns:p14="http://schemas.microsoft.com/office/powerpoint/2010/main" val="1201651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94575"/>
            <a:ext cx="9325155" cy="633894"/>
          </a:xfrm>
        </p:spPr>
        <p:txBody>
          <a:bodyPr>
            <a:normAutofit/>
          </a:bodyPr>
          <a:lstStyle/>
          <a:p>
            <a:r>
              <a:rPr lang="zh-CN" altLang="en-US" sz="3200" b="1" dirty="0">
                <a:latin typeface="微软雅黑" charset="-122"/>
                <a:ea typeface="宋体" panose="02010600030101010101" pitchFamily="2" charset="-122"/>
                <a:sym typeface="+mn-ea"/>
              </a:rPr>
              <a:t>养老保险问题——将结余的钱买保险还是存银行？</a:t>
            </a:r>
            <a:r>
              <a:rPr lang="zh-CN" altLang="en-US" sz="3200" dirty="0">
                <a:latin typeface="Arial" panose="020B0604020202020204" pitchFamily="34" charset="0"/>
                <a:ea typeface="宋体" panose="02010600030101010101" pitchFamily="2" charset="-122"/>
              </a:rPr>
              <a:t>     </a:t>
            </a:r>
            <a:endParaRPr lang="en-US" sz="3200" dirty="0"/>
          </a:p>
        </p:txBody>
      </p:sp>
      <p:sp>
        <p:nvSpPr>
          <p:cNvPr id="3" name="Content Placeholder 2"/>
          <p:cNvSpPr>
            <a:spLocks noGrp="1"/>
          </p:cNvSpPr>
          <p:nvPr>
            <p:ph idx="1"/>
          </p:nvPr>
        </p:nvSpPr>
        <p:spPr>
          <a:xfrm>
            <a:off x="1066800" y="2172420"/>
            <a:ext cx="10058400" cy="4044351"/>
          </a:xfrm>
        </p:spPr>
        <p:txBody>
          <a:bodyPr>
            <a:normAutofit/>
          </a:bodyPr>
          <a:lstStyle/>
          <a:p>
            <a:pPr>
              <a:lnSpc>
                <a:spcPct val="150000"/>
              </a:lnSpc>
            </a:pPr>
            <a:r>
              <a:rPr lang="zh-CN" altLang="en-US" b="1" dirty="0">
                <a:solidFill>
                  <a:srgbClr val="0000FF"/>
                </a:solidFill>
                <a:latin typeface="微软雅黑"/>
              </a:rPr>
              <a:t>养老保险是现代社会人们非常关注的问题。</a:t>
            </a:r>
            <a:endParaRPr lang="zh-CN" altLang="en-US" b="1" dirty="0">
              <a:solidFill>
                <a:srgbClr val="0000FF"/>
              </a:solidFill>
              <a:latin typeface="微软雅黑"/>
              <a:ea typeface="微软雅黑"/>
              <a:cs typeface="微软雅黑"/>
            </a:endParaRPr>
          </a:p>
          <a:p>
            <a:pPr>
              <a:lnSpc>
                <a:spcPct val="150000"/>
              </a:lnSpc>
            </a:pPr>
            <a:r>
              <a:rPr lang="zh-CN" altLang="en-US" b="1" dirty="0">
                <a:solidFill>
                  <a:srgbClr val="FF0000"/>
                </a:solidFill>
                <a:latin typeface="微软雅黑"/>
              </a:rPr>
              <a:t>投保人</a:t>
            </a:r>
            <a:r>
              <a:rPr lang="zh-CN" altLang="en-US" b="1" dirty="0">
                <a:solidFill>
                  <a:srgbClr val="000000"/>
                </a:solidFill>
                <a:latin typeface="微软雅黑"/>
              </a:rPr>
              <a:t>需要根据保险公司提供的不同保险方案，分析保险品种的实际投资价值，即如果已知所交保费和保险收入，分析计算所交保费的实际利率是多少？</a:t>
            </a:r>
            <a:r>
              <a:rPr lang="zh-CN" altLang="en-US" b="1" dirty="0">
                <a:solidFill>
                  <a:srgbClr val="0000CC"/>
                </a:solidFill>
                <a:latin typeface="微软雅黑"/>
              </a:rPr>
              <a:t>决定将结余的钱买保险还是存银行？</a:t>
            </a:r>
            <a:endParaRPr lang="zh-CN" altLang="en-US" b="1" dirty="0">
              <a:solidFill>
                <a:srgbClr val="0000CC"/>
              </a:solidFill>
              <a:latin typeface="微软雅黑"/>
              <a:ea typeface="微软雅黑"/>
              <a:cs typeface="微软雅黑"/>
            </a:endParaRPr>
          </a:p>
          <a:p>
            <a:pPr>
              <a:lnSpc>
                <a:spcPct val="150000"/>
              </a:lnSpc>
            </a:pPr>
            <a:r>
              <a:rPr lang="zh-CN" altLang="en-US" b="1" dirty="0">
                <a:solidFill>
                  <a:srgbClr val="FF0000"/>
                </a:solidFill>
                <a:latin typeface="微软雅黑"/>
              </a:rPr>
              <a:t>保险公司</a:t>
            </a:r>
            <a:r>
              <a:rPr lang="zh-CN" altLang="en-US" b="1" dirty="0">
                <a:solidFill>
                  <a:srgbClr val="000000"/>
                </a:solidFill>
                <a:latin typeface="微软雅黑"/>
              </a:rPr>
              <a:t>也需要分析用投保人的保费实际至少获得多少利润才能</a:t>
            </a:r>
            <a:r>
              <a:rPr lang="zh-CN" altLang="en-US" b="1" dirty="0">
                <a:solidFill>
                  <a:srgbClr val="0000CC"/>
                </a:solidFill>
                <a:latin typeface="微软雅黑"/>
              </a:rPr>
              <a:t>保证兑现投保人的保险收益？</a:t>
            </a:r>
            <a:endParaRPr lang="en-US" dirty="0"/>
          </a:p>
        </p:txBody>
      </p:sp>
    </p:spTree>
    <p:extLst>
      <p:ext uri="{BB962C8B-B14F-4D97-AF65-F5344CB8AC3E}">
        <p14:creationId xmlns:p14="http://schemas.microsoft.com/office/powerpoint/2010/main" val="660077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562302"/>
            <a:ext cx="3896264" cy="812173"/>
          </a:xfrm>
        </p:spPr>
        <p:txBody>
          <a:bodyPr>
            <a:normAutofit/>
          </a:bodyPr>
          <a:lstStyle/>
          <a:p>
            <a:r>
              <a:rPr lang="zh-CN" altLang="en-US" sz="3200" b="1" dirty="0">
                <a:solidFill>
                  <a:srgbClr val="000000"/>
                </a:solidFill>
                <a:latin typeface="微软雅黑" charset="-122"/>
                <a:ea typeface="宋体" panose="02010600030101010101" pitchFamily="2" charset="-122"/>
                <a:sym typeface="+mn-ea"/>
              </a:rPr>
              <a:t>养老保险方案分析</a:t>
            </a:r>
            <a:r>
              <a:rPr lang="zh-CN" altLang="en-US" sz="3200" dirty="0">
                <a:solidFill>
                  <a:srgbClr val="000000"/>
                </a:solidFill>
                <a:latin typeface="Arial" panose="020B0604020202020204" pitchFamily="34" charset="0"/>
                <a:ea typeface="宋体" panose="02010600030101010101" pitchFamily="2" charset="-122"/>
              </a:rPr>
              <a:t> </a:t>
            </a:r>
            <a:endParaRPr lang="en-US" sz="3200" dirty="0">
              <a:solidFill>
                <a:srgbClr val="000000"/>
              </a:solidFill>
            </a:endParaRPr>
          </a:p>
        </p:txBody>
      </p:sp>
      <p:sp>
        <p:nvSpPr>
          <p:cNvPr id="3" name="Content Placeholder 2"/>
          <p:cNvSpPr>
            <a:spLocks noGrp="1"/>
          </p:cNvSpPr>
          <p:nvPr>
            <p:ph idx="1"/>
          </p:nvPr>
        </p:nvSpPr>
        <p:spPr/>
        <p:txBody>
          <a:bodyPr/>
          <a:lstStyle/>
          <a:p>
            <a:pPr>
              <a:lnSpc>
                <a:spcPct val="150000"/>
              </a:lnSpc>
            </a:pPr>
            <a:r>
              <a:rPr lang="zh-CN" altLang="en-US" b="1" dirty="0">
                <a:solidFill>
                  <a:srgbClr val="0000CC"/>
                </a:solidFill>
                <a:latin typeface="微软雅黑"/>
              </a:rPr>
              <a:t>假如保险公司的养老保险方案是：</a:t>
            </a:r>
            <a:r>
              <a:rPr lang="zh-CN" altLang="en-US" b="1" dirty="0">
                <a:solidFill>
                  <a:srgbClr val="000000"/>
                </a:solidFill>
                <a:latin typeface="微软雅黑"/>
              </a:rPr>
              <a:t>每月交费</a:t>
            </a:r>
            <a:r>
              <a:rPr lang="en-US" altLang="zh-CN" b="1" dirty="0">
                <a:solidFill>
                  <a:srgbClr val="000000"/>
                </a:solidFill>
                <a:latin typeface="微软雅黑"/>
              </a:rPr>
              <a:t>200</a:t>
            </a:r>
            <a:r>
              <a:rPr lang="zh-CN" altLang="en-US" b="1" dirty="0">
                <a:solidFill>
                  <a:srgbClr val="000000"/>
                </a:solidFill>
                <a:latin typeface="微软雅黑"/>
              </a:rPr>
              <a:t>元至</a:t>
            </a:r>
            <a:r>
              <a:rPr lang="en-US" altLang="zh-CN" b="1" dirty="0">
                <a:solidFill>
                  <a:srgbClr val="000000"/>
                </a:solidFill>
                <a:latin typeface="微软雅黑"/>
              </a:rPr>
              <a:t>60</a:t>
            </a:r>
            <a:r>
              <a:rPr lang="zh-CN" altLang="en-US" b="1" dirty="0">
                <a:solidFill>
                  <a:srgbClr val="000000"/>
                </a:solidFill>
                <a:latin typeface="微软雅黑"/>
              </a:rPr>
              <a:t>岁开始领取养老金，若</a:t>
            </a:r>
            <a:r>
              <a:rPr lang="en-US" altLang="zh-CN" b="1" dirty="0">
                <a:solidFill>
                  <a:srgbClr val="000000"/>
                </a:solidFill>
                <a:latin typeface="微软雅黑"/>
              </a:rPr>
              <a:t>25</a:t>
            </a:r>
            <a:r>
              <a:rPr lang="zh-CN" altLang="en-US" b="1" dirty="0">
                <a:solidFill>
                  <a:srgbClr val="000000"/>
                </a:solidFill>
                <a:latin typeface="微软雅黑"/>
              </a:rPr>
              <a:t>岁起投保，届时养老金每月</a:t>
            </a:r>
            <a:r>
              <a:rPr lang="en-US" altLang="zh-CN" b="1" dirty="0">
                <a:solidFill>
                  <a:srgbClr val="000000"/>
                </a:solidFill>
                <a:latin typeface="微软雅黑"/>
              </a:rPr>
              <a:t>2282</a:t>
            </a:r>
            <a:r>
              <a:rPr lang="zh-CN" altLang="en-US" b="1" dirty="0">
                <a:solidFill>
                  <a:srgbClr val="000000"/>
                </a:solidFill>
                <a:latin typeface="微软雅黑"/>
              </a:rPr>
              <a:t>元；如</a:t>
            </a:r>
            <a:r>
              <a:rPr lang="en-US" altLang="zh-CN" b="1" dirty="0">
                <a:solidFill>
                  <a:srgbClr val="000000"/>
                </a:solidFill>
                <a:latin typeface="微软雅黑"/>
              </a:rPr>
              <a:t>35</a:t>
            </a:r>
            <a:r>
              <a:rPr lang="zh-CN" altLang="en-US" b="1" dirty="0">
                <a:solidFill>
                  <a:srgbClr val="000000"/>
                </a:solidFill>
                <a:latin typeface="微软雅黑"/>
              </a:rPr>
              <a:t>岁起投保，届时月养老金</a:t>
            </a:r>
            <a:r>
              <a:rPr lang="en-US" altLang="zh-CN" b="1" dirty="0">
                <a:solidFill>
                  <a:srgbClr val="000000"/>
                </a:solidFill>
                <a:latin typeface="微软雅黑"/>
              </a:rPr>
              <a:t>1056</a:t>
            </a:r>
            <a:r>
              <a:rPr lang="zh-CN" altLang="en-US" b="1" dirty="0">
                <a:solidFill>
                  <a:srgbClr val="000000"/>
                </a:solidFill>
                <a:latin typeface="微软雅黑"/>
              </a:rPr>
              <a:t>元。</a:t>
            </a:r>
            <a:endParaRPr lang="en-US" dirty="0">
              <a:solidFill>
                <a:srgbClr val="000000"/>
              </a:solidFill>
            </a:endParaRPr>
          </a:p>
          <a:p>
            <a:pPr>
              <a:lnSpc>
                <a:spcPct val="150000"/>
              </a:lnSpc>
            </a:pPr>
            <a:r>
              <a:rPr lang="zh-CN" altLang="en-US" sz="2400" b="1" dirty="0">
                <a:solidFill>
                  <a:srgbClr val="0000CC"/>
                </a:solidFill>
                <a:latin typeface="微软雅黑"/>
              </a:rPr>
              <a:t>（</a:t>
            </a:r>
            <a:r>
              <a:rPr lang="en-US" altLang="zh-CN" sz="2400" b="1" dirty="0">
                <a:solidFill>
                  <a:srgbClr val="0000CC"/>
                </a:solidFill>
                <a:latin typeface="微软雅黑"/>
              </a:rPr>
              <a:t>1</a:t>
            </a:r>
            <a:r>
              <a:rPr lang="zh-CN" altLang="en-US" sz="2400" b="1" dirty="0">
                <a:solidFill>
                  <a:srgbClr val="0000CC"/>
                </a:solidFill>
                <a:latin typeface="微软雅黑"/>
              </a:rPr>
              <a:t>）你会选</a:t>
            </a:r>
            <a:r>
              <a:rPr lang="en-US" altLang="zh-CN" sz="2400" b="1" dirty="0">
                <a:solidFill>
                  <a:srgbClr val="0000CC"/>
                </a:solidFill>
                <a:latin typeface="微软雅黑"/>
              </a:rPr>
              <a:t>25</a:t>
            </a:r>
            <a:r>
              <a:rPr lang="zh-CN" altLang="en-US" sz="2400" b="1" dirty="0">
                <a:solidFill>
                  <a:srgbClr val="0000CC"/>
                </a:solidFill>
                <a:latin typeface="微软雅黑"/>
              </a:rPr>
              <a:t>岁还是</a:t>
            </a:r>
            <a:r>
              <a:rPr lang="en-US" altLang="zh-CN" sz="2400" b="1" dirty="0">
                <a:solidFill>
                  <a:srgbClr val="0000CC"/>
                </a:solidFill>
                <a:latin typeface="微软雅黑"/>
              </a:rPr>
              <a:t>35</a:t>
            </a:r>
            <a:r>
              <a:rPr lang="zh-CN" altLang="en-US" sz="2400" b="1" dirty="0">
                <a:solidFill>
                  <a:srgbClr val="0000CC"/>
                </a:solidFill>
                <a:latin typeface="微软雅黑"/>
              </a:rPr>
              <a:t>岁开始投保，有何区别？</a:t>
            </a:r>
            <a:endParaRPr lang="en-US" altLang="zh-CN" sz="2400" b="1" dirty="0">
              <a:solidFill>
                <a:srgbClr val="0000CC"/>
              </a:solidFill>
              <a:latin typeface="微软雅黑"/>
            </a:endParaRPr>
          </a:p>
          <a:p>
            <a:pPr>
              <a:lnSpc>
                <a:spcPct val="150000"/>
              </a:lnSpc>
            </a:pPr>
            <a:r>
              <a:rPr lang="zh-CN" altLang="en-US" sz="2400" b="1" dirty="0">
                <a:solidFill>
                  <a:srgbClr val="0000CC"/>
                </a:solidFill>
                <a:latin typeface="微软雅黑"/>
              </a:rPr>
              <a:t>（</a:t>
            </a:r>
            <a:r>
              <a:rPr lang="en-US" altLang="zh-CN" sz="2400" b="1" dirty="0">
                <a:solidFill>
                  <a:srgbClr val="0000CC"/>
                </a:solidFill>
                <a:latin typeface="微软雅黑"/>
              </a:rPr>
              <a:t>2</a:t>
            </a:r>
            <a:r>
              <a:rPr lang="zh-CN" altLang="en-US" sz="2400" b="1" dirty="0">
                <a:solidFill>
                  <a:srgbClr val="0000CC"/>
                </a:solidFill>
                <a:latin typeface="微软雅黑"/>
              </a:rPr>
              <a:t>）请问投保人的实际月收益率是多少？</a:t>
            </a:r>
            <a:endParaRPr lang="en-US" altLang="zh-CN" sz="2400" b="1" dirty="0">
              <a:solidFill>
                <a:srgbClr val="0000CC"/>
              </a:solidFill>
              <a:latin typeface="微软雅黑"/>
            </a:endParaRPr>
          </a:p>
          <a:p>
            <a:pPr>
              <a:lnSpc>
                <a:spcPct val="150000"/>
              </a:lnSpc>
            </a:pPr>
            <a:r>
              <a:rPr lang="zh-CN" altLang="en-US" sz="2400" b="1" dirty="0">
                <a:solidFill>
                  <a:srgbClr val="0000CC"/>
                </a:solidFill>
                <a:latin typeface="微软雅黑"/>
              </a:rPr>
              <a:t>（</a:t>
            </a:r>
            <a:r>
              <a:rPr lang="en-US" altLang="zh-CN" sz="2400" b="1" dirty="0">
                <a:solidFill>
                  <a:srgbClr val="0000CC"/>
                </a:solidFill>
                <a:latin typeface="微软雅黑"/>
              </a:rPr>
              <a:t>3</a:t>
            </a:r>
            <a:r>
              <a:rPr lang="zh-CN" altLang="en-US" sz="2400" b="1" dirty="0">
                <a:solidFill>
                  <a:srgbClr val="0000CC"/>
                </a:solidFill>
                <a:latin typeface="微软雅黑"/>
              </a:rPr>
              <a:t>）保险公司的月投资收益率至少为多少才能兑现保险责任？</a:t>
            </a:r>
            <a:endParaRPr lang="zh-CN" altLang="en-US" sz="2400" b="1" dirty="0">
              <a:solidFill>
                <a:srgbClr val="0000CC"/>
              </a:solidFill>
              <a:latin typeface="微软雅黑"/>
              <a:ea typeface="微软雅黑"/>
              <a:cs typeface="微软雅黑"/>
            </a:endParaRPr>
          </a:p>
        </p:txBody>
      </p:sp>
    </p:spTree>
    <p:extLst>
      <p:ext uri="{BB962C8B-B14F-4D97-AF65-F5344CB8AC3E}">
        <p14:creationId xmlns:p14="http://schemas.microsoft.com/office/powerpoint/2010/main" val="47358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562302"/>
            <a:ext cx="8456762" cy="760415"/>
          </a:xfrm>
        </p:spPr>
        <p:txBody>
          <a:bodyPr/>
          <a:lstStyle/>
          <a:p>
            <a:r>
              <a:rPr lang="zh-CN" altLang="en-US" sz="3200" b="1" dirty="0">
                <a:solidFill>
                  <a:srgbClr val="000000"/>
                </a:solidFill>
                <a:latin typeface="微软雅黑" charset="-122"/>
                <a:ea typeface="宋体" panose="02010600030101010101" pitchFamily="2" charset="-122"/>
              </a:rPr>
              <a:t>数学建模是应用数学解决实际问题的关键</a:t>
            </a:r>
            <a:endParaRPr lang="en-US" sz="3200" b="1" dirty="0">
              <a:solidFill>
                <a:srgbClr val="000000"/>
              </a:solidFill>
              <a:latin typeface="微软雅黑" charset="-122"/>
              <a:ea typeface="宋体" panose="02010600030101010101" pitchFamily="2" charset="-122"/>
            </a:endParaRPr>
          </a:p>
        </p:txBody>
      </p:sp>
      <p:grpSp>
        <p:nvGrpSpPr>
          <p:cNvPr id="4" name="组合 3">
            <a:extLst>
              <a:ext uri="{FF2B5EF4-FFF2-40B4-BE49-F238E27FC236}">
                <a16:creationId xmlns:a16="http://schemas.microsoft.com/office/drawing/2014/main" id="{9F417C1A-AE28-421E-8F58-D60764C2469A}"/>
              </a:ext>
            </a:extLst>
          </p:cNvPr>
          <p:cNvGrpSpPr/>
          <p:nvPr/>
        </p:nvGrpSpPr>
        <p:grpSpPr>
          <a:xfrm>
            <a:off x="1265752" y="1869996"/>
            <a:ext cx="8047355" cy="2040255"/>
            <a:chOff x="1049659" y="790037"/>
            <a:chExt cx="9597225" cy="2040255"/>
          </a:xfrm>
        </p:grpSpPr>
        <p:sp>
          <p:nvSpPr>
            <p:cNvPr id="5" name="矩形 4">
              <a:extLst>
                <a:ext uri="{FF2B5EF4-FFF2-40B4-BE49-F238E27FC236}">
                  <a16:creationId xmlns:a16="http://schemas.microsoft.com/office/drawing/2014/main" id="{E2382F87-7093-482F-8502-7362EC0DE94F}"/>
                </a:ext>
              </a:extLst>
            </p:cNvPr>
            <p:cNvSpPr/>
            <p:nvPr/>
          </p:nvSpPr>
          <p:spPr>
            <a:xfrm>
              <a:off x="1049659" y="790037"/>
              <a:ext cx="9597225" cy="2040255"/>
            </a:xfrm>
            <a:prstGeom prst="rect">
              <a:avLst/>
            </a:prstGeom>
          </p:spPr>
          <p:txBody>
            <a:bodyPr wrap="square">
              <a:spAutoFit/>
            </a:bodyPr>
            <a:lstStyle/>
            <a:p>
              <a:pPr>
                <a:lnSpc>
                  <a:spcPts val="3800"/>
                </a:lnSpc>
                <a:buFontTx/>
                <a:buNone/>
              </a:pPr>
              <a:r>
                <a:rPr lang="zh-CN" altLang="zh-CN" sz="2400" b="1" dirty="0">
                  <a:latin typeface="微软雅黑" charset="-122"/>
                  <a:ea typeface="微软雅黑" charset="-122"/>
                  <a:cs typeface="Times New Roman" panose="02020603050405020304" pitchFamily="18" charset="0"/>
                </a:rPr>
                <a:t>假设投保人到第</a:t>
              </a:r>
              <a:r>
                <a:rPr lang="en-US" altLang="zh-CN" sz="2400" b="1" dirty="0">
                  <a:latin typeface="微软雅黑" charset="-122"/>
                  <a:ea typeface="微软雅黑" charset="-122"/>
                  <a:cs typeface="Times New Roman" panose="02020603050405020304" pitchFamily="18" charset="0"/>
                </a:rPr>
                <a:t>    </a:t>
              </a:r>
              <a:r>
                <a:rPr lang="zh-CN" altLang="zh-CN" sz="2400" b="1" dirty="0">
                  <a:latin typeface="微软雅黑" charset="-122"/>
                  <a:ea typeface="微软雅黑" charset="-122"/>
                  <a:cs typeface="Times New Roman" panose="02020603050405020304" pitchFamily="18" charset="0"/>
                </a:rPr>
                <a:t>月止所交保费及收益的累计总额为 </a:t>
              </a:r>
              <a:r>
                <a:rPr lang="en-US" altLang="zh-CN" sz="2400" b="1" dirty="0">
                  <a:latin typeface="微软雅黑" charset="-122"/>
                  <a:ea typeface="微软雅黑" charset="-122"/>
                  <a:cs typeface="Times New Roman" panose="02020603050405020304" pitchFamily="18" charset="0"/>
                </a:rPr>
                <a:t>   </a:t>
              </a:r>
              <a:r>
                <a:rPr lang="zh-CN" altLang="zh-CN" sz="2400" b="1" dirty="0">
                  <a:latin typeface="微软雅黑" charset="-122"/>
                  <a:ea typeface="微软雅黑" charset="-122"/>
                  <a:cs typeface="Times New Roman" panose="02020603050405020304" pitchFamily="18" charset="0"/>
                </a:rPr>
                <a:t>，每月收益率为 </a:t>
              </a:r>
              <a:r>
                <a:rPr lang="en-US" altLang="zh-CN" sz="2400" b="1" dirty="0">
                  <a:latin typeface="微软雅黑" charset="-122"/>
                  <a:ea typeface="微软雅黑" charset="-122"/>
                  <a:cs typeface="Times New Roman" panose="02020603050405020304" pitchFamily="18" charset="0"/>
                </a:rPr>
                <a:t>  </a:t>
              </a:r>
              <a:r>
                <a:rPr lang="zh-CN" altLang="zh-CN" sz="2400" b="1" dirty="0">
                  <a:latin typeface="微软雅黑" charset="-122"/>
                  <a:ea typeface="微软雅黑" charset="-122"/>
                  <a:cs typeface="Times New Roman" panose="02020603050405020304" pitchFamily="18" charset="0"/>
                </a:rPr>
                <a:t>，用 </a:t>
              </a:r>
              <a:r>
                <a:rPr lang="en-US" altLang="zh-CN" sz="2400" b="1" dirty="0">
                  <a:latin typeface="微软雅黑" charset="-122"/>
                  <a:ea typeface="微软雅黑" charset="-122"/>
                  <a:cs typeface="Times New Roman" panose="02020603050405020304" pitchFamily="18" charset="0"/>
                </a:rPr>
                <a:t>        </a:t>
              </a:r>
              <a:r>
                <a:rPr lang="zh-CN" altLang="zh-CN" sz="2400" b="1" dirty="0">
                  <a:latin typeface="微软雅黑" charset="-122"/>
                  <a:ea typeface="微软雅黑" charset="-122"/>
                  <a:cs typeface="Times New Roman" panose="02020603050405020304" pitchFamily="18" charset="0"/>
                </a:rPr>
                <a:t>分别表示60岁之前每月交费数</a:t>
              </a:r>
              <a:r>
                <a:rPr lang="zh-CN" altLang="en-US" sz="2400" b="1" dirty="0">
                  <a:latin typeface="微软雅黑" charset="-122"/>
                  <a:ea typeface="微软雅黑" charset="-122"/>
                  <a:cs typeface="Times New Roman" panose="02020603050405020304" pitchFamily="18" charset="0"/>
                </a:rPr>
                <a:t>、</a:t>
              </a:r>
              <a:r>
                <a:rPr lang="zh-CN" altLang="zh-CN" sz="2400" b="1" dirty="0">
                  <a:latin typeface="微软雅黑" charset="-122"/>
                  <a:ea typeface="微软雅黑" charset="-122"/>
                  <a:cs typeface="Times New Roman" panose="02020603050405020304" pitchFamily="18" charset="0"/>
                </a:rPr>
                <a:t>之后领取数，</a:t>
              </a:r>
              <a:r>
                <a:rPr lang="zh-CN" altLang="zh-CN" sz="2400" b="1" i="1" dirty="0">
                  <a:latin typeface="微软雅黑" charset="-122"/>
                  <a:ea typeface="微软雅黑" charset="-122"/>
                  <a:cs typeface="Times New Roman" panose="02020603050405020304" pitchFamily="18" charset="0"/>
                </a:rPr>
                <a:t>N</a:t>
              </a:r>
              <a:r>
                <a:rPr lang="en-US" altLang="zh-CN" sz="2400" b="1" i="1" dirty="0">
                  <a:latin typeface="微软雅黑" charset="-122"/>
                  <a:ea typeface="微软雅黑" charset="-122"/>
                  <a:cs typeface="Times New Roman" panose="02020603050405020304" pitchFamily="18" charset="0"/>
                </a:rPr>
                <a:t> </a:t>
              </a:r>
              <a:r>
                <a:rPr lang="zh-CN" altLang="zh-CN" sz="2400" b="1" dirty="0">
                  <a:latin typeface="微软雅黑" charset="-122"/>
                  <a:ea typeface="微软雅黑" charset="-122"/>
                  <a:cs typeface="Times New Roman" panose="02020603050405020304" pitchFamily="18" charset="0"/>
                </a:rPr>
                <a:t>表示</a:t>
              </a:r>
              <a:r>
                <a:rPr lang="zh-CN" altLang="en-US" sz="2400" b="1" dirty="0">
                  <a:latin typeface="微软雅黑" charset="-122"/>
                  <a:ea typeface="微软雅黑" charset="-122"/>
                  <a:cs typeface="Times New Roman" panose="02020603050405020304" pitchFamily="18" charset="0"/>
                </a:rPr>
                <a:t>投保人停</a:t>
              </a:r>
              <a:r>
                <a:rPr lang="zh-CN" altLang="zh-CN" sz="2400" b="1" dirty="0">
                  <a:latin typeface="微软雅黑" charset="-122"/>
                  <a:ea typeface="微软雅黑" charset="-122"/>
                  <a:cs typeface="Times New Roman" panose="02020603050405020304" pitchFamily="18" charset="0"/>
                </a:rPr>
                <a:t>交保费的月</a:t>
              </a:r>
              <a:r>
                <a:rPr lang="zh-CN" altLang="en-US" sz="2400" b="1" dirty="0">
                  <a:latin typeface="微软雅黑" charset="-122"/>
                  <a:ea typeface="微软雅黑" charset="-122"/>
                  <a:cs typeface="Times New Roman" panose="02020603050405020304" pitchFamily="18" charset="0"/>
                </a:rPr>
                <a:t>份</a:t>
              </a:r>
              <a:r>
                <a:rPr lang="zh-CN" altLang="zh-CN" sz="2400" b="1" dirty="0">
                  <a:latin typeface="微软雅黑" charset="-122"/>
                  <a:ea typeface="微软雅黑" charset="-122"/>
                  <a:cs typeface="Times New Roman" panose="02020603050405020304" pitchFamily="18" charset="0"/>
                </a:rPr>
                <a:t>，</a:t>
              </a:r>
              <a:r>
                <a:rPr lang="zh-CN" altLang="zh-CN" sz="2400" b="1" i="1" dirty="0">
                  <a:latin typeface="微软雅黑" charset="-122"/>
                  <a:ea typeface="微软雅黑" charset="-122"/>
                  <a:cs typeface="Times New Roman" panose="02020603050405020304" pitchFamily="18" charset="0"/>
                </a:rPr>
                <a:t>M</a:t>
              </a:r>
              <a:r>
                <a:rPr lang="en-US" altLang="zh-CN" sz="2400" b="1" i="1" dirty="0">
                  <a:latin typeface="微软雅黑" charset="-122"/>
                  <a:ea typeface="微软雅黑" charset="-122"/>
                  <a:cs typeface="Times New Roman" panose="02020603050405020304" pitchFamily="18" charset="0"/>
                </a:rPr>
                <a:t> </a:t>
              </a:r>
              <a:r>
                <a:rPr lang="zh-CN" altLang="zh-CN" sz="2400" b="1" dirty="0">
                  <a:latin typeface="微软雅黑" charset="-122"/>
                  <a:ea typeface="微软雅黑" charset="-122"/>
                  <a:cs typeface="Times New Roman" panose="02020603050405020304" pitchFamily="18" charset="0"/>
                </a:rPr>
                <a:t>表示</a:t>
              </a:r>
              <a:r>
                <a:rPr lang="zh-CN" altLang="en-US" sz="2400" b="1" dirty="0">
                  <a:latin typeface="微软雅黑" charset="-122"/>
                  <a:ea typeface="微软雅黑" charset="-122"/>
                  <a:cs typeface="Times New Roman" panose="02020603050405020304" pitchFamily="18" charset="0"/>
                </a:rPr>
                <a:t>停</a:t>
              </a:r>
              <a:r>
                <a:rPr lang="zh-CN" altLang="zh-CN" sz="2400" b="1" dirty="0">
                  <a:latin typeface="微软雅黑" charset="-122"/>
                  <a:ea typeface="微软雅黑" charset="-122"/>
                  <a:cs typeface="Times New Roman" panose="02020603050405020304" pitchFamily="18" charset="0"/>
                </a:rPr>
                <a:t>领养老金的月</a:t>
              </a:r>
              <a:r>
                <a:rPr lang="zh-CN" altLang="en-US" sz="2400" b="1" dirty="0">
                  <a:latin typeface="微软雅黑" charset="-122"/>
                  <a:ea typeface="微软雅黑" charset="-122"/>
                  <a:cs typeface="Times New Roman" panose="02020603050405020304" pitchFamily="18" charset="0"/>
                </a:rPr>
                <a:t>份</a:t>
              </a:r>
              <a:r>
                <a:rPr lang="zh-CN" altLang="zh-CN" sz="2400" b="1" dirty="0">
                  <a:latin typeface="微软雅黑" charset="-122"/>
                  <a:ea typeface="微软雅黑" charset="-122"/>
                  <a:cs typeface="Times New Roman" panose="02020603050405020304" pitchFamily="18" charset="0"/>
                </a:rPr>
                <a:t>。</a:t>
              </a:r>
            </a:p>
          </p:txBody>
        </p:sp>
        <p:graphicFrame>
          <p:nvGraphicFramePr>
            <p:cNvPr id="6" name="对象 5">
              <a:extLst>
                <a:ext uri="{FF2B5EF4-FFF2-40B4-BE49-F238E27FC236}">
                  <a16:creationId xmlns:a16="http://schemas.microsoft.com/office/drawing/2014/main" id="{2D3E48C2-C53E-4C8C-9205-2EE3197B5382}"/>
                </a:ext>
              </a:extLst>
            </p:cNvPr>
            <p:cNvGraphicFramePr>
              <a:graphicFrameLocks/>
            </p:cNvGraphicFramePr>
            <p:nvPr/>
          </p:nvGraphicFramePr>
          <p:xfrm>
            <a:off x="3737120" y="885988"/>
            <a:ext cx="452461" cy="452605"/>
          </p:xfrm>
          <a:graphic>
            <a:graphicData uri="http://schemas.openxmlformats.org/presentationml/2006/ole">
              <mc:AlternateContent xmlns:mc="http://schemas.openxmlformats.org/markup-compatibility/2006">
                <mc:Choice xmlns:v="urn:schemas-microsoft-com:vml" Requires="v">
                  <p:oleObj name="Equation" r:id="rId2" imgW="3048000" imgH="4267200" progId="">
                    <p:embed/>
                  </p:oleObj>
                </mc:Choice>
                <mc:Fallback>
                  <p:oleObj name="Equation" r:id="rId2" imgW="3048000" imgH="4267200" progId="">
                    <p:embed/>
                    <p:pic>
                      <p:nvPicPr>
                        <p:cNvPr id="6" name="对象 5">
                          <a:extLst>
                            <a:ext uri="{FF2B5EF4-FFF2-40B4-BE49-F238E27FC236}">
                              <a16:creationId xmlns:a16="http://schemas.microsoft.com/office/drawing/2014/main" id="{2D3E48C2-C53E-4C8C-9205-2EE3197B538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7120" y="885988"/>
                          <a:ext cx="452461" cy="4526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a:extLst>
                <a:ext uri="{FF2B5EF4-FFF2-40B4-BE49-F238E27FC236}">
                  <a16:creationId xmlns:a16="http://schemas.microsoft.com/office/drawing/2014/main" id="{42452522-3984-48D3-AB96-BE509A7ACDC4}"/>
                </a:ext>
              </a:extLst>
            </p:cNvPr>
            <p:cNvGraphicFramePr>
              <a:graphicFrameLocks noChangeAspect="1"/>
            </p:cNvGraphicFramePr>
            <p:nvPr/>
          </p:nvGraphicFramePr>
          <p:xfrm>
            <a:off x="9583014" y="886144"/>
            <a:ext cx="389312" cy="499000"/>
          </p:xfrm>
          <a:graphic>
            <a:graphicData uri="http://schemas.openxmlformats.org/presentationml/2006/ole">
              <mc:AlternateContent xmlns:mc="http://schemas.openxmlformats.org/markup-compatibility/2006">
                <mc:Choice xmlns:v="urn:schemas-microsoft-com:vml" Requires="v">
                  <p:oleObj name="Equation" r:id="rId4" imgW="4267200" imgH="5486400" progId="">
                    <p:embed/>
                  </p:oleObj>
                </mc:Choice>
                <mc:Fallback>
                  <p:oleObj name="Equation" r:id="rId4" imgW="4267200" imgH="5486400" progId="">
                    <p:embed/>
                    <p:pic>
                      <p:nvPicPr>
                        <p:cNvPr id="7" name="对象 6">
                          <a:extLst>
                            <a:ext uri="{FF2B5EF4-FFF2-40B4-BE49-F238E27FC236}">
                              <a16:creationId xmlns:a16="http://schemas.microsoft.com/office/drawing/2014/main" id="{42452522-3984-48D3-AB96-BE509A7ACD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83014" y="886144"/>
                          <a:ext cx="389312" cy="49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a:extLst>
                <a:ext uri="{FF2B5EF4-FFF2-40B4-BE49-F238E27FC236}">
                  <a16:creationId xmlns:a16="http://schemas.microsoft.com/office/drawing/2014/main" id="{1BBA8954-6AE2-456F-8B29-8BEF8F6AB4CA}"/>
                </a:ext>
              </a:extLst>
            </p:cNvPr>
            <p:cNvGraphicFramePr>
              <a:graphicFrameLocks noChangeAspect="1"/>
            </p:cNvGraphicFramePr>
            <p:nvPr/>
          </p:nvGraphicFramePr>
          <p:xfrm>
            <a:off x="3333938" y="1385350"/>
            <a:ext cx="326395" cy="424815"/>
          </p:xfrm>
          <a:graphic>
            <a:graphicData uri="http://schemas.openxmlformats.org/presentationml/2006/ole">
              <mc:AlternateContent xmlns:mc="http://schemas.openxmlformats.org/markup-compatibility/2006">
                <mc:Choice xmlns:v="urn:schemas-microsoft-com:vml" Requires="v">
                  <p:oleObj name="Equation" r:id="rId6" imgW="2743200" imgH="3048000" progId="">
                    <p:embed/>
                  </p:oleObj>
                </mc:Choice>
                <mc:Fallback>
                  <p:oleObj name="Equation" r:id="rId6" imgW="2743200" imgH="3048000" progId="">
                    <p:embed/>
                    <p:pic>
                      <p:nvPicPr>
                        <p:cNvPr id="8" name="对象 7">
                          <a:extLst>
                            <a:ext uri="{FF2B5EF4-FFF2-40B4-BE49-F238E27FC236}">
                              <a16:creationId xmlns:a16="http://schemas.microsoft.com/office/drawing/2014/main" id="{1BBA8954-6AE2-456F-8B29-8BEF8F6AB4C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33938" y="1385350"/>
                          <a:ext cx="326395" cy="4248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a:extLst>
                <a:ext uri="{FF2B5EF4-FFF2-40B4-BE49-F238E27FC236}">
                  <a16:creationId xmlns:a16="http://schemas.microsoft.com/office/drawing/2014/main" id="{C7AB32B9-A7FD-49DC-BF9B-A1CE00C7B8F6}"/>
                </a:ext>
              </a:extLst>
            </p:cNvPr>
            <p:cNvGraphicFramePr>
              <a:graphicFrameLocks noChangeAspect="1"/>
            </p:cNvGraphicFramePr>
            <p:nvPr/>
          </p:nvGraphicFramePr>
          <p:xfrm>
            <a:off x="4360072" y="1385350"/>
            <a:ext cx="938291" cy="430530"/>
          </p:xfrm>
          <a:graphic>
            <a:graphicData uri="http://schemas.openxmlformats.org/presentationml/2006/ole">
              <mc:AlternateContent xmlns:mc="http://schemas.openxmlformats.org/markup-compatibility/2006">
                <mc:Choice xmlns:v="urn:schemas-microsoft-com:vml" Requires="v">
                  <p:oleObj name="Equation" r:id="rId8" imgW="10058400" imgH="3962400" progId="">
                    <p:embed/>
                  </p:oleObj>
                </mc:Choice>
                <mc:Fallback>
                  <p:oleObj name="Equation" r:id="rId8" imgW="10058400" imgH="3962400" progId="">
                    <p:embed/>
                    <p:pic>
                      <p:nvPicPr>
                        <p:cNvPr id="9" name="对象 8">
                          <a:extLst>
                            <a:ext uri="{FF2B5EF4-FFF2-40B4-BE49-F238E27FC236}">
                              <a16:creationId xmlns:a16="http://schemas.microsoft.com/office/drawing/2014/main" id="{C7AB32B9-A7FD-49DC-BF9B-A1CE00C7B8F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60072" y="1385350"/>
                          <a:ext cx="938291" cy="4305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0" name="组合 9">
            <a:extLst>
              <a:ext uri="{FF2B5EF4-FFF2-40B4-BE49-F238E27FC236}">
                <a16:creationId xmlns:a16="http://schemas.microsoft.com/office/drawing/2014/main" id="{8D839572-E657-4E3F-A1DD-B87697C1CA6E}"/>
              </a:ext>
            </a:extLst>
          </p:cNvPr>
          <p:cNvGrpSpPr/>
          <p:nvPr/>
        </p:nvGrpSpPr>
        <p:grpSpPr>
          <a:xfrm>
            <a:off x="1265752" y="4132735"/>
            <a:ext cx="7664450" cy="988695"/>
            <a:chOff x="869284" y="2899958"/>
            <a:chExt cx="8185678" cy="988695"/>
          </a:xfrm>
        </p:grpSpPr>
        <p:sp>
          <p:nvSpPr>
            <p:cNvPr id="11" name="矩形 10">
              <a:extLst>
                <a:ext uri="{FF2B5EF4-FFF2-40B4-BE49-F238E27FC236}">
                  <a16:creationId xmlns:a16="http://schemas.microsoft.com/office/drawing/2014/main" id="{A35DA1AA-FC7A-46C1-BA3D-2C1C7FDE02DE}"/>
                </a:ext>
              </a:extLst>
            </p:cNvPr>
            <p:cNvSpPr/>
            <p:nvPr/>
          </p:nvSpPr>
          <p:spPr>
            <a:xfrm>
              <a:off x="869284" y="2899958"/>
              <a:ext cx="8185678" cy="988695"/>
            </a:xfrm>
            <a:prstGeom prst="rect">
              <a:avLst/>
            </a:prstGeom>
          </p:spPr>
          <p:txBody>
            <a:bodyPr wrap="square">
              <a:spAutoFit/>
            </a:bodyPr>
            <a:lstStyle/>
            <a:p>
              <a:pPr>
                <a:lnSpc>
                  <a:spcPts val="3500"/>
                </a:lnSpc>
              </a:pPr>
              <a:r>
                <a:rPr lang="zh-CN" altLang="en-US" sz="2400" b="1" dirty="0">
                  <a:solidFill>
                    <a:srgbClr val="0000CC"/>
                  </a:solidFill>
                  <a:latin typeface="微软雅黑" charset="-122"/>
                  <a:ea typeface="微软雅黑" charset="-122"/>
                  <a:cs typeface="Times New Roman" panose="02020603050405020304" pitchFamily="18" charset="0"/>
                </a:rPr>
                <a:t>投</a:t>
              </a:r>
              <a:r>
                <a:rPr lang="zh-CN" altLang="zh-CN" sz="2400" b="1" dirty="0">
                  <a:solidFill>
                    <a:srgbClr val="0000CC"/>
                  </a:solidFill>
                  <a:latin typeface="微软雅黑" charset="-122"/>
                  <a:ea typeface="微软雅黑" charset="-122"/>
                  <a:cs typeface="Times New Roman" panose="02020603050405020304" pitchFamily="18" charset="0"/>
                </a:rPr>
                <a:t>保人从开始交纳保险费</a:t>
              </a:r>
              <a:r>
                <a:rPr lang="zh-CN" altLang="en-US" sz="2400" b="1" dirty="0">
                  <a:solidFill>
                    <a:srgbClr val="0000CC"/>
                  </a:solidFill>
                  <a:latin typeface="微软雅黑" charset="-122"/>
                  <a:ea typeface="微软雅黑" charset="-122"/>
                  <a:cs typeface="Times New Roman" panose="02020603050405020304" pitchFamily="18" charset="0"/>
                </a:rPr>
                <a:t>时起</a:t>
              </a:r>
              <a:r>
                <a:rPr lang="zh-CN" altLang="zh-CN" sz="2400" b="1" dirty="0">
                  <a:solidFill>
                    <a:srgbClr val="0000CC"/>
                  </a:solidFill>
                  <a:latin typeface="微软雅黑" charset="-122"/>
                  <a:ea typeface="微软雅黑" charset="-122"/>
                  <a:cs typeface="Times New Roman" panose="02020603050405020304" pitchFamily="18" charset="0"/>
                </a:rPr>
                <a:t>，保险人账户上的资金数值</a:t>
              </a:r>
              <a:r>
                <a:rPr lang="en-US" altLang="zh-CN" sz="2400" b="1" dirty="0">
                  <a:solidFill>
                    <a:srgbClr val="0000CC"/>
                  </a:solidFill>
                  <a:latin typeface="微软雅黑" charset="-122"/>
                  <a:ea typeface="微软雅黑" charset="-122"/>
                  <a:cs typeface="Times New Roman" panose="02020603050405020304" pitchFamily="18" charset="0"/>
                </a:rPr>
                <a:t>    </a:t>
              </a:r>
              <a:r>
                <a:rPr lang="zh-CN" altLang="en-US" sz="2400" b="1" dirty="0">
                  <a:solidFill>
                    <a:srgbClr val="0000CC"/>
                  </a:solidFill>
                  <a:latin typeface="微软雅黑" charset="-122"/>
                  <a:ea typeface="微软雅黑" charset="-122"/>
                  <a:cs typeface="Times New Roman" panose="02020603050405020304" pitchFamily="18" charset="0"/>
                </a:rPr>
                <a:t>满足下面关系：</a:t>
              </a:r>
              <a:r>
                <a:rPr lang="zh-CN" altLang="zh-CN" sz="2400" b="1" dirty="0">
                  <a:solidFill>
                    <a:srgbClr val="0000CC"/>
                  </a:solidFill>
                  <a:latin typeface="微软雅黑" charset="-122"/>
                  <a:ea typeface="微软雅黑" charset="-122"/>
                  <a:cs typeface="Times New Roman" panose="02020603050405020304" pitchFamily="18" charset="0"/>
                </a:rPr>
                <a:t> </a:t>
              </a:r>
              <a:endParaRPr lang="zh-CN" altLang="en-US" sz="2400" dirty="0">
                <a:solidFill>
                  <a:srgbClr val="0000CC"/>
                </a:solidFill>
                <a:latin typeface="微软雅黑" charset="-122"/>
                <a:ea typeface="微软雅黑" charset="-122"/>
              </a:endParaRPr>
            </a:p>
          </p:txBody>
        </p:sp>
        <p:graphicFrame>
          <p:nvGraphicFramePr>
            <p:cNvPr id="12" name="对象 11">
              <a:extLst>
                <a:ext uri="{FF2B5EF4-FFF2-40B4-BE49-F238E27FC236}">
                  <a16:creationId xmlns:a16="http://schemas.microsoft.com/office/drawing/2014/main" id="{85E0ED66-0E1C-44D0-B805-D252248214B5}"/>
                </a:ext>
              </a:extLst>
            </p:cNvPr>
            <p:cNvGraphicFramePr>
              <a:graphicFrameLocks noChangeAspect="1"/>
            </p:cNvGraphicFramePr>
            <p:nvPr/>
          </p:nvGraphicFramePr>
          <p:xfrm>
            <a:off x="1286598" y="3426373"/>
            <a:ext cx="361454" cy="462280"/>
          </p:xfrm>
          <a:graphic>
            <a:graphicData uri="http://schemas.openxmlformats.org/presentationml/2006/ole">
              <mc:AlternateContent xmlns:mc="http://schemas.openxmlformats.org/markup-compatibility/2006">
                <mc:Choice xmlns:v="urn:schemas-microsoft-com:vml" Requires="v">
                  <p:oleObj name="Equation" r:id="rId10" imgW="177646" imgH="228402" progId="">
                    <p:embed/>
                  </p:oleObj>
                </mc:Choice>
                <mc:Fallback>
                  <p:oleObj name="Equation" r:id="rId10" imgW="177646" imgH="228402" progId="">
                    <p:embed/>
                    <p:pic>
                      <p:nvPicPr>
                        <p:cNvPr id="12" name="对象 11">
                          <a:extLst>
                            <a:ext uri="{FF2B5EF4-FFF2-40B4-BE49-F238E27FC236}">
                              <a16:creationId xmlns:a16="http://schemas.microsoft.com/office/drawing/2014/main" id="{85E0ED66-0E1C-44D0-B805-D252248214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86598" y="3426373"/>
                          <a:ext cx="361454" cy="4622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5" name="对象 14">
            <a:extLst>
              <a:ext uri="{FF2B5EF4-FFF2-40B4-BE49-F238E27FC236}">
                <a16:creationId xmlns:a16="http://schemas.microsoft.com/office/drawing/2014/main" id="{9177E0B2-FE07-4345-878C-98A9749B1E57}"/>
              </a:ext>
            </a:extLst>
          </p:cNvPr>
          <p:cNvGraphicFramePr>
            <a:graphicFrameLocks noChangeAspect="1"/>
          </p:cNvGraphicFramePr>
          <p:nvPr>
            <p:extLst>
              <p:ext uri="{D42A27DB-BD31-4B8C-83A1-F6EECF244321}">
                <p14:modId xmlns:p14="http://schemas.microsoft.com/office/powerpoint/2010/main" val="1032802077"/>
              </p:ext>
            </p:extLst>
          </p:nvPr>
        </p:nvGraphicFramePr>
        <p:xfrm>
          <a:off x="2821060" y="5343915"/>
          <a:ext cx="5127625" cy="1162050"/>
        </p:xfrm>
        <a:graphic>
          <a:graphicData uri="http://schemas.openxmlformats.org/presentationml/2006/ole">
            <mc:AlternateContent xmlns:mc="http://schemas.openxmlformats.org/markup-compatibility/2006">
              <mc:Choice xmlns:v="urn:schemas-microsoft-com:vml" Requires="v">
                <p:oleObj name="Equation" r:id="rId12" imgW="2311400" imgH="482600" progId="">
                  <p:embed/>
                </p:oleObj>
              </mc:Choice>
              <mc:Fallback>
                <p:oleObj name="Equation" r:id="rId12" imgW="2311400" imgH="482600" progId="">
                  <p:embed/>
                  <p:pic>
                    <p:nvPicPr>
                      <p:cNvPr id="15" name="对象 14">
                        <a:extLst>
                          <a:ext uri="{FF2B5EF4-FFF2-40B4-BE49-F238E27FC236}">
                            <a16:creationId xmlns:a16="http://schemas.microsoft.com/office/drawing/2014/main" id="{9177E0B2-FE07-4345-878C-98A9749B1E5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21060" y="5343915"/>
                        <a:ext cx="5127625" cy="1162050"/>
                      </a:xfrm>
                      <a:prstGeom prst="rect">
                        <a:avLst/>
                      </a:prstGeom>
                      <a:solidFill>
                        <a:srgbClr val="DEEBF7"/>
                      </a:solidFill>
                    </p:spPr>
                  </p:pic>
                </p:oleObj>
              </mc:Fallback>
            </mc:AlternateContent>
          </a:graphicData>
        </a:graphic>
      </p:graphicFrame>
    </p:spTree>
    <p:extLst>
      <p:ext uri="{BB962C8B-B14F-4D97-AF65-F5344CB8AC3E}">
        <p14:creationId xmlns:p14="http://schemas.microsoft.com/office/powerpoint/2010/main" val="3407358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 fill="hold"/>
                                        <p:tgtEl>
                                          <p:spTgt spid="4"/>
                                        </p:tgtEl>
                                        <p:attrNameLst>
                                          <p:attrName>ppt_x</p:attrName>
                                        </p:attrNameLst>
                                      </p:cBhvr>
                                      <p:tavLst>
                                        <p:tav tm="0">
                                          <p:val>
                                            <p:strVal val="0-#ppt_w/2"/>
                                          </p:val>
                                        </p:tav>
                                        <p:tav tm="100000">
                                          <p:val>
                                            <p:strVal val="#ppt_x"/>
                                          </p:val>
                                        </p:tav>
                                      </p:tavLst>
                                    </p:anim>
                                    <p:anim calcmode="lin" valueType="num">
                                      <p:cBhvr additive="base">
                                        <p:cTn id="8" dur="1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10" fill="hold"/>
                                        <p:tgtEl>
                                          <p:spTgt spid="10"/>
                                        </p:tgtEl>
                                        <p:attrNameLst>
                                          <p:attrName>ppt_x</p:attrName>
                                        </p:attrNameLst>
                                      </p:cBhvr>
                                      <p:tavLst>
                                        <p:tav tm="0">
                                          <p:val>
                                            <p:strVal val="#ppt_x"/>
                                          </p:val>
                                        </p:tav>
                                        <p:tav tm="100000">
                                          <p:val>
                                            <p:strVal val="#ppt_x"/>
                                          </p:val>
                                        </p:tav>
                                      </p:tavLst>
                                    </p:anim>
                                    <p:anim calcmode="lin" valueType="num">
                                      <p:cBhvr additive="base">
                                        <p:cTn id="14" dur="1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3" presetClass="entr" presetSubtype="16"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plus(in)">
                                      <p:cBhvr>
                                        <p:cTn id="19" dur="1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55FEBD8E-F1E7-4F90-ADCF-321FC21C151B}"/>
              </a:ext>
            </a:extLst>
          </p:cNvPr>
          <p:cNvSpPr/>
          <p:nvPr/>
        </p:nvSpPr>
        <p:spPr>
          <a:xfrm>
            <a:off x="1137776" y="2075671"/>
            <a:ext cx="3843560" cy="570865"/>
          </a:xfrm>
          <a:prstGeom prst="rect">
            <a:avLst/>
          </a:prstGeom>
        </p:spPr>
        <p:txBody>
          <a:bodyPr wrap="square">
            <a:spAutoFit/>
          </a:bodyPr>
          <a:lstStyle/>
          <a:p>
            <a:r>
              <a:rPr lang="zh-CN" altLang="en-US" sz="2400" b="1" dirty="0">
                <a:solidFill>
                  <a:schemeClr val="tx1"/>
                </a:solidFill>
                <a:latin typeface="微软雅黑" charset="-122"/>
                <a:ea typeface="微软雅黑" charset="-122"/>
                <a:cs typeface="Times New Roman" panose="02020603050405020304" pitchFamily="18" charset="0"/>
              </a:rPr>
              <a:t>投保过程资金积累情况</a:t>
            </a:r>
          </a:p>
        </p:txBody>
      </p:sp>
      <p:graphicFrame>
        <p:nvGraphicFramePr>
          <p:cNvPr id="7" name="对象 6">
            <a:extLst>
              <a:ext uri="{FF2B5EF4-FFF2-40B4-BE49-F238E27FC236}">
                <a16:creationId xmlns:a16="http://schemas.microsoft.com/office/drawing/2014/main" id="{B5F4FF5A-066A-4AD5-8F1C-AC269D046516}"/>
              </a:ext>
            </a:extLst>
          </p:cNvPr>
          <p:cNvGraphicFramePr>
            <a:graphicFrameLocks noChangeAspect="1"/>
          </p:cNvGraphicFramePr>
          <p:nvPr>
            <p:extLst>
              <p:ext uri="{D42A27DB-BD31-4B8C-83A1-F6EECF244321}">
                <p14:modId xmlns:p14="http://schemas.microsoft.com/office/powerpoint/2010/main" val="782098199"/>
              </p:ext>
            </p:extLst>
          </p:nvPr>
        </p:nvGraphicFramePr>
        <p:xfrm>
          <a:off x="2342435" y="3018626"/>
          <a:ext cx="7018582" cy="919162"/>
        </p:xfrm>
        <a:graphic>
          <a:graphicData uri="http://schemas.openxmlformats.org/presentationml/2006/ole">
            <mc:AlternateContent xmlns:mc="http://schemas.openxmlformats.org/markup-compatibility/2006">
              <mc:Choice xmlns:v="urn:schemas-microsoft-com:vml" Requires="v">
                <p:oleObj name="Equation" r:id="rId2" imgW="67056000" imgH="9448800" progId="">
                  <p:embed/>
                </p:oleObj>
              </mc:Choice>
              <mc:Fallback>
                <p:oleObj name="Equation" r:id="rId2" imgW="67056000" imgH="9448800" progId="">
                  <p:embed/>
                  <p:pic>
                    <p:nvPicPr>
                      <p:cNvPr id="7" name="对象 6">
                        <a:extLst>
                          <a:ext uri="{FF2B5EF4-FFF2-40B4-BE49-F238E27FC236}">
                            <a16:creationId xmlns:a16="http://schemas.microsoft.com/office/drawing/2014/main" id="{B5F4FF5A-066A-4AD5-8F1C-AC269D0465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2435" y="3018626"/>
                        <a:ext cx="7018582" cy="919162"/>
                      </a:xfrm>
                      <a:prstGeom prst="rect">
                        <a:avLst/>
                      </a:prstGeom>
                      <a:solidFill>
                        <a:srgbClr val="C3D4F5"/>
                      </a:solidFill>
                    </p:spPr>
                  </p:pic>
                </p:oleObj>
              </mc:Fallback>
            </mc:AlternateContent>
          </a:graphicData>
        </a:graphic>
      </p:graphicFrame>
      <p:sp>
        <p:nvSpPr>
          <p:cNvPr id="8" name="矩形 7">
            <a:extLst>
              <a:ext uri="{FF2B5EF4-FFF2-40B4-BE49-F238E27FC236}">
                <a16:creationId xmlns:a16="http://schemas.microsoft.com/office/drawing/2014/main" id="{8D23D8D9-E462-4B8C-AE07-22C0F0FC076A}"/>
              </a:ext>
            </a:extLst>
          </p:cNvPr>
          <p:cNvSpPr/>
          <p:nvPr/>
        </p:nvSpPr>
        <p:spPr>
          <a:xfrm>
            <a:off x="1150476" y="4383261"/>
            <a:ext cx="4897660" cy="570865"/>
          </a:xfrm>
          <a:prstGeom prst="rect">
            <a:avLst/>
          </a:prstGeom>
        </p:spPr>
        <p:txBody>
          <a:bodyPr wrap="square">
            <a:spAutoFit/>
          </a:bodyPr>
          <a:lstStyle/>
          <a:p>
            <a:r>
              <a:rPr lang="zh-CN" altLang="en-US" sz="2400" b="1" dirty="0">
                <a:solidFill>
                  <a:schemeClr val="tx1"/>
                </a:solidFill>
                <a:latin typeface="微软雅黑" charset="-122"/>
                <a:ea typeface="微软雅黑" charset="-122"/>
                <a:cs typeface="Times New Roman" panose="02020603050405020304" pitchFamily="18" charset="0"/>
              </a:rPr>
              <a:t>领养老金过程资金的变化情况</a:t>
            </a:r>
          </a:p>
        </p:txBody>
      </p:sp>
      <p:graphicFrame>
        <p:nvGraphicFramePr>
          <p:cNvPr id="9" name="对象 8">
            <a:extLst>
              <a:ext uri="{FF2B5EF4-FFF2-40B4-BE49-F238E27FC236}">
                <a16:creationId xmlns:a16="http://schemas.microsoft.com/office/drawing/2014/main" id="{D40CD286-58AD-4918-8AB5-8778F2F91A33}"/>
              </a:ext>
            </a:extLst>
          </p:cNvPr>
          <p:cNvGraphicFramePr>
            <a:graphicFrameLocks noChangeAspect="1"/>
          </p:cNvGraphicFramePr>
          <p:nvPr>
            <p:extLst>
              <p:ext uri="{D42A27DB-BD31-4B8C-83A1-F6EECF244321}">
                <p14:modId xmlns:p14="http://schemas.microsoft.com/office/powerpoint/2010/main" val="1082616132"/>
              </p:ext>
            </p:extLst>
          </p:nvPr>
        </p:nvGraphicFramePr>
        <p:xfrm>
          <a:off x="2222896" y="5241442"/>
          <a:ext cx="7258050" cy="911721"/>
        </p:xfrm>
        <a:graphic>
          <a:graphicData uri="http://schemas.openxmlformats.org/presentationml/2006/ole">
            <mc:AlternateContent xmlns:mc="http://schemas.openxmlformats.org/markup-compatibility/2006">
              <mc:Choice xmlns:v="urn:schemas-microsoft-com:vml" Requires="v">
                <p:oleObj name="Equation" r:id="rId4" imgW="3136900" imgH="393700" progId="">
                  <p:embed/>
                </p:oleObj>
              </mc:Choice>
              <mc:Fallback>
                <p:oleObj name="Equation" r:id="rId4" imgW="3136900" imgH="393700" progId="">
                  <p:embed/>
                  <p:pic>
                    <p:nvPicPr>
                      <p:cNvPr id="9" name="对象 8">
                        <a:extLst>
                          <a:ext uri="{FF2B5EF4-FFF2-40B4-BE49-F238E27FC236}">
                            <a16:creationId xmlns:a16="http://schemas.microsoft.com/office/drawing/2014/main" id="{D40CD286-58AD-4918-8AB5-8778F2F91A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2896" y="5241442"/>
                        <a:ext cx="7258050" cy="911721"/>
                      </a:xfrm>
                      <a:prstGeom prst="rect">
                        <a:avLst/>
                      </a:prstGeom>
                      <a:solidFill>
                        <a:srgbClr val="C3D4F5"/>
                      </a:solidFill>
                    </p:spPr>
                  </p:pic>
                </p:oleObj>
              </mc:Fallback>
            </mc:AlternateContent>
          </a:graphicData>
        </a:graphic>
      </p:graphicFrame>
      <p:sp>
        <p:nvSpPr>
          <p:cNvPr id="12" name="Title 1">
            <a:extLst>
              <a:ext uri="{FF2B5EF4-FFF2-40B4-BE49-F238E27FC236}">
                <a16:creationId xmlns:a16="http://schemas.microsoft.com/office/drawing/2014/main" id="{FE788FEB-3BBD-4875-807A-5A25168A8C83}"/>
              </a:ext>
            </a:extLst>
          </p:cNvPr>
          <p:cNvSpPr>
            <a:spLocks noGrp="1"/>
          </p:cNvSpPr>
          <p:nvPr>
            <p:ph type="title"/>
          </p:nvPr>
        </p:nvSpPr>
        <p:spPr>
          <a:xfrm>
            <a:off x="1066800" y="562302"/>
            <a:ext cx="8456762" cy="760415"/>
          </a:xfrm>
        </p:spPr>
        <p:txBody>
          <a:bodyPr/>
          <a:lstStyle/>
          <a:p>
            <a:r>
              <a:rPr lang="zh-CN" altLang="en-US" sz="3200" b="1" dirty="0">
                <a:solidFill>
                  <a:srgbClr val="000000"/>
                </a:solidFill>
                <a:latin typeface="微软雅黑" charset="-122"/>
                <a:ea typeface="宋体" panose="02010600030101010101" pitchFamily="2" charset="-122"/>
              </a:rPr>
              <a:t>数学建模是应用数学解决实际问题的关键</a:t>
            </a:r>
            <a:endParaRPr lang="en-US" sz="3200" b="1" dirty="0">
              <a:solidFill>
                <a:srgbClr val="000000"/>
              </a:solidFill>
              <a:latin typeface="微软雅黑" charset="-122"/>
              <a:ea typeface="宋体" panose="02010600030101010101" pitchFamily="2" charset="-122"/>
            </a:endParaRPr>
          </a:p>
        </p:txBody>
      </p:sp>
    </p:spTree>
    <p:extLst>
      <p:ext uri="{BB962C8B-B14F-4D97-AF65-F5344CB8AC3E}">
        <p14:creationId xmlns:p14="http://schemas.microsoft.com/office/powerpoint/2010/main" val="2851185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F96DDF1-02E1-4477-B3CB-0C29693811D6}"/>
              </a:ext>
            </a:extLst>
          </p:cNvPr>
          <p:cNvSpPr txBox="1">
            <a:spLocks/>
          </p:cNvSpPr>
          <p:nvPr/>
        </p:nvSpPr>
        <p:spPr>
          <a:xfrm>
            <a:off x="1066800" y="562302"/>
            <a:ext cx="8456762" cy="7604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cap="small" baseline="0">
                <a:solidFill>
                  <a:schemeClr val="tx1"/>
                </a:solidFill>
                <a:latin typeface="+mj-lt"/>
                <a:ea typeface="+mj-ea"/>
                <a:cs typeface="+mj-cs"/>
              </a:defRPr>
            </a:lvl1pPr>
          </a:lstStyle>
          <a:p>
            <a:r>
              <a:rPr lang="zh-CN" altLang="en-US" sz="3200" b="1" dirty="0">
                <a:solidFill>
                  <a:srgbClr val="000000"/>
                </a:solidFill>
                <a:latin typeface="微软雅黑" charset="-122"/>
                <a:ea typeface="宋体" panose="02010600030101010101" pitchFamily="2" charset="-122"/>
              </a:rPr>
              <a:t>数学建模是应用数学解决实际问题的关键</a:t>
            </a:r>
            <a:endParaRPr lang="en-US" sz="3200" b="1" dirty="0">
              <a:solidFill>
                <a:srgbClr val="000000"/>
              </a:solidFill>
              <a:latin typeface="微软雅黑" charset="-122"/>
              <a:ea typeface="宋体" panose="02010600030101010101" pitchFamily="2" charset="-122"/>
            </a:endParaRPr>
          </a:p>
        </p:txBody>
      </p:sp>
      <p:grpSp>
        <p:nvGrpSpPr>
          <p:cNvPr id="7" name="组合 6">
            <a:extLst>
              <a:ext uri="{FF2B5EF4-FFF2-40B4-BE49-F238E27FC236}">
                <a16:creationId xmlns:a16="http://schemas.microsoft.com/office/drawing/2014/main" id="{6D8CFD1B-0C73-447E-8BB3-9DAAE716D017}"/>
              </a:ext>
            </a:extLst>
          </p:cNvPr>
          <p:cNvGrpSpPr/>
          <p:nvPr/>
        </p:nvGrpSpPr>
        <p:grpSpPr>
          <a:xfrm>
            <a:off x="1271153" y="1840711"/>
            <a:ext cx="8330565" cy="1259840"/>
            <a:chOff x="1967" y="7534"/>
            <a:chExt cx="13119" cy="1984"/>
          </a:xfrm>
        </p:grpSpPr>
        <p:sp>
          <p:nvSpPr>
            <p:cNvPr id="8" name="矩形 7">
              <a:extLst>
                <a:ext uri="{FF2B5EF4-FFF2-40B4-BE49-F238E27FC236}">
                  <a16:creationId xmlns:a16="http://schemas.microsoft.com/office/drawing/2014/main" id="{201BED03-097B-4426-8922-EAF319972525}"/>
                </a:ext>
              </a:extLst>
            </p:cNvPr>
            <p:cNvSpPr/>
            <p:nvPr/>
          </p:nvSpPr>
          <p:spPr>
            <a:xfrm>
              <a:off x="1967" y="7630"/>
              <a:ext cx="13119" cy="1888"/>
            </a:xfrm>
            <a:prstGeom prst="rect">
              <a:avLst/>
            </a:prstGeom>
          </p:spPr>
          <p:txBody>
            <a:bodyPr wrap="square">
              <a:spAutoFit/>
            </a:bodyPr>
            <a:lstStyle/>
            <a:p>
              <a:pPr>
                <a:lnSpc>
                  <a:spcPct val="150000"/>
                </a:lnSpc>
              </a:pPr>
              <a:r>
                <a:rPr lang="zh-CN" altLang="en-US" sz="2400" b="1" dirty="0">
                  <a:latin typeface="微软雅黑" charset="-122"/>
                  <a:ea typeface="微软雅黑" charset="-122"/>
                  <a:cs typeface="Times New Roman" panose="02020603050405020304" pitchFamily="18" charset="0"/>
                </a:rPr>
                <a:t>若</a:t>
              </a:r>
              <a:r>
                <a:rPr lang="zh-CN" altLang="zh-CN" sz="2400" b="1" dirty="0">
                  <a:latin typeface="微软雅黑" charset="-122"/>
                  <a:ea typeface="微软雅黑" charset="-122"/>
                  <a:cs typeface="Times New Roman" panose="02020603050405020304" pitchFamily="18" charset="0"/>
                </a:rPr>
                <a:t>初始值  </a:t>
              </a:r>
              <a:r>
                <a:rPr lang="en-US" altLang="zh-CN" sz="2400" b="1" dirty="0">
                  <a:latin typeface="微软雅黑" charset="-122"/>
                  <a:ea typeface="微软雅黑" charset="-122"/>
                  <a:cs typeface="Times New Roman" panose="02020603050405020304" pitchFamily="18" charset="0"/>
                </a:rPr>
                <a:t>      </a:t>
              </a:r>
              <a:r>
                <a:rPr lang="zh-CN" altLang="zh-CN" sz="2400" b="1" dirty="0">
                  <a:latin typeface="微软雅黑" charset="-122"/>
                  <a:ea typeface="微软雅黑" charset="-122"/>
                  <a:cs typeface="Times New Roman" panose="02020603050405020304" pitchFamily="18" charset="0"/>
                </a:rPr>
                <a:t>，</a:t>
              </a:r>
              <a:r>
                <a:rPr lang="zh-CN" altLang="en-US" sz="2400" b="1" dirty="0">
                  <a:latin typeface="微软雅黑" charset="-122"/>
                  <a:ea typeface="微软雅黑" charset="-122"/>
                  <a:cs typeface="Times New Roman" panose="02020603050405020304" pitchFamily="18" charset="0"/>
                </a:rPr>
                <a:t>则    </a:t>
              </a:r>
              <a:r>
                <a:rPr lang="zh-CN" altLang="en-US" sz="2400" b="1" dirty="0">
                  <a:latin typeface="微软雅黑" charset="-122"/>
                  <a:ea typeface="微软雅黑" charset="-122"/>
                </a:rPr>
                <a:t>                     。</a:t>
              </a:r>
              <a:r>
                <a:rPr lang="zh-CN" altLang="en-US" sz="2400" b="1" dirty="0">
                  <a:solidFill>
                    <a:srgbClr val="0000CC"/>
                  </a:solidFill>
                  <a:latin typeface="微软雅黑" charset="-122"/>
                  <a:ea typeface="微软雅黑" charset="-122"/>
                </a:rPr>
                <a:t>对于投保人来说，</a:t>
              </a:r>
              <a:r>
                <a:rPr lang="zh-CN" altLang="en-US" sz="2400" b="1" dirty="0">
                  <a:solidFill>
                    <a:srgbClr val="0000CC"/>
                  </a:solidFill>
                  <a:latin typeface="微软雅黑"/>
                </a:rPr>
                <a:t>实际月收益率    应该</a:t>
              </a:r>
              <a:r>
                <a:rPr lang="zh-CN" altLang="en-US" sz="2400" b="1" dirty="0">
                  <a:solidFill>
                    <a:srgbClr val="0000CC"/>
                  </a:solidFill>
                  <a:latin typeface="微软雅黑" charset="-122"/>
                  <a:ea typeface="微软雅黑" charset="-122"/>
                  <a:cs typeface="Times New Roman" panose="02020603050405020304" pitchFamily="18" charset="0"/>
                </a:rPr>
                <a:t>满足方程</a:t>
              </a:r>
              <a:r>
                <a:rPr lang="zh-CN" altLang="zh-CN" sz="2400" b="1" dirty="0">
                  <a:latin typeface="微软雅黑" charset="-122"/>
                  <a:ea typeface="微软雅黑" charset="-122"/>
                  <a:cs typeface="Times New Roman" panose="02020603050405020304" pitchFamily="18" charset="0"/>
                </a:rPr>
                <a:t>： </a:t>
              </a:r>
              <a:r>
                <a:rPr lang="en-US" altLang="zh-CN" sz="2400" b="1" dirty="0">
                  <a:latin typeface="微软雅黑" charset="-122"/>
                  <a:ea typeface="微软雅黑" charset="-122"/>
                  <a:cs typeface="Times New Roman" panose="02020603050405020304" pitchFamily="18" charset="0"/>
                </a:rPr>
                <a:t>        </a:t>
              </a:r>
              <a:r>
                <a:rPr lang="zh-CN" altLang="en-US" sz="2400" b="1" dirty="0">
                  <a:latin typeface="微软雅黑" charset="-122"/>
                  <a:ea typeface="微软雅黑" charset="-122"/>
                  <a:cs typeface="Times New Roman" panose="02020603050405020304" pitchFamily="18" charset="0"/>
                </a:rPr>
                <a:t>，即</a:t>
              </a:r>
              <a:endParaRPr lang="en-US" altLang="zh-CN" sz="2400" b="1" dirty="0">
                <a:latin typeface="微软雅黑" charset="-122"/>
                <a:ea typeface="微软雅黑" charset="-122"/>
                <a:cs typeface="Times New Roman" panose="02020603050405020304" pitchFamily="18" charset="0"/>
              </a:endParaRPr>
            </a:p>
          </p:txBody>
        </p:sp>
        <p:graphicFrame>
          <p:nvGraphicFramePr>
            <p:cNvPr id="9" name="对象 8">
              <a:extLst>
                <a:ext uri="{FF2B5EF4-FFF2-40B4-BE49-F238E27FC236}">
                  <a16:creationId xmlns:a16="http://schemas.microsoft.com/office/drawing/2014/main" id="{FE239D38-4E62-4800-B27C-B3AB215684F8}"/>
                </a:ext>
              </a:extLst>
            </p:cNvPr>
            <p:cNvGraphicFramePr>
              <a:graphicFrameLocks noChangeAspect="1"/>
            </p:cNvGraphicFramePr>
            <p:nvPr>
              <p:extLst>
                <p:ext uri="{D42A27DB-BD31-4B8C-83A1-F6EECF244321}">
                  <p14:modId xmlns:p14="http://schemas.microsoft.com/office/powerpoint/2010/main" val="2016740944"/>
                </p:ext>
              </p:extLst>
            </p:nvPr>
          </p:nvGraphicFramePr>
          <p:xfrm>
            <a:off x="8388" y="8721"/>
            <a:ext cx="1207" cy="780"/>
          </p:xfrm>
          <a:graphic>
            <a:graphicData uri="http://schemas.openxmlformats.org/presentationml/2006/ole">
              <mc:AlternateContent xmlns:mc="http://schemas.openxmlformats.org/markup-compatibility/2006">
                <mc:Choice xmlns:v="urn:schemas-microsoft-com:vml" Requires="v">
                  <p:oleObj name="Equation" r:id="rId2" imgW="9448800" imgH="5486400" progId="">
                    <p:embed/>
                  </p:oleObj>
                </mc:Choice>
                <mc:Fallback>
                  <p:oleObj name="Equation" r:id="rId2" imgW="9448800" imgH="5486400" progId="">
                    <p:embed/>
                    <p:pic>
                      <p:nvPicPr>
                        <p:cNvPr id="9" name="对象 8">
                          <a:extLst>
                            <a:ext uri="{FF2B5EF4-FFF2-40B4-BE49-F238E27FC236}">
                              <a16:creationId xmlns:a16="http://schemas.microsoft.com/office/drawing/2014/main" id="{FE239D38-4E62-4800-B27C-B3AB215684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8" y="8721"/>
                          <a:ext cx="1207" cy="7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a:extLst>
                <a:ext uri="{FF2B5EF4-FFF2-40B4-BE49-F238E27FC236}">
                  <a16:creationId xmlns:a16="http://schemas.microsoft.com/office/drawing/2014/main" id="{633C51FB-BB20-4D0E-96C7-24700902835A}"/>
                </a:ext>
              </a:extLst>
            </p:cNvPr>
            <p:cNvGraphicFramePr>
              <a:graphicFrameLocks noChangeAspect="1"/>
            </p:cNvGraphicFramePr>
            <p:nvPr/>
          </p:nvGraphicFramePr>
          <p:xfrm>
            <a:off x="4007" y="7945"/>
            <a:ext cx="1126" cy="779"/>
          </p:xfrm>
          <a:graphic>
            <a:graphicData uri="http://schemas.openxmlformats.org/presentationml/2006/ole">
              <mc:AlternateContent xmlns:mc="http://schemas.openxmlformats.org/markup-compatibility/2006">
                <mc:Choice xmlns:v="urn:schemas-microsoft-com:vml" Requires="v">
                  <p:oleObj name="Equation" r:id="rId4" imgW="8839200" imgH="5486400" progId="">
                    <p:embed/>
                  </p:oleObj>
                </mc:Choice>
                <mc:Fallback>
                  <p:oleObj name="Equation" r:id="rId4" imgW="8839200" imgH="5486400" progId="">
                    <p:embed/>
                    <p:pic>
                      <p:nvPicPr>
                        <p:cNvPr id="10" name="对象 9">
                          <a:extLst>
                            <a:ext uri="{FF2B5EF4-FFF2-40B4-BE49-F238E27FC236}">
                              <a16:creationId xmlns:a16="http://schemas.microsoft.com/office/drawing/2014/main" id="{633C51FB-BB20-4D0E-96C7-2470090283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07" y="7945"/>
                          <a:ext cx="1126" cy="7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a:extLst>
                <a:ext uri="{FF2B5EF4-FFF2-40B4-BE49-F238E27FC236}">
                  <a16:creationId xmlns:a16="http://schemas.microsoft.com/office/drawing/2014/main" id="{BF5E7363-D735-4BDB-A7C6-A00CC48FDCF0}"/>
                </a:ext>
              </a:extLst>
            </p:cNvPr>
            <p:cNvGraphicFramePr>
              <a:graphicFrameLocks noChangeAspect="1"/>
            </p:cNvGraphicFramePr>
            <p:nvPr/>
          </p:nvGraphicFramePr>
          <p:xfrm>
            <a:off x="6143" y="7534"/>
            <a:ext cx="3290" cy="1317"/>
          </p:xfrm>
          <a:graphic>
            <a:graphicData uri="http://schemas.openxmlformats.org/presentationml/2006/ole">
              <mc:AlternateContent xmlns:mc="http://schemas.openxmlformats.org/markup-compatibility/2006">
                <mc:Choice xmlns:v="urn:schemas-microsoft-com:vml" Requires="v">
                  <p:oleObj name="Equation" r:id="rId6" imgW="28651200" imgH="9448800" progId="">
                    <p:embed/>
                  </p:oleObj>
                </mc:Choice>
                <mc:Fallback>
                  <p:oleObj name="Equation" r:id="rId6" imgW="28651200" imgH="9448800" progId="">
                    <p:embed/>
                    <p:pic>
                      <p:nvPicPr>
                        <p:cNvPr id="11" name="对象 10">
                          <a:extLst>
                            <a:ext uri="{FF2B5EF4-FFF2-40B4-BE49-F238E27FC236}">
                              <a16:creationId xmlns:a16="http://schemas.microsoft.com/office/drawing/2014/main" id="{BF5E7363-D735-4BDB-A7C6-A00CC48FDCF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43" y="7534"/>
                          <a:ext cx="3290" cy="13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a:extLst>
                <a:ext uri="{FF2B5EF4-FFF2-40B4-BE49-F238E27FC236}">
                  <a16:creationId xmlns:a16="http://schemas.microsoft.com/office/drawing/2014/main" id="{859DF349-C078-4ECE-B291-A5BF69358F77}"/>
                </a:ext>
              </a:extLst>
            </p:cNvPr>
            <p:cNvGraphicFramePr>
              <a:graphicFrameLocks noChangeAspect="1"/>
            </p:cNvGraphicFramePr>
            <p:nvPr>
              <p:extLst>
                <p:ext uri="{D42A27DB-BD31-4B8C-83A1-F6EECF244321}">
                  <p14:modId xmlns:p14="http://schemas.microsoft.com/office/powerpoint/2010/main" val="1355605098"/>
                </p:ext>
              </p:extLst>
            </p:nvPr>
          </p:nvGraphicFramePr>
          <p:xfrm>
            <a:off x="4467" y="8713"/>
            <a:ext cx="819" cy="692"/>
          </p:xfrm>
          <a:graphic>
            <a:graphicData uri="http://schemas.openxmlformats.org/presentationml/2006/ole">
              <mc:AlternateContent xmlns:mc="http://schemas.openxmlformats.org/markup-compatibility/2006">
                <mc:Choice xmlns:v="urn:schemas-microsoft-com:vml" Requires="v">
                  <p:oleObj name="Equation" r:id="rId8" imgW="2743200" imgH="3048000" progId="">
                    <p:embed/>
                  </p:oleObj>
                </mc:Choice>
                <mc:Fallback>
                  <p:oleObj name="Equation" r:id="rId8" imgW="2743200" imgH="3048000" progId="">
                    <p:embed/>
                    <p:pic>
                      <p:nvPicPr>
                        <p:cNvPr id="12" name="对象 11">
                          <a:extLst>
                            <a:ext uri="{FF2B5EF4-FFF2-40B4-BE49-F238E27FC236}">
                              <a16:creationId xmlns:a16="http://schemas.microsoft.com/office/drawing/2014/main" id="{859DF349-C078-4ECE-B291-A5BF69358F7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67" y="8713"/>
                          <a:ext cx="819" cy="6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3" name="对象 12">
            <a:extLst>
              <a:ext uri="{FF2B5EF4-FFF2-40B4-BE49-F238E27FC236}">
                <a16:creationId xmlns:a16="http://schemas.microsoft.com/office/drawing/2014/main" id="{C58AB243-72E6-40C7-AE60-95BAFE0E803B}"/>
              </a:ext>
            </a:extLst>
          </p:cNvPr>
          <p:cNvGraphicFramePr>
            <a:graphicFrameLocks noChangeAspect="1"/>
          </p:cNvGraphicFramePr>
          <p:nvPr>
            <p:extLst>
              <p:ext uri="{D42A27DB-BD31-4B8C-83A1-F6EECF244321}">
                <p14:modId xmlns:p14="http://schemas.microsoft.com/office/powerpoint/2010/main" val="2258581705"/>
              </p:ext>
            </p:extLst>
          </p:nvPr>
        </p:nvGraphicFramePr>
        <p:xfrm>
          <a:off x="2433778" y="3271040"/>
          <a:ext cx="5539105" cy="972820"/>
        </p:xfrm>
        <a:graphic>
          <a:graphicData uri="http://schemas.openxmlformats.org/presentationml/2006/ole">
            <mc:AlternateContent xmlns:mc="http://schemas.openxmlformats.org/markup-compatibility/2006">
              <mc:Choice xmlns:v="urn:schemas-microsoft-com:vml" Requires="v">
                <p:oleObj name="Equation" r:id="rId10" imgW="59740800" imgH="10058400" progId="">
                  <p:embed/>
                </p:oleObj>
              </mc:Choice>
              <mc:Fallback>
                <p:oleObj name="Equation" r:id="rId10" imgW="59740800" imgH="10058400" progId="">
                  <p:embed/>
                  <p:pic>
                    <p:nvPicPr>
                      <p:cNvPr id="13" name="对象 12">
                        <a:extLst>
                          <a:ext uri="{FF2B5EF4-FFF2-40B4-BE49-F238E27FC236}">
                            <a16:creationId xmlns:a16="http://schemas.microsoft.com/office/drawing/2014/main" id="{C58AB243-72E6-40C7-AE60-95BAFE0E803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33778" y="3271040"/>
                        <a:ext cx="5539105" cy="972820"/>
                      </a:xfrm>
                      <a:prstGeom prst="rect">
                        <a:avLst/>
                      </a:prstGeom>
                      <a:solidFill>
                        <a:srgbClr val="C3D4F5"/>
                      </a:solidFill>
                    </p:spPr>
                  </p:pic>
                </p:oleObj>
              </mc:Fallback>
            </mc:AlternateContent>
          </a:graphicData>
        </a:graphic>
      </p:graphicFrame>
      <p:grpSp>
        <p:nvGrpSpPr>
          <p:cNvPr id="16" name="组合 15">
            <a:extLst>
              <a:ext uri="{FF2B5EF4-FFF2-40B4-BE49-F238E27FC236}">
                <a16:creationId xmlns:a16="http://schemas.microsoft.com/office/drawing/2014/main" id="{62157C17-ADA2-47D2-B0ED-068783565AE5}"/>
              </a:ext>
            </a:extLst>
          </p:cNvPr>
          <p:cNvGrpSpPr/>
          <p:nvPr/>
        </p:nvGrpSpPr>
        <p:grpSpPr>
          <a:xfrm>
            <a:off x="1283290" y="4728636"/>
            <a:ext cx="8791011" cy="1139825"/>
            <a:chOff x="1020453" y="2979953"/>
            <a:chExt cx="9015170" cy="1139825"/>
          </a:xfrm>
        </p:grpSpPr>
        <p:grpSp>
          <p:nvGrpSpPr>
            <p:cNvPr id="17" name="组合 16">
              <a:extLst>
                <a:ext uri="{FF2B5EF4-FFF2-40B4-BE49-F238E27FC236}">
                  <a16:creationId xmlns:a16="http://schemas.microsoft.com/office/drawing/2014/main" id="{88FFE807-4145-44BE-A4FC-C7E1CE09ECDA}"/>
                </a:ext>
              </a:extLst>
            </p:cNvPr>
            <p:cNvGrpSpPr/>
            <p:nvPr/>
          </p:nvGrpSpPr>
          <p:grpSpPr>
            <a:xfrm>
              <a:off x="1020453" y="2979953"/>
              <a:ext cx="9015170" cy="1139825"/>
              <a:chOff x="645972" y="680288"/>
              <a:chExt cx="8131163" cy="1139825"/>
            </a:xfrm>
          </p:grpSpPr>
          <p:sp>
            <p:nvSpPr>
              <p:cNvPr id="22" name="矩形 21">
                <a:extLst>
                  <a:ext uri="{FF2B5EF4-FFF2-40B4-BE49-F238E27FC236}">
                    <a16:creationId xmlns:a16="http://schemas.microsoft.com/office/drawing/2014/main" id="{75A0B755-AB91-4C47-9049-5E5449F3134F}"/>
                  </a:ext>
                </a:extLst>
              </p:cNvPr>
              <p:cNvSpPr/>
              <p:nvPr/>
            </p:nvSpPr>
            <p:spPr>
              <a:xfrm>
                <a:off x="645972" y="680288"/>
                <a:ext cx="8131163" cy="1139825"/>
              </a:xfrm>
              <a:prstGeom prst="rect">
                <a:avLst/>
              </a:prstGeom>
            </p:spPr>
            <p:txBody>
              <a:bodyPr wrap="square">
                <a:spAutoFit/>
              </a:bodyPr>
              <a:lstStyle/>
              <a:p>
                <a:pPr>
                  <a:lnSpc>
                    <a:spcPts val="3800"/>
                  </a:lnSpc>
                </a:pPr>
                <a:r>
                  <a:rPr lang="zh-CN" altLang="en-US" sz="2400" b="1" dirty="0">
                    <a:latin typeface="微软雅黑" charset="-122"/>
                    <a:ea typeface="微软雅黑" charset="-122"/>
                    <a:cs typeface="Times New Roman" panose="02020603050405020304" pitchFamily="18" charset="0"/>
                  </a:rPr>
                  <a:t>对前面保险公司的养老保险方案，        </a:t>
                </a:r>
                <a:r>
                  <a:rPr lang="en-US" altLang="zh-CN" sz="2400" b="1" dirty="0">
                    <a:latin typeface="微软雅黑" charset="-122"/>
                    <a:ea typeface="微软雅黑" charset="-122"/>
                    <a:cs typeface="Times New Roman" panose="02020603050405020304" pitchFamily="18" charset="0"/>
                  </a:rPr>
                  <a:t> </a:t>
                </a:r>
                <a:r>
                  <a:rPr lang="zh-CN" altLang="en-US" sz="2400" b="1" dirty="0">
                    <a:latin typeface="微软雅黑" charset="-122"/>
                    <a:ea typeface="微软雅黑" charset="-122"/>
                    <a:cs typeface="Times New Roman" panose="02020603050405020304" pitchFamily="18" charset="0"/>
                  </a:rPr>
                  <a:t>，</a:t>
                </a:r>
                <a:endParaRPr lang="en-US" altLang="zh-CN" sz="2400" b="1" dirty="0">
                  <a:latin typeface="微软雅黑" charset="-122"/>
                  <a:ea typeface="微软雅黑" charset="-122"/>
                  <a:cs typeface="Times New Roman" panose="02020603050405020304" pitchFamily="18" charset="0"/>
                </a:endParaRPr>
              </a:p>
              <a:p>
                <a:pPr>
                  <a:lnSpc>
                    <a:spcPts val="3800"/>
                  </a:lnSpc>
                </a:pPr>
                <a:r>
                  <a:rPr lang="zh-CN" altLang="en-US" sz="2400" b="1" dirty="0">
                    <a:latin typeface="微软雅黑" charset="-122"/>
                    <a:ea typeface="微软雅黑" charset="-122"/>
                    <a:cs typeface="Times New Roman" panose="02020603050405020304" pitchFamily="18" charset="0"/>
                  </a:rPr>
                  <a:t>当                            时，            ；当                     时，          。</a:t>
                </a:r>
                <a:endParaRPr lang="en-US" altLang="zh-CN" sz="2400" b="1" dirty="0">
                  <a:latin typeface="微软雅黑" charset="-122"/>
                  <a:ea typeface="微软雅黑" charset="-122"/>
                  <a:cs typeface="Times New Roman" panose="02020603050405020304" pitchFamily="18" charset="0"/>
                </a:endParaRPr>
              </a:p>
            </p:txBody>
          </p:sp>
          <p:graphicFrame>
            <p:nvGraphicFramePr>
              <p:cNvPr id="23" name="对象 22">
                <a:extLst>
                  <a:ext uri="{FF2B5EF4-FFF2-40B4-BE49-F238E27FC236}">
                    <a16:creationId xmlns:a16="http://schemas.microsoft.com/office/drawing/2014/main" id="{1D330012-7B8C-42BC-8417-862FF970E30A}"/>
                  </a:ext>
                </a:extLst>
              </p:cNvPr>
              <p:cNvGraphicFramePr>
                <a:graphicFrameLocks noChangeAspect="1"/>
              </p:cNvGraphicFramePr>
              <p:nvPr/>
            </p:nvGraphicFramePr>
            <p:xfrm>
              <a:off x="4781059" y="811835"/>
              <a:ext cx="1035336" cy="427332"/>
            </p:xfrm>
            <a:graphic>
              <a:graphicData uri="http://schemas.openxmlformats.org/presentationml/2006/ole">
                <mc:AlternateContent xmlns:mc="http://schemas.openxmlformats.org/markup-compatibility/2006">
                  <mc:Choice xmlns:v="urn:schemas-microsoft-com:vml" Requires="v">
                    <p:oleObj name="Equation" r:id="rId12" imgW="11277600" imgH="4876800" progId="">
                      <p:embed/>
                    </p:oleObj>
                  </mc:Choice>
                  <mc:Fallback>
                    <p:oleObj name="Equation" r:id="rId12" imgW="11277600" imgH="4876800" progId="">
                      <p:embed/>
                      <p:pic>
                        <p:nvPicPr>
                          <p:cNvPr id="23" name="对象 22">
                            <a:extLst>
                              <a:ext uri="{FF2B5EF4-FFF2-40B4-BE49-F238E27FC236}">
                                <a16:creationId xmlns:a16="http://schemas.microsoft.com/office/drawing/2014/main" id="{1D330012-7B8C-42BC-8417-862FF970E30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81059" y="811835"/>
                            <a:ext cx="1035336" cy="4273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8" name="对象 17">
              <a:extLst>
                <a:ext uri="{FF2B5EF4-FFF2-40B4-BE49-F238E27FC236}">
                  <a16:creationId xmlns:a16="http://schemas.microsoft.com/office/drawing/2014/main" id="{42D30109-6FA1-4EDD-817E-D314D662C964}"/>
                </a:ext>
              </a:extLst>
            </p:cNvPr>
            <p:cNvGraphicFramePr>
              <a:graphicFrameLocks noChangeAspect="1"/>
            </p:cNvGraphicFramePr>
            <p:nvPr/>
          </p:nvGraphicFramePr>
          <p:xfrm>
            <a:off x="1587075" y="3670537"/>
            <a:ext cx="2389505" cy="409575"/>
          </p:xfrm>
          <a:graphic>
            <a:graphicData uri="http://schemas.openxmlformats.org/presentationml/2006/ole">
              <mc:AlternateContent xmlns:mc="http://schemas.openxmlformats.org/markup-compatibility/2006">
                <mc:Choice xmlns:v="urn:schemas-microsoft-com:vml" Requires="v">
                  <p:oleObj name="Equation" r:id="rId14" imgW="29870400" imgH="4876800" progId="">
                    <p:embed/>
                  </p:oleObj>
                </mc:Choice>
                <mc:Fallback>
                  <p:oleObj name="Equation" r:id="rId14" imgW="29870400" imgH="4876800" progId="">
                    <p:embed/>
                    <p:pic>
                      <p:nvPicPr>
                        <p:cNvPr id="18" name="对象 17">
                          <a:extLst>
                            <a:ext uri="{FF2B5EF4-FFF2-40B4-BE49-F238E27FC236}">
                              <a16:creationId xmlns:a16="http://schemas.microsoft.com/office/drawing/2014/main" id="{42D30109-6FA1-4EDD-817E-D314D662C96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87075" y="3670537"/>
                          <a:ext cx="2389505"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对象 18">
              <a:extLst>
                <a:ext uri="{FF2B5EF4-FFF2-40B4-BE49-F238E27FC236}">
                  <a16:creationId xmlns:a16="http://schemas.microsoft.com/office/drawing/2014/main" id="{D7381D48-236B-4053-891C-0BC19DE9AD19}"/>
                </a:ext>
              </a:extLst>
            </p:cNvPr>
            <p:cNvGraphicFramePr>
              <a:graphicFrameLocks noChangeAspect="1"/>
            </p:cNvGraphicFramePr>
            <p:nvPr/>
          </p:nvGraphicFramePr>
          <p:xfrm>
            <a:off x="4732871" y="3648076"/>
            <a:ext cx="1118235" cy="406400"/>
          </p:xfrm>
          <a:graphic>
            <a:graphicData uri="http://schemas.openxmlformats.org/presentationml/2006/ole">
              <mc:AlternateContent xmlns:mc="http://schemas.openxmlformats.org/markup-compatibility/2006">
                <mc:Choice xmlns:v="urn:schemas-microsoft-com:vml" Requires="v">
                  <p:oleObj name="Equation" r:id="rId16" imgW="12801600" imgH="4876800" progId="">
                    <p:embed/>
                  </p:oleObj>
                </mc:Choice>
                <mc:Fallback>
                  <p:oleObj name="Equation" r:id="rId16" imgW="12801600" imgH="4876800" progId="">
                    <p:embed/>
                    <p:pic>
                      <p:nvPicPr>
                        <p:cNvPr id="19" name="对象 18">
                          <a:extLst>
                            <a:ext uri="{FF2B5EF4-FFF2-40B4-BE49-F238E27FC236}">
                              <a16:creationId xmlns:a16="http://schemas.microsoft.com/office/drawing/2014/main" id="{D7381D48-236B-4053-891C-0BC19DE9AD19}"/>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32871" y="3648076"/>
                          <a:ext cx="1118235"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a:extLst>
                <a:ext uri="{FF2B5EF4-FFF2-40B4-BE49-F238E27FC236}">
                  <a16:creationId xmlns:a16="http://schemas.microsoft.com/office/drawing/2014/main" id="{965CFD67-68BE-44C0-B92B-686D29F8A063}"/>
                </a:ext>
              </a:extLst>
            </p:cNvPr>
            <p:cNvGraphicFramePr>
              <a:graphicFrameLocks noChangeAspect="1"/>
            </p:cNvGraphicFramePr>
            <p:nvPr/>
          </p:nvGraphicFramePr>
          <p:xfrm>
            <a:off x="6417362" y="3720082"/>
            <a:ext cx="1865630" cy="345440"/>
          </p:xfrm>
          <a:graphic>
            <a:graphicData uri="http://schemas.openxmlformats.org/presentationml/2006/ole">
              <mc:AlternateContent xmlns:mc="http://schemas.openxmlformats.org/markup-compatibility/2006">
                <mc:Choice xmlns:v="urn:schemas-microsoft-com:vml" Requires="v">
                  <p:oleObj name="Equation" r:id="rId18" imgW="29870400" imgH="4876800" progId="">
                    <p:embed/>
                  </p:oleObj>
                </mc:Choice>
                <mc:Fallback>
                  <p:oleObj name="Equation" r:id="rId18" imgW="29870400" imgH="4876800" progId="">
                    <p:embed/>
                    <p:pic>
                      <p:nvPicPr>
                        <p:cNvPr id="20" name="对象 19">
                          <a:extLst>
                            <a:ext uri="{FF2B5EF4-FFF2-40B4-BE49-F238E27FC236}">
                              <a16:creationId xmlns:a16="http://schemas.microsoft.com/office/drawing/2014/main" id="{965CFD67-68BE-44C0-B92B-686D29F8A063}"/>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417362" y="3720082"/>
                          <a:ext cx="1865630" cy="3454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对象 20">
              <a:extLst>
                <a:ext uri="{FF2B5EF4-FFF2-40B4-BE49-F238E27FC236}">
                  <a16:creationId xmlns:a16="http://schemas.microsoft.com/office/drawing/2014/main" id="{515A7F78-A559-4847-8002-5EB148E7E083}"/>
                </a:ext>
              </a:extLst>
            </p:cNvPr>
            <p:cNvGraphicFramePr>
              <a:graphicFrameLocks noChangeAspect="1"/>
            </p:cNvGraphicFramePr>
            <p:nvPr/>
          </p:nvGraphicFramePr>
          <p:xfrm>
            <a:off x="8854150" y="3648076"/>
            <a:ext cx="988695" cy="377190"/>
          </p:xfrm>
          <a:graphic>
            <a:graphicData uri="http://schemas.openxmlformats.org/presentationml/2006/ole">
              <mc:AlternateContent xmlns:mc="http://schemas.openxmlformats.org/markup-compatibility/2006">
                <mc:Choice xmlns:v="urn:schemas-microsoft-com:vml" Requires="v">
                  <p:oleObj name="Equation" r:id="rId20" imgW="12192000" imgH="4876800" progId="">
                    <p:embed/>
                  </p:oleObj>
                </mc:Choice>
                <mc:Fallback>
                  <p:oleObj name="Equation" r:id="rId20" imgW="12192000" imgH="4876800" progId="">
                    <p:embed/>
                    <p:pic>
                      <p:nvPicPr>
                        <p:cNvPr id="21" name="对象 20">
                          <a:extLst>
                            <a:ext uri="{FF2B5EF4-FFF2-40B4-BE49-F238E27FC236}">
                              <a16:creationId xmlns:a16="http://schemas.microsoft.com/office/drawing/2014/main" id="{515A7F78-A559-4847-8002-5EB148E7E083}"/>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854150" y="3648076"/>
                          <a:ext cx="988695" cy="377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1302116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6"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arn(inHorizontal)">
                                      <p:cBhvr>
                                        <p:cTn id="13" dur="1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additive="base">
                                        <p:cTn id="18" dur="500" fill="hold"/>
                                        <p:tgtEl>
                                          <p:spTgt spid="16"/>
                                        </p:tgtEl>
                                        <p:attrNameLst>
                                          <p:attrName>ppt_x</p:attrName>
                                        </p:attrNameLst>
                                      </p:cBhvr>
                                      <p:tavLst>
                                        <p:tav tm="0">
                                          <p:val>
                                            <p:strVal val="#ppt_x"/>
                                          </p:val>
                                        </p:tav>
                                        <p:tav tm="100000">
                                          <p:val>
                                            <p:strVal val="#ppt_x"/>
                                          </p:val>
                                        </p:tav>
                                      </p:tavLst>
                                    </p:anim>
                                    <p:anim calcmode="lin" valueType="num">
                                      <p:cBhvr additive="base">
                                        <p:cTn id="19"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a:extLst>
              <a:ext uri="{FF2B5EF4-FFF2-40B4-BE49-F238E27FC236}">
                <a16:creationId xmlns:a16="http://schemas.microsoft.com/office/drawing/2014/main" id="{9CA0A8EC-B40F-4F5C-AAB9-9571AC2EFC0C}"/>
              </a:ext>
            </a:extLst>
          </p:cNvPr>
          <p:cNvGraphicFramePr>
            <a:graphicFrameLocks noChangeAspect="1"/>
          </p:cNvGraphicFramePr>
          <p:nvPr>
            <p:extLst>
              <p:ext uri="{D42A27DB-BD31-4B8C-83A1-F6EECF244321}">
                <p14:modId xmlns:p14="http://schemas.microsoft.com/office/powerpoint/2010/main" val="1571894706"/>
              </p:ext>
            </p:extLst>
          </p:nvPr>
        </p:nvGraphicFramePr>
        <p:xfrm>
          <a:off x="1303595" y="1910019"/>
          <a:ext cx="5057775" cy="793115"/>
        </p:xfrm>
        <a:graphic>
          <a:graphicData uri="http://schemas.openxmlformats.org/presentationml/2006/ole">
            <mc:AlternateContent xmlns:mc="http://schemas.openxmlformats.org/markup-compatibility/2006">
              <mc:Choice xmlns:v="urn:schemas-microsoft-com:vml" Requires="v">
                <p:oleObj name="Equation" r:id="rId2" imgW="62788800" imgH="9448800" progId="">
                  <p:embed/>
                </p:oleObj>
              </mc:Choice>
              <mc:Fallback>
                <p:oleObj name="Equation" r:id="rId2" imgW="62788800" imgH="9448800" progId="">
                  <p:embed/>
                  <p:pic>
                    <p:nvPicPr>
                      <p:cNvPr id="6" name="对象 5">
                        <a:extLst>
                          <a:ext uri="{FF2B5EF4-FFF2-40B4-BE49-F238E27FC236}">
                            <a16:creationId xmlns:a16="http://schemas.microsoft.com/office/drawing/2014/main" id="{9CA0A8EC-B40F-4F5C-AAB9-9571AC2EFC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3595" y="1910019"/>
                        <a:ext cx="5057775" cy="793115"/>
                      </a:xfrm>
                      <a:prstGeom prst="rect">
                        <a:avLst/>
                      </a:prstGeom>
                      <a:solidFill>
                        <a:srgbClr val="C3D4F5"/>
                      </a:solidFill>
                    </p:spPr>
                  </p:pic>
                </p:oleObj>
              </mc:Fallback>
            </mc:AlternateContent>
          </a:graphicData>
        </a:graphic>
      </p:graphicFrame>
      <p:graphicFrame>
        <p:nvGraphicFramePr>
          <p:cNvPr id="7" name="对象 6">
            <a:extLst>
              <a:ext uri="{FF2B5EF4-FFF2-40B4-BE49-F238E27FC236}">
                <a16:creationId xmlns:a16="http://schemas.microsoft.com/office/drawing/2014/main" id="{8E2762C6-B9E0-4226-AA66-41EB945FD18B}"/>
              </a:ext>
            </a:extLst>
          </p:cNvPr>
          <p:cNvGraphicFramePr>
            <a:graphicFrameLocks noChangeAspect="1"/>
          </p:cNvGraphicFramePr>
          <p:nvPr>
            <p:extLst>
              <p:ext uri="{D42A27DB-BD31-4B8C-83A1-F6EECF244321}">
                <p14:modId xmlns:p14="http://schemas.microsoft.com/office/powerpoint/2010/main" val="3427131235"/>
              </p:ext>
            </p:extLst>
          </p:nvPr>
        </p:nvGraphicFramePr>
        <p:xfrm>
          <a:off x="1302960" y="2859979"/>
          <a:ext cx="5059045" cy="800100"/>
        </p:xfrm>
        <a:graphic>
          <a:graphicData uri="http://schemas.openxmlformats.org/presentationml/2006/ole">
            <mc:AlternateContent xmlns:mc="http://schemas.openxmlformats.org/markup-compatibility/2006">
              <mc:Choice xmlns:v="urn:schemas-microsoft-com:vml" Requires="v">
                <p:oleObj name="Equation" r:id="rId4" imgW="61874400" imgH="9448800" progId="">
                  <p:embed/>
                </p:oleObj>
              </mc:Choice>
              <mc:Fallback>
                <p:oleObj name="Equation" r:id="rId4" imgW="61874400" imgH="9448800" progId="">
                  <p:embed/>
                  <p:pic>
                    <p:nvPicPr>
                      <p:cNvPr id="7" name="对象 6">
                        <a:extLst>
                          <a:ext uri="{FF2B5EF4-FFF2-40B4-BE49-F238E27FC236}">
                            <a16:creationId xmlns:a16="http://schemas.microsoft.com/office/drawing/2014/main" id="{8E2762C6-B9E0-4226-AA66-41EB945FD1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2960" y="2859979"/>
                        <a:ext cx="5059045" cy="800100"/>
                      </a:xfrm>
                      <a:prstGeom prst="rect">
                        <a:avLst/>
                      </a:prstGeom>
                      <a:solidFill>
                        <a:srgbClr val="C3D4F5"/>
                      </a:solidFill>
                    </p:spPr>
                  </p:pic>
                </p:oleObj>
              </mc:Fallback>
            </mc:AlternateContent>
          </a:graphicData>
        </a:graphic>
      </p:graphicFrame>
      <p:sp>
        <p:nvSpPr>
          <p:cNvPr id="8" name="矩形 7">
            <a:extLst>
              <a:ext uri="{FF2B5EF4-FFF2-40B4-BE49-F238E27FC236}">
                <a16:creationId xmlns:a16="http://schemas.microsoft.com/office/drawing/2014/main" id="{C1A848FC-1287-494C-87E8-6CF06A49DA4B}"/>
              </a:ext>
            </a:extLst>
          </p:cNvPr>
          <p:cNvSpPr/>
          <p:nvPr/>
        </p:nvSpPr>
        <p:spPr>
          <a:xfrm>
            <a:off x="6596320" y="2374839"/>
            <a:ext cx="1141095" cy="737235"/>
          </a:xfrm>
          <a:prstGeom prst="rect">
            <a:avLst/>
          </a:prstGeom>
          <a:noFill/>
          <a:ln w="9525">
            <a:noFill/>
          </a:ln>
        </p:spPr>
        <p:txBody>
          <a:bodyPr wrap="square">
            <a:spAutoFit/>
          </a:bodyPr>
          <a:lstStyle/>
          <a:p>
            <a:pPr fontAlgn="auto">
              <a:lnSpc>
                <a:spcPct val="150000"/>
              </a:lnSpc>
              <a:spcBef>
                <a:spcPts val="0"/>
              </a:spcBef>
              <a:spcAft>
                <a:spcPts val="0"/>
              </a:spcAft>
              <a:defRPr/>
            </a:pPr>
            <a:r>
              <a:rPr lang="zh-CN" altLang="en-US" sz="2800" b="1" i="1" dirty="0">
                <a:solidFill>
                  <a:srgbClr val="FF0000"/>
                </a:solidFill>
                <a:latin typeface="Times New Roman" panose="02020603050405020304" pitchFamily="18" charset="0"/>
                <a:ea typeface="微软雅黑" charset="-122"/>
                <a:cs typeface="Times New Roman" panose="02020603050405020304" pitchFamily="18" charset="0"/>
              </a:rPr>
              <a:t> </a:t>
            </a:r>
            <a:r>
              <a:rPr lang="en-US" altLang="zh-CN" sz="2800" b="1" i="1" dirty="0">
                <a:solidFill>
                  <a:srgbClr val="FF0000"/>
                </a:solidFill>
                <a:latin typeface="Times New Roman" panose="02020603050405020304" pitchFamily="18" charset="0"/>
                <a:ea typeface="微软雅黑" charset="-122"/>
                <a:cs typeface="Times New Roman" panose="02020603050405020304" pitchFamily="18" charset="0"/>
              </a:rPr>
              <a:t>M=</a:t>
            </a:r>
            <a:r>
              <a:rPr lang="zh-CN" altLang="en-US" sz="2800" b="1" dirty="0">
                <a:solidFill>
                  <a:srgbClr val="FF0000"/>
                </a:solidFill>
                <a:latin typeface="Times New Roman" panose="02020603050405020304" pitchFamily="18" charset="0"/>
                <a:ea typeface="微软雅黑" charset="-122"/>
                <a:cs typeface="Times New Roman" panose="02020603050405020304" pitchFamily="18" charset="0"/>
              </a:rPr>
              <a:t>？</a:t>
            </a:r>
            <a:endParaRPr lang="en-US" altLang="zh-CN" sz="2800" b="1" dirty="0">
              <a:solidFill>
                <a:srgbClr val="0000CC"/>
              </a:solidFill>
              <a:latin typeface="Times New Roman" panose="02020603050405020304" pitchFamily="18" charset="0"/>
              <a:ea typeface="微软雅黑" charset="-122"/>
              <a:cs typeface="Times New Roman" panose="02020603050405020304" pitchFamily="18" charset="0"/>
            </a:endParaRPr>
          </a:p>
        </p:txBody>
      </p:sp>
      <p:sp>
        <p:nvSpPr>
          <p:cNvPr id="9" name="Title 1">
            <a:extLst>
              <a:ext uri="{FF2B5EF4-FFF2-40B4-BE49-F238E27FC236}">
                <a16:creationId xmlns:a16="http://schemas.microsoft.com/office/drawing/2014/main" id="{F4BA21EF-62C3-4A62-B440-45D4001531C9}"/>
              </a:ext>
            </a:extLst>
          </p:cNvPr>
          <p:cNvSpPr txBox="1">
            <a:spLocks/>
          </p:cNvSpPr>
          <p:nvPr/>
        </p:nvSpPr>
        <p:spPr>
          <a:xfrm>
            <a:off x="1066800" y="671571"/>
            <a:ext cx="8456762" cy="76041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cap="small" baseline="0">
                <a:solidFill>
                  <a:schemeClr val="tx1"/>
                </a:solidFill>
                <a:latin typeface="+mj-lt"/>
                <a:ea typeface="+mj-ea"/>
                <a:cs typeface="+mj-cs"/>
              </a:defRPr>
            </a:lvl1pPr>
          </a:lstStyle>
          <a:p>
            <a:r>
              <a:rPr lang="zh-CN" altLang="en-US" sz="3200" b="1" dirty="0">
                <a:solidFill>
                  <a:srgbClr val="000000"/>
                </a:solidFill>
                <a:latin typeface="微软雅黑" charset="-122"/>
                <a:ea typeface="宋体" panose="02010600030101010101" pitchFamily="2" charset="-122"/>
              </a:rPr>
              <a:t>数学建模是应用数学解决实际问题的关键</a:t>
            </a:r>
            <a:endParaRPr lang="en-US" sz="3200" b="1" dirty="0">
              <a:solidFill>
                <a:srgbClr val="000000"/>
              </a:solidFill>
              <a:latin typeface="微软雅黑" charset="-122"/>
              <a:ea typeface="宋体" panose="02010600030101010101" pitchFamily="2" charset="-122"/>
            </a:endParaRPr>
          </a:p>
        </p:txBody>
      </p:sp>
      <p:sp>
        <p:nvSpPr>
          <p:cNvPr id="10" name="Content Placeholder 2">
            <a:extLst>
              <a:ext uri="{FF2B5EF4-FFF2-40B4-BE49-F238E27FC236}">
                <a16:creationId xmlns:a16="http://schemas.microsoft.com/office/drawing/2014/main" id="{C3931AD0-F824-41B9-BB58-9FA20A892971}"/>
              </a:ext>
            </a:extLst>
          </p:cNvPr>
          <p:cNvSpPr>
            <a:spLocks noGrp="1"/>
          </p:cNvSpPr>
          <p:nvPr>
            <p:ph idx="1"/>
          </p:nvPr>
        </p:nvSpPr>
        <p:spPr>
          <a:xfrm>
            <a:off x="951781" y="3730924"/>
            <a:ext cx="10058400" cy="3040812"/>
          </a:xfrm>
        </p:spPr>
        <p:txBody>
          <a:bodyPr>
            <a:normAutofit/>
          </a:bodyPr>
          <a:lstStyle/>
          <a:p>
            <a:pPr>
              <a:lnSpc>
                <a:spcPct val="150000"/>
              </a:lnSpc>
              <a:spcBef>
                <a:spcPts val="1200"/>
              </a:spcBef>
            </a:pPr>
            <a:r>
              <a:rPr lang="zh-CN" altLang="en-US" b="1" dirty="0">
                <a:solidFill>
                  <a:srgbClr val="000000"/>
                </a:solidFill>
                <a:latin typeface="微软雅黑" charset="-122"/>
                <a:ea typeface="微软雅黑" charset="-122"/>
                <a:cs typeface="Times New Roman" panose="02020603050405020304" pitchFamily="18" charset="0"/>
              </a:rPr>
              <a:t>可见，只要给定</a:t>
            </a:r>
            <a:r>
              <a:rPr lang="en-US" altLang="zh-CN" b="1" i="1" dirty="0">
                <a:solidFill>
                  <a:srgbClr val="000000"/>
                </a:solidFill>
                <a:latin typeface="微软雅黑" charset="-122"/>
                <a:ea typeface="微软雅黑" charset="-122"/>
                <a:cs typeface="Times New Roman" panose="02020603050405020304" pitchFamily="18" charset="0"/>
              </a:rPr>
              <a:t>M </a:t>
            </a:r>
            <a:r>
              <a:rPr lang="zh-CN" altLang="en-US" b="1" dirty="0">
                <a:solidFill>
                  <a:srgbClr val="000000"/>
                </a:solidFill>
                <a:latin typeface="微软雅黑" charset="-122"/>
                <a:ea typeface="微软雅黑" charset="-122"/>
                <a:cs typeface="Times New Roman" panose="02020603050405020304" pitchFamily="18" charset="0"/>
              </a:rPr>
              <a:t>，则通过求解上述两个代数方程即可解决问题；</a:t>
            </a:r>
            <a:endParaRPr lang="en-US" altLang="zh-CN" b="1" dirty="0">
              <a:solidFill>
                <a:srgbClr val="000000"/>
              </a:solidFill>
              <a:latin typeface="微软雅黑" charset="-122"/>
              <a:ea typeface="微软雅黑" charset="-122"/>
              <a:cs typeface="Times New Roman" panose="02020603050405020304" pitchFamily="18" charset="0"/>
            </a:endParaRPr>
          </a:p>
          <a:p>
            <a:pPr>
              <a:lnSpc>
                <a:spcPct val="150000"/>
              </a:lnSpc>
              <a:spcBef>
                <a:spcPts val="1200"/>
              </a:spcBef>
            </a:pPr>
            <a:r>
              <a:rPr lang="zh-CN" altLang="en-US" b="1" dirty="0">
                <a:solidFill>
                  <a:srgbClr val="000000"/>
                </a:solidFill>
                <a:latin typeface="微软雅黑" charset="-122"/>
                <a:ea typeface="微软雅黑" charset="-122"/>
                <a:cs typeface="Times New Roman" panose="02020603050405020304" pitchFamily="18" charset="0"/>
              </a:rPr>
              <a:t>若</a:t>
            </a:r>
            <a:r>
              <a:rPr lang="en-US" altLang="zh-CN" b="1" i="1" dirty="0">
                <a:solidFill>
                  <a:srgbClr val="000000"/>
                </a:solidFill>
                <a:latin typeface="微软雅黑" charset="-122"/>
                <a:ea typeface="微软雅黑" charset="-122"/>
                <a:cs typeface="Times New Roman" panose="02020603050405020304" pitchFamily="18" charset="0"/>
              </a:rPr>
              <a:t>M</a:t>
            </a:r>
            <a:r>
              <a:rPr lang="en-US" altLang="zh-CN" b="1" dirty="0">
                <a:solidFill>
                  <a:srgbClr val="000000"/>
                </a:solidFill>
                <a:latin typeface="微软雅黑" charset="-122"/>
                <a:ea typeface="微软雅黑" charset="-122"/>
                <a:cs typeface="Times New Roman" panose="02020603050405020304" pitchFamily="18" charset="0"/>
              </a:rPr>
              <a:t>=80X12=960</a:t>
            </a:r>
            <a:r>
              <a:rPr lang="zh-CN" altLang="en-US" b="1" dirty="0">
                <a:solidFill>
                  <a:srgbClr val="000000"/>
                </a:solidFill>
                <a:latin typeface="微软雅黑" charset="-122"/>
                <a:ea typeface="微软雅黑" charset="-122"/>
                <a:cs typeface="Times New Roman" panose="02020603050405020304" pitchFamily="18" charset="0"/>
              </a:rPr>
              <a:t>或</a:t>
            </a:r>
            <a:r>
              <a:rPr lang="en-US" altLang="zh-CN" b="1" dirty="0">
                <a:solidFill>
                  <a:srgbClr val="000000"/>
                </a:solidFill>
                <a:latin typeface="微软雅黑" charset="-122"/>
                <a:ea typeface="微软雅黑" charset="-122"/>
                <a:cs typeface="Times New Roman" panose="02020603050405020304" pitchFamily="18" charset="0"/>
              </a:rPr>
              <a:t>100X12=1200</a:t>
            </a:r>
            <a:r>
              <a:rPr lang="zh-CN" altLang="en-US" b="1" dirty="0">
                <a:solidFill>
                  <a:srgbClr val="000000"/>
                </a:solidFill>
                <a:latin typeface="微软雅黑" charset="-122"/>
                <a:ea typeface="微软雅黑" charset="-122"/>
                <a:cs typeface="Times New Roman" panose="02020603050405020304" pitchFamily="18" charset="0"/>
              </a:rPr>
              <a:t>，</a:t>
            </a:r>
            <a:r>
              <a:rPr lang="zh-CN" altLang="en-US" sz="2400" b="1" dirty="0">
                <a:solidFill>
                  <a:srgbClr val="000000"/>
                </a:solidFill>
                <a:latin typeface="微软雅黑" charset="-122"/>
                <a:ea typeface="微软雅黑" charset="-122"/>
                <a:cs typeface="Times New Roman" panose="02020603050405020304" pitchFamily="18" charset="0"/>
              </a:rPr>
              <a:t>谁能快速准确求解上</a:t>
            </a:r>
            <a:r>
              <a:rPr lang="en-US" altLang="zh-CN" sz="2400" b="1" dirty="0">
                <a:solidFill>
                  <a:srgbClr val="000000"/>
                </a:solidFill>
                <a:latin typeface="微软雅黑" charset="-122"/>
                <a:ea typeface="微软雅黑" charset="-122"/>
                <a:cs typeface="Times New Roman" panose="02020603050405020304" pitchFamily="18" charset="0"/>
              </a:rPr>
              <a:t>1000</a:t>
            </a:r>
            <a:r>
              <a:rPr lang="zh-CN" altLang="en-US" sz="2400" b="1" dirty="0">
                <a:solidFill>
                  <a:srgbClr val="000000"/>
                </a:solidFill>
                <a:latin typeface="微软雅黑" charset="-122"/>
                <a:ea typeface="微软雅黑" charset="-122"/>
                <a:cs typeface="Times New Roman" panose="02020603050405020304" pitchFamily="18" charset="0"/>
              </a:rPr>
              <a:t>次的代数方程？</a:t>
            </a:r>
            <a:endParaRPr lang="en-US" dirty="0"/>
          </a:p>
          <a:p>
            <a:pPr>
              <a:spcBef>
                <a:spcPts val="1200"/>
              </a:spcBef>
            </a:pPr>
            <a:r>
              <a:rPr lang="zh-CN" altLang="en-US" b="1" dirty="0">
                <a:solidFill>
                  <a:srgbClr val="000000"/>
                </a:solidFill>
                <a:latin typeface="微软雅黑" charset="-122"/>
                <a:ea typeface="微软雅黑" charset="-122"/>
                <a:cs typeface="Times New Roman" panose="02020603050405020304" pitchFamily="18" charset="0"/>
              </a:rPr>
              <a:t>对于投保人来说，最重要的要活得足够长；</a:t>
            </a:r>
            <a:endParaRPr lang="en-US" altLang="zh-CN" b="1" dirty="0">
              <a:solidFill>
                <a:srgbClr val="000000"/>
              </a:solidFill>
              <a:latin typeface="微软雅黑" charset="-122"/>
              <a:ea typeface="微软雅黑" charset="-122"/>
              <a:cs typeface="Times New Roman" panose="02020603050405020304" pitchFamily="18" charset="0"/>
            </a:endParaRPr>
          </a:p>
          <a:p>
            <a:pPr>
              <a:lnSpc>
                <a:spcPct val="160000"/>
              </a:lnSpc>
              <a:spcBef>
                <a:spcPts val="1200"/>
              </a:spcBef>
            </a:pPr>
            <a:r>
              <a:rPr lang="zh-CN" altLang="en-US" b="1" dirty="0">
                <a:solidFill>
                  <a:srgbClr val="000000"/>
                </a:solidFill>
                <a:latin typeface="微软雅黑" charset="-122"/>
                <a:ea typeface="微软雅黑" charset="-122"/>
                <a:cs typeface="Times New Roman" panose="02020603050405020304" pitchFamily="18" charset="0"/>
              </a:rPr>
              <a:t>事实上，</a:t>
            </a:r>
            <a:r>
              <a:rPr lang="en-US" altLang="zh-CN" b="1" i="1" dirty="0">
                <a:solidFill>
                  <a:srgbClr val="000000"/>
                </a:solidFill>
                <a:latin typeface="微软雅黑" charset="-122"/>
                <a:ea typeface="微软雅黑" charset="-122"/>
                <a:cs typeface="Times New Roman" panose="02020603050405020304" pitchFamily="18" charset="0"/>
              </a:rPr>
              <a:t>M </a:t>
            </a:r>
            <a:r>
              <a:rPr lang="zh-CN" altLang="en-US" b="1" dirty="0">
                <a:solidFill>
                  <a:srgbClr val="000000"/>
                </a:solidFill>
                <a:latin typeface="微软雅黑" charset="-122"/>
                <a:ea typeface="微软雅黑" charset="-122"/>
                <a:cs typeface="Times New Roman" panose="02020603050405020304" pitchFamily="18" charset="0"/>
              </a:rPr>
              <a:t>是随机数。保险公司怎样确定</a:t>
            </a:r>
            <a:r>
              <a:rPr lang="en-US" altLang="zh-CN" b="1" i="1" dirty="0">
                <a:solidFill>
                  <a:srgbClr val="000000"/>
                </a:solidFill>
                <a:latin typeface="微软雅黑" charset="-122"/>
                <a:ea typeface="微软雅黑" charset="-122"/>
                <a:cs typeface="Times New Roman" panose="02020603050405020304" pitchFamily="18" charset="0"/>
              </a:rPr>
              <a:t>M </a:t>
            </a:r>
            <a:r>
              <a:rPr lang="zh-CN" altLang="en-US" b="1" dirty="0">
                <a:solidFill>
                  <a:srgbClr val="000000"/>
                </a:solidFill>
                <a:latin typeface="微软雅黑" charset="-122"/>
                <a:ea typeface="微软雅黑" charset="-122"/>
                <a:cs typeface="Times New Roman" panose="02020603050405020304" pitchFamily="18" charset="0"/>
              </a:rPr>
              <a:t>？</a:t>
            </a:r>
            <a:endParaRPr lang="en-US" b="1" dirty="0">
              <a:solidFill>
                <a:srgbClr val="000000"/>
              </a:solidFill>
              <a:latin typeface="微软雅黑" charset="-122"/>
              <a:ea typeface="微软雅黑" charset="-122"/>
              <a:cs typeface="Times New Roman" panose="02020603050405020304" pitchFamily="18" charset="0"/>
            </a:endParaRPr>
          </a:p>
        </p:txBody>
      </p:sp>
    </p:spTree>
    <p:extLst>
      <p:ext uri="{BB962C8B-B14F-4D97-AF65-F5344CB8AC3E}">
        <p14:creationId xmlns:p14="http://schemas.microsoft.com/office/powerpoint/2010/main" val="100965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Horizontal)">
                                      <p:cBhvr>
                                        <p:cTn id="7" dur="1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Horizontal)">
                                      <p:cBhvr>
                                        <p:cTn id="12" dur="1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anim calcmode="lin" valueType="num">
                                      <p:cBhvr additive="base">
                                        <p:cTn id="23"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0">
                                            <p:txEl>
                                              <p:pRg st="1" end="1"/>
                                            </p:txEl>
                                          </p:spTgt>
                                        </p:tgtEl>
                                        <p:attrNameLst>
                                          <p:attrName>style.visibility</p:attrName>
                                        </p:attrNameLst>
                                      </p:cBhvr>
                                      <p:to>
                                        <p:strVal val="visible"/>
                                      </p:to>
                                    </p:set>
                                    <p:anim calcmode="lin" valueType="num">
                                      <p:cBhvr additive="base">
                                        <p:cTn id="29"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anim calcmode="lin" valueType="num">
                                      <p:cBhvr additive="base">
                                        <p:cTn id="35"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0">
                                            <p:txEl>
                                              <p:pRg st="3" end="3"/>
                                            </p:txEl>
                                          </p:spTgt>
                                        </p:tgtEl>
                                        <p:attrNameLst>
                                          <p:attrName>style.visibility</p:attrName>
                                        </p:attrNameLst>
                                      </p:cBhvr>
                                      <p:to>
                                        <p:strVal val="visible"/>
                                      </p:to>
                                    </p:set>
                                    <p:anim calcmode="lin" valueType="num">
                                      <p:cBhvr additive="base">
                                        <p:cTn id="41"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7262" y="910566"/>
            <a:ext cx="5433779" cy="607684"/>
          </a:xfrm>
        </p:spPr>
        <p:txBody>
          <a:bodyPr>
            <a:normAutofit/>
          </a:bodyPr>
          <a:lstStyle/>
          <a:p>
            <a:r>
              <a:rPr lang="zh-CN" altLang="en-US" sz="2800" b="1" dirty="0">
                <a:solidFill>
                  <a:srgbClr val="000000"/>
                </a:solidFill>
                <a:latin typeface="微软雅黑" charset="-122"/>
                <a:ea typeface="微软雅黑" charset="-122"/>
              </a:rPr>
              <a:t>沃克饮水机现购多少一台</a:t>
            </a:r>
            <a:r>
              <a:rPr lang="zh-CN" altLang="en-US" sz="2800" b="1" dirty="0">
                <a:solidFill>
                  <a:srgbClr val="000000"/>
                </a:solidFill>
                <a:latin typeface="微软雅黑" charset="-122"/>
                <a:ea typeface="宋体" panose="02010600030101010101" pitchFamily="2" charset="-122"/>
              </a:rPr>
              <a:t>？</a:t>
            </a:r>
            <a:endParaRPr lang="en-US" sz="2800" dirty="0">
              <a:solidFill>
                <a:srgbClr val="000000"/>
              </a:solidFill>
            </a:endParaRPr>
          </a:p>
        </p:txBody>
      </p:sp>
      <p:sp>
        <p:nvSpPr>
          <p:cNvPr id="3" name="Text Placeholder 2"/>
          <p:cNvSpPr>
            <a:spLocks noGrp="1"/>
          </p:cNvSpPr>
          <p:nvPr>
            <p:ph type="body" idx="1"/>
          </p:nvPr>
        </p:nvSpPr>
        <p:spPr>
          <a:xfrm>
            <a:off x="5630174" y="1726560"/>
            <a:ext cx="5859349" cy="2103568"/>
          </a:xfrm>
        </p:spPr>
        <p:txBody>
          <a:bodyPr>
            <a:normAutofit/>
          </a:bodyPr>
          <a:lstStyle/>
          <a:p>
            <a:pPr algn="l">
              <a:lnSpc>
                <a:spcPct val="200000"/>
              </a:lnSpc>
            </a:pPr>
            <a:r>
              <a:rPr lang="zh-CN" altLang="en-US" sz="2000" b="1" dirty="0">
                <a:solidFill>
                  <a:srgbClr val="000000"/>
                </a:solidFill>
                <a:latin typeface="微软雅黑" charset="-122"/>
                <a:ea typeface="微软雅黑" charset="-122"/>
              </a:rPr>
              <a:t>沃克饮水机，免费帮你安装到家，试用</a:t>
            </a:r>
            <a:r>
              <a:rPr lang="en-US" altLang="zh-CN" sz="2000" b="1" dirty="0">
                <a:solidFill>
                  <a:srgbClr val="000000"/>
                </a:solidFill>
                <a:latin typeface="微软雅黑" charset="-122"/>
                <a:ea typeface="微软雅黑" charset="-122"/>
              </a:rPr>
              <a:t>15</a:t>
            </a:r>
            <a:r>
              <a:rPr lang="zh-CN" altLang="en-US" sz="2000" b="1" dirty="0">
                <a:solidFill>
                  <a:srgbClr val="000000"/>
                </a:solidFill>
                <a:latin typeface="微软雅黑" charset="-122"/>
                <a:ea typeface="微软雅黑" charset="-122"/>
              </a:rPr>
              <a:t>天。</a:t>
            </a:r>
            <a:r>
              <a:rPr lang="zh-CN" altLang="en-US" b="1" dirty="0">
                <a:solidFill>
                  <a:srgbClr val="000000"/>
                </a:solidFill>
                <a:latin typeface="微软雅黑" charset="-122"/>
                <a:ea typeface="微软雅黑" charset="-122"/>
              </a:rPr>
              <a:t>不满意，一分钱不要拆</a:t>
            </a:r>
            <a:r>
              <a:rPr lang="zh-CN" altLang="en-US" sz="2000" b="1" dirty="0">
                <a:solidFill>
                  <a:srgbClr val="000000"/>
                </a:solidFill>
                <a:latin typeface="微软雅黑" charset="-122"/>
                <a:ea typeface="微软雅黑" charset="-122"/>
              </a:rPr>
              <a:t>走；满意，一个月只需付</a:t>
            </a:r>
            <a:r>
              <a:rPr lang="en-US" altLang="zh-CN" sz="2000" b="1" dirty="0">
                <a:solidFill>
                  <a:srgbClr val="000000"/>
                </a:solidFill>
                <a:latin typeface="微软雅黑" charset="-122"/>
                <a:ea typeface="微软雅黑" charset="-122"/>
              </a:rPr>
              <a:t>199</a:t>
            </a:r>
            <a:r>
              <a:rPr lang="zh-CN" altLang="en-US" b="1" dirty="0">
                <a:solidFill>
                  <a:srgbClr val="000000"/>
                </a:solidFill>
                <a:latin typeface="微软雅黑" charset="-122"/>
                <a:ea typeface="微软雅黑" charset="-122"/>
              </a:rPr>
              <a:t>元，</a:t>
            </a:r>
            <a:r>
              <a:rPr lang="en-US" altLang="zh-CN" b="1" dirty="0">
                <a:solidFill>
                  <a:srgbClr val="000000"/>
                </a:solidFill>
                <a:latin typeface="微软雅黑" charset="-122"/>
                <a:ea typeface="微软雅黑" charset="-122"/>
              </a:rPr>
              <a:t>13</a:t>
            </a:r>
            <a:r>
              <a:rPr lang="zh-CN" altLang="en-US" b="1" dirty="0">
                <a:solidFill>
                  <a:srgbClr val="000000"/>
                </a:solidFill>
                <a:latin typeface="微软雅黑" charset="-122"/>
                <a:ea typeface="微软雅黑" charset="-122"/>
              </a:rPr>
              <a:t>个月付清。</a:t>
            </a:r>
            <a:r>
              <a:rPr lang="zh-CN" altLang="en-US" b="1" dirty="0">
                <a:solidFill>
                  <a:srgbClr val="C00000"/>
                </a:solidFill>
                <a:latin typeface="微软雅黑" charset="-122"/>
                <a:ea typeface="微软雅黑" charset="-122"/>
              </a:rPr>
              <a:t>请问</a:t>
            </a:r>
            <a:r>
              <a:rPr lang="zh-CN" altLang="en-US" sz="2000" b="1" dirty="0">
                <a:solidFill>
                  <a:srgbClr val="C00000"/>
                </a:solidFill>
                <a:latin typeface="微软雅黑" charset="-122"/>
                <a:ea typeface="微软雅黑" charset="-122"/>
              </a:rPr>
              <a:t>沃克饮水机现购多少一台</a:t>
            </a:r>
            <a:r>
              <a:rPr lang="zh-CN" altLang="en-US" sz="2000" b="1" dirty="0">
                <a:solidFill>
                  <a:srgbClr val="C00000"/>
                </a:solidFill>
                <a:latin typeface="微软雅黑" charset="-122"/>
                <a:ea typeface="宋体" panose="02010600030101010101" pitchFamily="2" charset="-122"/>
              </a:rPr>
              <a:t>？</a:t>
            </a:r>
            <a:endParaRPr lang="en-US" dirty="0">
              <a:solidFill>
                <a:srgbClr val="C00000"/>
              </a:solidFill>
            </a:endParaRPr>
          </a:p>
        </p:txBody>
      </p:sp>
    </p:spTree>
    <p:extLst>
      <p:ext uri="{BB962C8B-B14F-4D97-AF65-F5344CB8AC3E}">
        <p14:creationId xmlns:p14="http://schemas.microsoft.com/office/powerpoint/2010/main" val="917668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56951" y="366768"/>
            <a:ext cx="5287992" cy="783419"/>
          </a:xfrm>
        </p:spPr>
        <p:txBody>
          <a:bodyPr>
            <a:normAutofit fontScale="90000"/>
          </a:bodyPr>
          <a:lstStyle/>
          <a:p>
            <a:r>
              <a:rPr lang="en-US" altLang="zh-CN" sz="3200" b="1" dirty="0">
                <a:solidFill>
                  <a:srgbClr val="000000"/>
                </a:solidFill>
                <a:latin typeface="微软雅黑" charset="-122"/>
                <a:ea typeface="宋体" panose="02010600030101010101" pitchFamily="2" charset="-122"/>
                <a:sym typeface="+mn-ea"/>
              </a:rPr>
              <a:t>分期付款</a:t>
            </a:r>
            <a:r>
              <a:rPr lang="zh-CN" altLang="en-US" sz="3200" b="1" dirty="0">
                <a:solidFill>
                  <a:srgbClr val="000000"/>
                </a:solidFill>
                <a:latin typeface="微软雅黑" charset="-122"/>
                <a:ea typeface="宋体" panose="02010600030101010101" pitchFamily="2" charset="-122"/>
                <a:sym typeface="+mn-ea"/>
              </a:rPr>
              <a:t>购物与</a:t>
            </a:r>
            <a:r>
              <a:rPr lang="en-US" altLang="zh-CN" sz="3200" b="1" dirty="0">
                <a:solidFill>
                  <a:srgbClr val="000000"/>
                </a:solidFill>
                <a:latin typeface="微软雅黑" charset="-122"/>
                <a:ea typeface="宋体" panose="02010600030101010101" pitchFamily="2" charset="-122"/>
                <a:sym typeface="+mn-ea"/>
              </a:rPr>
              <a:t>贷款买房问题</a:t>
            </a:r>
            <a:r>
              <a:rPr lang="en-US" altLang="zh-CN" sz="3200" b="1" dirty="0">
                <a:solidFill>
                  <a:srgbClr val="000000"/>
                </a:solidFill>
                <a:latin typeface="微软雅黑" charset="-122"/>
                <a:ea typeface="宋体" panose="02010600030101010101" pitchFamily="2" charset="-122"/>
              </a:rPr>
              <a:t> </a:t>
            </a:r>
            <a:endParaRPr lang="en-US" sz="3200" b="1" dirty="0">
              <a:solidFill>
                <a:srgbClr val="000000"/>
              </a:solidFill>
              <a:latin typeface="微软雅黑" charset="-122"/>
              <a:ea typeface="宋体" panose="02010600030101010101" pitchFamily="2" charset="-122"/>
            </a:endParaRPr>
          </a:p>
        </p:txBody>
      </p:sp>
      <p:pic>
        <p:nvPicPr>
          <p:cNvPr id="6" name="图片 5">
            <a:extLst>
              <a:ext uri="{FF2B5EF4-FFF2-40B4-BE49-F238E27FC236}">
                <a16:creationId xmlns:a16="http://schemas.microsoft.com/office/drawing/2014/main" id="{2AD726D9-C6F9-46EC-9E9F-BE540F1FA1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44979" y="4351020"/>
            <a:ext cx="6068060" cy="2535555"/>
          </a:xfrm>
          <a:prstGeom prst="rect">
            <a:avLst/>
          </a:prstGeom>
        </p:spPr>
      </p:pic>
      <p:sp>
        <p:nvSpPr>
          <p:cNvPr id="7" name="矩形 6">
            <a:extLst>
              <a:ext uri="{FF2B5EF4-FFF2-40B4-BE49-F238E27FC236}">
                <a16:creationId xmlns:a16="http://schemas.microsoft.com/office/drawing/2014/main" id="{8682DE3B-A2FA-4D84-94C8-7AF0E025F927}"/>
              </a:ext>
            </a:extLst>
          </p:cNvPr>
          <p:cNvSpPr/>
          <p:nvPr/>
        </p:nvSpPr>
        <p:spPr>
          <a:xfrm>
            <a:off x="1413889" y="1208185"/>
            <a:ext cx="4613100" cy="497316"/>
          </a:xfrm>
          <a:prstGeom prst="rect">
            <a:avLst/>
          </a:prstGeom>
          <a:noFill/>
          <a:ln w="19050" cap="flat" cmpd="sng">
            <a:noFill/>
            <a:prstDash val="solid"/>
            <a:miter/>
            <a:headEnd type="none" w="med" len="med"/>
            <a:tailEnd type="none" w="med" len="med"/>
          </a:ln>
        </p:spPr>
        <p:txBody>
          <a:bodyPr wrap="square">
            <a:spAutoFit/>
          </a:bodyPr>
          <a:lstStyle/>
          <a:p>
            <a:pPr>
              <a:lnSpc>
                <a:spcPct val="120000"/>
              </a:lnSpc>
              <a:spcBef>
                <a:spcPct val="0"/>
              </a:spcBef>
            </a:pPr>
            <a:r>
              <a:rPr lang="zh-CN" altLang="en-US" sz="2400" b="1" dirty="0">
                <a:solidFill>
                  <a:srgbClr val="0000FF"/>
                </a:solidFill>
                <a:latin typeface="微软雅黑" charset="-122"/>
                <a:ea typeface="微软雅黑" charset="-122"/>
                <a:sym typeface="+mn-ea"/>
              </a:rPr>
              <a:t>如何计算分期付款商品的价格？</a:t>
            </a:r>
            <a:r>
              <a:rPr lang="zh-CN" altLang="en-US" sz="2400" dirty="0">
                <a:latin typeface="Arial" panose="020B0604020202020204" pitchFamily="34" charset="0"/>
                <a:ea typeface="宋体" panose="02010600030101010101" pitchFamily="2" charset="-122"/>
              </a:rPr>
              <a:t>    </a:t>
            </a:r>
          </a:p>
        </p:txBody>
      </p:sp>
      <p:pic>
        <p:nvPicPr>
          <p:cNvPr id="8" name="图片 7">
            <a:extLst>
              <a:ext uri="{FF2B5EF4-FFF2-40B4-BE49-F238E27FC236}">
                <a16:creationId xmlns:a16="http://schemas.microsoft.com/office/drawing/2014/main" id="{6647E201-9389-4C82-A03E-A828849BB94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97989" y="1694180"/>
            <a:ext cx="3928110" cy="2653030"/>
          </a:xfrm>
          <a:prstGeom prst="rect">
            <a:avLst/>
          </a:prstGeom>
        </p:spPr>
      </p:pic>
      <p:pic>
        <p:nvPicPr>
          <p:cNvPr id="9" name="图片 8">
            <a:extLst>
              <a:ext uri="{FF2B5EF4-FFF2-40B4-BE49-F238E27FC236}">
                <a16:creationId xmlns:a16="http://schemas.microsoft.com/office/drawing/2014/main" id="{C9FF387D-988C-4538-91E3-7D38EFCC4D2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70309" y="4346575"/>
            <a:ext cx="3074670" cy="2540000"/>
          </a:xfrm>
          <a:prstGeom prst="rect">
            <a:avLst/>
          </a:prstGeom>
        </p:spPr>
      </p:pic>
      <p:pic>
        <p:nvPicPr>
          <p:cNvPr id="10" name="图片 9">
            <a:extLst>
              <a:ext uri="{FF2B5EF4-FFF2-40B4-BE49-F238E27FC236}">
                <a16:creationId xmlns:a16="http://schemas.microsoft.com/office/drawing/2014/main" id="{316E108F-38C8-48EF-B77B-2AA6BC63334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626099" y="1693545"/>
            <a:ext cx="2186305" cy="2653030"/>
          </a:xfrm>
          <a:prstGeom prst="rect">
            <a:avLst/>
          </a:prstGeom>
        </p:spPr>
      </p:pic>
      <p:pic>
        <p:nvPicPr>
          <p:cNvPr id="11" name="图片 10">
            <a:extLst>
              <a:ext uri="{FF2B5EF4-FFF2-40B4-BE49-F238E27FC236}">
                <a16:creationId xmlns:a16="http://schemas.microsoft.com/office/drawing/2014/main" id="{67373EA6-5C4F-4E85-B19A-4A542252062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69674" y="1694180"/>
            <a:ext cx="3028315" cy="2581275"/>
          </a:xfrm>
          <a:prstGeom prst="rect">
            <a:avLst/>
          </a:prstGeom>
        </p:spPr>
      </p:pic>
    </p:spTree>
    <p:extLst>
      <p:ext uri="{BB962C8B-B14F-4D97-AF65-F5344CB8AC3E}">
        <p14:creationId xmlns:p14="http://schemas.microsoft.com/office/powerpoint/2010/main" val="1526534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3"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1+#ppt_w/2"/>
                                          </p:val>
                                        </p:tav>
                                        <p:tav tm="100000">
                                          <p:val>
                                            <p:strVal val="#ppt_x"/>
                                          </p:val>
                                        </p:tav>
                                      </p:tavLst>
                                    </p:anim>
                                    <p:anim calcmode="lin" valueType="num">
                                      <p:cBhvr additive="base">
                                        <p:cTn id="13"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500" fill="hold"/>
                                        <p:tgtEl>
                                          <p:spTgt spid="10"/>
                                        </p:tgtEl>
                                        <p:attrNameLst>
                                          <p:attrName>ppt_x</p:attrName>
                                        </p:attrNameLst>
                                      </p:cBhvr>
                                      <p:tavLst>
                                        <p:tav tm="0">
                                          <p:val>
                                            <p:strVal val="0-#ppt_w/2"/>
                                          </p:val>
                                        </p:tav>
                                        <p:tav tm="100000">
                                          <p:val>
                                            <p:strVal val="#ppt_x"/>
                                          </p:val>
                                        </p:tav>
                                      </p:tavLst>
                                    </p:anim>
                                    <p:anim calcmode="lin" valueType="num">
                                      <p:cBhvr additive="base">
                                        <p:cTn id="19"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9"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0-#ppt_w/2"/>
                                          </p:val>
                                        </p:tav>
                                        <p:tav tm="100000">
                                          <p:val>
                                            <p:strVal val="#ppt_x"/>
                                          </p:val>
                                        </p:tav>
                                      </p:tavLst>
                                    </p:anim>
                                    <p:anim calcmode="lin" valueType="num">
                                      <p:cBhvr additive="base">
                                        <p:cTn id="25"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00" fill="hold"/>
                                        <p:tgtEl>
                                          <p:spTgt spid="11"/>
                                        </p:tgtEl>
                                        <p:attrNameLst>
                                          <p:attrName>ppt_x</p:attrName>
                                        </p:attrNameLst>
                                      </p:cBhvr>
                                      <p:tavLst>
                                        <p:tav tm="0">
                                          <p:val>
                                            <p:strVal val="#ppt_x"/>
                                          </p:val>
                                        </p:tav>
                                        <p:tav tm="100000">
                                          <p:val>
                                            <p:strVal val="#ppt_x"/>
                                          </p:val>
                                        </p:tav>
                                      </p:tavLst>
                                    </p:anim>
                                    <p:anim calcmode="lin" valueType="num">
                                      <p:cBhvr additive="base">
                                        <p:cTn id="3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2548E0F0-1F6D-4F16-8DD2-FF94157691E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22777" y="5511990"/>
            <a:ext cx="9152255" cy="1342390"/>
          </a:xfrm>
          <a:prstGeom prst="rect">
            <a:avLst/>
          </a:prstGeom>
        </p:spPr>
      </p:pic>
      <p:sp>
        <p:nvSpPr>
          <p:cNvPr id="9" name="标题 1">
            <a:extLst>
              <a:ext uri="{FF2B5EF4-FFF2-40B4-BE49-F238E27FC236}">
                <a16:creationId xmlns:a16="http://schemas.microsoft.com/office/drawing/2014/main" id="{7A14C4E8-B025-4E6F-85E4-BF11792651CB}"/>
              </a:ext>
            </a:extLst>
          </p:cNvPr>
          <p:cNvSpPr/>
          <p:nvPr/>
        </p:nvSpPr>
        <p:spPr>
          <a:xfrm>
            <a:off x="2122731" y="927154"/>
            <a:ext cx="4847590" cy="565604"/>
          </a:xfrm>
          <a:prstGeom prst="rect">
            <a:avLst/>
          </a:prstGeom>
          <a:noFill/>
          <a:ln w="19050" cap="flat" cmpd="sng">
            <a:noFill/>
            <a:prstDash val="solid"/>
            <a:miter/>
            <a:headEnd type="none" w="med" len="med"/>
            <a:tailEnd type="none" w="med" len="med"/>
          </a:ln>
        </p:spPr>
        <p:txBody>
          <a:bodyPr wrap="square" anchor="t">
            <a:spAutoFit/>
          </a:bodyPr>
          <a:lstStyle/>
          <a:p>
            <a:pPr lvl="0" algn="l">
              <a:lnSpc>
                <a:spcPct val="120000"/>
              </a:lnSpc>
            </a:pPr>
            <a:r>
              <a:rPr lang="en-US" altLang="zh-CN" sz="2800" b="1" dirty="0">
                <a:solidFill>
                  <a:srgbClr val="0000FF"/>
                </a:solidFill>
                <a:latin typeface="微软雅黑" charset="-122"/>
                <a:ea typeface="微软雅黑" charset="-122"/>
                <a:sym typeface="+mn-ea"/>
              </a:rPr>
              <a:t>手机分期付款方案</a:t>
            </a:r>
          </a:p>
        </p:txBody>
      </p:sp>
      <p:sp>
        <p:nvSpPr>
          <p:cNvPr id="10" name="Rectangle 2">
            <a:extLst>
              <a:ext uri="{FF2B5EF4-FFF2-40B4-BE49-F238E27FC236}">
                <a16:creationId xmlns:a16="http://schemas.microsoft.com/office/drawing/2014/main" id="{CA68288A-5734-4AC7-8BA7-667FB242806C}"/>
              </a:ext>
            </a:extLst>
          </p:cNvPr>
          <p:cNvSpPr>
            <a:spLocks noChangeArrowheads="1"/>
          </p:cNvSpPr>
          <p:nvPr/>
        </p:nvSpPr>
        <p:spPr bwMode="auto">
          <a:xfrm>
            <a:off x="1991382" y="1877885"/>
            <a:ext cx="7538720" cy="570865"/>
          </a:xfrm>
          <a:prstGeom prst="rect">
            <a:avLst/>
          </a:prstGeom>
          <a:solidFill>
            <a:schemeClr val="bg1"/>
          </a:solidFill>
          <a:ln>
            <a:noFill/>
          </a:ln>
          <a:effectLst/>
        </p:spPr>
        <p:txBody>
          <a:bodyPr wrap="square" anchor="ctr">
            <a:spAutoFit/>
          </a:bodyPr>
          <a:lstStyle/>
          <a:p>
            <a:r>
              <a:rPr lang="en-US" altLang="zh-CN" sz="2400" b="1" dirty="0">
                <a:latin typeface="微软雅黑" charset="-122"/>
                <a:ea typeface="微软雅黑" charset="-122"/>
                <a:cs typeface="+mj-cs"/>
              </a:rPr>
              <a:t>(1) </a:t>
            </a:r>
            <a:r>
              <a:rPr lang="zh-CN" altLang="en-US" sz="2400" b="1" dirty="0">
                <a:latin typeface="微软雅黑" charset="-122"/>
                <a:ea typeface="微软雅黑" charset="-122"/>
                <a:cs typeface="+mj-cs"/>
              </a:rPr>
              <a:t>苹果</a:t>
            </a:r>
            <a:r>
              <a:rPr lang="en-US" altLang="zh-CN" sz="2400" b="1" dirty="0">
                <a:latin typeface="微软雅黑" charset="-122"/>
                <a:ea typeface="微软雅黑" charset="-122"/>
                <a:cs typeface="+mj-cs"/>
              </a:rPr>
              <a:t>X</a:t>
            </a:r>
            <a:r>
              <a:rPr lang="zh-CN" altLang="en-US" sz="2400" b="1" dirty="0">
                <a:latin typeface="微软雅黑" charset="-122"/>
                <a:ea typeface="微软雅黑" charset="-122"/>
                <a:cs typeface="+mj-cs"/>
              </a:rPr>
              <a:t>，总价</a:t>
            </a:r>
            <a:r>
              <a:rPr lang="en-US" altLang="zh-CN" sz="2400" b="1" dirty="0">
                <a:latin typeface="微软雅黑" charset="-122"/>
                <a:ea typeface="微软雅黑" charset="-122"/>
                <a:cs typeface="+mj-cs"/>
              </a:rPr>
              <a:t>: 6999</a:t>
            </a:r>
            <a:r>
              <a:rPr lang="zh-CN" altLang="en-US" sz="2400" b="1" dirty="0">
                <a:latin typeface="微软雅黑" charset="-122"/>
                <a:ea typeface="微软雅黑" charset="-122"/>
                <a:cs typeface="+mj-cs"/>
              </a:rPr>
              <a:t>，</a:t>
            </a:r>
            <a:r>
              <a:rPr lang="en-US" altLang="zh-CN" sz="2400" b="1" dirty="0">
                <a:latin typeface="微软雅黑" charset="-122"/>
                <a:ea typeface="微软雅黑" charset="-122"/>
                <a:cs typeface="+mj-cs"/>
              </a:rPr>
              <a:t>0</a:t>
            </a:r>
            <a:r>
              <a:rPr lang="zh-CN" altLang="en-US" sz="2400" b="1" dirty="0">
                <a:latin typeface="微软雅黑" charset="-122"/>
                <a:ea typeface="微软雅黑" charset="-122"/>
                <a:cs typeface="+mj-cs"/>
              </a:rPr>
              <a:t>首付，月付</a:t>
            </a:r>
            <a:r>
              <a:rPr lang="en-US" altLang="zh-CN" sz="2400" b="1" dirty="0">
                <a:latin typeface="微软雅黑" charset="-122"/>
                <a:ea typeface="微软雅黑" charset="-122"/>
                <a:cs typeface="+mj-cs"/>
              </a:rPr>
              <a:t>292</a:t>
            </a:r>
            <a:r>
              <a:rPr lang="zh-CN" altLang="en-US" sz="2400" b="1" dirty="0">
                <a:latin typeface="微软雅黑" charset="-122"/>
                <a:ea typeface="微软雅黑" charset="-122"/>
                <a:cs typeface="+mj-cs"/>
              </a:rPr>
              <a:t>，</a:t>
            </a:r>
            <a:r>
              <a:rPr lang="en-US" altLang="zh-CN" sz="2400" b="1" dirty="0">
                <a:latin typeface="微软雅黑" charset="-122"/>
                <a:ea typeface="微软雅黑" charset="-122"/>
                <a:cs typeface="+mj-cs"/>
              </a:rPr>
              <a:t>2</a:t>
            </a:r>
            <a:r>
              <a:rPr lang="zh-CN" altLang="en-US" sz="2400" b="1" dirty="0">
                <a:latin typeface="微软雅黑" charset="-122"/>
                <a:ea typeface="微软雅黑" charset="-122"/>
                <a:cs typeface="+mj-cs"/>
              </a:rPr>
              <a:t>年；</a:t>
            </a:r>
            <a:r>
              <a:rPr lang="en-US" altLang="zh-CN" sz="2400" b="1" dirty="0">
                <a:latin typeface="微软雅黑" charset="-122"/>
                <a:ea typeface="微软雅黑" charset="-122"/>
                <a:cs typeface="+mj-cs"/>
              </a:rPr>
              <a:t> </a:t>
            </a:r>
          </a:p>
        </p:txBody>
      </p:sp>
      <p:sp>
        <p:nvSpPr>
          <p:cNvPr id="11" name="Rectangle 2">
            <a:extLst>
              <a:ext uri="{FF2B5EF4-FFF2-40B4-BE49-F238E27FC236}">
                <a16:creationId xmlns:a16="http://schemas.microsoft.com/office/drawing/2014/main" id="{342A14DE-524A-40B5-9CAE-6D18423CAC81}"/>
              </a:ext>
            </a:extLst>
          </p:cNvPr>
          <p:cNvSpPr>
            <a:spLocks noChangeArrowheads="1"/>
          </p:cNvSpPr>
          <p:nvPr/>
        </p:nvSpPr>
        <p:spPr bwMode="auto">
          <a:xfrm>
            <a:off x="1991382" y="2563675"/>
            <a:ext cx="7539355" cy="461665"/>
          </a:xfrm>
          <a:prstGeom prst="rect">
            <a:avLst/>
          </a:prstGeom>
          <a:solidFill>
            <a:schemeClr val="bg1"/>
          </a:solidFill>
          <a:ln>
            <a:noFill/>
          </a:ln>
          <a:effectLst/>
        </p:spPr>
        <p:txBody>
          <a:bodyPr wrap="square" anchor="ctr">
            <a:spAutoFit/>
          </a:bodyPr>
          <a:lstStyle/>
          <a:p>
            <a:r>
              <a:rPr lang="en-US" altLang="zh-CN" sz="2400" b="1" dirty="0">
                <a:solidFill>
                  <a:srgbClr val="0000CC"/>
                </a:solidFill>
                <a:latin typeface="微软雅黑" charset="-122"/>
                <a:ea typeface="微软雅黑" charset="-122"/>
                <a:cs typeface="+mj-cs"/>
              </a:rPr>
              <a:t>(2) </a:t>
            </a:r>
            <a:r>
              <a:rPr lang="zh-CN" altLang="en-US" sz="2400" b="1" dirty="0">
                <a:solidFill>
                  <a:srgbClr val="0000CC"/>
                </a:solidFill>
                <a:latin typeface="微软雅黑" charset="-122"/>
                <a:ea typeface="微软雅黑" charset="-122"/>
                <a:cs typeface="+mj-cs"/>
              </a:rPr>
              <a:t>三星</a:t>
            </a:r>
            <a:r>
              <a:rPr lang="en-US" altLang="zh-CN" sz="2400" b="1" dirty="0">
                <a:solidFill>
                  <a:srgbClr val="0000CC"/>
                </a:solidFill>
                <a:latin typeface="微软雅黑" charset="-122"/>
                <a:ea typeface="微软雅黑" charset="-122"/>
                <a:cs typeface="+mj-cs"/>
              </a:rPr>
              <a:t>S9</a:t>
            </a:r>
            <a:r>
              <a:rPr lang="zh-CN" altLang="en-US" sz="2400" b="1" dirty="0">
                <a:solidFill>
                  <a:srgbClr val="0000CC"/>
                </a:solidFill>
                <a:latin typeface="微软雅黑" charset="-122"/>
                <a:ea typeface="微软雅黑" charset="-122"/>
                <a:cs typeface="+mj-cs"/>
              </a:rPr>
              <a:t>，总价：</a:t>
            </a:r>
            <a:r>
              <a:rPr lang="en-US" altLang="zh-CN" sz="2400" b="1" dirty="0">
                <a:solidFill>
                  <a:srgbClr val="0000CC"/>
                </a:solidFill>
                <a:latin typeface="微软雅黑" charset="-122"/>
                <a:ea typeface="微软雅黑" charset="-122"/>
                <a:cs typeface="+mj-cs"/>
              </a:rPr>
              <a:t>4899</a:t>
            </a:r>
            <a:r>
              <a:rPr lang="zh-CN" altLang="en-US" sz="2400" b="1" dirty="0">
                <a:solidFill>
                  <a:srgbClr val="0000CC"/>
                </a:solidFill>
                <a:latin typeface="微软雅黑" charset="-122"/>
                <a:ea typeface="微软雅黑" charset="-122"/>
                <a:cs typeface="+mj-cs"/>
              </a:rPr>
              <a:t>元，</a:t>
            </a:r>
            <a:r>
              <a:rPr lang="en-US" altLang="zh-CN" sz="2400" b="1" dirty="0">
                <a:solidFill>
                  <a:srgbClr val="0000CC"/>
                </a:solidFill>
                <a:latin typeface="微软雅黑" charset="-122"/>
                <a:ea typeface="微软雅黑" charset="-122"/>
                <a:cs typeface="+mj-cs"/>
              </a:rPr>
              <a:t>0</a:t>
            </a:r>
            <a:r>
              <a:rPr lang="zh-CN" altLang="en-US" sz="2400" b="1" dirty="0">
                <a:solidFill>
                  <a:srgbClr val="0000CC"/>
                </a:solidFill>
                <a:latin typeface="微软雅黑" charset="-122"/>
                <a:ea typeface="微软雅黑" charset="-122"/>
                <a:cs typeface="+mj-cs"/>
              </a:rPr>
              <a:t>首付，月付</a:t>
            </a:r>
            <a:r>
              <a:rPr lang="en-US" altLang="zh-CN" sz="2400" b="1" dirty="0">
                <a:solidFill>
                  <a:srgbClr val="0000CC"/>
                </a:solidFill>
                <a:latin typeface="微软雅黑" charset="-122"/>
                <a:ea typeface="微软雅黑" charset="-122"/>
                <a:cs typeface="+mj-cs"/>
              </a:rPr>
              <a:t>205</a:t>
            </a:r>
            <a:r>
              <a:rPr lang="zh-CN" altLang="en-US" sz="2400" b="1" dirty="0">
                <a:solidFill>
                  <a:srgbClr val="0000CC"/>
                </a:solidFill>
                <a:latin typeface="微软雅黑" charset="-122"/>
                <a:ea typeface="微软雅黑" charset="-122"/>
                <a:cs typeface="+mj-cs"/>
              </a:rPr>
              <a:t>，</a:t>
            </a:r>
            <a:r>
              <a:rPr lang="en-US" altLang="zh-CN" sz="2400" b="1" dirty="0">
                <a:solidFill>
                  <a:srgbClr val="0000CC"/>
                </a:solidFill>
                <a:latin typeface="微软雅黑" charset="-122"/>
                <a:ea typeface="微软雅黑" charset="-122"/>
                <a:cs typeface="+mj-cs"/>
              </a:rPr>
              <a:t>2</a:t>
            </a:r>
            <a:r>
              <a:rPr lang="zh-CN" altLang="en-US" sz="2400" b="1" dirty="0">
                <a:solidFill>
                  <a:srgbClr val="0000CC"/>
                </a:solidFill>
                <a:latin typeface="微软雅黑" charset="-122"/>
                <a:ea typeface="微软雅黑" charset="-122"/>
                <a:cs typeface="+mj-cs"/>
              </a:rPr>
              <a:t>年；</a:t>
            </a:r>
            <a:r>
              <a:rPr lang="en-US" altLang="zh-CN" sz="2400" b="1" dirty="0">
                <a:solidFill>
                  <a:srgbClr val="0000CC"/>
                </a:solidFill>
                <a:latin typeface="微软雅黑" charset="-122"/>
                <a:ea typeface="微软雅黑" charset="-122"/>
                <a:cs typeface="+mj-cs"/>
              </a:rPr>
              <a:t> </a:t>
            </a:r>
          </a:p>
        </p:txBody>
      </p:sp>
      <p:sp>
        <p:nvSpPr>
          <p:cNvPr id="12" name="Rectangle 2">
            <a:extLst>
              <a:ext uri="{FF2B5EF4-FFF2-40B4-BE49-F238E27FC236}">
                <a16:creationId xmlns:a16="http://schemas.microsoft.com/office/drawing/2014/main" id="{457F6D24-6EA1-4C46-933B-E97D17E1267D}"/>
              </a:ext>
            </a:extLst>
          </p:cNvPr>
          <p:cNvSpPr>
            <a:spLocks noChangeArrowheads="1"/>
          </p:cNvSpPr>
          <p:nvPr/>
        </p:nvSpPr>
        <p:spPr bwMode="auto">
          <a:xfrm>
            <a:off x="1996209" y="3219005"/>
            <a:ext cx="7866865" cy="570865"/>
          </a:xfrm>
          <a:prstGeom prst="rect">
            <a:avLst/>
          </a:prstGeom>
          <a:solidFill>
            <a:schemeClr val="bg1"/>
          </a:solidFill>
          <a:ln>
            <a:noFill/>
          </a:ln>
          <a:effectLst/>
        </p:spPr>
        <p:txBody>
          <a:bodyPr wrap="square" anchor="ctr">
            <a:spAutoFit/>
          </a:bodyPr>
          <a:lstStyle/>
          <a:p>
            <a:r>
              <a:rPr lang="en-US" altLang="zh-CN" sz="2400" b="1" dirty="0">
                <a:latin typeface="微软雅黑" charset="-122"/>
                <a:ea typeface="微软雅黑" charset="-122"/>
                <a:cs typeface="+mj-cs"/>
              </a:rPr>
              <a:t>(3) </a:t>
            </a:r>
            <a:r>
              <a:rPr lang="es-ES" altLang="zh-CN" sz="2400" b="1" dirty="0">
                <a:latin typeface="微软雅黑" charset="-122"/>
                <a:ea typeface="微软雅黑" charset="-122"/>
                <a:cs typeface="+mj-cs"/>
              </a:rPr>
              <a:t>ViVO x21</a:t>
            </a:r>
            <a:r>
              <a:rPr lang="zh-CN" altLang="en-US" sz="2400" b="1" dirty="0">
                <a:latin typeface="微软雅黑" charset="-122"/>
                <a:ea typeface="微软雅黑" charset="-122"/>
                <a:cs typeface="+mj-cs"/>
              </a:rPr>
              <a:t>，总价：</a:t>
            </a:r>
            <a:r>
              <a:rPr lang="es-ES" altLang="zh-CN" sz="2400" b="1" dirty="0">
                <a:latin typeface="微软雅黑" charset="-122"/>
                <a:ea typeface="微软雅黑" charset="-122"/>
                <a:cs typeface="+mj-cs"/>
              </a:rPr>
              <a:t>2980</a:t>
            </a:r>
            <a:r>
              <a:rPr lang="zh-CN" altLang="es-ES" sz="2400" b="1" dirty="0">
                <a:latin typeface="微软雅黑" charset="-122"/>
                <a:ea typeface="微软雅黑" charset="-122"/>
                <a:cs typeface="+mj-cs"/>
              </a:rPr>
              <a:t>元</a:t>
            </a:r>
            <a:r>
              <a:rPr lang="zh-CN" altLang="en-US" sz="2400" b="1" dirty="0">
                <a:latin typeface="微软雅黑" charset="-122"/>
                <a:ea typeface="微软雅黑" charset="-122"/>
                <a:cs typeface="+mj-cs"/>
              </a:rPr>
              <a:t>，</a:t>
            </a:r>
            <a:r>
              <a:rPr lang="en-US" altLang="zh-CN" sz="2400" b="1" dirty="0">
                <a:latin typeface="微软雅黑" charset="-122"/>
                <a:ea typeface="微软雅黑" charset="-122"/>
                <a:cs typeface="+mj-cs"/>
              </a:rPr>
              <a:t>0</a:t>
            </a:r>
            <a:r>
              <a:rPr lang="zh-CN" altLang="en-US" sz="2400" b="1" dirty="0">
                <a:latin typeface="微软雅黑" charset="-122"/>
                <a:ea typeface="微软雅黑" charset="-122"/>
                <a:cs typeface="+mj-cs"/>
              </a:rPr>
              <a:t>首付，</a:t>
            </a:r>
            <a:r>
              <a:rPr lang="zh-CN" altLang="es-ES" sz="2400" b="1" dirty="0">
                <a:latin typeface="微软雅黑" charset="-122"/>
                <a:ea typeface="微软雅黑" charset="-122"/>
                <a:cs typeface="+mj-cs"/>
              </a:rPr>
              <a:t>月付</a:t>
            </a:r>
            <a:r>
              <a:rPr lang="es-ES" altLang="zh-CN" sz="2400" b="1" dirty="0">
                <a:latin typeface="微软雅黑" charset="-122"/>
                <a:ea typeface="微软雅黑" charset="-122"/>
                <a:cs typeface="+mj-cs"/>
              </a:rPr>
              <a:t>125</a:t>
            </a:r>
            <a:r>
              <a:rPr lang="zh-CN" altLang="en-US" sz="2400" b="1" dirty="0">
                <a:latin typeface="微软雅黑" charset="-122"/>
                <a:ea typeface="微软雅黑" charset="-122"/>
                <a:cs typeface="+mj-cs"/>
              </a:rPr>
              <a:t>，</a:t>
            </a:r>
            <a:r>
              <a:rPr lang="en-US" altLang="zh-CN" sz="2400" b="1" dirty="0">
                <a:latin typeface="微软雅黑" charset="-122"/>
                <a:ea typeface="微软雅黑" charset="-122"/>
                <a:cs typeface="+mj-cs"/>
              </a:rPr>
              <a:t>2</a:t>
            </a:r>
            <a:r>
              <a:rPr lang="zh-CN" altLang="en-US" sz="2400" b="1" dirty="0">
                <a:latin typeface="微软雅黑" charset="-122"/>
                <a:ea typeface="微软雅黑" charset="-122"/>
                <a:cs typeface="+mj-cs"/>
              </a:rPr>
              <a:t>年；</a:t>
            </a:r>
            <a:r>
              <a:rPr lang="en-US" altLang="zh-CN" sz="2400" b="1" dirty="0">
                <a:latin typeface="微软雅黑" charset="-122"/>
                <a:ea typeface="微软雅黑" charset="-122"/>
                <a:cs typeface="+mj-cs"/>
              </a:rPr>
              <a:t> </a:t>
            </a:r>
          </a:p>
        </p:txBody>
      </p:sp>
      <p:sp>
        <p:nvSpPr>
          <p:cNvPr id="13" name="Rectangle 2">
            <a:extLst>
              <a:ext uri="{FF2B5EF4-FFF2-40B4-BE49-F238E27FC236}">
                <a16:creationId xmlns:a16="http://schemas.microsoft.com/office/drawing/2014/main" id="{A31A7450-7722-45DB-9565-96B204476ECF}"/>
              </a:ext>
            </a:extLst>
          </p:cNvPr>
          <p:cNvSpPr>
            <a:spLocks noChangeArrowheads="1"/>
          </p:cNvSpPr>
          <p:nvPr/>
        </p:nvSpPr>
        <p:spPr bwMode="auto">
          <a:xfrm>
            <a:off x="1964712" y="3947350"/>
            <a:ext cx="8154638" cy="570865"/>
          </a:xfrm>
          <a:prstGeom prst="rect">
            <a:avLst/>
          </a:prstGeom>
          <a:solidFill>
            <a:schemeClr val="bg1"/>
          </a:solidFill>
          <a:ln>
            <a:noFill/>
          </a:ln>
          <a:effectLst/>
        </p:spPr>
        <p:txBody>
          <a:bodyPr wrap="square" anchor="ctr">
            <a:spAutoFit/>
          </a:bodyPr>
          <a:lstStyle/>
          <a:p>
            <a:r>
              <a:rPr lang="en-US" altLang="zh-CN" sz="2400" b="1" dirty="0">
                <a:solidFill>
                  <a:srgbClr val="0000CC"/>
                </a:solidFill>
                <a:latin typeface="微软雅黑" charset="-122"/>
                <a:ea typeface="微软雅黑" charset="-122"/>
                <a:cs typeface="+mj-cs"/>
              </a:rPr>
              <a:t>(4) </a:t>
            </a:r>
            <a:r>
              <a:rPr lang="it-IT" altLang="zh-CN" sz="2400" b="1" dirty="0">
                <a:solidFill>
                  <a:srgbClr val="0000CC"/>
                </a:solidFill>
                <a:latin typeface="微软雅黑" charset="-122"/>
                <a:ea typeface="微软雅黑" charset="-122"/>
                <a:cs typeface="+mj-cs"/>
              </a:rPr>
              <a:t>OPPO R15</a:t>
            </a:r>
            <a:r>
              <a:rPr lang="zh-CN" altLang="en-US" sz="2400" b="1" dirty="0">
                <a:solidFill>
                  <a:srgbClr val="0000CC"/>
                </a:solidFill>
                <a:latin typeface="微软雅黑" charset="-122"/>
                <a:ea typeface="微软雅黑" charset="-122"/>
                <a:cs typeface="+mj-cs"/>
              </a:rPr>
              <a:t>，总价：</a:t>
            </a:r>
            <a:r>
              <a:rPr lang="it-IT" altLang="zh-CN" sz="2400" b="1" dirty="0">
                <a:solidFill>
                  <a:srgbClr val="0000CC"/>
                </a:solidFill>
                <a:latin typeface="微软雅黑" charset="-122"/>
                <a:ea typeface="微软雅黑" charset="-122"/>
                <a:cs typeface="+mj-cs"/>
              </a:rPr>
              <a:t>2799</a:t>
            </a:r>
            <a:r>
              <a:rPr lang="zh-CN" altLang="it-IT" sz="2400" b="1" dirty="0">
                <a:solidFill>
                  <a:srgbClr val="0000CC"/>
                </a:solidFill>
                <a:latin typeface="微软雅黑" charset="-122"/>
                <a:ea typeface="微软雅黑" charset="-122"/>
                <a:cs typeface="+mj-cs"/>
              </a:rPr>
              <a:t>元</a:t>
            </a:r>
            <a:r>
              <a:rPr lang="zh-CN" altLang="en-US" sz="2400" b="1" dirty="0">
                <a:solidFill>
                  <a:srgbClr val="0000CC"/>
                </a:solidFill>
                <a:latin typeface="微软雅黑" charset="-122"/>
                <a:ea typeface="微软雅黑" charset="-122"/>
                <a:cs typeface="+mj-cs"/>
              </a:rPr>
              <a:t>，</a:t>
            </a:r>
            <a:r>
              <a:rPr lang="en-US" altLang="zh-CN" sz="2400" b="1" dirty="0">
                <a:solidFill>
                  <a:srgbClr val="0000CC"/>
                </a:solidFill>
                <a:latin typeface="微软雅黑" charset="-122"/>
                <a:ea typeface="微软雅黑" charset="-122"/>
                <a:cs typeface="+mj-cs"/>
              </a:rPr>
              <a:t>0</a:t>
            </a:r>
            <a:r>
              <a:rPr lang="zh-CN" altLang="en-US" sz="2400" b="1" dirty="0">
                <a:solidFill>
                  <a:srgbClr val="0000CC"/>
                </a:solidFill>
                <a:latin typeface="微软雅黑" charset="-122"/>
                <a:ea typeface="微软雅黑" charset="-122"/>
                <a:cs typeface="+mj-cs"/>
              </a:rPr>
              <a:t>首付，</a:t>
            </a:r>
            <a:r>
              <a:rPr lang="zh-CN" altLang="it-IT" sz="2400" b="1" dirty="0">
                <a:solidFill>
                  <a:srgbClr val="0000CC"/>
                </a:solidFill>
                <a:latin typeface="微软雅黑" charset="-122"/>
                <a:ea typeface="微软雅黑" charset="-122"/>
                <a:cs typeface="+mj-cs"/>
              </a:rPr>
              <a:t>月付</a:t>
            </a:r>
            <a:r>
              <a:rPr lang="it-IT" altLang="zh-CN" sz="2400" b="1" dirty="0">
                <a:solidFill>
                  <a:srgbClr val="0000CC"/>
                </a:solidFill>
                <a:latin typeface="微软雅黑" charset="-122"/>
                <a:ea typeface="微软雅黑" charset="-122"/>
                <a:cs typeface="+mj-cs"/>
              </a:rPr>
              <a:t>117</a:t>
            </a:r>
            <a:r>
              <a:rPr lang="zh-CN" altLang="en-US" sz="2400" b="1" dirty="0">
                <a:solidFill>
                  <a:srgbClr val="0000CC"/>
                </a:solidFill>
                <a:latin typeface="微软雅黑" charset="-122"/>
                <a:ea typeface="微软雅黑" charset="-122"/>
                <a:cs typeface="+mj-cs"/>
              </a:rPr>
              <a:t>，</a:t>
            </a:r>
            <a:r>
              <a:rPr lang="en-US" altLang="zh-CN" sz="2400" b="1" dirty="0">
                <a:solidFill>
                  <a:srgbClr val="0000CC"/>
                </a:solidFill>
                <a:latin typeface="微软雅黑" charset="-122"/>
                <a:ea typeface="微软雅黑" charset="-122"/>
                <a:cs typeface="+mj-cs"/>
              </a:rPr>
              <a:t>2</a:t>
            </a:r>
            <a:r>
              <a:rPr lang="zh-CN" altLang="en-US" sz="2400" b="1" dirty="0">
                <a:solidFill>
                  <a:srgbClr val="0000CC"/>
                </a:solidFill>
                <a:latin typeface="微软雅黑" charset="-122"/>
                <a:ea typeface="微软雅黑" charset="-122"/>
                <a:cs typeface="+mj-cs"/>
              </a:rPr>
              <a:t>年；</a:t>
            </a:r>
            <a:r>
              <a:rPr lang="en-US" altLang="zh-CN" sz="2400" b="1" dirty="0">
                <a:solidFill>
                  <a:srgbClr val="0000CC"/>
                </a:solidFill>
                <a:latin typeface="微软雅黑" charset="-122"/>
                <a:ea typeface="微软雅黑" charset="-122"/>
                <a:cs typeface="+mj-cs"/>
              </a:rPr>
              <a:t> </a:t>
            </a:r>
          </a:p>
        </p:txBody>
      </p:sp>
      <p:sp>
        <p:nvSpPr>
          <p:cNvPr id="14" name="Rectangle 2">
            <a:extLst>
              <a:ext uri="{FF2B5EF4-FFF2-40B4-BE49-F238E27FC236}">
                <a16:creationId xmlns:a16="http://schemas.microsoft.com/office/drawing/2014/main" id="{E496CA6C-2D17-41EC-AA8A-75B8C11EC729}"/>
              </a:ext>
            </a:extLst>
          </p:cNvPr>
          <p:cNvSpPr>
            <a:spLocks noChangeArrowheads="1"/>
          </p:cNvSpPr>
          <p:nvPr/>
        </p:nvSpPr>
        <p:spPr bwMode="auto">
          <a:xfrm>
            <a:off x="2007711" y="4755695"/>
            <a:ext cx="8298901" cy="461665"/>
          </a:xfrm>
          <a:prstGeom prst="rect">
            <a:avLst/>
          </a:prstGeom>
          <a:solidFill>
            <a:schemeClr val="bg1"/>
          </a:solidFill>
          <a:ln>
            <a:noFill/>
          </a:ln>
          <a:effectLst/>
        </p:spPr>
        <p:txBody>
          <a:bodyPr wrap="square" anchor="ctr">
            <a:spAutoFit/>
          </a:bodyPr>
          <a:lstStyle/>
          <a:p>
            <a:r>
              <a:rPr lang="en-US" altLang="zh-CN" sz="2400" b="1" dirty="0">
                <a:latin typeface="微软雅黑" charset="-122"/>
                <a:ea typeface="微软雅黑" charset="-122"/>
                <a:cs typeface="+mj-cs"/>
              </a:rPr>
              <a:t>(5) </a:t>
            </a:r>
            <a:r>
              <a:rPr lang="zh-CN" altLang="en-US" sz="2400" b="1" dirty="0">
                <a:latin typeface="微软雅黑" charset="-122"/>
                <a:ea typeface="微软雅黑" charset="-122"/>
                <a:cs typeface="+mj-cs"/>
              </a:rPr>
              <a:t>华为</a:t>
            </a:r>
            <a:r>
              <a:rPr lang="en-US" altLang="zh-CN" sz="2400" b="1" dirty="0">
                <a:latin typeface="微软雅黑" charset="-122"/>
                <a:ea typeface="微软雅黑" charset="-122"/>
                <a:cs typeface="+mj-cs"/>
              </a:rPr>
              <a:t>mate10</a:t>
            </a:r>
            <a:r>
              <a:rPr lang="zh-CN" altLang="en-US" sz="2400" b="1" dirty="0">
                <a:latin typeface="微软雅黑" charset="-122"/>
                <a:ea typeface="微软雅黑" charset="-122"/>
                <a:cs typeface="+mj-cs"/>
              </a:rPr>
              <a:t>，总价：</a:t>
            </a:r>
            <a:r>
              <a:rPr lang="en-US" altLang="zh-CN" sz="2400" b="1" dirty="0">
                <a:latin typeface="微软雅黑" charset="-122"/>
                <a:ea typeface="微软雅黑" charset="-122"/>
                <a:cs typeface="+mj-cs"/>
              </a:rPr>
              <a:t>3199</a:t>
            </a:r>
            <a:r>
              <a:rPr lang="zh-CN" altLang="en-US" sz="2400" b="1" dirty="0">
                <a:latin typeface="微软雅黑" charset="-122"/>
                <a:ea typeface="微软雅黑" charset="-122"/>
                <a:cs typeface="+mj-cs"/>
              </a:rPr>
              <a:t>元，</a:t>
            </a:r>
            <a:r>
              <a:rPr lang="en-US" altLang="zh-CN" sz="2400" b="1" dirty="0">
                <a:latin typeface="微软雅黑" charset="-122"/>
                <a:ea typeface="微软雅黑" charset="-122"/>
                <a:cs typeface="+mj-cs"/>
              </a:rPr>
              <a:t>0</a:t>
            </a:r>
            <a:r>
              <a:rPr lang="zh-CN" altLang="en-US" sz="2400" b="1" dirty="0">
                <a:latin typeface="微软雅黑" charset="-122"/>
                <a:ea typeface="微软雅黑" charset="-122"/>
                <a:cs typeface="+mj-cs"/>
              </a:rPr>
              <a:t>首付，</a:t>
            </a:r>
            <a:r>
              <a:rPr lang="zh-CN" altLang="it-IT" sz="2400" b="1" dirty="0">
                <a:latin typeface="微软雅黑" charset="-122"/>
                <a:ea typeface="微软雅黑" charset="-122"/>
                <a:cs typeface="+mj-cs"/>
              </a:rPr>
              <a:t>月付</a:t>
            </a:r>
            <a:r>
              <a:rPr lang="en-US" altLang="zh-CN" sz="2400" b="1" dirty="0">
                <a:latin typeface="微软雅黑" charset="-122"/>
                <a:ea typeface="微软雅黑" charset="-122"/>
                <a:cs typeface="+mj-cs"/>
              </a:rPr>
              <a:t>134</a:t>
            </a:r>
            <a:r>
              <a:rPr lang="zh-CN" altLang="en-US" sz="2400" b="1" dirty="0">
                <a:latin typeface="微软雅黑" charset="-122"/>
                <a:ea typeface="微软雅黑" charset="-122"/>
                <a:cs typeface="+mj-cs"/>
              </a:rPr>
              <a:t>，</a:t>
            </a:r>
            <a:r>
              <a:rPr lang="en-US" altLang="zh-CN" sz="2400" b="1" dirty="0">
                <a:latin typeface="微软雅黑" charset="-122"/>
                <a:ea typeface="微软雅黑" charset="-122"/>
                <a:cs typeface="+mj-cs"/>
              </a:rPr>
              <a:t>2</a:t>
            </a:r>
            <a:r>
              <a:rPr lang="zh-CN" altLang="en-US" sz="2400" b="1" dirty="0">
                <a:latin typeface="微软雅黑" charset="-122"/>
                <a:ea typeface="微软雅黑" charset="-122"/>
                <a:cs typeface="+mj-cs"/>
              </a:rPr>
              <a:t>年。</a:t>
            </a:r>
            <a:r>
              <a:rPr lang="en-US" altLang="zh-CN" sz="2400" b="1" dirty="0">
                <a:latin typeface="微软雅黑" charset="-122"/>
                <a:ea typeface="微软雅黑" charset="-122"/>
                <a:cs typeface="+mj-cs"/>
              </a:rPr>
              <a:t> </a:t>
            </a:r>
          </a:p>
        </p:txBody>
      </p:sp>
    </p:spTree>
    <p:extLst>
      <p:ext uri="{BB962C8B-B14F-4D97-AF65-F5344CB8AC3E}">
        <p14:creationId xmlns:p14="http://schemas.microsoft.com/office/powerpoint/2010/main" val="1637294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p:bldP spid="10" grpId="0" bldLvl="0" animBg="1"/>
      <p:bldP spid="11" grpId="0" bldLvl="0" animBg="1"/>
      <p:bldP spid="12" grpId="0" bldLvl="0" animBg="1"/>
      <p:bldP spid="13" grpId="0" bldLvl="0" animBg="1"/>
      <p:bldP spid="14"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
            <a:extLst>
              <a:ext uri="{FF2B5EF4-FFF2-40B4-BE49-F238E27FC236}">
                <a16:creationId xmlns:a16="http://schemas.microsoft.com/office/drawing/2014/main" id="{99F0AE1F-E6A9-4FC8-B9EF-A7A0C541CD07}"/>
              </a:ext>
            </a:extLst>
          </p:cNvPr>
          <p:cNvSpPr/>
          <p:nvPr/>
        </p:nvSpPr>
        <p:spPr>
          <a:xfrm>
            <a:off x="1930769" y="1004675"/>
            <a:ext cx="3998454" cy="565604"/>
          </a:xfrm>
          <a:prstGeom prst="rect">
            <a:avLst/>
          </a:prstGeom>
          <a:noFill/>
          <a:ln w="19050" cap="flat" cmpd="sng">
            <a:noFill/>
            <a:prstDash val="solid"/>
            <a:miter/>
            <a:headEnd type="none" w="med" len="med"/>
            <a:tailEnd type="none" w="med" len="med"/>
          </a:ln>
        </p:spPr>
        <p:txBody>
          <a:bodyPr wrap="square" anchor="t">
            <a:spAutoFit/>
          </a:bodyPr>
          <a:lstStyle/>
          <a:p>
            <a:pPr>
              <a:lnSpc>
                <a:spcPct val="120000"/>
              </a:lnSpc>
            </a:pPr>
            <a:r>
              <a:rPr lang="zh-CN" altLang="en-US" sz="2800" b="1" dirty="0">
                <a:solidFill>
                  <a:srgbClr val="0000FF"/>
                </a:solidFill>
                <a:latin typeface="微软雅黑" charset="-122"/>
                <a:ea typeface="微软雅黑" charset="-122"/>
                <a:sym typeface="+mn-ea"/>
              </a:rPr>
              <a:t>汽车</a:t>
            </a:r>
            <a:r>
              <a:rPr lang="en-US" altLang="zh-CN" sz="2800" b="1" dirty="0">
                <a:solidFill>
                  <a:srgbClr val="0000FF"/>
                </a:solidFill>
                <a:latin typeface="微软雅黑" charset="-122"/>
                <a:ea typeface="微软雅黑" charset="-122"/>
                <a:sym typeface="+mn-ea"/>
              </a:rPr>
              <a:t>分期付款方案</a:t>
            </a:r>
          </a:p>
        </p:txBody>
      </p:sp>
      <p:pic>
        <p:nvPicPr>
          <p:cNvPr id="17" name="Picture 2" descr="https://image.guazistatic.com/gz01171113/23/49/b37d137c292077d3f84381c1c1d79915.jpg@base@tag=imgScale&amp;w=428&amp;h=275&amp;q=88">
            <a:extLst>
              <a:ext uri="{FF2B5EF4-FFF2-40B4-BE49-F238E27FC236}">
                <a16:creationId xmlns:a16="http://schemas.microsoft.com/office/drawing/2014/main" id="{BE489712-512B-4821-8CBA-1DD3FEEB2D5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43843" y="4836897"/>
            <a:ext cx="3046095" cy="1950085"/>
          </a:xfrm>
          <a:prstGeom prst="rect">
            <a:avLst/>
          </a:prstGeom>
          <a:noFill/>
          <a:extLst>
            <a:ext uri="{909E8E84-426E-40DD-AFC4-6F175D3DCCD1}">
              <a14:hiddenFill xmlns:a14="http://schemas.microsoft.com/office/drawing/2010/main">
                <a:solidFill>
                  <a:srgbClr val="FFFFFF"/>
                </a:solidFill>
              </a14:hiddenFill>
            </a:ext>
          </a:extLst>
        </p:spPr>
      </p:pic>
      <p:sp>
        <p:nvSpPr>
          <p:cNvPr id="18" name="矩形 17">
            <a:extLst>
              <a:ext uri="{FF2B5EF4-FFF2-40B4-BE49-F238E27FC236}">
                <a16:creationId xmlns:a16="http://schemas.microsoft.com/office/drawing/2014/main" id="{BB6BA03F-63E2-43BE-92A4-B12FBC3463B1}"/>
              </a:ext>
            </a:extLst>
          </p:cNvPr>
          <p:cNvSpPr/>
          <p:nvPr/>
        </p:nvSpPr>
        <p:spPr>
          <a:xfrm>
            <a:off x="2031437" y="4451801"/>
            <a:ext cx="7787640" cy="570865"/>
          </a:xfrm>
          <a:prstGeom prst="rect">
            <a:avLst/>
          </a:prstGeom>
          <a:solidFill>
            <a:schemeClr val="accent5"/>
          </a:solidFill>
        </p:spPr>
        <p:txBody>
          <a:bodyPr wrap="none">
            <a:spAutoFit/>
          </a:bodyPr>
          <a:lstStyle/>
          <a:p>
            <a:r>
              <a:rPr lang="zh-CN" altLang="en-US" sz="2400" b="1" dirty="0"/>
              <a:t>英菲尼迪</a:t>
            </a:r>
            <a:r>
              <a:rPr lang="en-US" altLang="zh-CN" sz="2400" b="1" dirty="0"/>
              <a:t>QX60 2016</a:t>
            </a:r>
            <a:r>
              <a:rPr lang="zh-CN" altLang="en-US" sz="2400" b="1" dirty="0"/>
              <a:t>款 </a:t>
            </a:r>
            <a:r>
              <a:rPr lang="en-US" altLang="zh-CN" sz="2400" b="1" dirty="0"/>
              <a:t>2.5T Hybrid </a:t>
            </a:r>
            <a:r>
              <a:rPr lang="zh-CN" altLang="en-US" sz="2400" b="1" dirty="0"/>
              <a:t>两驱卓越版</a:t>
            </a:r>
            <a:r>
              <a:rPr lang="en-US" altLang="zh-CN" sz="2400" b="1" dirty="0"/>
              <a:t>(</a:t>
            </a:r>
            <a:r>
              <a:rPr lang="zh-CN" altLang="en-US" sz="2400" b="1" dirty="0"/>
              <a:t>进口</a:t>
            </a:r>
            <a:r>
              <a:rPr lang="en-US" altLang="zh-CN" sz="2400" b="1" dirty="0"/>
              <a:t>)</a:t>
            </a:r>
          </a:p>
        </p:txBody>
      </p:sp>
      <p:sp>
        <p:nvSpPr>
          <p:cNvPr id="19" name="矩形 18">
            <a:extLst>
              <a:ext uri="{FF2B5EF4-FFF2-40B4-BE49-F238E27FC236}">
                <a16:creationId xmlns:a16="http://schemas.microsoft.com/office/drawing/2014/main" id="{6DD4CE6F-D5B5-4742-B043-53BF111F971F}"/>
              </a:ext>
            </a:extLst>
          </p:cNvPr>
          <p:cNvSpPr/>
          <p:nvPr/>
        </p:nvSpPr>
        <p:spPr>
          <a:xfrm>
            <a:off x="2905651" y="5381111"/>
            <a:ext cx="3074035" cy="570865"/>
          </a:xfrm>
          <a:prstGeom prst="rect">
            <a:avLst/>
          </a:prstGeom>
        </p:spPr>
        <p:txBody>
          <a:bodyPr wrap="none">
            <a:spAutoFit/>
          </a:bodyPr>
          <a:lstStyle/>
          <a:p>
            <a:r>
              <a:rPr lang="zh-CN" altLang="en-US" sz="2400" dirty="0"/>
              <a:t>厂商指导价：</a:t>
            </a:r>
            <a:r>
              <a:rPr lang="en-US" altLang="zh-CN" sz="2400" dirty="0"/>
              <a:t>51.80</a:t>
            </a:r>
            <a:r>
              <a:rPr lang="zh-CN" altLang="en-US" sz="2400" dirty="0"/>
              <a:t>万</a:t>
            </a:r>
          </a:p>
        </p:txBody>
      </p:sp>
      <p:sp>
        <p:nvSpPr>
          <p:cNvPr id="20" name="矩形 19">
            <a:extLst>
              <a:ext uri="{FF2B5EF4-FFF2-40B4-BE49-F238E27FC236}">
                <a16:creationId xmlns:a16="http://schemas.microsoft.com/office/drawing/2014/main" id="{516EF476-4791-4D4D-A232-870ABF63B5E0}"/>
              </a:ext>
            </a:extLst>
          </p:cNvPr>
          <p:cNvSpPr/>
          <p:nvPr/>
        </p:nvSpPr>
        <p:spPr>
          <a:xfrm>
            <a:off x="2126303" y="6023757"/>
            <a:ext cx="5974715" cy="570865"/>
          </a:xfrm>
          <a:prstGeom prst="rect">
            <a:avLst/>
          </a:prstGeom>
        </p:spPr>
        <p:txBody>
          <a:bodyPr wrap="square">
            <a:spAutoFit/>
          </a:bodyPr>
          <a:lstStyle/>
          <a:p>
            <a:r>
              <a:rPr lang="zh-CN" altLang="en-US" sz="2400" b="1" dirty="0"/>
              <a:t>首付</a:t>
            </a:r>
            <a:r>
              <a:rPr lang="en-US" altLang="zh-CN" sz="2400" b="1" dirty="0"/>
              <a:t>5.18 </a:t>
            </a:r>
            <a:r>
              <a:rPr lang="zh-CN" altLang="en-US" sz="2400" b="1" dirty="0"/>
              <a:t>万，月供</a:t>
            </a:r>
            <a:r>
              <a:rPr lang="en-US" altLang="zh-CN" sz="2400" b="1" dirty="0"/>
              <a:t>13879</a:t>
            </a:r>
            <a:r>
              <a:rPr lang="zh-CN" altLang="en-US" sz="2400" b="1" dirty="0"/>
              <a:t>元，期数</a:t>
            </a:r>
            <a:r>
              <a:rPr lang="en-US" altLang="zh-CN" sz="2400" b="1" dirty="0"/>
              <a:t>48</a:t>
            </a:r>
            <a:r>
              <a:rPr lang="zh-CN" altLang="en-US" sz="2400" b="1" dirty="0"/>
              <a:t>期</a:t>
            </a:r>
          </a:p>
        </p:txBody>
      </p:sp>
      <p:pic>
        <p:nvPicPr>
          <p:cNvPr id="21" name="Picture 6" descr="https://image.guazistatic.com/gz01171020/22/27/d43f56a9b938e88692aa6df22017ee4c.jpg@base@tag=imgScale&amp;w=428&amp;h=275&amp;q=88">
            <a:extLst>
              <a:ext uri="{FF2B5EF4-FFF2-40B4-BE49-F238E27FC236}">
                <a16:creationId xmlns:a16="http://schemas.microsoft.com/office/drawing/2014/main" id="{B1608529-5EC8-4F2B-AF82-F91122E6D46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85753" y="2141367"/>
            <a:ext cx="2962275" cy="1896745"/>
          </a:xfrm>
          <a:prstGeom prst="rect">
            <a:avLst/>
          </a:prstGeom>
          <a:noFill/>
          <a:extLst>
            <a:ext uri="{909E8E84-426E-40DD-AFC4-6F175D3DCCD1}">
              <a14:hiddenFill xmlns:a14="http://schemas.microsoft.com/office/drawing/2010/main">
                <a:solidFill>
                  <a:srgbClr val="FFFFFF"/>
                </a:solidFill>
              </a14:hiddenFill>
            </a:ext>
          </a:extLst>
        </p:spPr>
      </p:pic>
      <p:sp>
        <p:nvSpPr>
          <p:cNvPr id="22" name="矩形 21">
            <a:extLst>
              <a:ext uri="{FF2B5EF4-FFF2-40B4-BE49-F238E27FC236}">
                <a16:creationId xmlns:a16="http://schemas.microsoft.com/office/drawing/2014/main" id="{D9E6D190-EDF9-490D-82A7-9FC9E96AAA4B}"/>
              </a:ext>
            </a:extLst>
          </p:cNvPr>
          <p:cNvSpPr/>
          <p:nvPr/>
        </p:nvSpPr>
        <p:spPr>
          <a:xfrm>
            <a:off x="2016737" y="2254369"/>
            <a:ext cx="5410200" cy="570865"/>
          </a:xfrm>
          <a:prstGeom prst="rect">
            <a:avLst/>
          </a:prstGeom>
          <a:solidFill>
            <a:schemeClr val="accent5"/>
          </a:solidFill>
        </p:spPr>
        <p:txBody>
          <a:bodyPr wrap="none">
            <a:spAutoFit/>
          </a:bodyPr>
          <a:lstStyle/>
          <a:p>
            <a:r>
              <a:rPr lang="zh-CN" altLang="en-US" sz="2400" b="1" dirty="0"/>
              <a:t>奥迪</a:t>
            </a:r>
            <a:r>
              <a:rPr lang="en-US" altLang="zh-CN" sz="2400" b="1" dirty="0"/>
              <a:t>Q5 2017</a:t>
            </a:r>
            <a:r>
              <a:rPr lang="zh-CN" altLang="en-US" sz="2400" b="1" dirty="0"/>
              <a:t>款 </a:t>
            </a:r>
            <a:r>
              <a:rPr lang="en-US" altLang="zh-CN" sz="2400" b="1" dirty="0"/>
              <a:t>Plus 40 TFSI </a:t>
            </a:r>
            <a:r>
              <a:rPr lang="zh-CN" altLang="en-US" sz="2400" b="1" dirty="0"/>
              <a:t>进取型</a:t>
            </a:r>
          </a:p>
        </p:txBody>
      </p:sp>
      <p:sp>
        <p:nvSpPr>
          <p:cNvPr id="23" name="矩形 22">
            <a:extLst>
              <a:ext uri="{FF2B5EF4-FFF2-40B4-BE49-F238E27FC236}">
                <a16:creationId xmlns:a16="http://schemas.microsoft.com/office/drawing/2014/main" id="{A0109BA7-3823-4BFE-A923-12FC8E8FCCAE}"/>
              </a:ext>
            </a:extLst>
          </p:cNvPr>
          <p:cNvSpPr/>
          <p:nvPr/>
        </p:nvSpPr>
        <p:spPr>
          <a:xfrm>
            <a:off x="2772301" y="2968969"/>
            <a:ext cx="3074035" cy="570865"/>
          </a:xfrm>
          <a:prstGeom prst="rect">
            <a:avLst/>
          </a:prstGeom>
        </p:spPr>
        <p:txBody>
          <a:bodyPr wrap="none">
            <a:spAutoFit/>
          </a:bodyPr>
          <a:lstStyle/>
          <a:p>
            <a:r>
              <a:rPr lang="zh-CN" altLang="en-US" sz="2400" dirty="0"/>
              <a:t>厂商指导价：</a:t>
            </a:r>
            <a:r>
              <a:rPr lang="en-US" altLang="zh-CN" sz="2400" dirty="0"/>
              <a:t>39.96</a:t>
            </a:r>
            <a:r>
              <a:rPr lang="zh-CN" altLang="en-US" sz="2400" dirty="0"/>
              <a:t>万</a:t>
            </a:r>
          </a:p>
        </p:txBody>
      </p:sp>
      <p:sp>
        <p:nvSpPr>
          <p:cNvPr id="24" name="矩形 23">
            <a:extLst>
              <a:ext uri="{FF2B5EF4-FFF2-40B4-BE49-F238E27FC236}">
                <a16:creationId xmlns:a16="http://schemas.microsoft.com/office/drawing/2014/main" id="{16A0C979-4208-44C7-8F15-377B6A3CDE78}"/>
              </a:ext>
            </a:extLst>
          </p:cNvPr>
          <p:cNvSpPr/>
          <p:nvPr/>
        </p:nvSpPr>
        <p:spPr>
          <a:xfrm>
            <a:off x="2001843" y="3545987"/>
            <a:ext cx="5697855" cy="570865"/>
          </a:xfrm>
          <a:prstGeom prst="rect">
            <a:avLst/>
          </a:prstGeom>
        </p:spPr>
        <p:txBody>
          <a:bodyPr wrap="square">
            <a:spAutoFit/>
          </a:bodyPr>
          <a:lstStyle/>
          <a:p>
            <a:r>
              <a:rPr lang="zh-CN" altLang="en-US" sz="2400" b="1" dirty="0"/>
              <a:t>首付</a:t>
            </a:r>
            <a:r>
              <a:rPr lang="en-US" altLang="zh-CN" sz="2400" b="1" dirty="0"/>
              <a:t>3.99 </a:t>
            </a:r>
            <a:r>
              <a:rPr lang="zh-CN" altLang="en-US" sz="2400" b="1" dirty="0"/>
              <a:t>万，月供</a:t>
            </a:r>
            <a:r>
              <a:rPr lang="en-US" altLang="zh-CN" sz="2400" b="1" dirty="0"/>
              <a:t>9584</a:t>
            </a:r>
            <a:r>
              <a:rPr lang="zh-CN" altLang="en-US" sz="2400" b="1" dirty="0"/>
              <a:t>元，期数</a:t>
            </a:r>
            <a:r>
              <a:rPr lang="en-US" altLang="zh-CN" sz="2400" b="1" dirty="0"/>
              <a:t>48</a:t>
            </a:r>
            <a:r>
              <a:rPr lang="zh-CN" altLang="en-US" sz="2400" b="1" dirty="0"/>
              <a:t>期</a:t>
            </a:r>
          </a:p>
        </p:txBody>
      </p:sp>
    </p:spTree>
    <p:extLst>
      <p:ext uri="{BB962C8B-B14F-4D97-AF65-F5344CB8AC3E}">
        <p14:creationId xmlns:p14="http://schemas.microsoft.com/office/powerpoint/2010/main" val="2732391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1+#ppt_w/2"/>
                                          </p:val>
                                        </p:tav>
                                        <p:tav tm="100000">
                                          <p:val>
                                            <p:strVal val="#ppt_x"/>
                                          </p:val>
                                        </p:tav>
                                      </p:tavLst>
                                    </p:anim>
                                    <p:anim calcmode="lin" valueType="num">
                                      <p:cBhvr additive="base">
                                        <p:cTn id="14" dur="500" fill="hold"/>
                                        <p:tgtEl>
                                          <p:spTgt spid="21"/>
                                        </p:tgtEl>
                                        <p:attrNameLst>
                                          <p:attrName>ppt_y</p:attrName>
                                        </p:attrNameLst>
                                      </p:cBhvr>
                                      <p:tavLst>
                                        <p:tav tm="0">
                                          <p:val>
                                            <p:strVal val="0-#ppt_h/2"/>
                                          </p:val>
                                        </p:tav>
                                        <p:tav tm="100000">
                                          <p:val>
                                            <p:strVal val="#ppt_y"/>
                                          </p:val>
                                        </p:tav>
                                      </p:tavLst>
                                    </p:anim>
                                  </p:childTnLst>
                                </p:cTn>
                              </p:par>
                              <p:par>
                                <p:cTn id="15" presetID="2" presetClass="entr" presetSubtype="3"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 calcmode="lin" valueType="num">
                                      <p:cBhvr additive="base">
                                        <p:cTn id="17" dur="500" fill="hold"/>
                                        <p:tgtEl>
                                          <p:spTgt spid="22"/>
                                        </p:tgtEl>
                                        <p:attrNameLst>
                                          <p:attrName>ppt_x</p:attrName>
                                        </p:attrNameLst>
                                      </p:cBhvr>
                                      <p:tavLst>
                                        <p:tav tm="0">
                                          <p:val>
                                            <p:strVal val="1+#ppt_w/2"/>
                                          </p:val>
                                        </p:tav>
                                        <p:tav tm="100000">
                                          <p:val>
                                            <p:strVal val="#ppt_x"/>
                                          </p:val>
                                        </p:tav>
                                      </p:tavLst>
                                    </p:anim>
                                    <p:anim calcmode="lin" valueType="num">
                                      <p:cBhvr additive="base">
                                        <p:cTn id="18" dur="500" fill="hold"/>
                                        <p:tgtEl>
                                          <p:spTgt spid="22"/>
                                        </p:tgtEl>
                                        <p:attrNameLst>
                                          <p:attrName>ppt_y</p:attrName>
                                        </p:attrNameLst>
                                      </p:cBhvr>
                                      <p:tavLst>
                                        <p:tav tm="0">
                                          <p:val>
                                            <p:strVal val="0-#ppt_h/2"/>
                                          </p:val>
                                        </p:tav>
                                        <p:tav tm="100000">
                                          <p:val>
                                            <p:strVal val="#ppt_y"/>
                                          </p:val>
                                        </p:tav>
                                      </p:tavLst>
                                    </p:anim>
                                  </p:childTnLst>
                                </p:cTn>
                              </p:par>
                              <p:par>
                                <p:cTn id="19" presetID="2" presetClass="entr" presetSubtype="3"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 calcmode="lin" valueType="num">
                                      <p:cBhvr additive="base">
                                        <p:cTn id="21" dur="500" fill="hold"/>
                                        <p:tgtEl>
                                          <p:spTgt spid="23"/>
                                        </p:tgtEl>
                                        <p:attrNameLst>
                                          <p:attrName>ppt_x</p:attrName>
                                        </p:attrNameLst>
                                      </p:cBhvr>
                                      <p:tavLst>
                                        <p:tav tm="0">
                                          <p:val>
                                            <p:strVal val="1+#ppt_w/2"/>
                                          </p:val>
                                        </p:tav>
                                        <p:tav tm="100000">
                                          <p:val>
                                            <p:strVal val="#ppt_x"/>
                                          </p:val>
                                        </p:tav>
                                      </p:tavLst>
                                    </p:anim>
                                    <p:anim calcmode="lin" valueType="num">
                                      <p:cBhvr additive="base">
                                        <p:cTn id="22" dur="500" fill="hold"/>
                                        <p:tgtEl>
                                          <p:spTgt spid="23"/>
                                        </p:tgtEl>
                                        <p:attrNameLst>
                                          <p:attrName>ppt_y</p:attrName>
                                        </p:attrNameLst>
                                      </p:cBhvr>
                                      <p:tavLst>
                                        <p:tav tm="0">
                                          <p:val>
                                            <p:strVal val="0-#ppt_h/2"/>
                                          </p:val>
                                        </p:tav>
                                        <p:tav tm="100000">
                                          <p:val>
                                            <p:strVal val="#ppt_y"/>
                                          </p:val>
                                        </p:tav>
                                      </p:tavLst>
                                    </p:anim>
                                  </p:childTnLst>
                                </p:cTn>
                              </p:par>
                              <p:par>
                                <p:cTn id="23" presetID="2" presetClass="entr" presetSubtype="3"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 calcmode="lin" valueType="num">
                                      <p:cBhvr additive="base">
                                        <p:cTn id="25" dur="500" fill="hold"/>
                                        <p:tgtEl>
                                          <p:spTgt spid="24"/>
                                        </p:tgtEl>
                                        <p:attrNameLst>
                                          <p:attrName>ppt_x</p:attrName>
                                        </p:attrNameLst>
                                      </p:cBhvr>
                                      <p:tavLst>
                                        <p:tav tm="0">
                                          <p:val>
                                            <p:strVal val="1+#ppt_w/2"/>
                                          </p:val>
                                        </p:tav>
                                        <p:tav tm="100000">
                                          <p:val>
                                            <p:strVal val="#ppt_x"/>
                                          </p:val>
                                        </p:tav>
                                      </p:tavLst>
                                    </p:anim>
                                    <p:anim calcmode="lin" valueType="num">
                                      <p:cBhvr additive="base">
                                        <p:cTn id="26"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3"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1+#ppt_w/2"/>
                                          </p:val>
                                        </p:tav>
                                        <p:tav tm="100000">
                                          <p:val>
                                            <p:strVal val="#ppt_x"/>
                                          </p:val>
                                        </p:tav>
                                      </p:tavLst>
                                    </p:anim>
                                    <p:anim calcmode="lin" valueType="num">
                                      <p:cBhvr additive="base">
                                        <p:cTn id="32" dur="500" fill="hold"/>
                                        <p:tgtEl>
                                          <p:spTgt spid="17"/>
                                        </p:tgtEl>
                                        <p:attrNameLst>
                                          <p:attrName>ppt_y</p:attrName>
                                        </p:attrNameLst>
                                      </p:cBhvr>
                                      <p:tavLst>
                                        <p:tav tm="0">
                                          <p:val>
                                            <p:strVal val="0-#ppt_h/2"/>
                                          </p:val>
                                        </p:tav>
                                        <p:tav tm="100000">
                                          <p:val>
                                            <p:strVal val="#ppt_y"/>
                                          </p:val>
                                        </p:tav>
                                      </p:tavLst>
                                    </p:anim>
                                  </p:childTnLst>
                                </p:cTn>
                              </p:par>
                              <p:par>
                                <p:cTn id="33" presetID="2" presetClass="entr" presetSubtype="3"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 calcmode="lin" valueType="num">
                                      <p:cBhvr additive="base">
                                        <p:cTn id="35" dur="500" fill="hold"/>
                                        <p:tgtEl>
                                          <p:spTgt spid="18"/>
                                        </p:tgtEl>
                                        <p:attrNameLst>
                                          <p:attrName>ppt_x</p:attrName>
                                        </p:attrNameLst>
                                      </p:cBhvr>
                                      <p:tavLst>
                                        <p:tav tm="0">
                                          <p:val>
                                            <p:strVal val="1+#ppt_w/2"/>
                                          </p:val>
                                        </p:tav>
                                        <p:tav tm="100000">
                                          <p:val>
                                            <p:strVal val="#ppt_x"/>
                                          </p:val>
                                        </p:tav>
                                      </p:tavLst>
                                    </p:anim>
                                    <p:anim calcmode="lin" valueType="num">
                                      <p:cBhvr additive="base">
                                        <p:cTn id="36" dur="500" fill="hold"/>
                                        <p:tgtEl>
                                          <p:spTgt spid="18"/>
                                        </p:tgtEl>
                                        <p:attrNameLst>
                                          <p:attrName>ppt_y</p:attrName>
                                        </p:attrNameLst>
                                      </p:cBhvr>
                                      <p:tavLst>
                                        <p:tav tm="0">
                                          <p:val>
                                            <p:strVal val="0-#ppt_h/2"/>
                                          </p:val>
                                        </p:tav>
                                        <p:tav tm="100000">
                                          <p:val>
                                            <p:strVal val="#ppt_y"/>
                                          </p:val>
                                        </p:tav>
                                      </p:tavLst>
                                    </p:anim>
                                  </p:childTnLst>
                                </p:cTn>
                              </p:par>
                              <p:par>
                                <p:cTn id="37" presetID="2" presetClass="entr" presetSubtype="3"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 calcmode="lin" valueType="num">
                                      <p:cBhvr additive="base">
                                        <p:cTn id="39" dur="500" fill="hold"/>
                                        <p:tgtEl>
                                          <p:spTgt spid="19"/>
                                        </p:tgtEl>
                                        <p:attrNameLst>
                                          <p:attrName>ppt_x</p:attrName>
                                        </p:attrNameLst>
                                      </p:cBhvr>
                                      <p:tavLst>
                                        <p:tav tm="0">
                                          <p:val>
                                            <p:strVal val="1+#ppt_w/2"/>
                                          </p:val>
                                        </p:tav>
                                        <p:tav tm="100000">
                                          <p:val>
                                            <p:strVal val="#ppt_x"/>
                                          </p:val>
                                        </p:tav>
                                      </p:tavLst>
                                    </p:anim>
                                    <p:anim calcmode="lin" valueType="num">
                                      <p:cBhvr additive="base">
                                        <p:cTn id="40" dur="500" fill="hold"/>
                                        <p:tgtEl>
                                          <p:spTgt spid="19"/>
                                        </p:tgtEl>
                                        <p:attrNameLst>
                                          <p:attrName>ppt_y</p:attrName>
                                        </p:attrNameLst>
                                      </p:cBhvr>
                                      <p:tavLst>
                                        <p:tav tm="0">
                                          <p:val>
                                            <p:strVal val="0-#ppt_h/2"/>
                                          </p:val>
                                        </p:tav>
                                        <p:tav tm="100000">
                                          <p:val>
                                            <p:strVal val="#ppt_y"/>
                                          </p:val>
                                        </p:tav>
                                      </p:tavLst>
                                    </p:anim>
                                  </p:childTnLst>
                                </p:cTn>
                              </p:par>
                              <p:par>
                                <p:cTn id="41" presetID="2" presetClass="entr" presetSubtype="3"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additive="base">
                                        <p:cTn id="43" dur="500" fill="hold"/>
                                        <p:tgtEl>
                                          <p:spTgt spid="20"/>
                                        </p:tgtEl>
                                        <p:attrNameLst>
                                          <p:attrName>ppt_x</p:attrName>
                                        </p:attrNameLst>
                                      </p:cBhvr>
                                      <p:tavLst>
                                        <p:tav tm="0">
                                          <p:val>
                                            <p:strVal val="1+#ppt_w/2"/>
                                          </p:val>
                                        </p:tav>
                                        <p:tav tm="100000">
                                          <p:val>
                                            <p:strVal val="#ppt_x"/>
                                          </p:val>
                                        </p:tav>
                                      </p:tavLst>
                                    </p:anim>
                                    <p:anim calcmode="lin" valueType="num">
                                      <p:cBhvr additive="base">
                                        <p:cTn id="44" dur="500" fill="hold"/>
                                        <p:tgtEl>
                                          <p:spTgt spid="2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p:bldP spid="18" grpId="0" bldLvl="0" animBg="1"/>
      <p:bldP spid="19" grpId="0"/>
      <p:bldP spid="20" grpId="0"/>
      <p:bldP spid="22" grpId="0" bldLvl="0" animBg="1"/>
      <p:bldP spid="23" grpId="0"/>
      <p:bldP spid="2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06509">
            <a:extLst>
              <a:ext uri="{FF2B5EF4-FFF2-40B4-BE49-F238E27FC236}">
                <a16:creationId xmlns:a16="http://schemas.microsoft.com/office/drawing/2014/main" id="{F3945F4C-3BBF-4B0B-B009-40BF0DBF6943}"/>
              </a:ext>
            </a:extLst>
          </p:cNvPr>
          <p:cNvSpPr/>
          <p:nvPr/>
        </p:nvSpPr>
        <p:spPr>
          <a:xfrm>
            <a:off x="1288198" y="2971054"/>
            <a:ext cx="9144000" cy="0"/>
          </a:xfrm>
          <a:prstGeom prst="rect">
            <a:avLst/>
          </a:prstGeom>
          <a:noFill/>
          <a:ln w="9525">
            <a:noFill/>
          </a:ln>
        </p:spPr>
        <p:txBody>
          <a:bodyPr anchor="t"/>
          <a:lstStyle/>
          <a:p>
            <a:endParaRPr lang="zh-CN" altLang="en-US">
              <a:latin typeface="Tahoma" panose="020B0604030504040204" pitchFamily="34" charset="0"/>
            </a:endParaRPr>
          </a:p>
        </p:txBody>
      </p:sp>
      <p:sp>
        <p:nvSpPr>
          <p:cNvPr id="9" name="矩形 106512">
            <a:extLst>
              <a:ext uri="{FF2B5EF4-FFF2-40B4-BE49-F238E27FC236}">
                <a16:creationId xmlns:a16="http://schemas.microsoft.com/office/drawing/2014/main" id="{DCDC0E74-95BA-451A-92A6-E91AA5280842}"/>
              </a:ext>
            </a:extLst>
          </p:cNvPr>
          <p:cNvSpPr/>
          <p:nvPr/>
        </p:nvSpPr>
        <p:spPr>
          <a:xfrm>
            <a:off x="1288198" y="4098179"/>
            <a:ext cx="228600" cy="260350"/>
          </a:xfrm>
          <a:prstGeom prst="rect">
            <a:avLst/>
          </a:prstGeom>
          <a:noFill/>
          <a:ln w="9525">
            <a:noFill/>
          </a:ln>
        </p:spPr>
        <p:txBody>
          <a:bodyPr wrap="none" anchor="ctr">
            <a:spAutoFit/>
          </a:bodyPr>
          <a:lstStyle/>
          <a:p>
            <a:pPr>
              <a:lnSpc>
                <a:spcPct val="100000"/>
              </a:lnSpc>
              <a:spcBef>
                <a:spcPct val="0"/>
              </a:spcBef>
            </a:pPr>
            <a:r>
              <a:rPr lang="zh-CN" altLang="en-US" sz="1100" dirty="0">
                <a:latin typeface="Tahoma" panose="020B0604030504040204" pitchFamily="34" charset="0"/>
              </a:rPr>
              <a:t> </a:t>
            </a:r>
            <a:endParaRPr lang="zh-CN" altLang="en-US" sz="1800" dirty="0">
              <a:latin typeface="Arial" panose="020B0604020202020204" pitchFamily="34" charset="0"/>
              <a:ea typeface="宋体" panose="02010600030101010101" pitchFamily="2" charset="-122"/>
            </a:endParaRPr>
          </a:p>
        </p:txBody>
      </p:sp>
      <p:sp>
        <p:nvSpPr>
          <p:cNvPr id="10" name="矩形 106516">
            <a:extLst>
              <a:ext uri="{FF2B5EF4-FFF2-40B4-BE49-F238E27FC236}">
                <a16:creationId xmlns:a16="http://schemas.microsoft.com/office/drawing/2014/main" id="{BB32936B-3D96-466C-A9A3-831101999A1E}"/>
              </a:ext>
            </a:extLst>
          </p:cNvPr>
          <p:cNvSpPr/>
          <p:nvPr/>
        </p:nvSpPr>
        <p:spPr>
          <a:xfrm>
            <a:off x="1288198" y="2804366"/>
            <a:ext cx="9144000" cy="0"/>
          </a:xfrm>
          <a:prstGeom prst="rect">
            <a:avLst/>
          </a:prstGeom>
          <a:noFill/>
          <a:ln w="9525">
            <a:noFill/>
          </a:ln>
        </p:spPr>
        <p:txBody>
          <a:bodyPr anchor="t"/>
          <a:lstStyle/>
          <a:p>
            <a:endParaRPr lang="zh-CN" altLang="en-US">
              <a:latin typeface="Tahoma" panose="020B0604030504040204" pitchFamily="34" charset="0"/>
            </a:endParaRPr>
          </a:p>
        </p:txBody>
      </p:sp>
      <p:sp>
        <p:nvSpPr>
          <p:cNvPr id="11" name="矩形 106517">
            <a:extLst>
              <a:ext uri="{FF2B5EF4-FFF2-40B4-BE49-F238E27FC236}">
                <a16:creationId xmlns:a16="http://schemas.microsoft.com/office/drawing/2014/main" id="{CAB7391D-7C14-4709-9228-BEDB32C92193}"/>
              </a:ext>
            </a:extLst>
          </p:cNvPr>
          <p:cNvSpPr/>
          <p:nvPr/>
        </p:nvSpPr>
        <p:spPr>
          <a:xfrm>
            <a:off x="1288198" y="4252166"/>
            <a:ext cx="565150" cy="274638"/>
          </a:xfrm>
          <a:prstGeom prst="rect">
            <a:avLst/>
          </a:prstGeom>
          <a:noFill/>
          <a:ln w="9525">
            <a:noFill/>
          </a:ln>
        </p:spPr>
        <p:txBody>
          <a:bodyPr wrap="none" anchor="ctr">
            <a:spAutoFit/>
          </a:bodyPr>
          <a:lstStyle/>
          <a:p>
            <a:pPr>
              <a:lnSpc>
                <a:spcPct val="100000"/>
              </a:lnSpc>
              <a:spcBef>
                <a:spcPct val="0"/>
              </a:spcBef>
            </a:pPr>
            <a:r>
              <a:rPr lang="zh-CN" altLang="en-US" sz="1200" dirty="0">
                <a:latin typeface="宋体" panose="02010600030101010101" pitchFamily="2" charset="-122"/>
                <a:ea typeface="宋体" panose="02010600030101010101" pitchFamily="2" charset="-122"/>
              </a:rPr>
              <a:t>     </a:t>
            </a:r>
            <a:endParaRPr lang="zh-CN" altLang="en-US" sz="1800" dirty="0">
              <a:latin typeface="Arial" panose="020B0604020202020204" pitchFamily="34" charset="0"/>
              <a:ea typeface="宋体" panose="02010600030101010101" pitchFamily="2" charset="-122"/>
            </a:endParaRPr>
          </a:p>
        </p:txBody>
      </p:sp>
      <p:sp>
        <p:nvSpPr>
          <p:cNvPr id="12" name="矩形 11">
            <a:extLst>
              <a:ext uri="{FF2B5EF4-FFF2-40B4-BE49-F238E27FC236}">
                <a16:creationId xmlns:a16="http://schemas.microsoft.com/office/drawing/2014/main" id="{5EC1277D-F4CE-4D33-A123-5C6553AB496A}"/>
              </a:ext>
            </a:extLst>
          </p:cNvPr>
          <p:cNvSpPr/>
          <p:nvPr/>
        </p:nvSpPr>
        <p:spPr>
          <a:xfrm>
            <a:off x="4162843" y="784540"/>
            <a:ext cx="5811838" cy="632353"/>
          </a:xfrm>
          <a:prstGeom prst="rect">
            <a:avLst/>
          </a:prstGeom>
          <a:noFill/>
          <a:ln w="19050" cap="flat" cmpd="sng">
            <a:noFill/>
            <a:prstDash val="solid"/>
            <a:miter/>
            <a:headEnd type="none" w="med" len="med"/>
            <a:tailEnd type="none" w="med" len="med"/>
          </a:ln>
        </p:spPr>
        <p:txBody>
          <a:bodyPr>
            <a:spAutoFit/>
          </a:bodyPr>
          <a:lstStyle/>
          <a:p>
            <a:pPr>
              <a:lnSpc>
                <a:spcPct val="120000"/>
              </a:lnSpc>
              <a:spcBef>
                <a:spcPct val="0"/>
              </a:spcBef>
            </a:pPr>
            <a:r>
              <a:rPr lang="zh-CN" altLang="en-US" sz="3200" b="1" dirty="0">
                <a:solidFill>
                  <a:srgbClr val="0000FF"/>
                </a:solidFill>
                <a:latin typeface="微软雅黑" charset="-122"/>
                <a:ea typeface="微软雅黑" charset="-122"/>
                <a:sym typeface="+mn-ea"/>
              </a:rPr>
              <a:t>贷款买房问题</a:t>
            </a:r>
            <a:r>
              <a:rPr lang="zh-CN" altLang="en-US" sz="3200" dirty="0">
                <a:latin typeface="Arial" panose="020B0604020202020204" pitchFamily="34" charset="0"/>
                <a:ea typeface="宋体" panose="02010600030101010101" pitchFamily="2" charset="-122"/>
              </a:rPr>
              <a:t>    </a:t>
            </a:r>
          </a:p>
        </p:txBody>
      </p:sp>
      <p:pic>
        <p:nvPicPr>
          <p:cNvPr id="13" name="Picture 29">
            <a:extLst>
              <a:ext uri="{FF2B5EF4-FFF2-40B4-BE49-F238E27FC236}">
                <a16:creationId xmlns:a16="http://schemas.microsoft.com/office/drawing/2014/main" id="{DB8E4E8D-C96E-4541-BA9D-2D499455411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06264" y="2041585"/>
            <a:ext cx="3352799" cy="2316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2">
            <a:extLst>
              <a:ext uri="{FF2B5EF4-FFF2-40B4-BE49-F238E27FC236}">
                <a16:creationId xmlns:a16="http://schemas.microsoft.com/office/drawing/2014/main" id="{6348ACE7-57E0-4A8D-B951-57CCEC47C3C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05841" y="4564946"/>
            <a:ext cx="3249969" cy="2172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31">
            <a:extLst>
              <a:ext uri="{FF2B5EF4-FFF2-40B4-BE49-F238E27FC236}">
                <a16:creationId xmlns:a16="http://schemas.microsoft.com/office/drawing/2014/main" id="{77EDB2B2-BACB-460D-95E8-C38309A5F78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83974" y="2047336"/>
            <a:ext cx="3390900" cy="2346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33" descr="https://timgsa.baidu.com/timg?image&amp;quality=80&amp;size=b9999_10000&amp;sec=1523647252352&amp;di=b6ef7136f3039cf301139b32ac86434c&amp;imgtype=0&amp;src=http%3A%2F%2Fwww.haogu114.com%2Fupload%2Fto%2F2776ad3db6736247.jpg">
            <a:extLst>
              <a:ext uri="{FF2B5EF4-FFF2-40B4-BE49-F238E27FC236}">
                <a16:creationId xmlns:a16="http://schemas.microsoft.com/office/drawing/2014/main" id="{D7835F52-02A0-42F3-BF3E-A36358D77CB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43209" y="4566288"/>
            <a:ext cx="3360420" cy="220472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30">
            <a:extLst>
              <a:ext uri="{FF2B5EF4-FFF2-40B4-BE49-F238E27FC236}">
                <a16:creationId xmlns:a16="http://schemas.microsoft.com/office/drawing/2014/main" id="{6D26364E-6485-4061-9BA3-0BFDD6AC709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288197" y="2045060"/>
            <a:ext cx="2874645" cy="2321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34">
            <a:extLst>
              <a:ext uri="{FF2B5EF4-FFF2-40B4-BE49-F238E27FC236}">
                <a16:creationId xmlns:a16="http://schemas.microsoft.com/office/drawing/2014/main" id="{382E79B7-E3E0-4DE3-A31B-7E0269B9A4F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281213" y="4564946"/>
            <a:ext cx="2882265" cy="2194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95791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fill="hold"/>
                                        <p:tgtEl>
                                          <p:spTgt spid="13"/>
                                        </p:tgtEl>
                                        <p:attrNameLst>
                                          <p:attrName>ppt_x</p:attrName>
                                        </p:attrNameLst>
                                      </p:cBhvr>
                                      <p:tavLst>
                                        <p:tav tm="0">
                                          <p:val>
                                            <p:strVal val="1+#ppt_w/2"/>
                                          </p:val>
                                        </p:tav>
                                        <p:tav tm="100000">
                                          <p:val>
                                            <p:strVal val="#ppt_x"/>
                                          </p:val>
                                        </p:tav>
                                      </p:tavLst>
                                    </p:anim>
                                    <p:anim calcmode="lin" valueType="num">
                                      <p:cBhvr additive="base">
                                        <p:cTn id="13"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9"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500" fill="hold"/>
                                        <p:tgtEl>
                                          <p:spTgt spid="14"/>
                                        </p:tgtEl>
                                        <p:attrNameLst>
                                          <p:attrName>ppt_x</p:attrName>
                                        </p:attrNameLst>
                                      </p:cBhvr>
                                      <p:tavLst>
                                        <p:tav tm="0">
                                          <p:val>
                                            <p:strVal val="0-#ppt_w/2"/>
                                          </p:val>
                                        </p:tav>
                                        <p:tav tm="100000">
                                          <p:val>
                                            <p:strVal val="#ppt_x"/>
                                          </p:val>
                                        </p:tav>
                                      </p:tavLst>
                                    </p:anim>
                                    <p:anim calcmode="lin" valueType="num">
                                      <p:cBhvr additive="base">
                                        <p:cTn id="19"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anim calcmode="lin" valueType="num">
                                      <p:cBhvr additive="base">
                                        <p:cTn id="24" dur="500" fill="hold"/>
                                        <p:tgtEl>
                                          <p:spTgt spid="15"/>
                                        </p:tgtEl>
                                        <p:attrNameLst>
                                          <p:attrName>ppt_x</p:attrName>
                                        </p:attrNameLst>
                                      </p:cBhvr>
                                      <p:tavLst>
                                        <p:tav tm="0">
                                          <p:val>
                                            <p:strVal val="#ppt_x"/>
                                          </p:val>
                                        </p:tav>
                                        <p:tav tm="100000">
                                          <p:val>
                                            <p:strVal val="#ppt_x"/>
                                          </p:val>
                                        </p:tav>
                                      </p:tavLst>
                                    </p:anim>
                                    <p:anim calcmode="lin" valueType="num">
                                      <p:cBhvr additive="base">
                                        <p:cTn id="25"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additive="base">
                                        <p:cTn id="30" dur="500" fill="hold"/>
                                        <p:tgtEl>
                                          <p:spTgt spid="16"/>
                                        </p:tgtEl>
                                        <p:attrNameLst>
                                          <p:attrName>ppt_x</p:attrName>
                                        </p:attrNameLst>
                                      </p:cBhvr>
                                      <p:tavLst>
                                        <p:tav tm="0">
                                          <p:val>
                                            <p:strVal val="#ppt_x"/>
                                          </p:val>
                                        </p:tav>
                                        <p:tav tm="100000">
                                          <p:val>
                                            <p:strVal val="#ppt_x"/>
                                          </p:val>
                                        </p:tav>
                                      </p:tavLst>
                                    </p:anim>
                                    <p:anim calcmode="lin" valueType="num">
                                      <p:cBhvr additive="base">
                                        <p:cTn id="31"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0-#ppt_w/2"/>
                                          </p:val>
                                        </p:tav>
                                        <p:tav tm="100000">
                                          <p:val>
                                            <p:strVal val="#ppt_x"/>
                                          </p:val>
                                        </p:tav>
                                      </p:tavLst>
                                    </p:anim>
                                    <p:anim calcmode="lin" valueType="num">
                                      <p:cBhvr additive="base">
                                        <p:cTn id="37"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additive="base">
                                        <p:cTn id="42" dur="500" fill="hold"/>
                                        <p:tgtEl>
                                          <p:spTgt spid="18"/>
                                        </p:tgtEl>
                                        <p:attrNameLst>
                                          <p:attrName>ppt_x</p:attrName>
                                        </p:attrNameLst>
                                      </p:cBhvr>
                                      <p:tavLst>
                                        <p:tav tm="0">
                                          <p:val>
                                            <p:strVal val="#ppt_x"/>
                                          </p:val>
                                        </p:tav>
                                        <p:tav tm="100000">
                                          <p:val>
                                            <p:strVal val="#ppt_x"/>
                                          </p:val>
                                        </p:tav>
                                      </p:tavLst>
                                    </p:anim>
                                    <p:anim calcmode="lin" valueType="num">
                                      <p:cBhvr additive="base">
                                        <p:cTn id="43"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7">
            <a:extLst>
              <a:ext uri="{FF2B5EF4-FFF2-40B4-BE49-F238E27FC236}">
                <a16:creationId xmlns:a16="http://schemas.microsoft.com/office/drawing/2014/main" id="{B59B61B8-FBF5-4E3D-AEAE-140D7F54FD1C}"/>
              </a:ext>
            </a:extLst>
          </p:cNvPr>
          <p:cNvSpPr txBox="1">
            <a:spLocks noChangeArrowheads="1"/>
          </p:cNvSpPr>
          <p:nvPr/>
        </p:nvSpPr>
        <p:spPr bwMode="auto">
          <a:xfrm>
            <a:off x="1094598" y="1844440"/>
            <a:ext cx="615553"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t>相关背景</a:t>
            </a:r>
          </a:p>
        </p:txBody>
      </p:sp>
      <p:sp>
        <p:nvSpPr>
          <p:cNvPr id="9" name="Text Box 8">
            <a:extLst>
              <a:ext uri="{FF2B5EF4-FFF2-40B4-BE49-F238E27FC236}">
                <a16:creationId xmlns:a16="http://schemas.microsoft.com/office/drawing/2014/main" id="{88AD5585-CB41-4AF4-9284-07B611030499}"/>
              </a:ext>
            </a:extLst>
          </p:cNvPr>
          <p:cNvSpPr txBox="1">
            <a:spLocks noChangeArrowheads="1"/>
          </p:cNvSpPr>
          <p:nvPr/>
        </p:nvSpPr>
        <p:spPr bwMode="auto">
          <a:xfrm>
            <a:off x="2028921" y="2340629"/>
            <a:ext cx="8549640" cy="2087592"/>
          </a:xfrm>
          <a:prstGeom prst="rect">
            <a:avLst/>
          </a:prstGeom>
          <a:solidFill>
            <a:srgbClr val="FFFFFF">
              <a:alpha val="0"/>
            </a:srgbClr>
          </a:solidFill>
          <a:ln w="9525">
            <a:solidFill>
              <a:srgbClr val="000000"/>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4200" dirty="0">
                <a:latin typeface="Times New Roman" panose="02020603050405020304" pitchFamily="18" charset="0"/>
                <a:ea typeface="隶书" pitchFamily="49" charset="-122"/>
              </a:rPr>
              <a:t>名流</a:t>
            </a:r>
            <a:r>
              <a:rPr lang="zh-CN" altLang="en-US" sz="2600" dirty="0">
                <a:latin typeface="Times New Roman" panose="02020603050405020304" pitchFamily="18" charset="0"/>
                <a:ea typeface="隶书" pitchFamily="49" charset="-122"/>
              </a:rPr>
              <a:t>花园</a:t>
            </a:r>
            <a:r>
              <a:rPr lang="zh-CN" altLang="en-US" sz="2200" dirty="0">
                <a:latin typeface="Times New Roman" panose="02020603050405020304" pitchFamily="18" charset="0"/>
                <a:ea typeface="隶书" pitchFamily="49" charset="-122"/>
              </a:rPr>
              <a:t>  </a:t>
            </a:r>
            <a:r>
              <a:rPr lang="zh-CN" altLang="en-US" sz="2000" b="1" dirty="0">
                <a:latin typeface="方正姚体" pitchFamily="2" charset="-122"/>
                <a:ea typeface="方正姚体" pitchFamily="2" charset="-122"/>
              </a:rPr>
              <a:t>用薪金</a:t>
            </a:r>
            <a:r>
              <a:rPr lang="en-US" altLang="zh-CN" sz="2000" b="1" dirty="0">
                <a:latin typeface="方正姚体" pitchFamily="2" charset="-122"/>
                <a:ea typeface="方正姚体" pitchFamily="2" charset="-122"/>
              </a:rPr>
              <a:t>,</a:t>
            </a:r>
            <a:r>
              <a:rPr lang="zh-CN" altLang="en-US" sz="2000" b="1" dirty="0">
                <a:latin typeface="方正姚体" pitchFamily="2" charset="-122"/>
                <a:ea typeface="方正姚体" pitchFamily="2" charset="-122"/>
              </a:rPr>
              <a:t>买高品质住房</a:t>
            </a:r>
            <a:endParaRPr lang="zh-CN" altLang="en-US" sz="2000" i="1" dirty="0">
              <a:latin typeface="方正姚体" pitchFamily="2" charset="-122"/>
              <a:ea typeface="方正姚体" pitchFamily="2" charset="-122"/>
            </a:endParaRPr>
          </a:p>
          <a:p>
            <a:pPr algn="just" eaLnBrk="1" hangingPunct="1">
              <a:lnSpc>
                <a:spcPct val="150000"/>
              </a:lnSpc>
            </a:pPr>
            <a:r>
              <a:rPr lang="zh-CN" altLang="en-US" sz="1000" b="1" dirty="0">
                <a:latin typeface="Times New Roman" panose="02020603050405020304" pitchFamily="18" charset="0"/>
              </a:rPr>
              <a:t> </a:t>
            </a:r>
            <a:r>
              <a:rPr lang="zh-CN" altLang="en-US" sz="2000" b="1" dirty="0">
                <a:latin typeface="Times New Roman" panose="02020603050405020304" pitchFamily="18" charset="0"/>
              </a:rPr>
              <a:t>对于大多数工薪阶层的人士来说</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想买房</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简直是天方夜谭</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现在有这样一栋</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自备款只需七万人民币</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其余由银行贷款，分五年还清</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相当于每月只需付</a:t>
            </a:r>
            <a:r>
              <a:rPr lang="en-US" altLang="zh-CN" sz="2000" b="1" dirty="0">
                <a:latin typeface="Times New Roman" panose="02020603050405020304" pitchFamily="18" charset="0"/>
              </a:rPr>
              <a:t>1200</a:t>
            </a:r>
            <a:r>
              <a:rPr lang="zh-CN" altLang="en-US" sz="2000" b="1" dirty="0">
                <a:latin typeface="Times New Roman" panose="02020603050405020304" pitchFamily="18" charset="0"/>
              </a:rPr>
              <a:t>人民币。那么，这对于您还有什么问题呢</a:t>
            </a:r>
            <a:r>
              <a:rPr lang="en-US" altLang="zh-CN" sz="2000" b="1" dirty="0">
                <a:latin typeface="Times New Roman" panose="02020603050405020304" pitchFamily="18" charset="0"/>
              </a:rPr>
              <a:t>? </a:t>
            </a:r>
            <a:endParaRPr lang="en-US" altLang="zh-CN" sz="2000" b="1" dirty="0"/>
          </a:p>
        </p:txBody>
      </p:sp>
      <p:sp>
        <p:nvSpPr>
          <p:cNvPr id="11" name="Text Box 10">
            <a:extLst>
              <a:ext uri="{FF2B5EF4-FFF2-40B4-BE49-F238E27FC236}">
                <a16:creationId xmlns:a16="http://schemas.microsoft.com/office/drawing/2014/main" id="{7603AC47-1AD3-4EBE-A099-010247543065}"/>
              </a:ext>
            </a:extLst>
          </p:cNvPr>
          <p:cNvSpPr txBox="1">
            <a:spLocks noChangeArrowheads="1"/>
          </p:cNvSpPr>
          <p:nvPr/>
        </p:nvSpPr>
        <p:spPr bwMode="auto">
          <a:xfrm>
            <a:off x="1957166" y="1815285"/>
            <a:ext cx="678426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200" b="1" dirty="0"/>
              <a:t>下面是</a:t>
            </a:r>
            <a:r>
              <a:rPr lang="en-US" altLang="zh-CN" sz="2200" b="1" dirty="0"/>
              <a:t>1991</a:t>
            </a:r>
            <a:r>
              <a:rPr lang="zh-CN" altLang="en-US" sz="2200" b="1" dirty="0"/>
              <a:t>年</a:t>
            </a:r>
            <a:r>
              <a:rPr lang="en-US" altLang="zh-CN" sz="2200" b="1" dirty="0"/>
              <a:t>1</a:t>
            </a:r>
            <a:r>
              <a:rPr lang="zh-CN" altLang="en-US" sz="2200" b="1" dirty="0"/>
              <a:t>月</a:t>
            </a:r>
            <a:r>
              <a:rPr lang="en-US" altLang="zh-CN" sz="2200" b="1" dirty="0"/>
              <a:t>1</a:t>
            </a:r>
            <a:r>
              <a:rPr lang="zh-CN" altLang="en-US" sz="2200" b="1" dirty="0"/>
              <a:t>日某大城市晚报上登的一则广告</a:t>
            </a:r>
            <a:r>
              <a:rPr lang="en-US" altLang="zh-CN" sz="2200" b="1" dirty="0"/>
              <a:t>.</a:t>
            </a:r>
          </a:p>
        </p:txBody>
      </p:sp>
      <p:sp>
        <p:nvSpPr>
          <p:cNvPr id="12" name="Text Box 11">
            <a:extLst>
              <a:ext uri="{FF2B5EF4-FFF2-40B4-BE49-F238E27FC236}">
                <a16:creationId xmlns:a16="http://schemas.microsoft.com/office/drawing/2014/main" id="{7BEECB31-B759-4277-8C56-43854CCF184E}"/>
              </a:ext>
            </a:extLst>
          </p:cNvPr>
          <p:cNvSpPr txBox="1">
            <a:spLocks noChangeArrowheads="1"/>
          </p:cNvSpPr>
          <p:nvPr/>
        </p:nvSpPr>
        <p:spPr bwMode="auto">
          <a:xfrm>
            <a:off x="1957444" y="4600768"/>
            <a:ext cx="862111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sz="2200" b="1" dirty="0">
                <a:solidFill>
                  <a:srgbClr val="1D41D5"/>
                </a:solidFill>
                <a:latin typeface="方正姚体" pitchFamily="2" charset="-122"/>
                <a:ea typeface="方正姚体" pitchFamily="2" charset="-122"/>
              </a:rPr>
              <a:t>任何人看了这则广告都会产生许多疑问，且不谈广告上没有谈住房面积、设施等，人们关心的是：</a:t>
            </a:r>
          </a:p>
        </p:txBody>
      </p:sp>
      <p:sp>
        <p:nvSpPr>
          <p:cNvPr id="13" name="Text Box 12">
            <a:extLst>
              <a:ext uri="{FF2B5EF4-FFF2-40B4-BE49-F238E27FC236}">
                <a16:creationId xmlns:a16="http://schemas.microsoft.com/office/drawing/2014/main" id="{96526032-568B-4C2C-AEC7-27DC0D223995}"/>
              </a:ext>
            </a:extLst>
          </p:cNvPr>
          <p:cNvSpPr txBox="1">
            <a:spLocks noChangeArrowheads="1"/>
          </p:cNvSpPr>
          <p:nvPr/>
        </p:nvSpPr>
        <p:spPr bwMode="auto">
          <a:xfrm>
            <a:off x="1927321" y="5641965"/>
            <a:ext cx="443166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sz="2200" b="1" dirty="0">
                <a:latin typeface="方正姚体" pitchFamily="2" charset="-122"/>
                <a:ea typeface="方正姚体" pitchFamily="2" charset="-122"/>
              </a:rPr>
              <a:t>如果一次付款买这套房要多少钱呢？</a:t>
            </a:r>
          </a:p>
        </p:txBody>
      </p:sp>
      <p:sp>
        <p:nvSpPr>
          <p:cNvPr id="14" name="Text Box 13">
            <a:extLst>
              <a:ext uri="{FF2B5EF4-FFF2-40B4-BE49-F238E27FC236}">
                <a16:creationId xmlns:a16="http://schemas.microsoft.com/office/drawing/2014/main" id="{596DD677-09C3-4216-9955-23B7DB910631}"/>
              </a:ext>
            </a:extLst>
          </p:cNvPr>
          <p:cNvSpPr txBox="1">
            <a:spLocks noChangeArrowheads="1"/>
          </p:cNvSpPr>
          <p:nvPr/>
        </p:nvSpPr>
        <p:spPr bwMode="auto">
          <a:xfrm>
            <a:off x="6679209" y="5647572"/>
            <a:ext cx="338264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sz="2200" b="1" dirty="0">
                <a:latin typeface="方正姚体" pitchFamily="2" charset="-122"/>
                <a:ea typeface="方正姚体" pitchFamily="2" charset="-122"/>
              </a:rPr>
              <a:t>银行贷款的利息是多少呢？</a:t>
            </a:r>
          </a:p>
        </p:txBody>
      </p:sp>
      <p:sp>
        <p:nvSpPr>
          <p:cNvPr id="15" name="Text Box 14">
            <a:extLst>
              <a:ext uri="{FF2B5EF4-FFF2-40B4-BE49-F238E27FC236}">
                <a16:creationId xmlns:a16="http://schemas.microsoft.com/office/drawing/2014/main" id="{6811EFC9-83AF-43BB-A490-F445A3460E52}"/>
              </a:ext>
            </a:extLst>
          </p:cNvPr>
          <p:cNvSpPr txBox="1">
            <a:spLocks noChangeArrowheads="1"/>
          </p:cNvSpPr>
          <p:nvPr/>
        </p:nvSpPr>
        <p:spPr bwMode="auto">
          <a:xfrm>
            <a:off x="1927321" y="6216833"/>
            <a:ext cx="370586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sz="2200" b="1" dirty="0">
                <a:latin typeface="方正姚体" pitchFamily="2" charset="-122"/>
                <a:ea typeface="方正姚体" pitchFamily="2" charset="-122"/>
              </a:rPr>
              <a:t>为什么每个月要付</a:t>
            </a:r>
            <a:r>
              <a:rPr lang="en-US" altLang="zh-CN" sz="2200" b="1" dirty="0">
                <a:latin typeface="方正姚体" pitchFamily="2" charset="-122"/>
                <a:ea typeface="方正姚体" pitchFamily="2" charset="-122"/>
              </a:rPr>
              <a:t>1200</a:t>
            </a:r>
            <a:r>
              <a:rPr lang="zh-CN" altLang="en-US" sz="2200" b="1" dirty="0">
                <a:latin typeface="方正姚体" pitchFamily="2" charset="-122"/>
                <a:ea typeface="方正姚体" pitchFamily="2" charset="-122"/>
              </a:rPr>
              <a:t>元呢？</a:t>
            </a:r>
          </a:p>
        </p:txBody>
      </p:sp>
      <p:sp>
        <p:nvSpPr>
          <p:cNvPr id="16" name="Text Box 15">
            <a:extLst>
              <a:ext uri="{FF2B5EF4-FFF2-40B4-BE49-F238E27FC236}">
                <a16:creationId xmlns:a16="http://schemas.microsoft.com/office/drawing/2014/main" id="{0ACEF054-C3DA-4191-851C-2FF59D37CC1D}"/>
              </a:ext>
            </a:extLst>
          </p:cNvPr>
          <p:cNvSpPr txBox="1">
            <a:spLocks noChangeArrowheads="1"/>
          </p:cNvSpPr>
          <p:nvPr/>
        </p:nvSpPr>
        <p:spPr bwMode="auto">
          <a:xfrm>
            <a:off x="6701434" y="6199580"/>
            <a:ext cx="23749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sz="2200" b="1" dirty="0">
                <a:latin typeface="方正姚体" pitchFamily="2" charset="-122"/>
                <a:ea typeface="方正姚体" pitchFamily="2" charset="-122"/>
              </a:rPr>
              <a:t>是怎么算出来的？</a:t>
            </a:r>
            <a:endParaRPr lang="en-US" altLang="zh-CN" sz="2200" b="1" dirty="0">
              <a:latin typeface="方正姚体" pitchFamily="2" charset="-122"/>
              <a:ea typeface="方正姚体" pitchFamily="2" charset="-122"/>
            </a:endParaRPr>
          </a:p>
        </p:txBody>
      </p:sp>
      <p:sp>
        <p:nvSpPr>
          <p:cNvPr id="17" name="矩形 16">
            <a:extLst>
              <a:ext uri="{FF2B5EF4-FFF2-40B4-BE49-F238E27FC236}">
                <a16:creationId xmlns:a16="http://schemas.microsoft.com/office/drawing/2014/main" id="{C0BDD94C-C90B-4BF5-B07C-0CFE7E442FE6}"/>
              </a:ext>
            </a:extLst>
          </p:cNvPr>
          <p:cNvSpPr/>
          <p:nvPr/>
        </p:nvSpPr>
        <p:spPr>
          <a:xfrm>
            <a:off x="4162843" y="784540"/>
            <a:ext cx="5811838" cy="632353"/>
          </a:xfrm>
          <a:prstGeom prst="rect">
            <a:avLst/>
          </a:prstGeom>
          <a:noFill/>
          <a:ln w="19050" cap="flat" cmpd="sng">
            <a:noFill/>
            <a:prstDash val="solid"/>
            <a:miter/>
            <a:headEnd type="none" w="med" len="med"/>
            <a:tailEnd type="none" w="med" len="med"/>
          </a:ln>
        </p:spPr>
        <p:txBody>
          <a:bodyPr>
            <a:spAutoFit/>
          </a:bodyPr>
          <a:lstStyle/>
          <a:p>
            <a:pPr>
              <a:lnSpc>
                <a:spcPct val="120000"/>
              </a:lnSpc>
              <a:spcBef>
                <a:spcPct val="0"/>
              </a:spcBef>
            </a:pPr>
            <a:r>
              <a:rPr lang="zh-CN" altLang="en-US" sz="3200" b="1" dirty="0">
                <a:solidFill>
                  <a:srgbClr val="0000FF"/>
                </a:solidFill>
                <a:latin typeface="微软雅黑" charset="-122"/>
                <a:ea typeface="微软雅黑" charset="-122"/>
                <a:sym typeface="+mn-ea"/>
              </a:rPr>
              <a:t>贷款买房问题</a:t>
            </a:r>
            <a:r>
              <a:rPr lang="zh-CN" altLang="en-US" sz="3200" dirty="0">
                <a:latin typeface="Arial" panose="020B0604020202020204" pitchFamily="34" charset="0"/>
                <a:ea typeface="宋体" panose="02010600030101010101" pitchFamily="2" charset="-122"/>
              </a:rPr>
              <a:t>    </a:t>
            </a:r>
          </a:p>
        </p:txBody>
      </p:sp>
    </p:spTree>
    <p:extLst>
      <p:ext uri="{BB962C8B-B14F-4D97-AF65-F5344CB8AC3E}">
        <p14:creationId xmlns:p14="http://schemas.microsoft.com/office/powerpoint/2010/main" val="4073722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linds(horizontal)">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ppt_x"/>
                                          </p:val>
                                        </p:tav>
                                        <p:tav tm="100000">
                                          <p:val>
                                            <p:strVal val="#ppt_x"/>
                                          </p:val>
                                        </p:tav>
                                      </p:tavLst>
                                    </p:anim>
                                    <p:anim calcmode="lin" valueType="num">
                                      <p:cBhvr additive="base">
                                        <p:cTn id="1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additive="base">
                                        <p:cTn id="24" dur="500" fill="hold"/>
                                        <p:tgtEl>
                                          <p:spTgt spid="13"/>
                                        </p:tgtEl>
                                        <p:attrNameLst>
                                          <p:attrName>ppt_x</p:attrName>
                                        </p:attrNameLst>
                                      </p:cBhvr>
                                      <p:tavLst>
                                        <p:tav tm="0">
                                          <p:val>
                                            <p:strVal val="#ppt_x"/>
                                          </p:val>
                                        </p:tav>
                                        <p:tav tm="100000">
                                          <p:val>
                                            <p:strVal val="#ppt_x"/>
                                          </p:val>
                                        </p:tav>
                                      </p:tavLst>
                                    </p:anim>
                                    <p:anim calcmode="lin" valueType="num">
                                      <p:cBhvr additive="base">
                                        <p:cTn id="25"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500" fill="hold"/>
                                        <p:tgtEl>
                                          <p:spTgt spid="14"/>
                                        </p:tgtEl>
                                        <p:attrNameLst>
                                          <p:attrName>ppt_x</p:attrName>
                                        </p:attrNameLst>
                                      </p:cBhvr>
                                      <p:tavLst>
                                        <p:tav tm="0">
                                          <p:val>
                                            <p:strVal val="#ppt_x"/>
                                          </p:val>
                                        </p:tav>
                                        <p:tav tm="100000">
                                          <p:val>
                                            <p:strVal val="#ppt_x"/>
                                          </p:val>
                                        </p:tav>
                                      </p:tavLst>
                                    </p:anim>
                                    <p:anim calcmode="lin" valueType="num">
                                      <p:cBhvr additive="base">
                                        <p:cTn id="3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fill="hold"/>
                                        <p:tgtEl>
                                          <p:spTgt spid="15"/>
                                        </p:tgtEl>
                                        <p:attrNameLst>
                                          <p:attrName>ppt_x</p:attrName>
                                        </p:attrNameLst>
                                      </p:cBhvr>
                                      <p:tavLst>
                                        <p:tav tm="0">
                                          <p:val>
                                            <p:strVal val="#ppt_x"/>
                                          </p:val>
                                        </p:tav>
                                        <p:tav tm="100000">
                                          <p:val>
                                            <p:strVal val="#ppt_x"/>
                                          </p:val>
                                        </p:tav>
                                      </p:tavLst>
                                    </p:anim>
                                    <p:anim calcmode="lin" valueType="num">
                                      <p:cBhvr additive="base">
                                        <p:cTn id="37"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ppt_x"/>
                                          </p:val>
                                        </p:tav>
                                        <p:tav tm="100000">
                                          <p:val>
                                            <p:strVal val="#ppt_x"/>
                                          </p:val>
                                        </p:tav>
                                      </p:tavLst>
                                    </p:anim>
                                    <p:anim calcmode="lin" valueType="num">
                                      <p:cBhvr additive="base">
                                        <p:cTn id="43"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blinds(horizontal)">
                                      <p:cBhvr>
                                        <p:cTn id="4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1" grpId="0"/>
      <p:bldP spid="12" grpId="0"/>
      <p:bldP spid="13" grpId="0"/>
      <p:bldP spid="14" grpId="0"/>
      <p:bldP spid="15" grpId="0"/>
      <p:bldP spid="16" grpId="0"/>
      <p:bldP spid="17" grpId="0" bldLvl="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2">
            <a:extLst>
              <a:ext uri="{FF2B5EF4-FFF2-40B4-BE49-F238E27FC236}">
                <a16:creationId xmlns:a16="http://schemas.microsoft.com/office/drawing/2014/main" id="{A020993E-1E1D-44C8-A704-5613F46B7D83}"/>
              </a:ext>
            </a:extLst>
          </p:cNvPr>
          <p:cNvSpPr txBox="1">
            <a:spLocks noChangeArrowheads="1"/>
          </p:cNvSpPr>
          <p:nvPr/>
        </p:nvSpPr>
        <p:spPr bwMode="auto">
          <a:xfrm>
            <a:off x="6101615" y="1897814"/>
            <a:ext cx="615553" cy="1999377"/>
          </a:xfrm>
          <a:prstGeom prst="rect">
            <a:avLst/>
          </a:prstGeom>
          <a:solidFill>
            <a:schemeClr val="accent1">
              <a:lumMod val="20000"/>
              <a:lumOff val="80000"/>
            </a:schemeClr>
          </a:solidFill>
          <a:ln>
            <a:noFill/>
          </a:ln>
        </p:spPr>
        <p:txBody>
          <a:bodyPr vert="eaVert"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t>分析与建模</a:t>
            </a:r>
          </a:p>
        </p:txBody>
      </p:sp>
      <p:grpSp>
        <p:nvGrpSpPr>
          <p:cNvPr id="9" name="Group 4">
            <a:extLst>
              <a:ext uri="{FF2B5EF4-FFF2-40B4-BE49-F238E27FC236}">
                <a16:creationId xmlns:a16="http://schemas.microsoft.com/office/drawing/2014/main" id="{8328F556-CD50-46BF-AB51-8F0529D1D1C4}"/>
              </a:ext>
            </a:extLst>
          </p:cNvPr>
          <p:cNvGrpSpPr/>
          <p:nvPr/>
        </p:nvGrpSpPr>
        <p:grpSpPr bwMode="auto">
          <a:xfrm>
            <a:off x="6938534" y="1944757"/>
            <a:ext cx="3040380" cy="457048"/>
            <a:chOff x="944" y="813"/>
            <a:chExt cx="1368" cy="313"/>
          </a:xfrm>
        </p:grpSpPr>
        <p:sp>
          <p:nvSpPr>
            <p:cNvPr id="10" name="Text Box 5">
              <a:extLst>
                <a:ext uri="{FF2B5EF4-FFF2-40B4-BE49-F238E27FC236}">
                  <a16:creationId xmlns:a16="http://schemas.microsoft.com/office/drawing/2014/main" id="{F0229890-5E06-48E4-B7D2-4642A9597A21}"/>
                </a:ext>
              </a:extLst>
            </p:cNvPr>
            <p:cNvSpPr txBox="1">
              <a:spLocks noChangeArrowheads="1"/>
            </p:cNvSpPr>
            <p:nvPr/>
          </p:nvSpPr>
          <p:spPr bwMode="auto">
            <a:xfrm>
              <a:off x="944" y="816"/>
              <a:ext cx="136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1D41D5"/>
                  </a:solidFill>
                </a:rPr>
                <a:t>需要借多少钱，用      记</a:t>
              </a:r>
              <a:r>
                <a:rPr lang="en-US" altLang="zh-CN" b="1" dirty="0">
                  <a:solidFill>
                    <a:srgbClr val="1D41D5"/>
                  </a:solidFill>
                </a:rPr>
                <a:t>;</a:t>
              </a:r>
            </a:p>
          </p:txBody>
        </p:sp>
        <p:graphicFrame>
          <p:nvGraphicFramePr>
            <p:cNvPr id="11" name="Object 6">
              <a:extLst>
                <a:ext uri="{FF2B5EF4-FFF2-40B4-BE49-F238E27FC236}">
                  <a16:creationId xmlns:a16="http://schemas.microsoft.com/office/drawing/2014/main" id="{4CD0339D-F49F-4A0B-9F79-04EEEA97796F}"/>
                </a:ext>
              </a:extLst>
            </p:cNvPr>
            <p:cNvGraphicFramePr>
              <a:graphicFrameLocks noChangeAspect="1"/>
            </p:cNvGraphicFramePr>
            <p:nvPr>
              <p:extLst>
                <p:ext uri="{D42A27DB-BD31-4B8C-83A1-F6EECF244321}">
                  <p14:modId xmlns:p14="http://schemas.microsoft.com/office/powerpoint/2010/main" val="1274817758"/>
                </p:ext>
              </p:extLst>
            </p:nvPr>
          </p:nvGraphicFramePr>
          <p:xfrm>
            <a:off x="1841" y="813"/>
            <a:ext cx="185" cy="288"/>
          </p:xfrm>
          <a:graphic>
            <a:graphicData uri="http://schemas.openxmlformats.org/presentationml/2006/ole">
              <mc:AlternateContent xmlns:mc="http://schemas.openxmlformats.org/markup-compatibility/2006">
                <mc:Choice xmlns:v="urn:schemas-microsoft-com:vml" Requires="v">
                  <p:oleObj name="Equation" r:id="rId2" imgW="190500" imgH="228600" progId="">
                    <p:embed/>
                  </p:oleObj>
                </mc:Choice>
                <mc:Fallback>
                  <p:oleObj name="Equation" r:id="rId2" imgW="190500" imgH="228600" progId="">
                    <p:embed/>
                    <p:pic>
                      <p:nvPicPr>
                        <p:cNvPr id="11" name="Object 6">
                          <a:extLst>
                            <a:ext uri="{FF2B5EF4-FFF2-40B4-BE49-F238E27FC236}">
                              <a16:creationId xmlns:a16="http://schemas.microsoft.com/office/drawing/2014/main" id="{4CD0339D-F49F-4A0B-9F79-04EEEA9779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1" y="813"/>
                          <a:ext cx="185"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2" name="Text Box 7">
            <a:extLst>
              <a:ext uri="{FF2B5EF4-FFF2-40B4-BE49-F238E27FC236}">
                <a16:creationId xmlns:a16="http://schemas.microsoft.com/office/drawing/2014/main" id="{E58F66CD-87A9-4F9D-AB63-90682CCF4210}"/>
              </a:ext>
            </a:extLst>
          </p:cNvPr>
          <p:cNvSpPr txBox="1">
            <a:spLocks noChangeArrowheads="1"/>
          </p:cNvSpPr>
          <p:nvPr/>
        </p:nvSpPr>
        <p:spPr bwMode="auto">
          <a:xfrm>
            <a:off x="6924564" y="2761212"/>
            <a:ext cx="3897630"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solidFill>
                  <a:srgbClr val="1D41D5"/>
                </a:solidFill>
              </a:rPr>
              <a:t>月利率用记 </a:t>
            </a:r>
            <a:r>
              <a:rPr lang="en-US" altLang="zh-CN" b="1">
                <a:solidFill>
                  <a:srgbClr val="1D41D5"/>
                </a:solidFill>
              </a:rPr>
              <a:t>R</a:t>
            </a:r>
            <a:r>
              <a:rPr lang="zh-CN" altLang="en-US" b="1">
                <a:solidFill>
                  <a:srgbClr val="1D41D5"/>
                </a:solidFill>
              </a:rPr>
              <a:t>（贷款按复利计）</a:t>
            </a:r>
            <a:r>
              <a:rPr lang="en-US" altLang="zh-CN" b="1">
                <a:solidFill>
                  <a:srgbClr val="1D41D5"/>
                </a:solidFill>
              </a:rPr>
              <a:t>;</a:t>
            </a:r>
          </a:p>
        </p:txBody>
      </p:sp>
      <p:sp>
        <p:nvSpPr>
          <p:cNvPr id="13" name="Text Box 8">
            <a:extLst>
              <a:ext uri="{FF2B5EF4-FFF2-40B4-BE49-F238E27FC236}">
                <a16:creationId xmlns:a16="http://schemas.microsoft.com/office/drawing/2014/main" id="{410D187E-14C0-4AF3-A956-CB6DABACB51E}"/>
              </a:ext>
            </a:extLst>
          </p:cNvPr>
          <p:cNvSpPr txBox="1">
            <a:spLocks noChangeArrowheads="1"/>
          </p:cNvSpPr>
          <p:nvPr/>
        </p:nvSpPr>
        <p:spPr bwMode="auto">
          <a:xfrm>
            <a:off x="6924564" y="2324967"/>
            <a:ext cx="2905760"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solidFill>
                  <a:srgbClr val="1D41D5"/>
                </a:solidFill>
              </a:rPr>
              <a:t>每月还多少钱用 </a:t>
            </a:r>
            <a:r>
              <a:rPr lang="en-US" altLang="zh-CN" b="1" i="1">
                <a:solidFill>
                  <a:srgbClr val="1D41D5"/>
                </a:solidFill>
                <a:latin typeface="Times New Roman" panose="02020603050405020304" pitchFamily="18" charset="0"/>
                <a:cs typeface="Times New Roman" panose="02020603050405020304" pitchFamily="18" charset="0"/>
              </a:rPr>
              <a:t>x </a:t>
            </a:r>
            <a:r>
              <a:rPr lang="zh-CN" altLang="en-US" b="1">
                <a:solidFill>
                  <a:srgbClr val="1D41D5"/>
                </a:solidFill>
              </a:rPr>
              <a:t>记 ；</a:t>
            </a:r>
          </a:p>
        </p:txBody>
      </p:sp>
      <p:sp>
        <p:nvSpPr>
          <p:cNvPr id="14" name="Text Box 9">
            <a:extLst>
              <a:ext uri="{FF2B5EF4-FFF2-40B4-BE49-F238E27FC236}">
                <a16:creationId xmlns:a16="http://schemas.microsoft.com/office/drawing/2014/main" id="{0314607C-342F-4E3F-B949-B409C92ACD50}"/>
              </a:ext>
            </a:extLst>
          </p:cNvPr>
          <p:cNvSpPr txBox="1">
            <a:spLocks noChangeArrowheads="1"/>
          </p:cNvSpPr>
          <p:nvPr/>
        </p:nvSpPr>
        <p:spPr bwMode="auto">
          <a:xfrm>
            <a:off x="6937264" y="3206832"/>
            <a:ext cx="2641600"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1D41D5"/>
                </a:solidFill>
              </a:rPr>
              <a:t>借期记为</a:t>
            </a:r>
            <a:r>
              <a:rPr lang="en-US" altLang="zh-CN" b="1" dirty="0">
                <a:solidFill>
                  <a:srgbClr val="1D41D5"/>
                </a:solidFill>
              </a:rPr>
              <a:t>N</a:t>
            </a:r>
            <a:r>
              <a:rPr lang="zh-CN" altLang="en-US" b="1" dirty="0">
                <a:solidFill>
                  <a:srgbClr val="1D41D5"/>
                </a:solidFill>
              </a:rPr>
              <a:t>个月。</a:t>
            </a:r>
          </a:p>
        </p:txBody>
      </p:sp>
      <p:graphicFrame>
        <p:nvGraphicFramePr>
          <p:cNvPr id="15" name="Object 12">
            <a:extLst>
              <a:ext uri="{FF2B5EF4-FFF2-40B4-BE49-F238E27FC236}">
                <a16:creationId xmlns:a16="http://schemas.microsoft.com/office/drawing/2014/main" id="{36907530-56B1-4075-A36E-49860E477957}"/>
              </a:ext>
            </a:extLst>
          </p:cNvPr>
          <p:cNvGraphicFramePr>
            <a:graphicFrameLocks noChangeAspect="1"/>
          </p:cNvGraphicFramePr>
          <p:nvPr>
            <p:extLst>
              <p:ext uri="{D42A27DB-BD31-4B8C-83A1-F6EECF244321}">
                <p14:modId xmlns:p14="http://schemas.microsoft.com/office/powerpoint/2010/main" val="257678242"/>
              </p:ext>
            </p:extLst>
          </p:nvPr>
        </p:nvGraphicFramePr>
        <p:xfrm>
          <a:off x="2724288" y="4754652"/>
          <a:ext cx="6386195" cy="554298"/>
        </p:xfrm>
        <a:graphic>
          <a:graphicData uri="http://schemas.openxmlformats.org/presentationml/2006/ole">
            <mc:AlternateContent xmlns:mc="http://schemas.openxmlformats.org/markup-compatibility/2006">
              <mc:Choice xmlns:v="urn:schemas-microsoft-com:vml" Requires="v">
                <p:oleObj name="Equation" r:id="rId4" imgW="2032000" imgH="228600" progId="">
                  <p:embed/>
                </p:oleObj>
              </mc:Choice>
              <mc:Fallback>
                <p:oleObj name="Equation" r:id="rId4" imgW="2032000" imgH="228600" progId="">
                  <p:embed/>
                  <p:pic>
                    <p:nvPicPr>
                      <p:cNvPr id="15" name="Object 12">
                        <a:extLst>
                          <a:ext uri="{FF2B5EF4-FFF2-40B4-BE49-F238E27FC236}">
                            <a16:creationId xmlns:a16="http://schemas.microsoft.com/office/drawing/2014/main" id="{36907530-56B1-4075-A36E-49860E4779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24288" y="4754652"/>
                        <a:ext cx="6386195" cy="554298"/>
                      </a:xfrm>
                      <a:prstGeom prst="rect">
                        <a:avLst/>
                      </a:prstGeom>
                      <a:solidFill>
                        <a:srgbClr val="E9E6F9"/>
                      </a:solidFill>
                    </p:spPr>
                  </p:pic>
                </p:oleObj>
              </mc:Fallback>
            </mc:AlternateContent>
          </a:graphicData>
        </a:graphic>
      </p:graphicFrame>
      <p:graphicFrame>
        <p:nvGraphicFramePr>
          <p:cNvPr id="16" name="Object 15">
            <a:extLst>
              <a:ext uri="{FF2B5EF4-FFF2-40B4-BE49-F238E27FC236}">
                <a16:creationId xmlns:a16="http://schemas.microsoft.com/office/drawing/2014/main" id="{D72644FF-6E30-456E-A8D6-E8462A2C0BAD}"/>
              </a:ext>
            </a:extLst>
          </p:cNvPr>
          <p:cNvGraphicFramePr>
            <a:graphicFrameLocks noChangeAspect="1"/>
          </p:cNvGraphicFramePr>
          <p:nvPr>
            <p:extLst>
              <p:ext uri="{D42A27DB-BD31-4B8C-83A1-F6EECF244321}">
                <p14:modId xmlns:p14="http://schemas.microsoft.com/office/powerpoint/2010/main" val="3926232977"/>
              </p:ext>
            </p:extLst>
          </p:nvPr>
        </p:nvGraphicFramePr>
        <p:xfrm>
          <a:off x="2697783" y="5925972"/>
          <a:ext cx="5486400" cy="865908"/>
        </p:xfrm>
        <a:graphic>
          <a:graphicData uri="http://schemas.openxmlformats.org/presentationml/2006/ole">
            <mc:AlternateContent xmlns:mc="http://schemas.openxmlformats.org/markup-compatibility/2006">
              <mc:Choice xmlns:v="urn:schemas-microsoft-com:vml" Requires="v">
                <p:oleObj name="Equation" r:id="rId6" imgW="2120900" imgH="482600" progId="">
                  <p:embed/>
                </p:oleObj>
              </mc:Choice>
              <mc:Fallback>
                <p:oleObj name="Equation" r:id="rId6" imgW="2120900" imgH="482600" progId="">
                  <p:embed/>
                  <p:pic>
                    <p:nvPicPr>
                      <p:cNvPr id="16" name="Object 15">
                        <a:extLst>
                          <a:ext uri="{FF2B5EF4-FFF2-40B4-BE49-F238E27FC236}">
                            <a16:creationId xmlns:a16="http://schemas.microsoft.com/office/drawing/2014/main" id="{D72644FF-6E30-456E-A8D6-E8462A2C0BA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97783" y="5925972"/>
                        <a:ext cx="5486400" cy="865908"/>
                      </a:xfrm>
                      <a:prstGeom prst="rect">
                        <a:avLst/>
                      </a:prstGeom>
                      <a:solidFill>
                        <a:srgbClr val="C3D4F5"/>
                      </a:solidFill>
                    </p:spPr>
                  </p:pic>
                </p:oleObj>
              </mc:Fallback>
            </mc:AlternateContent>
          </a:graphicData>
        </a:graphic>
      </p:graphicFrame>
      <p:sp>
        <p:nvSpPr>
          <p:cNvPr id="17" name="Rectangle 20">
            <a:extLst>
              <a:ext uri="{FF2B5EF4-FFF2-40B4-BE49-F238E27FC236}">
                <a16:creationId xmlns:a16="http://schemas.microsoft.com/office/drawing/2014/main" id="{77471CEA-EA2A-4423-9B76-EB1FC6555E6C}"/>
              </a:ext>
            </a:extLst>
          </p:cNvPr>
          <p:cNvSpPr>
            <a:spLocks noChangeArrowheads="1"/>
          </p:cNvSpPr>
          <p:nvPr/>
        </p:nvSpPr>
        <p:spPr bwMode="auto">
          <a:xfrm>
            <a:off x="1588273" y="1839372"/>
            <a:ext cx="4406265"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spcBef>
                <a:spcPct val="50000"/>
              </a:spcBef>
            </a:pPr>
            <a:r>
              <a:rPr lang="zh-CN" altLang="en-US" sz="2200" b="1" dirty="0">
                <a:latin typeface="方正姚体" pitchFamily="2" charset="-122"/>
                <a:ea typeface="方正姚体" pitchFamily="2" charset="-122"/>
              </a:rPr>
              <a:t>若知道了一次付款买房的价格，如果自己只能支付一部分款，那就要把其余的款项通过借贷方式来解决，只要知道利息，就可以算出</a:t>
            </a:r>
            <a:r>
              <a:rPr lang="en-US" altLang="zh-CN" sz="2200" b="1" dirty="0">
                <a:latin typeface="方正姚体" pitchFamily="2" charset="-122"/>
                <a:ea typeface="方正姚体" pitchFamily="2" charset="-122"/>
              </a:rPr>
              <a:t>5</a:t>
            </a:r>
            <a:r>
              <a:rPr lang="zh-CN" altLang="en-US" sz="2200" b="1" dirty="0">
                <a:latin typeface="方正姚体" pitchFamily="2" charset="-122"/>
                <a:ea typeface="方正姚体" pitchFamily="2" charset="-122"/>
              </a:rPr>
              <a:t>年还清，每月要付多少钱才能按时还清贷款。</a:t>
            </a:r>
          </a:p>
        </p:txBody>
      </p:sp>
      <p:grpSp>
        <p:nvGrpSpPr>
          <p:cNvPr id="18" name="组合 22">
            <a:extLst>
              <a:ext uri="{FF2B5EF4-FFF2-40B4-BE49-F238E27FC236}">
                <a16:creationId xmlns:a16="http://schemas.microsoft.com/office/drawing/2014/main" id="{85C88551-57F5-437E-A68D-81D4906844CE}"/>
              </a:ext>
            </a:extLst>
          </p:cNvPr>
          <p:cNvGrpSpPr/>
          <p:nvPr/>
        </p:nvGrpSpPr>
        <p:grpSpPr bwMode="auto">
          <a:xfrm>
            <a:off x="1640978" y="3909551"/>
            <a:ext cx="8627745" cy="697399"/>
            <a:chOff x="541976" y="3209290"/>
            <a:chExt cx="5943600" cy="757917"/>
          </a:xfrm>
          <a:solidFill>
            <a:schemeClr val="bg1"/>
          </a:solidFill>
        </p:grpSpPr>
        <p:sp>
          <p:nvSpPr>
            <p:cNvPr id="19" name="Text Box 10">
              <a:extLst>
                <a:ext uri="{FF2B5EF4-FFF2-40B4-BE49-F238E27FC236}">
                  <a16:creationId xmlns:a16="http://schemas.microsoft.com/office/drawing/2014/main" id="{D8EE418B-FB26-4055-B10C-F6FB0FFD117B}"/>
                </a:ext>
              </a:extLst>
            </p:cNvPr>
            <p:cNvSpPr txBox="1">
              <a:spLocks noChangeArrowheads="1"/>
            </p:cNvSpPr>
            <p:nvPr/>
          </p:nvSpPr>
          <p:spPr bwMode="auto">
            <a:xfrm>
              <a:off x="541976" y="3209290"/>
              <a:ext cx="5943600" cy="7579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ts val="2600"/>
                </a:lnSpc>
                <a:spcBef>
                  <a:spcPct val="50000"/>
                </a:spcBef>
              </a:pPr>
              <a:r>
                <a:rPr lang="zh-CN" altLang="en-US" b="1" dirty="0"/>
                <a:t>若用     记第</a:t>
              </a:r>
              <a:r>
                <a:rPr lang="en-US" altLang="zh-CN" b="1" i="1" dirty="0">
                  <a:latin typeface="Times New Roman" panose="02020603050405020304" pitchFamily="18" charset="0"/>
                  <a:cs typeface="Times New Roman" panose="02020603050405020304" pitchFamily="18" charset="0"/>
                </a:rPr>
                <a:t>k</a:t>
              </a:r>
              <a:r>
                <a:rPr lang="zh-CN" altLang="en-US" b="1" dirty="0"/>
                <a:t>个月时尚欠的款数，则一个月后（加上利息）欠款                 ，不过又还了 </a:t>
              </a:r>
              <a:r>
                <a:rPr lang="en-US" altLang="zh-CN" b="1" i="1" dirty="0">
                  <a:latin typeface="Times New Roman" panose="02020603050405020304" pitchFamily="18" charset="0"/>
                  <a:cs typeface="Times New Roman" panose="02020603050405020304" pitchFamily="18" charset="0"/>
                </a:rPr>
                <a:t>x </a:t>
              </a:r>
              <a:r>
                <a:rPr lang="zh-CN" altLang="en-US" b="1" dirty="0"/>
                <a:t>元所以总的款数为</a:t>
              </a:r>
            </a:p>
          </p:txBody>
        </p:sp>
        <p:graphicFrame>
          <p:nvGraphicFramePr>
            <p:cNvPr id="20" name="Object 22">
              <a:extLst>
                <a:ext uri="{FF2B5EF4-FFF2-40B4-BE49-F238E27FC236}">
                  <a16:creationId xmlns:a16="http://schemas.microsoft.com/office/drawing/2014/main" id="{F9720D0F-34B1-4FBE-8A0C-5C5402B98FDE}"/>
                </a:ext>
              </a:extLst>
            </p:cNvPr>
            <p:cNvGraphicFramePr>
              <a:graphicFrameLocks noChangeAspect="1"/>
            </p:cNvGraphicFramePr>
            <p:nvPr>
              <p:extLst>
                <p:ext uri="{D42A27DB-BD31-4B8C-83A1-F6EECF244321}">
                  <p14:modId xmlns:p14="http://schemas.microsoft.com/office/powerpoint/2010/main" val="3784143751"/>
                </p:ext>
              </p:extLst>
            </p:nvPr>
          </p:nvGraphicFramePr>
          <p:xfrm>
            <a:off x="916756" y="3290570"/>
            <a:ext cx="237172" cy="268604"/>
          </p:xfrm>
          <a:graphic>
            <a:graphicData uri="http://schemas.openxmlformats.org/presentationml/2006/ole">
              <mc:AlternateContent xmlns:mc="http://schemas.openxmlformats.org/markup-compatibility/2006">
                <mc:Choice xmlns:v="urn:schemas-microsoft-com:vml" Requires="v">
                  <p:oleObj name="公式" r:id="rId8" imgW="241195" imgH="203112" progId="">
                    <p:embed/>
                  </p:oleObj>
                </mc:Choice>
                <mc:Fallback>
                  <p:oleObj name="公式" r:id="rId8" imgW="241195" imgH="203112" progId="">
                    <p:embed/>
                    <p:pic>
                      <p:nvPicPr>
                        <p:cNvPr id="20" name="Object 22">
                          <a:extLst>
                            <a:ext uri="{FF2B5EF4-FFF2-40B4-BE49-F238E27FC236}">
                              <a16:creationId xmlns:a16="http://schemas.microsoft.com/office/drawing/2014/main" id="{F9720D0F-34B1-4FBE-8A0C-5C5402B98FD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6756" y="3290570"/>
                          <a:ext cx="237172" cy="2686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23">
              <a:extLst>
                <a:ext uri="{FF2B5EF4-FFF2-40B4-BE49-F238E27FC236}">
                  <a16:creationId xmlns:a16="http://schemas.microsoft.com/office/drawing/2014/main" id="{F6EACF45-770D-425B-AD49-20D1CA06D9B0}"/>
                </a:ext>
              </a:extLst>
            </p:cNvPr>
            <p:cNvGraphicFramePr>
              <a:graphicFrameLocks noChangeAspect="1"/>
            </p:cNvGraphicFramePr>
            <p:nvPr>
              <p:extLst>
                <p:ext uri="{D42A27DB-BD31-4B8C-83A1-F6EECF244321}">
                  <p14:modId xmlns:p14="http://schemas.microsoft.com/office/powerpoint/2010/main" val="1559474990"/>
                </p:ext>
              </p:extLst>
            </p:nvPr>
          </p:nvGraphicFramePr>
          <p:xfrm>
            <a:off x="5049549" y="3290570"/>
            <a:ext cx="714486" cy="350099"/>
          </p:xfrm>
          <a:graphic>
            <a:graphicData uri="http://schemas.openxmlformats.org/presentationml/2006/ole">
              <mc:AlternateContent xmlns:mc="http://schemas.openxmlformats.org/markup-compatibility/2006">
                <mc:Choice xmlns:v="urn:schemas-microsoft-com:vml" Requires="v">
                  <p:oleObj name="Equation" r:id="rId10" imgW="761669" imgH="253890" progId="">
                    <p:embed/>
                  </p:oleObj>
                </mc:Choice>
                <mc:Fallback>
                  <p:oleObj name="Equation" r:id="rId10" imgW="761669" imgH="253890" progId="">
                    <p:embed/>
                    <p:pic>
                      <p:nvPicPr>
                        <p:cNvPr id="21" name="Object 23">
                          <a:extLst>
                            <a:ext uri="{FF2B5EF4-FFF2-40B4-BE49-F238E27FC236}">
                              <a16:creationId xmlns:a16="http://schemas.microsoft.com/office/drawing/2014/main" id="{F6EACF45-770D-425B-AD49-20D1CA06D9B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49549" y="3290570"/>
                          <a:ext cx="714486" cy="350099"/>
                        </a:xfrm>
                        <a:prstGeom prst="rect">
                          <a:avLst/>
                        </a:prstGeom>
                        <a:noFill/>
                      </p:spPr>
                    </p:pic>
                  </p:oleObj>
                </mc:Fallback>
              </mc:AlternateContent>
            </a:graphicData>
          </a:graphic>
        </p:graphicFrame>
      </p:grpSp>
      <p:grpSp>
        <p:nvGrpSpPr>
          <p:cNvPr id="22" name="组合 21">
            <a:extLst>
              <a:ext uri="{FF2B5EF4-FFF2-40B4-BE49-F238E27FC236}">
                <a16:creationId xmlns:a16="http://schemas.microsoft.com/office/drawing/2014/main" id="{ED0C9D61-84E5-48B5-849E-11ADB431239B}"/>
              </a:ext>
            </a:extLst>
          </p:cNvPr>
          <p:cNvGrpSpPr/>
          <p:nvPr/>
        </p:nvGrpSpPr>
        <p:grpSpPr>
          <a:xfrm>
            <a:off x="1569223" y="5438766"/>
            <a:ext cx="7795260" cy="420543"/>
            <a:chOff x="198" y="7568"/>
            <a:chExt cx="12276" cy="720"/>
          </a:xfrm>
        </p:grpSpPr>
        <p:sp>
          <p:nvSpPr>
            <p:cNvPr id="23" name="Text Box 13">
              <a:extLst>
                <a:ext uri="{FF2B5EF4-FFF2-40B4-BE49-F238E27FC236}">
                  <a16:creationId xmlns:a16="http://schemas.microsoft.com/office/drawing/2014/main" id="{D4AD76D5-603E-44C0-97C0-0832EF864CD2}"/>
                </a:ext>
              </a:extLst>
            </p:cNvPr>
            <p:cNvSpPr txBox="1">
              <a:spLocks noChangeArrowheads="1"/>
            </p:cNvSpPr>
            <p:nvPr/>
          </p:nvSpPr>
          <p:spPr bwMode="auto">
            <a:xfrm>
              <a:off x="198" y="7594"/>
              <a:ext cx="12276" cy="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latin typeface="方正姚体" pitchFamily="2" charset="-122"/>
                  <a:ea typeface="方正姚体" pitchFamily="2" charset="-122"/>
                </a:rPr>
                <a:t>一开始的借款为     ，所以该问题可用数学表达式表示如下</a:t>
              </a:r>
              <a:r>
                <a:rPr lang="zh-CN" altLang="en-US" dirty="0"/>
                <a:t> </a:t>
              </a:r>
            </a:p>
          </p:txBody>
        </p:sp>
        <p:graphicFrame>
          <p:nvGraphicFramePr>
            <p:cNvPr id="24" name="Object 6">
              <a:extLst>
                <a:ext uri="{FF2B5EF4-FFF2-40B4-BE49-F238E27FC236}">
                  <a16:creationId xmlns:a16="http://schemas.microsoft.com/office/drawing/2014/main" id="{E87D0B99-856D-4801-A193-C4F19BA0B646}"/>
                </a:ext>
              </a:extLst>
            </p:cNvPr>
            <p:cNvGraphicFramePr>
              <a:graphicFrameLocks noChangeAspect="1"/>
            </p:cNvGraphicFramePr>
            <p:nvPr>
              <p:extLst>
                <p:ext uri="{D42A27DB-BD31-4B8C-83A1-F6EECF244321}">
                  <p14:modId xmlns:p14="http://schemas.microsoft.com/office/powerpoint/2010/main" val="3446921119"/>
                </p:ext>
              </p:extLst>
            </p:nvPr>
          </p:nvGraphicFramePr>
          <p:xfrm>
            <a:off x="2789" y="7568"/>
            <a:ext cx="648" cy="720"/>
          </p:xfrm>
          <a:graphic>
            <a:graphicData uri="http://schemas.openxmlformats.org/presentationml/2006/ole">
              <mc:AlternateContent xmlns:mc="http://schemas.openxmlformats.org/markup-compatibility/2006">
                <mc:Choice xmlns:v="urn:schemas-microsoft-com:vml" Requires="v">
                  <p:oleObj name="Equation" r:id="rId12" imgW="190500" imgH="228600" progId="">
                    <p:embed/>
                  </p:oleObj>
                </mc:Choice>
                <mc:Fallback>
                  <p:oleObj name="Equation" r:id="rId12" imgW="190500" imgH="228600" progId="">
                    <p:embed/>
                    <p:pic>
                      <p:nvPicPr>
                        <p:cNvPr id="24" name="Object 6">
                          <a:extLst>
                            <a:ext uri="{FF2B5EF4-FFF2-40B4-BE49-F238E27FC236}">
                              <a16:creationId xmlns:a16="http://schemas.microsoft.com/office/drawing/2014/main" id="{E87D0B99-856D-4801-A193-C4F19BA0B64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89" y="7568"/>
                          <a:ext cx="648" cy="7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7" name="标题 1">
            <a:extLst>
              <a:ext uri="{FF2B5EF4-FFF2-40B4-BE49-F238E27FC236}">
                <a16:creationId xmlns:a16="http://schemas.microsoft.com/office/drawing/2014/main" id="{4788A776-6654-4CCA-BFDE-8B9353C35141}"/>
              </a:ext>
            </a:extLst>
          </p:cNvPr>
          <p:cNvSpPr>
            <a:spLocks noGrp="1"/>
          </p:cNvSpPr>
          <p:nvPr>
            <p:ph type="title"/>
          </p:nvPr>
        </p:nvSpPr>
        <p:spPr>
          <a:xfrm>
            <a:off x="4114800" y="713947"/>
            <a:ext cx="3206151" cy="776378"/>
          </a:xfrm>
        </p:spPr>
        <p:txBody>
          <a:bodyPr>
            <a:normAutofit/>
          </a:bodyPr>
          <a:lstStyle/>
          <a:p>
            <a:r>
              <a:rPr lang="zh-CN" altLang="en-US" sz="3200" b="1" dirty="0">
                <a:solidFill>
                  <a:srgbClr val="0000FF"/>
                </a:solidFill>
                <a:latin typeface="微软雅黑" charset="-122"/>
                <a:ea typeface="微软雅黑" charset="-122"/>
                <a:sym typeface="+mn-ea"/>
              </a:rPr>
              <a:t>贷款买房问题</a:t>
            </a:r>
            <a:endParaRPr lang="zh-CN" altLang="en-US" sz="3200" dirty="0"/>
          </a:p>
        </p:txBody>
      </p:sp>
    </p:spTree>
    <p:extLst>
      <p:ext uri="{BB962C8B-B14F-4D97-AF65-F5344CB8AC3E}">
        <p14:creationId xmlns:p14="http://schemas.microsoft.com/office/powerpoint/2010/main" val="1262356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1+#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500" fill="hold"/>
                                        <p:tgtEl>
                                          <p:spTgt spid="14"/>
                                        </p:tgtEl>
                                        <p:attrNameLst>
                                          <p:attrName>ppt_x</p:attrName>
                                        </p:attrNameLst>
                                      </p:cBhvr>
                                      <p:tavLst>
                                        <p:tav tm="0">
                                          <p:val>
                                            <p:strVal val="#ppt_x"/>
                                          </p:val>
                                        </p:tav>
                                        <p:tav tm="100000">
                                          <p:val>
                                            <p:strVal val="#ppt_x"/>
                                          </p:val>
                                        </p:tav>
                                      </p:tavLst>
                                    </p:anim>
                                    <p:anim calcmode="lin" valueType="num">
                                      <p:cBhvr additive="base">
                                        <p:cTn id="3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2"/>
                                        </p:tgtEl>
                                        <p:attrNameLst>
                                          <p:attrName>style.visibility</p:attrName>
                                        </p:attrNameLst>
                                      </p:cBhvr>
                                      <p:to>
                                        <p:strVal val="visible"/>
                                      </p:to>
                                    </p:set>
                                    <p:anim calcmode="lin" valueType="num">
                                      <p:cBhvr additive="base">
                                        <p:cTn id="49" dur="500" fill="hold"/>
                                        <p:tgtEl>
                                          <p:spTgt spid="22"/>
                                        </p:tgtEl>
                                        <p:attrNameLst>
                                          <p:attrName>ppt_x</p:attrName>
                                        </p:attrNameLst>
                                      </p:cBhvr>
                                      <p:tavLst>
                                        <p:tav tm="0">
                                          <p:val>
                                            <p:strVal val="#ppt_x"/>
                                          </p:val>
                                        </p:tav>
                                        <p:tav tm="100000">
                                          <p:val>
                                            <p:strVal val="#ppt_x"/>
                                          </p:val>
                                        </p:tav>
                                      </p:tavLst>
                                    </p:anim>
                                    <p:anim calcmode="lin" valueType="num">
                                      <p:cBhvr additive="base">
                                        <p:cTn id="5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ppt_x"/>
                                          </p:val>
                                        </p:tav>
                                        <p:tav tm="100000">
                                          <p:val>
                                            <p:strVal val="#ppt_x"/>
                                          </p:val>
                                        </p:tav>
                                      </p:tavLst>
                                    </p:anim>
                                    <p:anim calcmode="lin" valueType="num">
                                      <p:cBhvr additive="base">
                                        <p:cTn id="5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2" grpId="0"/>
      <p:bldP spid="13" grpId="0"/>
      <p:bldP spid="14" grpId="0"/>
      <p:bldP spid="1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F131282C-6274-4A43-A0B5-329B1FAF7624}"/>
              </a:ext>
            </a:extLst>
          </p:cNvPr>
          <p:cNvSpPr>
            <a:spLocks noGrp="1"/>
          </p:cNvSpPr>
          <p:nvPr>
            <p:ph type="title"/>
          </p:nvPr>
        </p:nvSpPr>
        <p:spPr>
          <a:xfrm>
            <a:off x="4063041" y="713947"/>
            <a:ext cx="3206151" cy="776378"/>
          </a:xfrm>
        </p:spPr>
        <p:txBody>
          <a:bodyPr>
            <a:normAutofit/>
          </a:bodyPr>
          <a:lstStyle/>
          <a:p>
            <a:r>
              <a:rPr lang="zh-CN" altLang="en-US" sz="3200" b="1" dirty="0">
                <a:solidFill>
                  <a:srgbClr val="0000FF"/>
                </a:solidFill>
                <a:latin typeface="微软雅黑" charset="-122"/>
                <a:ea typeface="微软雅黑" charset="-122"/>
                <a:sym typeface="+mn-ea"/>
              </a:rPr>
              <a:t>贷款买房问题</a:t>
            </a:r>
            <a:endParaRPr lang="zh-CN" altLang="en-US" sz="3200" dirty="0"/>
          </a:p>
        </p:txBody>
      </p:sp>
      <p:grpSp>
        <p:nvGrpSpPr>
          <p:cNvPr id="7" name="Group 3">
            <a:extLst>
              <a:ext uri="{FF2B5EF4-FFF2-40B4-BE49-F238E27FC236}">
                <a16:creationId xmlns:a16="http://schemas.microsoft.com/office/drawing/2014/main" id="{AEC8C813-42EE-4B22-A23E-E7468A1C4655}"/>
              </a:ext>
            </a:extLst>
          </p:cNvPr>
          <p:cNvGrpSpPr/>
          <p:nvPr/>
        </p:nvGrpSpPr>
        <p:grpSpPr bwMode="auto">
          <a:xfrm>
            <a:off x="2412766" y="1693796"/>
            <a:ext cx="3082290" cy="571340"/>
            <a:chOff x="618" y="664"/>
            <a:chExt cx="1788" cy="423"/>
          </a:xfrm>
        </p:grpSpPr>
        <p:graphicFrame>
          <p:nvGraphicFramePr>
            <p:cNvPr id="8" name="Object 4">
              <a:extLst>
                <a:ext uri="{FF2B5EF4-FFF2-40B4-BE49-F238E27FC236}">
                  <a16:creationId xmlns:a16="http://schemas.microsoft.com/office/drawing/2014/main" id="{01FA9143-E11F-46E2-857E-F26558EFB615}"/>
                </a:ext>
              </a:extLst>
            </p:cNvPr>
            <p:cNvGraphicFramePr>
              <a:graphicFrameLocks noChangeAspect="1"/>
            </p:cNvGraphicFramePr>
            <p:nvPr>
              <p:extLst>
                <p:ext uri="{D42A27DB-BD31-4B8C-83A1-F6EECF244321}">
                  <p14:modId xmlns:p14="http://schemas.microsoft.com/office/powerpoint/2010/main" val="3140785560"/>
                </p:ext>
              </p:extLst>
            </p:nvPr>
          </p:nvGraphicFramePr>
          <p:xfrm>
            <a:off x="912" y="683"/>
            <a:ext cx="1494" cy="328"/>
          </p:xfrm>
          <a:graphic>
            <a:graphicData uri="http://schemas.openxmlformats.org/presentationml/2006/ole">
              <mc:AlternateContent xmlns:mc="http://schemas.openxmlformats.org/markup-compatibility/2006">
                <mc:Choice xmlns:v="urn:schemas-microsoft-com:vml" Requires="v">
                  <p:oleObj name="Equation" r:id="rId2" imgW="1130040" imgH="228600" progId="">
                    <p:embed/>
                  </p:oleObj>
                </mc:Choice>
                <mc:Fallback>
                  <p:oleObj name="Equation" r:id="rId2" imgW="1130040" imgH="228600" progId="">
                    <p:embed/>
                    <p:pic>
                      <p:nvPicPr>
                        <p:cNvPr id="8" name="Object 4">
                          <a:extLst>
                            <a:ext uri="{FF2B5EF4-FFF2-40B4-BE49-F238E27FC236}">
                              <a16:creationId xmlns:a16="http://schemas.microsoft.com/office/drawing/2014/main" id="{01FA9143-E11F-46E2-857E-F26558EFB6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 y="683"/>
                          <a:ext cx="1494" cy="3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5">
              <a:extLst>
                <a:ext uri="{FF2B5EF4-FFF2-40B4-BE49-F238E27FC236}">
                  <a16:creationId xmlns:a16="http://schemas.microsoft.com/office/drawing/2014/main" id="{860DD4CC-F6E4-454E-B3AF-431DD2B18838}"/>
                </a:ext>
              </a:extLst>
            </p:cNvPr>
            <p:cNvSpPr txBox="1">
              <a:spLocks noChangeArrowheads="1"/>
            </p:cNvSpPr>
            <p:nvPr/>
          </p:nvSpPr>
          <p:spPr bwMode="auto">
            <a:xfrm>
              <a:off x="618" y="664"/>
              <a:ext cx="288"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t>由 </a:t>
              </a:r>
            </a:p>
          </p:txBody>
        </p:sp>
      </p:grpSp>
      <p:graphicFrame>
        <p:nvGraphicFramePr>
          <p:cNvPr id="10" name="Object 7">
            <a:extLst>
              <a:ext uri="{FF2B5EF4-FFF2-40B4-BE49-F238E27FC236}">
                <a16:creationId xmlns:a16="http://schemas.microsoft.com/office/drawing/2014/main" id="{3374FC46-1092-44F7-85AA-EACF5DF488EF}"/>
              </a:ext>
            </a:extLst>
          </p:cNvPr>
          <p:cNvGraphicFramePr>
            <a:graphicFrameLocks noChangeAspect="1"/>
          </p:cNvGraphicFramePr>
          <p:nvPr>
            <p:extLst>
              <p:ext uri="{D42A27DB-BD31-4B8C-83A1-F6EECF244321}">
                <p14:modId xmlns:p14="http://schemas.microsoft.com/office/powerpoint/2010/main" val="4271743545"/>
              </p:ext>
            </p:extLst>
          </p:nvPr>
        </p:nvGraphicFramePr>
        <p:xfrm>
          <a:off x="2891555" y="2123229"/>
          <a:ext cx="4285621" cy="1398270"/>
        </p:xfrm>
        <a:graphic>
          <a:graphicData uri="http://schemas.openxmlformats.org/presentationml/2006/ole">
            <mc:AlternateContent xmlns:mc="http://schemas.openxmlformats.org/markup-compatibility/2006">
              <mc:Choice xmlns:v="urn:schemas-microsoft-com:vml" Requires="v">
                <p:oleObj name="Equation" r:id="rId4" imgW="1688367" imgH="710891" progId="">
                  <p:embed/>
                </p:oleObj>
              </mc:Choice>
              <mc:Fallback>
                <p:oleObj name="Equation" r:id="rId4" imgW="1688367" imgH="710891" progId="">
                  <p:embed/>
                  <p:pic>
                    <p:nvPicPr>
                      <p:cNvPr id="10" name="Object 7">
                        <a:extLst>
                          <a:ext uri="{FF2B5EF4-FFF2-40B4-BE49-F238E27FC236}">
                            <a16:creationId xmlns:a16="http://schemas.microsoft.com/office/drawing/2014/main" id="{3374FC46-1092-44F7-85AA-EACF5DF488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1555" y="2123229"/>
                        <a:ext cx="4285621" cy="1398270"/>
                      </a:xfrm>
                      <a:prstGeom prst="rect">
                        <a:avLst/>
                      </a:prstGeom>
                      <a:noFill/>
                    </p:spPr>
                  </p:pic>
                </p:oleObj>
              </mc:Fallback>
            </mc:AlternateContent>
          </a:graphicData>
        </a:graphic>
      </p:graphicFrame>
      <p:sp>
        <p:nvSpPr>
          <p:cNvPr id="11" name="Text Box 8">
            <a:extLst>
              <a:ext uri="{FF2B5EF4-FFF2-40B4-BE49-F238E27FC236}">
                <a16:creationId xmlns:a16="http://schemas.microsoft.com/office/drawing/2014/main" id="{909768CB-8CA4-4320-ADFC-E197339898D1}"/>
              </a:ext>
            </a:extLst>
          </p:cNvPr>
          <p:cNvSpPr txBox="1">
            <a:spLocks noChangeArrowheads="1"/>
          </p:cNvSpPr>
          <p:nvPr/>
        </p:nvSpPr>
        <p:spPr bwMode="auto">
          <a:xfrm>
            <a:off x="2370221" y="3499084"/>
            <a:ext cx="1308100" cy="530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200" b="1" dirty="0"/>
              <a:t>递推得 </a:t>
            </a:r>
          </a:p>
        </p:txBody>
      </p:sp>
      <p:graphicFrame>
        <p:nvGraphicFramePr>
          <p:cNvPr id="12" name="Object 10">
            <a:extLst>
              <a:ext uri="{FF2B5EF4-FFF2-40B4-BE49-F238E27FC236}">
                <a16:creationId xmlns:a16="http://schemas.microsoft.com/office/drawing/2014/main" id="{3F955F9E-0B09-4FCE-A3DD-4072A8D80975}"/>
              </a:ext>
            </a:extLst>
          </p:cNvPr>
          <p:cNvGraphicFramePr>
            <a:graphicFrameLocks noChangeAspect="1"/>
          </p:cNvGraphicFramePr>
          <p:nvPr>
            <p:extLst>
              <p:ext uri="{D42A27DB-BD31-4B8C-83A1-F6EECF244321}">
                <p14:modId xmlns:p14="http://schemas.microsoft.com/office/powerpoint/2010/main" val="2558964129"/>
              </p:ext>
            </p:extLst>
          </p:nvPr>
        </p:nvGraphicFramePr>
        <p:xfrm>
          <a:off x="2484521" y="3932177"/>
          <a:ext cx="7915275" cy="1315085"/>
        </p:xfrm>
        <a:graphic>
          <a:graphicData uri="http://schemas.openxmlformats.org/presentationml/2006/ole">
            <mc:AlternateContent xmlns:mc="http://schemas.openxmlformats.org/markup-compatibility/2006">
              <mc:Choice xmlns:v="urn:schemas-microsoft-com:vml" Requires="v">
                <p:oleObj name="Equation" r:id="rId6" imgW="3454400" imgH="635000" progId="">
                  <p:embed/>
                </p:oleObj>
              </mc:Choice>
              <mc:Fallback>
                <p:oleObj name="Equation" r:id="rId6" imgW="3454400" imgH="635000" progId="">
                  <p:embed/>
                  <p:pic>
                    <p:nvPicPr>
                      <p:cNvPr id="12" name="Object 10">
                        <a:extLst>
                          <a:ext uri="{FF2B5EF4-FFF2-40B4-BE49-F238E27FC236}">
                            <a16:creationId xmlns:a16="http://schemas.microsoft.com/office/drawing/2014/main" id="{3F955F9E-0B09-4FCE-A3DD-4072A8D8097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84521" y="3932177"/>
                        <a:ext cx="7915275" cy="1315085"/>
                      </a:xfrm>
                      <a:prstGeom prst="rect">
                        <a:avLst/>
                      </a:prstGeom>
                      <a:solidFill>
                        <a:srgbClr val="E9E6F9"/>
                      </a:solidFill>
                    </p:spPr>
                  </p:pic>
                </p:oleObj>
              </mc:Fallback>
            </mc:AlternateContent>
          </a:graphicData>
        </a:graphic>
      </p:graphicFrame>
      <p:sp>
        <p:nvSpPr>
          <p:cNvPr id="13" name="Text Box 11">
            <a:extLst>
              <a:ext uri="{FF2B5EF4-FFF2-40B4-BE49-F238E27FC236}">
                <a16:creationId xmlns:a16="http://schemas.microsoft.com/office/drawing/2014/main" id="{39BDA3CC-1871-42A0-9F6A-7C561E7B72ED}"/>
              </a:ext>
            </a:extLst>
          </p:cNvPr>
          <p:cNvSpPr txBox="1">
            <a:spLocks noChangeArrowheads="1"/>
          </p:cNvSpPr>
          <p:nvPr/>
        </p:nvSpPr>
        <p:spPr bwMode="auto">
          <a:xfrm>
            <a:off x="2441976" y="5645662"/>
            <a:ext cx="45529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200" b="1" dirty="0"/>
              <a:t>故</a:t>
            </a:r>
          </a:p>
        </p:txBody>
      </p:sp>
      <p:graphicFrame>
        <p:nvGraphicFramePr>
          <p:cNvPr id="14" name="Object 13">
            <a:extLst>
              <a:ext uri="{FF2B5EF4-FFF2-40B4-BE49-F238E27FC236}">
                <a16:creationId xmlns:a16="http://schemas.microsoft.com/office/drawing/2014/main" id="{7D1AD9A0-1693-4FB7-AEBE-3F33D244A7A8}"/>
              </a:ext>
            </a:extLst>
          </p:cNvPr>
          <p:cNvGraphicFramePr>
            <a:graphicFrameLocks noChangeAspect="1"/>
          </p:cNvGraphicFramePr>
          <p:nvPr>
            <p:extLst>
              <p:ext uri="{D42A27DB-BD31-4B8C-83A1-F6EECF244321}">
                <p14:modId xmlns:p14="http://schemas.microsoft.com/office/powerpoint/2010/main" val="1244718739"/>
              </p:ext>
            </p:extLst>
          </p:nvPr>
        </p:nvGraphicFramePr>
        <p:xfrm>
          <a:off x="3087771" y="5419514"/>
          <a:ext cx="4850765" cy="937260"/>
        </p:xfrm>
        <a:graphic>
          <a:graphicData uri="http://schemas.openxmlformats.org/presentationml/2006/ole">
            <mc:AlternateContent xmlns:mc="http://schemas.openxmlformats.org/markup-compatibility/2006">
              <mc:Choice xmlns:v="urn:schemas-microsoft-com:vml" Requires="v">
                <p:oleObj name="Equation" r:id="rId8" imgW="1586811" imgH="393529" progId="">
                  <p:embed/>
                </p:oleObj>
              </mc:Choice>
              <mc:Fallback>
                <p:oleObj name="Equation" r:id="rId8" imgW="1586811" imgH="393529" progId="">
                  <p:embed/>
                  <p:pic>
                    <p:nvPicPr>
                      <p:cNvPr id="14" name="Object 13">
                        <a:extLst>
                          <a:ext uri="{FF2B5EF4-FFF2-40B4-BE49-F238E27FC236}">
                            <a16:creationId xmlns:a16="http://schemas.microsoft.com/office/drawing/2014/main" id="{7D1AD9A0-1693-4FB7-AEBE-3F33D244A7A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87771" y="5419514"/>
                        <a:ext cx="4850765" cy="937260"/>
                      </a:xfrm>
                      <a:prstGeom prst="rect">
                        <a:avLst/>
                      </a:prstGeom>
                      <a:solidFill>
                        <a:srgbClr val="D3CDF3"/>
                      </a:solidFill>
                    </p:spPr>
                  </p:pic>
                </p:oleObj>
              </mc:Fallback>
            </mc:AlternateContent>
          </a:graphicData>
        </a:graphic>
      </p:graphicFrame>
      <p:grpSp>
        <p:nvGrpSpPr>
          <p:cNvPr id="15" name="Group 23">
            <a:extLst>
              <a:ext uri="{FF2B5EF4-FFF2-40B4-BE49-F238E27FC236}">
                <a16:creationId xmlns:a16="http://schemas.microsoft.com/office/drawing/2014/main" id="{14A18948-9663-4043-A2D7-4C209BCFE675}"/>
              </a:ext>
            </a:extLst>
          </p:cNvPr>
          <p:cNvGrpSpPr/>
          <p:nvPr/>
        </p:nvGrpSpPr>
        <p:grpSpPr bwMode="auto">
          <a:xfrm>
            <a:off x="2367046" y="6350556"/>
            <a:ext cx="6133896" cy="505207"/>
            <a:chOff x="384" y="3699"/>
            <a:chExt cx="3130" cy="324"/>
          </a:xfrm>
        </p:grpSpPr>
        <p:sp>
          <p:nvSpPr>
            <p:cNvPr id="16" name="Text Box 20">
              <a:extLst>
                <a:ext uri="{FF2B5EF4-FFF2-40B4-BE49-F238E27FC236}">
                  <a16:creationId xmlns:a16="http://schemas.microsoft.com/office/drawing/2014/main" id="{E9D0FBDB-B1CE-403F-A36E-45F424447111}"/>
                </a:ext>
              </a:extLst>
            </p:cNvPr>
            <p:cNvSpPr txBox="1">
              <a:spLocks noChangeArrowheads="1"/>
            </p:cNvSpPr>
            <p:nvPr/>
          </p:nvSpPr>
          <p:spPr bwMode="auto">
            <a:xfrm>
              <a:off x="384" y="3699"/>
              <a:ext cx="3130"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sz="2200" b="1" dirty="0"/>
                <a:t>这就是   </a:t>
              </a:r>
              <a:r>
                <a:rPr lang="zh-CN" altLang="en-US" sz="2200" dirty="0">
                  <a:latin typeface="方正姚体" pitchFamily="2" charset="-122"/>
                  <a:ea typeface="方正姚体" pitchFamily="2" charset="-122"/>
                </a:rPr>
                <a:t>   ，    ，</a:t>
              </a:r>
              <a:r>
                <a:rPr lang="en-US" altLang="zh-CN" sz="2200" b="1" i="1" dirty="0">
                  <a:latin typeface="Times New Roman" panose="02020603050405020304" pitchFamily="18" charset="0"/>
                  <a:ea typeface="方正姚体" pitchFamily="2" charset="-122"/>
                  <a:cs typeface="Times New Roman" panose="02020603050405020304" pitchFamily="18" charset="0"/>
                </a:rPr>
                <a:t>x </a:t>
              </a:r>
              <a:r>
                <a:rPr lang="zh-CN" altLang="en-US" sz="2200" dirty="0">
                  <a:latin typeface="方正姚体" pitchFamily="2" charset="-122"/>
                  <a:ea typeface="方正姚体" pitchFamily="2" charset="-122"/>
                </a:rPr>
                <a:t>，</a:t>
              </a:r>
              <a:r>
                <a:rPr lang="en-US" altLang="zh-CN" sz="2200" b="1" i="1" dirty="0">
                  <a:latin typeface="方正姚体" pitchFamily="2" charset="-122"/>
                  <a:ea typeface="方正姚体" pitchFamily="2" charset="-122"/>
                </a:rPr>
                <a:t>R</a:t>
              </a:r>
              <a:r>
                <a:rPr lang="en-US" altLang="zh-CN" sz="2200" dirty="0">
                  <a:latin typeface="方正姚体" pitchFamily="2" charset="-122"/>
                  <a:ea typeface="方正姚体" pitchFamily="2" charset="-122"/>
                </a:rPr>
                <a:t>  </a:t>
              </a:r>
              <a:r>
                <a:rPr lang="zh-CN" altLang="en-US" sz="2200" b="1" dirty="0"/>
                <a:t>之间的显式关系。</a:t>
              </a:r>
              <a:r>
                <a:rPr lang="zh-CN" altLang="en-US" sz="2400" b="1" dirty="0">
                  <a:latin typeface="方正姚体" pitchFamily="2" charset="-122"/>
                  <a:ea typeface="方正姚体" pitchFamily="2" charset="-122"/>
                </a:rPr>
                <a:t> </a:t>
              </a:r>
            </a:p>
          </p:txBody>
        </p:sp>
        <p:graphicFrame>
          <p:nvGraphicFramePr>
            <p:cNvPr id="17" name="Object 21">
              <a:extLst>
                <a:ext uri="{FF2B5EF4-FFF2-40B4-BE49-F238E27FC236}">
                  <a16:creationId xmlns:a16="http://schemas.microsoft.com/office/drawing/2014/main" id="{E92AD613-0ED5-4B2B-966F-C359BDAB8BBF}"/>
                </a:ext>
              </a:extLst>
            </p:cNvPr>
            <p:cNvGraphicFramePr>
              <a:graphicFrameLocks noChangeAspect="1"/>
            </p:cNvGraphicFramePr>
            <p:nvPr>
              <p:extLst>
                <p:ext uri="{D42A27DB-BD31-4B8C-83A1-F6EECF244321}">
                  <p14:modId xmlns:p14="http://schemas.microsoft.com/office/powerpoint/2010/main" val="2403476822"/>
                </p:ext>
              </p:extLst>
            </p:nvPr>
          </p:nvGraphicFramePr>
          <p:xfrm>
            <a:off x="880" y="3728"/>
            <a:ext cx="242" cy="290"/>
          </p:xfrm>
          <a:graphic>
            <a:graphicData uri="http://schemas.openxmlformats.org/presentationml/2006/ole">
              <mc:AlternateContent xmlns:mc="http://schemas.openxmlformats.org/markup-compatibility/2006">
                <mc:Choice xmlns:v="urn:schemas-microsoft-com:vml" Requires="v">
                  <p:oleObj name="Equation" r:id="rId10" imgW="190500" imgH="228600" progId="">
                    <p:embed/>
                  </p:oleObj>
                </mc:Choice>
                <mc:Fallback>
                  <p:oleObj name="Equation" r:id="rId10" imgW="190500" imgH="228600" progId="">
                    <p:embed/>
                    <p:pic>
                      <p:nvPicPr>
                        <p:cNvPr id="17" name="Object 21">
                          <a:extLst>
                            <a:ext uri="{FF2B5EF4-FFF2-40B4-BE49-F238E27FC236}">
                              <a16:creationId xmlns:a16="http://schemas.microsoft.com/office/drawing/2014/main" id="{E92AD613-0ED5-4B2B-966F-C359BDAB8BB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80" y="3728"/>
                          <a:ext cx="242" cy="2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22">
              <a:extLst>
                <a:ext uri="{FF2B5EF4-FFF2-40B4-BE49-F238E27FC236}">
                  <a16:creationId xmlns:a16="http://schemas.microsoft.com/office/drawing/2014/main" id="{3556FB82-5BF7-413C-BDA3-CDD368311703}"/>
                </a:ext>
              </a:extLst>
            </p:cNvPr>
            <p:cNvGraphicFramePr>
              <a:graphicFrameLocks noChangeAspect="1"/>
            </p:cNvGraphicFramePr>
            <p:nvPr>
              <p:extLst>
                <p:ext uri="{D42A27DB-BD31-4B8C-83A1-F6EECF244321}">
                  <p14:modId xmlns:p14="http://schemas.microsoft.com/office/powerpoint/2010/main" val="1768750591"/>
                </p:ext>
              </p:extLst>
            </p:nvPr>
          </p:nvGraphicFramePr>
          <p:xfrm>
            <a:off x="1133" y="3733"/>
            <a:ext cx="242" cy="290"/>
          </p:xfrm>
          <a:graphic>
            <a:graphicData uri="http://schemas.openxmlformats.org/presentationml/2006/ole">
              <mc:AlternateContent xmlns:mc="http://schemas.openxmlformats.org/markup-compatibility/2006">
                <mc:Choice xmlns:v="urn:schemas-microsoft-com:vml" Requires="v">
                  <p:oleObj name="Equation" r:id="rId12" imgW="190500" imgH="228600" progId="">
                    <p:embed/>
                  </p:oleObj>
                </mc:Choice>
                <mc:Fallback>
                  <p:oleObj name="Equation" r:id="rId12" imgW="190500" imgH="228600" progId="">
                    <p:embed/>
                    <p:pic>
                      <p:nvPicPr>
                        <p:cNvPr id="18" name="Object 22">
                          <a:extLst>
                            <a:ext uri="{FF2B5EF4-FFF2-40B4-BE49-F238E27FC236}">
                              <a16:creationId xmlns:a16="http://schemas.microsoft.com/office/drawing/2014/main" id="{3556FB82-5BF7-413C-BDA3-CDD36831170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33" y="3733"/>
                          <a:ext cx="242" cy="2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1855138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1+#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 presetClass="entr" presetSubtype="4" fill="hold" nodeType="afterEffect">
                                  <p:stCondLst>
                                    <p:cond delay="0"/>
                                  </p:stCondLst>
                                  <p:childTnLst>
                                    <p:set>
                                      <p:cBhvr>
                                        <p:cTn id="23" dur="500" fill="hold">
                                          <p:stCondLst>
                                            <p:cond delay="0"/>
                                          </p:stCondLst>
                                        </p:cTn>
                                        <p:tgtEl>
                                          <p:spTgt spid="12"/>
                                        </p:tgtEl>
                                        <p:attrNameLst>
                                          <p:attrName>style.visibility</p:attrName>
                                        </p:attrNameLst>
                                      </p:cBhvr>
                                      <p:to>
                                        <p:strVal val="visible"/>
                                      </p:to>
                                    </p:set>
                                    <p:anim calcmode="lin" valueType="num">
                                      <p:cBhvr additive="base">
                                        <p:cTn id="24" dur="500" fill="hold"/>
                                        <p:tgtEl>
                                          <p:spTgt spid="12"/>
                                        </p:tgtEl>
                                        <p:attrNameLst>
                                          <p:attrName>ppt_x</p:attrName>
                                        </p:attrNameLst>
                                      </p:cBhvr>
                                      <p:tavLst>
                                        <p:tav tm="0">
                                          <p:val>
                                            <p:strVal val="#ppt_x"/>
                                          </p:val>
                                        </p:tav>
                                        <p:tav tm="100000">
                                          <p:val>
                                            <p:strVal val="#ppt_x"/>
                                          </p:val>
                                        </p:tav>
                                      </p:tavLst>
                                    </p:anim>
                                    <p:anim calcmode="lin" valueType="num">
                                      <p:cBhvr additive="base">
                                        <p:cTn id="25"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linds(horizontal)">
                                      <p:cBhvr>
                                        <p:cTn id="30" dur="500"/>
                                        <p:tgtEl>
                                          <p:spTgt spid="13"/>
                                        </p:tgtEl>
                                      </p:cBhvr>
                                    </p:animEffect>
                                  </p:childTnLst>
                                </p:cTn>
                              </p:par>
                            </p:childTnLst>
                          </p:cTn>
                        </p:par>
                        <p:par>
                          <p:cTn id="31" fill="hold">
                            <p:stCondLst>
                              <p:cond delay="500"/>
                            </p:stCondLst>
                            <p:childTnLst>
                              <p:par>
                                <p:cTn id="32" presetID="3" presetClass="entr" presetSubtype="1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blinds(horizontal)">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7">
            <a:extLst>
              <a:ext uri="{FF2B5EF4-FFF2-40B4-BE49-F238E27FC236}">
                <a16:creationId xmlns:a16="http://schemas.microsoft.com/office/drawing/2014/main" id="{FBF011CD-DA0D-463F-A6A1-08E985F91582}"/>
              </a:ext>
            </a:extLst>
          </p:cNvPr>
          <p:cNvSpPr txBox="1">
            <a:spLocks noChangeArrowheads="1"/>
          </p:cNvSpPr>
          <p:nvPr/>
        </p:nvSpPr>
        <p:spPr bwMode="auto">
          <a:xfrm>
            <a:off x="1719606" y="1746329"/>
            <a:ext cx="7521414"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sz="2000" b="1" dirty="0">
                <a:latin typeface="方正姚体" pitchFamily="2" charset="-122"/>
                <a:ea typeface="方正姚体" pitchFamily="2" charset="-122"/>
              </a:rPr>
              <a:t>针对广告中的情形，</a:t>
            </a:r>
            <a:r>
              <a:rPr lang="en-US" altLang="zh-CN" sz="2000" b="1" dirty="0">
                <a:latin typeface="方正姚体" pitchFamily="2" charset="-122"/>
                <a:ea typeface="方正姚体" pitchFamily="2" charset="-122"/>
              </a:rPr>
              <a:t>N=5</a:t>
            </a:r>
            <a:r>
              <a:rPr lang="zh-CN" altLang="en-US" sz="2000" b="1" dirty="0">
                <a:latin typeface="方正姚体" pitchFamily="2" charset="-122"/>
                <a:ea typeface="方正姚体" pitchFamily="2" charset="-122"/>
              </a:rPr>
              <a:t>年</a:t>
            </a:r>
            <a:r>
              <a:rPr lang="en-US" altLang="zh-CN" sz="2000" b="1" dirty="0">
                <a:latin typeface="方正姚体" pitchFamily="2" charset="-122"/>
                <a:ea typeface="方正姚体" pitchFamily="2" charset="-122"/>
              </a:rPr>
              <a:t>=60</a:t>
            </a:r>
            <a:r>
              <a:rPr lang="zh-CN" altLang="en-US" sz="2000" b="1" dirty="0">
                <a:latin typeface="方正姚体" pitchFamily="2" charset="-122"/>
                <a:ea typeface="方正姚体" pitchFamily="2" charset="-122"/>
              </a:rPr>
              <a:t>个月，每月还款</a:t>
            </a:r>
            <a:r>
              <a:rPr lang="en-US" altLang="zh-CN" sz="2000" b="1" i="1" dirty="0">
                <a:latin typeface="Times New Roman" pitchFamily="18" charset="0"/>
                <a:ea typeface="方正姚体" pitchFamily="2" charset="-122"/>
                <a:cs typeface="Times New Roman" pitchFamily="18" charset="0"/>
              </a:rPr>
              <a:t>x=1200</a:t>
            </a:r>
            <a:r>
              <a:rPr lang="zh-CN" altLang="en-US" sz="2000" b="1" dirty="0">
                <a:latin typeface="方正姚体" pitchFamily="2" charset="-122"/>
                <a:ea typeface="方正姚体" pitchFamily="2" charset="-122"/>
              </a:rPr>
              <a:t>元，已知 。</a:t>
            </a:r>
          </a:p>
        </p:txBody>
      </p:sp>
      <p:grpSp>
        <p:nvGrpSpPr>
          <p:cNvPr id="5" name="Group 9">
            <a:extLst>
              <a:ext uri="{FF2B5EF4-FFF2-40B4-BE49-F238E27FC236}">
                <a16:creationId xmlns:a16="http://schemas.microsoft.com/office/drawing/2014/main" id="{4A0C976D-917A-4381-AE5E-929F8B037012}"/>
              </a:ext>
            </a:extLst>
          </p:cNvPr>
          <p:cNvGrpSpPr/>
          <p:nvPr/>
        </p:nvGrpSpPr>
        <p:grpSpPr bwMode="auto">
          <a:xfrm>
            <a:off x="1706788" y="2290987"/>
            <a:ext cx="9082617" cy="441325"/>
            <a:chOff x="384" y="912"/>
            <a:chExt cx="4291" cy="278"/>
          </a:xfrm>
        </p:grpSpPr>
        <p:sp>
          <p:nvSpPr>
            <p:cNvPr id="6" name="Text Box 10">
              <a:extLst>
                <a:ext uri="{FF2B5EF4-FFF2-40B4-BE49-F238E27FC236}">
                  <a16:creationId xmlns:a16="http://schemas.microsoft.com/office/drawing/2014/main" id="{C60B7349-8DD9-4CE8-B189-2B99D4B3564C}"/>
                </a:ext>
              </a:extLst>
            </p:cNvPr>
            <p:cNvSpPr txBox="1">
              <a:spLocks noChangeArrowheads="1"/>
            </p:cNvSpPr>
            <p:nvPr/>
          </p:nvSpPr>
          <p:spPr bwMode="auto">
            <a:xfrm>
              <a:off x="384" y="912"/>
              <a:ext cx="42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sz="2000" b="1" dirty="0">
                  <a:latin typeface="方正姚体" pitchFamily="2" charset="-122"/>
                  <a:ea typeface="方正姚体" pitchFamily="2" charset="-122"/>
                </a:rPr>
                <a:t>但      即一次性付款购买价减去</a:t>
              </a:r>
              <a:r>
                <a:rPr lang="en-US" altLang="zh-CN" sz="2000" b="1" dirty="0">
                  <a:latin typeface="方正姚体" pitchFamily="2" charset="-122"/>
                  <a:ea typeface="方正姚体" pitchFamily="2" charset="-122"/>
                </a:rPr>
                <a:t>70000</a:t>
              </a:r>
              <a:r>
                <a:rPr lang="zh-CN" altLang="en-US" sz="2000" b="1" dirty="0">
                  <a:latin typeface="方正姚体" pitchFamily="2" charset="-122"/>
                  <a:ea typeface="方正姚体" pitchFamily="2" charset="-122"/>
                </a:rPr>
                <a:t>元后剩下要另外去借的款，没有告诉你。</a:t>
              </a:r>
              <a:endParaRPr lang="en-US" altLang="zh-CN" sz="2000" b="1" dirty="0">
                <a:latin typeface="方正姚体" pitchFamily="2" charset="-122"/>
                <a:ea typeface="方正姚体" pitchFamily="2" charset="-122"/>
              </a:endParaRPr>
            </a:p>
          </p:txBody>
        </p:sp>
        <p:graphicFrame>
          <p:nvGraphicFramePr>
            <p:cNvPr id="7" name="Object 11">
              <a:extLst>
                <a:ext uri="{FF2B5EF4-FFF2-40B4-BE49-F238E27FC236}">
                  <a16:creationId xmlns:a16="http://schemas.microsoft.com/office/drawing/2014/main" id="{4FF47E86-7BD0-48CD-8933-03ED67DA94CA}"/>
                </a:ext>
              </a:extLst>
            </p:cNvPr>
            <p:cNvGraphicFramePr>
              <a:graphicFrameLocks noChangeAspect="1"/>
            </p:cNvGraphicFramePr>
            <p:nvPr>
              <p:extLst>
                <p:ext uri="{D42A27DB-BD31-4B8C-83A1-F6EECF244321}">
                  <p14:modId xmlns:p14="http://schemas.microsoft.com/office/powerpoint/2010/main" val="2341697958"/>
                </p:ext>
              </p:extLst>
            </p:nvPr>
          </p:nvGraphicFramePr>
          <p:xfrm>
            <a:off x="530" y="926"/>
            <a:ext cx="220" cy="264"/>
          </p:xfrm>
          <a:graphic>
            <a:graphicData uri="http://schemas.openxmlformats.org/presentationml/2006/ole">
              <mc:AlternateContent xmlns:mc="http://schemas.openxmlformats.org/markup-compatibility/2006">
                <mc:Choice xmlns:v="urn:schemas-microsoft-com:vml" Requires="v">
                  <p:oleObj name="Equation" r:id="rId2" imgW="190500" imgH="228600" progId="">
                    <p:embed/>
                  </p:oleObj>
                </mc:Choice>
                <mc:Fallback>
                  <p:oleObj name="Equation" r:id="rId2" imgW="190500" imgH="228600" progId="">
                    <p:embed/>
                    <p:pic>
                      <p:nvPicPr>
                        <p:cNvPr id="7" name="Object 11">
                          <a:extLst>
                            <a:ext uri="{FF2B5EF4-FFF2-40B4-BE49-F238E27FC236}">
                              <a16:creationId xmlns:a16="http://schemas.microsoft.com/office/drawing/2014/main" id="{4FF47E86-7BD0-48CD-8933-03ED67DA94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 y="926"/>
                          <a:ext cx="220" cy="2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8" name="Text Box 12">
            <a:extLst>
              <a:ext uri="{FF2B5EF4-FFF2-40B4-BE49-F238E27FC236}">
                <a16:creationId xmlns:a16="http://schemas.microsoft.com/office/drawing/2014/main" id="{2EA29F25-AD34-4DAB-9A15-72FEFA352CED}"/>
              </a:ext>
            </a:extLst>
          </p:cNvPr>
          <p:cNvSpPr txBox="1">
            <a:spLocks noChangeArrowheads="1"/>
          </p:cNvSpPr>
          <p:nvPr/>
        </p:nvSpPr>
        <p:spPr bwMode="auto">
          <a:xfrm>
            <a:off x="1680390" y="2883037"/>
            <a:ext cx="6567434"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sz="2000" b="1" dirty="0">
                <a:latin typeface="方正姚体" pitchFamily="2" charset="-122"/>
                <a:ea typeface="方正姚体" pitchFamily="2" charset="-122"/>
              </a:rPr>
              <a:t>此外银行贷款利率</a:t>
            </a:r>
            <a:r>
              <a:rPr lang="en-US" altLang="zh-CN" sz="2000" b="1" dirty="0">
                <a:latin typeface="方正姚体" pitchFamily="2" charset="-122"/>
                <a:ea typeface="方正姚体" pitchFamily="2" charset="-122"/>
              </a:rPr>
              <a:t>R</a:t>
            </a:r>
            <a:r>
              <a:rPr lang="zh-CN" altLang="en-US" sz="2000" b="1" dirty="0">
                <a:latin typeface="方正姚体" pitchFamily="2" charset="-122"/>
                <a:ea typeface="方正姚体" pitchFamily="2" charset="-122"/>
              </a:rPr>
              <a:t>也没有告诉你，这造成决策的困难。</a:t>
            </a:r>
            <a:r>
              <a:rPr lang="en-US" altLang="zh-CN" sz="2000" b="1" dirty="0">
                <a:latin typeface="方正姚体" pitchFamily="2" charset="-122"/>
                <a:ea typeface="方正姚体" pitchFamily="2" charset="-122"/>
              </a:rPr>
              <a:t> </a:t>
            </a:r>
          </a:p>
        </p:txBody>
      </p:sp>
      <p:grpSp>
        <p:nvGrpSpPr>
          <p:cNvPr id="9" name="Group 28">
            <a:extLst>
              <a:ext uri="{FF2B5EF4-FFF2-40B4-BE49-F238E27FC236}">
                <a16:creationId xmlns:a16="http://schemas.microsoft.com/office/drawing/2014/main" id="{F3B603CC-9E2E-41DC-995D-E3AB06374334}"/>
              </a:ext>
            </a:extLst>
          </p:cNvPr>
          <p:cNvGrpSpPr/>
          <p:nvPr/>
        </p:nvGrpSpPr>
        <p:grpSpPr bwMode="auto">
          <a:xfrm>
            <a:off x="1680536" y="3550079"/>
            <a:ext cx="5839883" cy="469900"/>
            <a:chOff x="13" y="1547"/>
            <a:chExt cx="2759" cy="296"/>
          </a:xfrm>
        </p:grpSpPr>
        <p:sp>
          <p:nvSpPr>
            <p:cNvPr id="10" name="Text Box 15">
              <a:extLst>
                <a:ext uri="{FF2B5EF4-FFF2-40B4-BE49-F238E27FC236}">
                  <a16:creationId xmlns:a16="http://schemas.microsoft.com/office/drawing/2014/main" id="{0C81735B-5470-45CD-A8EA-079580D858BA}"/>
                </a:ext>
              </a:extLst>
            </p:cNvPr>
            <p:cNvSpPr txBox="1">
              <a:spLocks noChangeArrowheads="1"/>
            </p:cNvSpPr>
            <p:nvPr/>
          </p:nvSpPr>
          <p:spPr bwMode="auto">
            <a:xfrm>
              <a:off x="13" y="1547"/>
              <a:ext cx="275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sz="2000" b="1" dirty="0">
                  <a:latin typeface="方正姚体" pitchFamily="2" charset="-122"/>
                  <a:ea typeface="方正姚体" pitchFamily="2" charset="-122"/>
                </a:rPr>
                <a:t>可知</a:t>
              </a:r>
              <a:r>
                <a:rPr lang="en-US" altLang="zh-CN" sz="2000" b="1" dirty="0">
                  <a:latin typeface="方正姚体" pitchFamily="2" charset="-122"/>
                  <a:ea typeface="方正姚体" pitchFamily="2" charset="-122"/>
                </a:rPr>
                <a:t>60</a:t>
              </a:r>
              <a:r>
                <a:rPr lang="zh-CN" altLang="en-US" sz="2000" b="1" dirty="0">
                  <a:latin typeface="方正姚体" pitchFamily="2" charset="-122"/>
                  <a:ea typeface="方正姚体" pitchFamily="2" charset="-122"/>
                </a:rPr>
                <a:t>个月后还清，即        </a:t>
              </a:r>
              <a:r>
                <a:rPr lang="en-US" altLang="zh-CN" sz="2000" b="1" dirty="0">
                  <a:latin typeface="方正姚体" pitchFamily="2" charset="-122"/>
                  <a:ea typeface="方正姚体" pitchFamily="2" charset="-122"/>
                </a:rPr>
                <a:t>=0</a:t>
              </a:r>
              <a:r>
                <a:rPr lang="zh-CN" altLang="en-US" sz="2000" b="1" dirty="0">
                  <a:latin typeface="方正姚体" pitchFamily="2" charset="-122"/>
                  <a:ea typeface="方正姚体" pitchFamily="2" charset="-122"/>
                </a:rPr>
                <a:t>，从而得</a:t>
              </a:r>
              <a:endParaRPr lang="en-US" altLang="zh-CN" sz="2000" b="1" dirty="0">
                <a:latin typeface="方正姚体" pitchFamily="2" charset="-122"/>
                <a:ea typeface="方正姚体" pitchFamily="2" charset="-122"/>
              </a:endParaRPr>
            </a:p>
          </p:txBody>
        </p:sp>
        <p:graphicFrame>
          <p:nvGraphicFramePr>
            <p:cNvPr id="11" name="Object 16">
              <a:extLst>
                <a:ext uri="{FF2B5EF4-FFF2-40B4-BE49-F238E27FC236}">
                  <a16:creationId xmlns:a16="http://schemas.microsoft.com/office/drawing/2014/main" id="{6CCE7830-9985-4205-BEAF-BC7FB837A589}"/>
                </a:ext>
              </a:extLst>
            </p:cNvPr>
            <p:cNvGraphicFramePr>
              <a:graphicFrameLocks noChangeAspect="1"/>
            </p:cNvGraphicFramePr>
            <p:nvPr>
              <p:extLst>
                <p:ext uri="{D42A27DB-BD31-4B8C-83A1-F6EECF244321}">
                  <p14:modId xmlns:p14="http://schemas.microsoft.com/office/powerpoint/2010/main" val="16402712"/>
                </p:ext>
              </p:extLst>
            </p:nvPr>
          </p:nvGraphicFramePr>
          <p:xfrm>
            <a:off x="1235" y="1555"/>
            <a:ext cx="288" cy="288"/>
          </p:xfrm>
          <a:graphic>
            <a:graphicData uri="http://schemas.openxmlformats.org/presentationml/2006/ole">
              <mc:AlternateContent xmlns:mc="http://schemas.openxmlformats.org/markup-compatibility/2006">
                <mc:Choice xmlns:v="urn:schemas-microsoft-com:vml" Requires="v">
                  <p:oleObj name="Equation" r:id="rId4" imgW="228600" imgH="228600" progId="">
                    <p:embed/>
                  </p:oleObj>
                </mc:Choice>
                <mc:Fallback>
                  <p:oleObj name="Equation" r:id="rId4" imgW="228600" imgH="228600" progId="">
                    <p:embed/>
                    <p:pic>
                      <p:nvPicPr>
                        <p:cNvPr id="11" name="Object 16">
                          <a:extLst>
                            <a:ext uri="{FF2B5EF4-FFF2-40B4-BE49-F238E27FC236}">
                              <a16:creationId xmlns:a16="http://schemas.microsoft.com/office/drawing/2014/main" id="{6CCE7830-9985-4205-BEAF-BC7FB837A58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5" y="1555"/>
                          <a:ext cx="288"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2" name="Object 18">
            <a:extLst>
              <a:ext uri="{FF2B5EF4-FFF2-40B4-BE49-F238E27FC236}">
                <a16:creationId xmlns:a16="http://schemas.microsoft.com/office/drawing/2014/main" id="{DBACCADE-BD65-4D5A-8305-B364D9167723}"/>
              </a:ext>
            </a:extLst>
          </p:cNvPr>
          <p:cNvGraphicFramePr>
            <a:graphicFrameLocks noChangeAspect="1"/>
          </p:cNvGraphicFramePr>
          <p:nvPr>
            <p:extLst>
              <p:ext uri="{D42A27DB-BD31-4B8C-83A1-F6EECF244321}">
                <p14:modId xmlns:p14="http://schemas.microsoft.com/office/powerpoint/2010/main" val="2708505583"/>
              </p:ext>
            </p:extLst>
          </p:nvPr>
        </p:nvGraphicFramePr>
        <p:xfrm>
          <a:off x="3346568" y="4108228"/>
          <a:ext cx="5894452" cy="799248"/>
        </p:xfrm>
        <a:graphic>
          <a:graphicData uri="http://schemas.openxmlformats.org/presentationml/2006/ole">
            <mc:AlternateContent xmlns:mc="http://schemas.openxmlformats.org/markup-compatibility/2006">
              <mc:Choice xmlns:v="urn:schemas-microsoft-com:vml" Requires="v">
                <p:oleObj name="Equation" r:id="rId6" imgW="2159000" imgH="393700" progId="">
                  <p:embed/>
                </p:oleObj>
              </mc:Choice>
              <mc:Fallback>
                <p:oleObj name="Equation" r:id="rId6" imgW="2159000" imgH="393700" progId="">
                  <p:embed/>
                  <p:pic>
                    <p:nvPicPr>
                      <p:cNvPr id="12" name="Object 18">
                        <a:extLst>
                          <a:ext uri="{FF2B5EF4-FFF2-40B4-BE49-F238E27FC236}">
                            <a16:creationId xmlns:a16="http://schemas.microsoft.com/office/drawing/2014/main" id="{DBACCADE-BD65-4D5A-8305-B364D916772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6568" y="4108228"/>
                        <a:ext cx="5894452" cy="7992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20">
            <a:extLst>
              <a:ext uri="{FF2B5EF4-FFF2-40B4-BE49-F238E27FC236}">
                <a16:creationId xmlns:a16="http://schemas.microsoft.com/office/drawing/2014/main" id="{049D0D08-9FA0-4062-B49B-9C3EB008CE82}"/>
              </a:ext>
            </a:extLst>
          </p:cNvPr>
          <p:cNvGraphicFramePr>
            <a:graphicFrameLocks noChangeAspect="1"/>
          </p:cNvGraphicFramePr>
          <p:nvPr>
            <p:extLst>
              <p:ext uri="{D42A27DB-BD31-4B8C-83A1-F6EECF244321}">
                <p14:modId xmlns:p14="http://schemas.microsoft.com/office/powerpoint/2010/main" val="1358092781"/>
              </p:ext>
            </p:extLst>
          </p:nvPr>
        </p:nvGraphicFramePr>
        <p:xfrm>
          <a:off x="3295768" y="4968017"/>
          <a:ext cx="4145102" cy="936041"/>
        </p:xfrm>
        <a:graphic>
          <a:graphicData uri="http://schemas.openxmlformats.org/presentationml/2006/ole">
            <mc:AlternateContent xmlns:mc="http://schemas.openxmlformats.org/markup-compatibility/2006">
              <mc:Choice xmlns:v="urn:schemas-microsoft-com:vml" Requires="v">
                <p:oleObj name="Equation" r:id="rId8" imgW="1485255" imgH="444307" progId="">
                  <p:embed/>
                </p:oleObj>
              </mc:Choice>
              <mc:Fallback>
                <p:oleObj name="Equation" r:id="rId8" imgW="1485255" imgH="444307" progId="">
                  <p:embed/>
                  <p:pic>
                    <p:nvPicPr>
                      <p:cNvPr id="13" name="Object 20">
                        <a:extLst>
                          <a:ext uri="{FF2B5EF4-FFF2-40B4-BE49-F238E27FC236}">
                            <a16:creationId xmlns:a16="http://schemas.microsoft.com/office/drawing/2014/main" id="{049D0D08-9FA0-4062-B49B-9C3EB008CE8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95768" y="4968017"/>
                        <a:ext cx="4145102" cy="9360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4" name="Group 31">
            <a:extLst>
              <a:ext uri="{FF2B5EF4-FFF2-40B4-BE49-F238E27FC236}">
                <a16:creationId xmlns:a16="http://schemas.microsoft.com/office/drawing/2014/main" id="{A78CACCB-CBBD-492C-9F40-00AA656CE760}"/>
              </a:ext>
            </a:extLst>
          </p:cNvPr>
          <p:cNvGrpSpPr/>
          <p:nvPr/>
        </p:nvGrpSpPr>
        <p:grpSpPr bwMode="auto">
          <a:xfrm>
            <a:off x="1680390" y="5992479"/>
            <a:ext cx="8856738" cy="773113"/>
            <a:chOff x="354" y="2724"/>
            <a:chExt cx="4800" cy="487"/>
          </a:xfrm>
        </p:grpSpPr>
        <p:sp>
          <p:nvSpPr>
            <p:cNvPr id="15" name="Text Box 24">
              <a:extLst>
                <a:ext uri="{FF2B5EF4-FFF2-40B4-BE49-F238E27FC236}">
                  <a16:creationId xmlns:a16="http://schemas.microsoft.com/office/drawing/2014/main" id="{EFAEDA5E-CF15-47D1-AE67-85F871D58064}"/>
                </a:ext>
              </a:extLst>
            </p:cNvPr>
            <p:cNvSpPr txBox="1">
              <a:spLocks noChangeArrowheads="1"/>
            </p:cNvSpPr>
            <p:nvPr/>
          </p:nvSpPr>
          <p:spPr bwMode="auto">
            <a:xfrm>
              <a:off x="354" y="2728"/>
              <a:ext cx="4800"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b="1" dirty="0">
                  <a:latin typeface="方正姚体" pitchFamily="2" charset="-122"/>
                  <a:ea typeface="方正姚体" pitchFamily="2" charset="-122"/>
                </a:rPr>
                <a:t>这表</a:t>
              </a:r>
              <a:r>
                <a:rPr lang="zh-CN" altLang="en-US" sz="2000" b="1" dirty="0">
                  <a:latin typeface="方正姚体" pitchFamily="2" charset="-122"/>
                  <a:ea typeface="方正姚体" pitchFamily="2" charset="-122"/>
                </a:rPr>
                <a:t>示</a:t>
              </a:r>
              <a:r>
                <a:rPr lang="en-US" altLang="zh-CN" sz="2000" b="1" dirty="0">
                  <a:latin typeface="方正姚体" pitchFamily="2" charset="-122"/>
                  <a:ea typeface="方正姚体" pitchFamily="2" charset="-122"/>
                </a:rPr>
                <a:t>N=60</a:t>
              </a:r>
              <a:r>
                <a:rPr lang="zh-CN" altLang="en-US" sz="2000" b="1" dirty="0">
                  <a:latin typeface="方正姚体" pitchFamily="2" charset="-122"/>
                  <a:ea typeface="方正姚体" pitchFamily="2" charset="-122"/>
                </a:rPr>
                <a:t>，</a:t>
              </a:r>
              <a:r>
                <a:rPr lang="en-US" altLang="zh-CN" sz="2000" b="1" i="1" dirty="0">
                  <a:latin typeface="Times New Roman" pitchFamily="18" charset="0"/>
                  <a:ea typeface="方正姚体" pitchFamily="2" charset="-122"/>
                  <a:cs typeface="Times New Roman" pitchFamily="18" charset="0"/>
                </a:rPr>
                <a:t>x</a:t>
              </a:r>
              <a:r>
                <a:rPr lang="en-US" altLang="zh-CN" sz="2000" b="1" dirty="0">
                  <a:latin typeface="方正姚体" pitchFamily="2" charset="-122"/>
                  <a:ea typeface="方正姚体" pitchFamily="2" charset="-122"/>
                </a:rPr>
                <a:t>=1200</a:t>
              </a:r>
              <a:r>
                <a:rPr lang="zh-CN" altLang="en-US" sz="2000" b="1" dirty="0">
                  <a:latin typeface="方正姚体" pitchFamily="2" charset="-122"/>
                  <a:ea typeface="方正姚体" pitchFamily="2" charset="-122"/>
                </a:rPr>
                <a:t>给定时  和</a:t>
              </a:r>
              <a:r>
                <a:rPr lang="en-US" altLang="zh-CN" sz="2000" b="1" dirty="0">
                  <a:latin typeface="方正姚体" pitchFamily="2" charset="-122"/>
                  <a:ea typeface="方正姚体" pitchFamily="2" charset="-122"/>
                </a:rPr>
                <a:t>R</a:t>
              </a:r>
              <a:r>
                <a:rPr lang="zh-CN" altLang="en-US" sz="2000" b="1" dirty="0">
                  <a:latin typeface="方正姚体" pitchFamily="2" charset="-122"/>
                  <a:ea typeface="方正姚体" pitchFamily="2" charset="-122"/>
                </a:rPr>
                <a:t>之间的关系式，如果我们已经知道银行的贷款利息</a:t>
              </a:r>
              <a:r>
                <a:rPr lang="en-US" altLang="zh-CN" sz="2000" b="1" dirty="0">
                  <a:latin typeface="方正姚体" pitchFamily="2" charset="-122"/>
                  <a:ea typeface="方正姚体" pitchFamily="2" charset="-122"/>
                </a:rPr>
                <a:t>R</a:t>
              </a:r>
              <a:r>
                <a:rPr lang="zh-CN" altLang="en-US" sz="2000" b="1" dirty="0">
                  <a:latin typeface="方正姚体" pitchFamily="2" charset="-122"/>
                  <a:ea typeface="方正姚体" pitchFamily="2" charset="-122"/>
                </a:rPr>
                <a:t>，就可以算出     。 </a:t>
              </a:r>
            </a:p>
          </p:txBody>
        </p:sp>
        <p:graphicFrame>
          <p:nvGraphicFramePr>
            <p:cNvPr id="16" name="Object 25">
              <a:extLst>
                <a:ext uri="{FF2B5EF4-FFF2-40B4-BE49-F238E27FC236}">
                  <a16:creationId xmlns:a16="http://schemas.microsoft.com/office/drawing/2014/main" id="{162CAC02-F47C-4E1D-ADA6-77AA7EF9BE1B}"/>
                </a:ext>
              </a:extLst>
            </p:cNvPr>
            <p:cNvGraphicFramePr>
              <a:graphicFrameLocks noChangeAspect="1"/>
            </p:cNvGraphicFramePr>
            <p:nvPr>
              <p:extLst>
                <p:ext uri="{D42A27DB-BD31-4B8C-83A1-F6EECF244321}">
                  <p14:modId xmlns:p14="http://schemas.microsoft.com/office/powerpoint/2010/main" val="1072974551"/>
                </p:ext>
              </p:extLst>
            </p:nvPr>
          </p:nvGraphicFramePr>
          <p:xfrm>
            <a:off x="1705" y="2931"/>
            <a:ext cx="233" cy="280"/>
          </p:xfrm>
          <a:graphic>
            <a:graphicData uri="http://schemas.openxmlformats.org/presentationml/2006/ole">
              <mc:AlternateContent xmlns:mc="http://schemas.openxmlformats.org/markup-compatibility/2006">
                <mc:Choice xmlns:v="urn:schemas-microsoft-com:vml" Requires="v">
                  <p:oleObj name="Equation" r:id="rId10" imgW="190500" imgH="228600" progId="">
                    <p:embed/>
                  </p:oleObj>
                </mc:Choice>
                <mc:Fallback>
                  <p:oleObj name="Equation" r:id="rId10" imgW="190500" imgH="228600" progId="">
                    <p:embed/>
                    <p:pic>
                      <p:nvPicPr>
                        <p:cNvPr id="16" name="Object 25">
                          <a:extLst>
                            <a:ext uri="{FF2B5EF4-FFF2-40B4-BE49-F238E27FC236}">
                              <a16:creationId xmlns:a16="http://schemas.microsoft.com/office/drawing/2014/main" id="{162CAC02-F47C-4E1D-ADA6-77AA7EF9BE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5" y="2931"/>
                          <a:ext cx="233" cy="2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25">
              <a:extLst>
                <a:ext uri="{FF2B5EF4-FFF2-40B4-BE49-F238E27FC236}">
                  <a16:creationId xmlns:a16="http://schemas.microsoft.com/office/drawing/2014/main" id="{61F5C83B-43D8-4E37-8ADF-33CD3CDF6781}"/>
                </a:ext>
              </a:extLst>
            </p:cNvPr>
            <p:cNvGraphicFramePr>
              <a:graphicFrameLocks noChangeAspect="1"/>
            </p:cNvGraphicFramePr>
            <p:nvPr>
              <p:extLst>
                <p:ext uri="{D42A27DB-BD31-4B8C-83A1-F6EECF244321}">
                  <p14:modId xmlns:p14="http://schemas.microsoft.com/office/powerpoint/2010/main" val="2420374974"/>
                </p:ext>
              </p:extLst>
            </p:nvPr>
          </p:nvGraphicFramePr>
          <p:xfrm>
            <a:off x="2047" y="2724"/>
            <a:ext cx="213" cy="288"/>
          </p:xfrm>
          <a:graphic>
            <a:graphicData uri="http://schemas.openxmlformats.org/presentationml/2006/ole">
              <mc:AlternateContent xmlns:mc="http://schemas.openxmlformats.org/markup-compatibility/2006">
                <mc:Choice xmlns:v="urn:schemas-microsoft-com:vml" Requires="v">
                  <p:oleObj name="Equation" r:id="rId11" imgW="190500" imgH="228600" progId="">
                    <p:embed/>
                  </p:oleObj>
                </mc:Choice>
                <mc:Fallback>
                  <p:oleObj name="Equation" r:id="rId11" imgW="190500" imgH="228600" progId="">
                    <p:embed/>
                    <p:pic>
                      <p:nvPicPr>
                        <p:cNvPr id="17" name="Object 25">
                          <a:extLst>
                            <a:ext uri="{FF2B5EF4-FFF2-40B4-BE49-F238E27FC236}">
                              <a16:creationId xmlns:a16="http://schemas.microsoft.com/office/drawing/2014/main" id="{61F5C83B-43D8-4E37-8ADF-33CD3CDF67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7" y="2724"/>
                          <a:ext cx="213"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8" name="标题 1">
            <a:extLst>
              <a:ext uri="{FF2B5EF4-FFF2-40B4-BE49-F238E27FC236}">
                <a16:creationId xmlns:a16="http://schemas.microsoft.com/office/drawing/2014/main" id="{2159A23D-DD63-43DE-BEDB-86CE042D80B5}"/>
              </a:ext>
            </a:extLst>
          </p:cNvPr>
          <p:cNvSpPr>
            <a:spLocks noGrp="1"/>
          </p:cNvSpPr>
          <p:nvPr>
            <p:ph type="title"/>
          </p:nvPr>
        </p:nvSpPr>
        <p:spPr>
          <a:xfrm>
            <a:off x="4063041" y="713947"/>
            <a:ext cx="3206151" cy="776378"/>
          </a:xfrm>
        </p:spPr>
        <p:txBody>
          <a:bodyPr>
            <a:normAutofit/>
          </a:bodyPr>
          <a:lstStyle/>
          <a:p>
            <a:r>
              <a:rPr lang="zh-CN" altLang="en-US" sz="3200" b="1" dirty="0">
                <a:solidFill>
                  <a:srgbClr val="0000FF"/>
                </a:solidFill>
                <a:latin typeface="微软雅黑" charset="-122"/>
                <a:ea typeface="微软雅黑" charset="-122"/>
                <a:sym typeface="+mn-ea"/>
              </a:rPr>
              <a:t>贷款买房问题</a:t>
            </a:r>
            <a:endParaRPr lang="zh-CN" altLang="en-US" sz="3200" dirty="0"/>
          </a:p>
        </p:txBody>
      </p:sp>
    </p:spTree>
    <p:extLst>
      <p:ext uri="{BB962C8B-B14F-4D97-AF65-F5344CB8AC3E}">
        <p14:creationId xmlns:p14="http://schemas.microsoft.com/office/powerpoint/2010/main" val="1361982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ox(in)">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8" presetClass="entr" presetSubtype="16"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diamond(in)">
                                      <p:cBhvr>
                                        <p:cTn id="28" dur="20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1"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ppt_x</p:attrName>
                                        </p:attrNameLst>
                                      </p:cBhvr>
                                      <p:tavLst>
                                        <p:tav tm="0">
                                          <p:val>
                                            <p:strVal val="#ppt_x"/>
                                          </p:val>
                                        </p:tav>
                                        <p:tav tm="100000">
                                          <p:val>
                                            <p:strVal val="#ppt_x"/>
                                          </p:val>
                                        </p:tav>
                                      </p:tavLst>
                                    </p:anim>
                                    <p:anim calcmode="lin" valueType="num">
                                      <p:cBhvr additive="base">
                                        <p:cTn id="34"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blinds(horizontal)">
                                      <p:cBhvr>
                                        <p:cTn id="3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CE7A38A6-ED93-473B-816C-5E7EDEA73F6F}"/>
              </a:ext>
            </a:extLst>
          </p:cNvPr>
          <p:cNvSpPr txBox="1">
            <a:spLocks noChangeArrowheads="1"/>
          </p:cNvSpPr>
          <p:nvPr/>
        </p:nvSpPr>
        <p:spPr bwMode="auto">
          <a:xfrm>
            <a:off x="1368725" y="1863930"/>
            <a:ext cx="9362534" cy="1428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ts val="3600"/>
              </a:lnSpc>
              <a:spcBef>
                <a:spcPct val="50000"/>
              </a:spcBef>
            </a:pPr>
            <a:r>
              <a:rPr lang="zh-CN" altLang="en-US" sz="2400" b="1" dirty="0"/>
              <a:t>若某校一对年轻夫妇为买房要用银行贷款</a:t>
            </a:r>
            <a:r>
              <a:rPr lang="en-US" altLang="zh-CN" sz="2400" b="1" dirty="0"/>
              <a:t>60000</a:t>
            </a:r>
            <a:r>
              <a:rPr lang="zh-CN" altLang="en-US" sz="2400" b="1" dirty="0"/>
              <a:t>元，月利率</a:t>
            </a:r>
            <a:r>
              <a:rPr lang="en-US" altLang="zh-CN" sz="2400" b="1" dirty="0"/>
              <a:t>0.01</a:t>
            </a:r>
            <a:r>
              <a:rPr lang="zh-CN" altLang="en-US" sz="2400" b="1" dirty="0"/>
              <a:t>，贷款期</a:t>
            </a:r>
            <a:r>
              <a:rPr lang="en-US" altLang="zh-CN" sz="2400" b="1" dirty="0"/>
              <a:t>25</a:t>
            </a:r>
            <a:r>
              <a:rPr lang="zh-CN" altLang="en-US" sz="2400" b="1" dirty="0"/>
              <a:t>年</a:t>
            </a:r>
            <a:r>
              <a:rPr lang="en-US" altLang="zh-CN" sz="2400" b="1" dirty="0"/>
              <a:t>=300</a:t>
            </a:r>
            <a:r>
              <a:rPr lang="zh-CN" altLang="en-US" sz="2400" b="1" dirty="0"/>
              <a:t>月，这对年轻夫妇希望知道每月还多少钱，</a:t>
            </a:r>
            <a:r>
              <a:rPr lang="en-US" altLang="zh-CN" sz="2400" b="1" dirty="0"/>
              <a:t>25</a:t>
            </a:r>
            <a:r>
              <a:rPr lang="zh-CN" altLang="en-US" sz="2400" b="1" dirty="0"/>
              <a:t>年后就可以还清，假设这对夫妇每月可有节余</a:t>
            </a:r>
            <a:r>
              <a:rPr lang="en-US" altLang="zh-CN" sz="2400" b="1" dirty="0"/>
              <a:t>700</a:t>
            </a:r>
            <a:r>
              <a:rPr lang="zh-CN" altLang="en-US" sz="2400" b="1" dirty="0"/>
              <a:t>元，是否可以去买房呢？</a:t>
            </a:r>
          </a:p>
        </p:txBody>
      </p:sp>
      <p:grpSp>
        <p:nvGrpSpPr>
          <p:cNvPr id="5" name="Group 18">
            <a:extLst>
              <a:ext uri="{FF2B5EF4-FFF2-40B4-BE49-F238E27FC236}">
                <a16:creationId xmlns:a16="http://schemas.microsoft.com/office/drawing/2014/main" id="{66FB4DBB-0894-4901-9492-702F9C402D4D}"/>
              </a:ext>
            </a:extLst>
          </p:cNvPr>
          <p:cNvGrpSpPr/>
          <p:nvPr/>
        </p:nvGrpSpPr>
        <p:grpSpPr bwMode="auto">
          <a:xfrm>
            <a:off x="1408981" y="3532044"/>
            <a:ext cx="6661392" cy="490538"/>
            <a:chOff x="390" y="1593"/>
            <a:chExt cx="3122" cy="309"/>
          </a:xfrm>
        </p:grpSpPr>
        <p:sp>
          <p:nvSpPr>
            <p:cNvPr id="6" name="Text Box 5">
              <a:extLst>
                <a:ext uri="{FF2B5EF4-FFF2-40B4-BE49-F238E27FC236}">
                  <a16:creationId xmlns:a16="http://schemas.microsoft.com/office/drawing/2014/main" id="{12F51FE9-65E0-4BD6-9C70-BD58A62D978B}"/>
                </a:ext>
              </a:extLst>
            </p:cNvPr>
            <p:cNvSpPr txBox="1">
              <a:spLocks noChangeArrowheads="1"/>
            </p:cNvSpPr>
            <p:nvPr/>
          </p:nvSpPr>
          <p:spPr bwMode="auto">
            <a:xfrm>
              <a:off x="390" y="1593"/>
              <a:ext cx="312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dirty="0">
                  <a:solidFill>
                    <a:srgbClr val="1D41D5"/>
                  </a:solidFill>
                </a:rPr>
                <a:t>现在的问题就是要求使得        </a:t>
              </a:r>
              <a:r>
                <a:rPr lang="en-US" altLang="zh-CN" sz="2400" b="1" dirty="0">
                  <a:solidFill>
                    <a:srgbClr val="1D41D5"/>
                  </a:solidFill>
                </a:rPr>
                <a:t>=0</a:t>
              </a:r>
              <a:r>
                <a:rPr lang="zh-CN" altLang="en-US" sz="2400" b="1" dirty="0">
                  <a:solidFill>
                    <a:srgbClr val="1D41D5"/>
                  </a:solidFill>
                </a:rPr>
                <a:t>的 </a:t>
              </a:r>
              <a:r>
                <a:rPr lang="en-US" altLang="zh-CN" sz="2400" b="1" i="1" dirty="0">
                  <a:solidFill>
                    <a:srgbClr val="1D41D5"/>
                  </a:solidFill>
                  <a:latin typeface="Times New Roman" pitchFamily="18" charset="0"/>
                  <a:cs typeface="Times New Roman" pitchFamily="18" charset="0"/>
                </a:rPr>
                <a:t>x</a:t>
              </a:r>
              <a:r>
                <a:rPr lang="zh-CN" altLang="en-US" sz="2400" b="1" dirty="0">
                  <a:solidFill>
                    <a:srgbClr val="1D41D5"/>
                  </a:solidFill>
                </a:rPr>
                <a:t>，于是</a:t>
              </a:r>
            </a:p>
          </p:txBody>
        </p:sp>
        <p:graphicFrame>
          <p:nvGraphicFramePr>
            <p:cNvPr id="7" name="Object 6">
              <a:extLst>
                <a:ext uri="{FF2B5EF4-FFF2-40B4-BE49-F238E27FC236}">
                  <a16:creationId xmlns:a16="http://schemas.microsoft.com/office/drawing/2014/main" id="{C3D81B3C-39D3-4A8A-AE4D-BC33FC02DC69}"/>
                </a:ext>
              </a:extLst>
            </p:cNvPr>
            <p:cNvGraphicFramePr>
              <a:graphicFrameLocks noChangeAspect="1"/>
            </p:cNvGraphicFramePr>
            <p:nvPr>
              <p:extLst>
                <p:ext uri="{D42A27DB-BD31-4B8C-83A1-F6EECF244321}">
                  <p14:modId xmlns:p14="http://schemas.microsoft.com/office/powerpoint/2010/main" val="741324542"/>
                </p:ext>
              </p:extLst>
            </p:nvPr>
          </p:nvGraphicFramePr>
          <p:xfrm>
            <a:off x="2019" y="1614"/>
            <a:ext cx="336" cy="288"/>
          </p:xfrm>
          <a:graphic>
            <a:graphicData uri="http://schemas.openxmlformats.org/presentationml/2006/ole">
              <mc:AlternateContent xmlns:mc="http://schemas.openxmlformats.org/markup-compatibility/2006">
                <mc:Choice xmlns:v="urn:schemas-microsoft-com:vml" Requires="v">
                  <p:oleObj name="Equation" r:id="rId2" imgW="266584" imgH="228501" progId="">
                    <p:embed/>
                  </p:oleObj>
                </mc:Choice>
                <mc:Fallback>
                  <p:oleObj name="Equation" r:id="rId2" imgW="266584" imgH="228501" progId="">
                    <p:embed/>
                    <p:pic>
                      <p:nvPicPr>
                        <p:cNvPr id="7" name="Object 6">
                          <a:extLst>
                            <a:ext uri="{FF2B5EF4-FFF2-40B4-BE49-F238E27FC236}">
                              <a16:creationId xmlns:a16="http://schemas.microsoft.com/office/drawing/2014/main" id="{C3D81B3C-39D3-4A8A-AE4D-BC33FC02DC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9" y="1614"/>
                          <a:ext cx="336"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8" name="Object 8">
            <a:extLst>
              <a:ext uri="{FF2B5EF4-FFF2-40B4-BE49-F238E27FC236}">
                <a16:creationId xmlns:a16="http://schemas.microsoft.com/office/drawing/2014/main" id="{92ABB399-5582-41E7-B1A4-0225397F38B5}"/>
              </a:ext>
            </a:extLst>
          </p:cNvPr>
          <p:cNvGraphicFramePr>
            <a:graphicFrameLocks noChangeAspect="1"/>
          </p:cNvGraphicFramePr>
          <p:nvPr>
            <p:extLst>
              <p:ext uri="{D42A27DB-BD31-4B8C-83A1-F6EECF244321}">
                <p14:modId xmlns:p14="http://schemas.microsoft.com/office/powerpoint/2010/main" val="3494520031"/>
              </p:ext>
            </p:extLst>
          </p:nvPr>
        </p:nvGraphicFramePr>
        <p:xfrm>
          <a:off x="3754307" y="4427628"/>
          <a:ext cx="2895600" cy="1152654"/>
        </p:xfrm>
        <a:graphic>
          <a:graphicData uri="http://schemas.openxmlformats.org/presentationml/2006/ole">
            <mc:AlternateContent xmlns:mc="http://schemas.openxmlformats.org/markup-compatibility/2006">
              <mc:Choice xmlns:v="urn:schemas-microsoft-com:vml" Requires="v">
                <p:oleObj name="Equation" r:id="rId4" imgW="1002865" imgH="444307" progId="">
                  <p:embed/>
                </p:oleObj>
              </mc:Choice>
              <mc:Fallback>
                <p:oleObj name="Equation" r:id="rId4" imgW="1002865" imgH="444307" progId="">
                  <p:embed/>
                  <p:pic>
                    <p:nvPicPr>
                      <p:cNvPr id="8" name="Object 8">
                        <a:extLst>
                          <a:ext uri="{FF2B5EF4-FFF2-40B4-BE49-F238E27FC236}">
                            <a16:creationId xmlns:a16="http://schemas.microsoft.com/office/drawing/2014/main" id="{92ABB399-5582-41E7-B1A4-0225397F38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54307" y="4427628"/>
                        <a:ext cx="2895600" cy="1152654"/>
                      </a:xfrm>
                      <a:prstGeom prst="rect">
                        <a:avLst/>
                      </a:prstGeom>
                      <a:solidFill>
                        <a:srgbClr val="FFE699"/>
                      </a:solidFill>
                    </p:spPr>
                  </p:pic>
                </p:oleObj>
              </mc:Fallback>
            </mc:AlternateContent>
          </a:graphicData>
        </a:graphic>
      </p:graphicFrame>
      <p:grpSp>
        <p:nvGrpSpPr>
          <p:cNvPr id="9" name="Group 19">
            <a:extLst>
              <a:ext uri="{FF2B5EF4-FFF2-40B4-BE49-F238E27FC236}">
                <a16:creationId xmlns:a16="http://schemas.microsoft.com/office/drawing/2014/main" id="{2074F3CB-5778-44B9-BFB2-71A7C9B75815}"/>
              </a:ext>
            </a:extLst>
          </p:cNvPr>
          <p:cNvGrpSpPr/>
          <p:nvPr/>
        </p:nvGrpSpPr>
        <p:grpSpPr bwMode="auto">
          <a:xfrm>
            <a:off x="1408981" y="5763993"/>
            <a:ext cx="9236015" cy="966788"/>
            <a:chOff x="384" y="2860"/>
            <a:chExt cx="5040" cy="609"/>
          </a:xfrm>
        </p:grpSpPr>
        <p:sp>
          <p:nvSpPr>
            <p:cNvPr id="10" name="Text Box 15">
              <a:extLst>
                <a:ext uri="{FF2B5EF4-FFF2-40B4-BE49-F238E27FC236}">
                  <a16:creationId xmlns:a16="http://schemas.microsoft.com/office/drawing/2014/main" id="{EE7505A9-6473-4F47-B9AE-46D3DE461C5E}"/>
                </a:ext>
              </a:extLst>
            </p:cNvPr>
            <p:cNvSpPr txBox="1">
              <a:spLocks noChangeArrowheads="1"/>
            </p:cNvSpPr>
            <p:nvPr/>
          </p:nvSpPr>
          <p:spPr bwMode="auto">
            <a:xfrm>
              <a:off x="384" y="2860"/>
              <a:ext cx="5040" cy="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ts val="3600"/>
                </a:lnSpc>
                <a:spcBef>
                  <a:spcPct val="50000"/>
                </a:spcBef>
              </a:pPr>
              <a:r>
                <a:rPr lang="zh-CN" altLang="en-US" sz="2400" b="1" dirty="0"/>
                <a:t>现在      </a:t>
              </a:r>
              <a:r>
                <a:rPr lang="en-US" altLang="zh-CN" sz="2400" b="1" dirty="0"/>
                <a:t>=60000</a:t>
              </a:r>
              <a:r>
                <a:rPr lang="zh-CN" altLang="en-US" sz="2400" b="1" dirty="0"/>
                <a:t>，</a:t>
              </a:r>
              <a:r>
                <a:rPr lang="en-US" altLang="zh-CN" sz="2400" b="1" dirty="0"/>
                <a:t>R=0.01</a:t>
              </a:r>
              <a:r>
                <a:rPr lang="zh-CN" altLang="en-US" sz="2400" b="1" dirty="0"/>
                <a:t>，</a:t>
              </a:r>
              <a:r>
                <a:rPr lang="en-US" altLang="zh-CN" sz="2400" b="1" dirty="0"/>
                <a:t>k=300</a:t>
              </a:r>
              <a:r>
                <a:rPr lang="zh-CN" altLang="en-US" sz="2400" b="1" dirty="0"/>
                <a:t>，利用</a:t>
              </a:r>
              <a:r>
                <a:rPr lang="en-US" altLang="zh-CN" sz="2400" b="1" dirty="0"/>
                <a:t>Maple</a:t>
              </a:r>
              <a:r>
                <a:rPr lang="zh-CN" altLang="en-US" sz="2400" b="1" dirty="0"/>
                <a:t>等数学软件，容易算得</a:t>
              </a:r>
              <a:r>
                <a:rPr lang="en-US" altLang="zh-CN" sz="2400" b="1" dirty="0"/>
                <a:t>x=632</a:t>
              </a:r>
              <a:r>
                <a:rPr lang="zh-CN" altLang="en-US" sz="2400" b="1" dirty="0"/>
                <a:t>元</a:t>
              </a:r>
              <a:r>
                <a:rPr lang="en-US" altLang="zh-CN" sz="2400" b="1" dirty="0"/>
                <a:t>&lt;700</a:t>
              </a:r>
              <a:r>
                <a:rPr lang="zh-CN" altLang="en-US" sz="2400" b="1" dirty="0"/>
                <a:t>元，着说明该夫妇有买房能力。</a:t>
              </a:r>
            </a:p>
          </p:txBody>
        </p:sp>
        <p:graphicFrame>
          <p:nvGraphicFramePr>
            <p:cNvPr id="11" name="Object 16">
              <a:extLst>
                <a:ext uri="{FF2B5EF4-FFF2-40B4-BE49-F238E27FC236}">
                  <a16:creationId xmlns:a16="http://schemas.microsoft.com/office/drawing/2014/main" id="{0FF73BAA-98A9-4D09-B7B3-EF13BDDAE2F9}"/>
                </a:ext>
              </a:extLst>
            </p:cNvPr>
            <p:cNvGraphicFramePr>
              <a:graphicFrameLocks noChangeAspect="1"/>
            </p:cNvGraphicFramePr>
            <p:nvPr/>
          </p:nvGraphicFramePr>
          <p:xfrm>
            <a:off x="778" y="2915"/>
            <a:ext cx="257" cy="308"/>
          </p:xfrm>
          <a:graphic>
            <a:graphicData uri="http://schemas.openxmlformats.org/presentationml/2006/ole">
              <mc:AlternateContent xmlns:mc="http://schemas.openxmlformats.org/markup-compatibility/2006">
                <mc:Choice xmlns:v="urn:schemas-microsoft-com:vml" Requires="v">
                  <p:oleObj name="Equation" r:id="rId6" imgW="190500" imgH="228600" progId="">
                    <p:embed/>
                  </p:oleObj>
                </mc:Choice>
                <mc:Fallback>
                  <p:oleObj name="Equation" r:id="rId6" imgW="190500" imgH="228600" progId="">
                    <p:embed/>
                    <p:pic>
                      <p:nvPicPr>
                        <p:cNvPr id="11" name="Object 16">
                          <a:extLst>
                            <a:ext uri="{FF2B5EF4-FFF2-40B4-BE49-F238E27FC236}">
                              <a16:creationId xmlns:a16="http://schemas.microsoft.com/office/drawing/2014/main" id="{0FF73BAA-98A9-4D09-B7B3-EF13BDDAE2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8" y="2915"/>
                          <a:ext cx="257" cy="3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2" name="标题 1">
            <a:extLst>
              <a:ext uri="{FF2B5EF4-FFF2-40B4-BE49-F238E27FC236}">
                <a16:creationId xmlns:a16="http://schemas.microsoft.com/office/drawing/2014/main" id="{656553D7-8F16-464D-A210-D72B02B94757}"/>
              </a:ext>
            </a:extLst>
          </p:cNvPr>
          <p:cNvSpPr>
            <a:spLocks noGrp="1"/>
          </p:cNvSpPr>
          <p:nvPr>
            <p:ph type="title"/>
          </p:nvPr>
        </p:nvSpPr>
        <p:spPr>
          <a:xfrm>
            <a:off x="4063041" y="713947"/>
            <a:ext cx="3206151" cy="776378"/>
          </a:xfrm>
        </p:spPr>
        <p:txBody>
          <a:bodyPr>
            <a:normAutofit/>
          </a:bodyPr>
          <a:lstStyle/>
          <a:p>
            <a:r>
              <a:rPr lang="zh-CN" altLang="en-US" sz="3200" b="1" dirty="0">
                <a:solidFill>
                  <a:srgbClr val="0000FF"/>
                </a:solidFill>
                <a:latin typeface="微软雅黑" charset="-122"/>
                <a:ea typeface="微软雅黑" charset="-122"/>
                <a:sym typeface="+mn-ea"/>
              </a:rPr>
              <a:t>贷款买房问题</a:t>
            </a:r>
            <a:endParaRPr lang="zh-CN" altLang="en-US" sz="3200" dirty="0"/>
          </a:p>
        </p:txBody>
      </p:sp>
    </p:spTree>
    <p:extLst>
      <p:ext uri="{BB962C8B-B14F-4D97-AF65-F5344CB8AC3E}">
        <p14:creationId xmlns:p14="http://schemas.microsoft.com/office/powerpoint/2010/main" val="3831330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ox(in)">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linds(horizontal)">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29A64583-D4A0-4FA7-A98A-522A4B71D903}"/>
              </a:ext>
            </a:extLst>
          </p:cNvPr>
          <p:cNvSpPr txBox="1">
            <a:spLocks noChangeArrowheads="1"/>
          </p:cNvSpPr>
          <p:nvPr/>
        </p:nvSpPr>
        <p:spPr bwMode="auto">
          <a:xfrm>
            <a:off x="1154296" y="5248443"/>
            <a:ext cx="8928744" cy="532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200" b="1" dirty="0"/>
              <a:t>先就</a:t>
            </a:r>
            <a:r>
              <a:rPr lang="en-US" altLang="zh-CN" sz="2200" b="1" dirty="0"/>
              <a:t>(</a:t>
            </a:r>
            <a:r>
              <a:rPr lang="en-US" altLang="zh-CN" sz="2200" b="1" dirty="0" err="1"/>
              <a:t>i</a:t>
            </a:r>
            <a:r>
              <a:rPr lang="en-US" altLang="zh-CN" sz="2200" b="1" dirty="0"/>
              <a:t>)(ii)</a:t>
            </a:r>
            <a:r>
              <a:rPr lang="zh-CN" altLang="en-US" sz="2200" b="1" dirty="0"/>
              <a:t>两条作分析，可先独立分析</a:t>
            </a:r>
            <a:r>
              <a:rPr lang="en-US" altLang="zh-CN" sz="2200" b="1" dirty="0"/>
              <a:t>(</a:t>
            </a:r>
            <a:r>
              <a:rPr lang="en-US" altLang="zh-CN" sz="2200" b="1" dirty="0" err="1"/>
              <a:t>i</a:t>
            </a:r>
            <a:r>
              <a:rPr lang="en-US" altLang="zh-CN" sz="2200" b="1" dirty="0"/>
              <a:t>)</a:t>
            </a:r>
            <a:r>
              <a:rPr lang="zh-CN" altLang="en-US" sz="2200" b="1" dirty="0"/>
              <a:t>和</a:t>
            </a:r>
            <a:r>
              <a:rPr lang="en-US" altLang="zh-CN" sz="2200" b="1" dirty="0"/>
              <a:t>(ii)</a:t>
            </a:r>
            <a:r>
              <a:rPr lang="zh-CN" altLang="en-US" sz="2200" b="1" dirty="0"/>
              <a:t>看看能否缩短归还期。</a:t>
            </a:r>
          </a:p>
        </p:txBody>
      </p:sp>
      <p:sp>
        <p:nvSpPr>
          <p:cNvPr id="5" name="Text Box 4">
            <a:extLst>
              <a:ext uri="{FF2B5EF4-FFF2-40B4-BE49-F238E27FC236}">
                <a16:creationId xmlns:a16="http://schemas.microsoft.com/office/drawing/2014/main" id="{A2BB4CAA-026C-4899-AC35-00C479A94788}"/>
              </a:ext>
            </a:extLst>
          </p:cNvPr>
          <p:cNvSpPr txBox="1">
            <a:spLocks noChangeArrowheads="1"/>
          </p:cNvSpPr>
          <p:nvPr/>
        </p:nvSpPr>
        <p:spPr bwMode="auto">
          <a:xfrm>
            <a:off x="1154296" y="5862457"/>
            <a:ext cx="8928744" cy="916533"/>
          </a:xfrm>
          <a:prstGeom prst="rect">
            <a:avLst/>
          </a:prstGeom>
          <a:solidFill>
            <a:schemeClr val="bg1">
              <a:lumMod val="95000"/>
            </a:schemeClr>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ts val="3400"/>
              </a:lnSpc>
              <a:spcBef>
                <a:spcPct val="50000"/>
              </a:spcBef>
            </a:pPr>
            <a:r>
              <a:rPr lang="zh-CN" altLang="en-US" sz="2200" b="1" dirty="0"/>
              <a:t>分析</a:t>
            </a:r>
            <a:r>
              <a:rPr lang="en-US" altLang="zh-CN" sz="2200" b="1" dirty="0"/>
              <a:t>(</a:t>
            </a:r>
            <a:r>
              <a:rPr lang="en-US" altLang="zh-CN" sz="2200" b="1" dirty="0" err="1"/>
              <a:t>i</a:t>
            </a:r>
            <a:r>
              <a:rPr lang="en-US" altLang="zh-CN" sz="2200" b="1" dirty="0"/>
              <a:t>)</a:t>
            </a:r>
            <a:r>
              <a:rPr lang="zh-CN" altLang="en-US" sz="2200" b="1" dirty="0"/>
              <a:t>，这时 </a:t>
            </a:r>
            <a:r>
              <a:rPr lang="en-US" altLang="zh-CN" sz="2200" b="1" dirty="0"/>
              <a:t>A</a:t>
            </a:r>
            <a:r>
              <a:rPr lang="en-US" altLang="zh-CN" sz="2200" b="1" baseline="-25000" dirty="0"/>
              <a:t>0</a:t>
            </a:r>
            <a:r>
              <a:rPr lang="en-US" altLang="zh-CN" sz="2200" b="1" dirty="0"/>
              <a:t> =60000</a:t>
            </a:r>
            <a:r>
              <a:rPr lang="zh-CN" altLang="en-US" sz="2200" b="1" dirty="0"/>
              <a:t>不变，</a:t>
            </a:r>
            <a:r>
              <a:rPr lang="en-US" altLang="zh-CN" sz="2200" b="1" i="1" dirty="0">
                <a:latin typeface="Times New Roman" pitchFamily="18" charset="0"/>
                <a:cs typeface="Times New Roman" pitchFamily="18" charset="0"/>
              </a:rPr>
              <a:t>x</a:t>
            </a:r>
            <a:r>
              <a:rPr lang="en-US" altLang="zh-CN" sz="2200" b="1" dirty="0"/>
              <a:t>=316</a:t>
            </a:r>
            <a:r>
              <a:rPr lang="zh-CN" altLang="en-US" sz="2200" b="1" dirty="0"/>
              <a:t>，月利率变为半月利率可认为是原</a:t>
            </a:r>
            <a:r>
              <a:rPr lang="en-US" altLang="zh-CN" sz="2200" b="1" dirty="0"/>
              <a:t>R</a:t>
            </a:r>
            <a:r>
              <a:rPr lang="zh-CN" altLang="en-US" sz="2200" b="1" dirty="0"/>
              <a:t>的一半，即</a:t>
            </a:r>
            <a:r>
              <a:rPr lang="en-US" altLang="zh-CN" sz="2200" b="1" dirty="0"/>
              <a:t>R=0.005,</a:t>
            </a:r>
            <a:r>
              <a:rPr lang="zh-CN" altLang="en-US" sz="2200" b="1" dirty="0"/>
              <a:t>于是可求出的归还期</a:t>
            </a:r>
            <a:r>
              <a:rPr lang="en-US" altLang="zh-CN" sz="2200" b="1" dirty="0"/>
              <a:t>N</a:t>
            </a:r>
            <a:r>
              <a:rPr lang="zh-CN" altLang="en-US" sz="2200" b="1" dirty="0"/>
              <a:t>，即由</a:t>
            </a:r>
            <a:r>
              <a:rPr lang="en-US" altLang="zh-CN" sz="2200" b="1" dirty="0"/>
              <a:t>A</a:t>
            </a:r>
            <a:r>
              <a:rPr lang="en-US" altLang="zh-CN" sz="2200" b="1" baseline="-25000" dirty="0"/>
              <a:t>N</a:t>
            </a:r>
            <a:r>
              <a:rPr lang="en-US" altLang="zh-CN" sz="2200" b="1" dirty="0"/>
              <a:t>=0</a:t>
            </a:r>
            <a:r>
              <a:rPr lang="zh-CN" altLang="en-US" sz="2200" b="1" dirty="0"/>
              <a:t>求</a:t>
            </a:r>
            <a:r>
              <a:rPr lang="en-US" altLang="zh-CN" sz="2200" b="1" dirty="0"/>
              <a:t>N</a:t>
            </a:r>
            <a:r>
              <a:rPr lang="zh-CN" altLang="en-US" sz="2200" b="1" dirty="0"/>
              <a:t>。 </a:t>
            </a:r>
          </a:p>
        </p:txBody>
      </p:sp>
      <p:sp>
        <p:nvSpPr>
          <p:cNvPr id="6" name="Text Box 10">
            <a:extLst>
              <a:ext uri="{FF2B5EF4-FFF2-40B4-BE49-F238E27FC236}">
                <a16:creationId xmlns:a16="http://schemas.microsoft.com/office/drawing/2014/main" id="{FF818E68-5782-4DA9-9E74-B1C79FE15B26}"/>
              </a:ext>
            </a:extLst>
          </p:cNvPr>
          <p:cNvSpPr txBox="1">
            <a:spLocks noChangeArrowheads="1"/>
          </p:cNvSpPr>
          <p:nvPr/>
        </p:nvSpPr>
        <p:spPr bwMode="auto">
          <a:xfrm>
            <a:off x="1226302" y="2342442"/>
            <a:ext cx="3467100" cy="470065"/>
          </a:xfrm>
          <a:prstGeom prst="rect">
            <a:avLst/>
          </a:prstGeom>
          <a:solidFill>
            <a:schemeClr val="bg1">
              <a:lumMod val="95000"/>
            </a:schemeClr>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sz="2200" b="1" dirty="0">
                <a:latin typeface="方正姚体" pitchFamily="2" charset="-122"/>
                <a:ea typeface="方正姚体" pitchFamily="2" charset="-122"/>
              </a:rPr>
              <a:t>(</a:t>
            </a:r>
            <a:r>
              <a:rPr lang="en-US" altLang="zh-CN" sz="2200" b="1" dirty="0" err="1">
                <a:latin typeface="方正姚体" pitchFamily="2" charset="-122"/>
                <a:ea typeface="方正姚体" pitchFamily="2" charset="-122"/>
              </a:rPr>
              <a:t>i</a:t>
            </a:r>
            <a:r>
              <a:rPr lang="en-US" altLang="zh-CN" sz="2200" b="1" dirty="0">
                <a:latin typeface="方正姚体" pitchFamily="2" charset="-122"/>
                <a:ea typeface="方正姚体" pitchFamily="2" charset="-122"/>
              </a:rPr>
              <a:t>)</a:t>
            </a:r>
            <a:r>
              <a:rPr lang="zh-CN" altLang="en-US" sz="2200" b="1" dirty="0">
                <a:latin typeface="方正姚体" pitchFamily="2" charset="-122"/>
                <a:ea typeface="方正姚体" pitchFamily="2" charset="-122"/>
              </a:rPr>
              <a:t>每半个月还</a:t>
            </a:r>
            <a:r>
              <a:rPr lang="en-US" altLang="zh-CN" sz="2200" b="1" dirty="0">
                <a:latin typeface="方正姚体" pitchFamily="2" charset="-122"/>
                <a:ea typeface="方正姚体" pitchFamily="2" charset="-122"/>
              </a:rPr>
              <a:t>316</a:t>
            </a:r>
            <a:r>
              <a:rPr lang="zh-CN" altLang="en-US" sz="2200" b="1" dirty="0">
                <a:latin typeface="方正姚体" pitchFamily="2" charset="-122"/>
                <a:ea typeface="方正姚体" pitchFamily="2" charset="-122"/>
              </a:rPr>
              <a:t>元</a:t>
            </a:r>
            <a:r>
              <a:rPr lang="en-US" altLang="zh-CN" sz="2200" b="1" dirty="0">
                <a:latin typeface="方正姚体" pitchFamily="2" charset="-122"/>
                <a:ea typeface="方正姚体" pitchFamily="2" charset="-122"/>
              </a:rPr>
              <a:t>;</a:t>
            </a:r>
          </a:p>
        </p:txBody>
      </p:sp>
      <p:sp>
        <p:nvSpPr>
          <p:cNvPr id="7" name="Text Box 11">
            <a:extLst>
              <a:ext uri="{FF2B5EF4-FFF2-40B4-BE49-F238E27FC236}">
                <a16:creationId xmlns:a16="http://schemas.microsoft.com/office/drawing/2014/main" id="{5EECC56B-1BF1-42A6-9817-441FAEED0FED}"/>
              </a:ext>
            </a:extLst>
          </p:cNvPr>
          <p:cNvSpPr txBox="1">
            <a:spLocks noChangeArrowheads="1"/>
          </p:cNvSpPr>
          <p:nvPr/>
        </p:nvSpPr>
        <p:spPr bwMode="auto">
          <a:xfrm>
            <a:off x="1226302" y="2880461"/>
            <a:ext cx="8784732" cy="470065"/>
          </a:xfrm>
          <a:prstGeom prst="rect">
            <a:avLst/>
          </a:prstGeom>
          <a:solidFill>
            <a:schemeClr val="accent1">
              <a:lumMod val="20000"/>
              <a:lumOff val="80000"/>
            </a:schemeClr>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sz="2200" b="1" dirty="0">
                <a:latin typeface="方正姚体" pitchFamily="2" charset="-122"/>
                <a:ea typeface="方正姚体" pitchFamily="2" charset="-122"/>
              </a:rPr>
              <a:t>(ii)</a:t>
            </a:r>
            <a:r>
              <a:rPr lang="zh-CN" altLang="en-US" sz="2200" b="1" dirty="0">
                <a:latin typeface="方正姚体" pitchFamily="2" charset="-122"/>
                <a:ea typeface="方正姚体" pitchFamily="2" charset="-122"/>
              </a:rPr>
              <a:t>由于文书工作多了的关系要你预付</a:t>
            </a:r>
            <a:r>
              <a:rPr lang="en-US" altLang="zh-CN" sz="2200" b="1" dirty="0">
                <a:latin typeface="方正姚体" pitchFamily="2" charset="-122"/>
                <a:ea typeface="方正姚体" pitchFamily="2" charset="-122"/>
              </a:rPr>
              <a:t>3</a:t>
            </a:r>
            <a:r>
              <a:rPr lang="zh-CN" altLang="en-US" sz="2200" b="1" dirty="0">
                <a:latin typeface="方正姚体" pitchFamily="2" charset="-122"/>
                <a:ea typeface="方正姚体" pitchFamily="2" charset="-122"/>
              </a:rPr>
              <a:t>个月的款，即</a:t>
            </a:r>
            <a:r>
              <a:rPr lang="en-US" altLang="zh-CN" sz="2200" b="1" dirty="0">
                <a:latin typeface="方正姚体" pitchFamily="2" charset="-122"/>
                <a:ea typeface="方正姚体" pitchFamily="2" charset="-122"/>
              </a:rPr>
              <a:t>316*6=1896</a:t>
            </a:r>
            <a:r>
              <a:rPr lang="zh-CN" altLang="en-US" sz="2200" b="1" dirty="0">
                <a:latin typeface="方正姚体" pitchFamily="2" charset="-122"/>
                <a:ea typeface="方正姚体" pitchFamily="2" charset="-122"/>
              </a:rPr>
              <a:t>元。</a:t>
            </a:r>
          </a:p>
        </p:txBody>
      </p:sp>
      <p:sp>
        <p:nvSpPr>
          <p:cNvPr id="8" name="Text Box 12">
            <a:extLst>
              <a:ext uri="{FF2B5EF4-FFF2-40B4-BE49-F238E27FC236}">
                <a16:creationId xmlns:a16="http://schemas.microsoft.com/office/drawing/2014/main" id="{CCEE6B5E-7623-4582-8A02-5179E01A6819}"/>
              </a:ext>
            </a:extLst>
          </p:cNvPr>
          <p:cNvSpPr txBox="1">
            <a:spLocks noChangeArrowheads="1"/>
          </p:cNvSpPr>
          <p:nvPr/>
        </p:nvSpPr>
        <p:spPr bwMode="auto">
          <a:xfrm>
            <a:off x="1154296" y="3621690"/>
            <a:ext cx="9939274" cy="1446550"/>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sz="2200" b="1" kern="1000" dirty="0">
                <a:latin typeface="方正姚体" pitchFamily="2" charset="-122"/>
                <a:ea typeface="方正姚体" pitchFamily="2" charset="-122"/>
              </a:rPr>
              <a:t>这对夫妇想：提前</a:t>
            </a:r>
            <a:r>
              <a:rPr lang="en-US" altLang="zh-CN" sz="2200" b="1" kern="1000" dirty="0">
                <a:latin typeface="方正姚体" pitchFamily="2" charset="-122"/>
                <a:ea typeface="方正姚体" pitchFamily="2" charset="-122"/>
              </a:rPr>
              <a:t>3</a:t>
            </a:r>
            <a:r>
              <a:rPr lang="zh-CN" altLang="en-US" sz="2200" b="1" kern="1000" dirty="0">
                <a:latin typeface="方正姚体" pitchFamily="2" charset="-122"/>
                <a:ea typeface="方正姚体" pitchFamily="2" charset="-122"/>
              </a:rPr>
              <a:t>年还清当然是好事，每半个月还</a:t>
            </a:r>
            <a:r>
              <a:rPr lang="en-US" altLang="zh-CN" sz="2200" b="1" kern="1000" dirty="0">
                <a:latin typeface="方正姚体" pitchFamily="2" charset="-122"/>
                <a:ea typeface="方正姚体" pitchFamily="2" charset="-122"/>
              </a:rPr>
              <a:t>316</a:t>
            </a:r>
            <a:r>
              <a:rPr lang="zh-CN" altLang="en-US" sz="2200" b="1" kern="1000" dirty="0">
                <a:latin typeface="方正姚体" pitchFamily="2" charset="-122"/>
                <a:ea typeface="方正姚体" pitchFamily="2" charset="-122"/>
              </a:rPr>
              <a:t>元，那一个月不正好是</a:t>
            </a:r>
            <a:r>
              <a:rPr lang="en-US" altLang="zh-CN" sz="2200" b="1" kern="1000" dirty="0">
                <a:latin typeface="方正姚体" pitchFamily="2" charset="-122"/>
                <a:ea typeface="方正姚体" pitchFamily="2" charset="-122"/>
              </a:rPr>
              <a:t>632</a:t>
            </a:r>
            <a:r>
              <a:rPr lang="zh-CN" altLang="en-US" sz="2200" b="1" kern="1000" dirty="0">
                <a:latin typeface="方正姚体" pitchFamily="2" charset="-122"/>
                <a:ea typeface="方正姚体" pitchFamily="2" charset="-122"/>
              </a:rPr>
              <a:t>元，只不过多跑一趟去交款罢了；要预付</a:t>
            </a:r>
            <a:r>
              <a:rPr lang="en-US" altLang="zh-CN" sz="2200" b="1" kern="1000" dirty="0">
                <a:latin typeface="方正姚体" pitchFamily="2" charset="-122"/>
                <a:ea typeface="方正姚体" pitchFamily="2" charset="-122"/>
              </a:rPr>
              <a:t>1896</a:t>
            </a:r>
            <a:r>
              <a:rPr lang="zh-CN" altLang="en-US" sz="2200" b="1" kern="1000" dirty="0">
                <a:latin typeface="方正姚体" pitchFamily="2" charset="-122"/>
                <a:ea typeface="方正姚体" pitchFamily="2" charset="-122"/>
              </a:rPr>
              <a:t>元，当然使人不高兴，但提前</a:t>
            </a:r>
            <a:r>
              <a:rPr lang="en-US" altLang="zh-CN" sz="2200" b="1" kern="1000" dirty="0">
                <a:latin typeface="方正姚体" pitchFamily="2" charset="-122"/>
                <a:ea typeface="方正姚体" pitchFamily="2" charset="-122"/>
              </a:rPr>
              <a:t>3</a:t>
            </a:r>
            <a:r>
              <a:rPr lang="zh-CN" altLang="en-US" sz="2200" b="1" kern="1000" dirty="0">
                <a:latin typeface="方正姚体" pitchFamily="2" charset="-122"/>
                <a:ea typeface="方正姚体" pitchFamily="2" charset="-122"/>
              </a:rPr>
              <a:t>年还清省下来的钱可是</a:t>
            </a:r>
            <a:r>
              <a:rPr lang="en-US" altLang="zh-CN" sz="2200" b="1" kern="1000" dirty="0">
                <a:latin typeface="方正姚体" pitchFamily="2" charset="-122"/>
                <a:ea typeface="方正姚体" pitchFamily="2" charset="-122"/>
              </a:rPr>
              <a:t>22752</a:t>
            </a:r>
            <a:r>
              <a:rPr lang="zh-CN" altLang="en-US" sz="2200" b="1" kern="1000" dirty="0">
                <a:latin typeface="方正姚体" pitchFamily="2" charset="-122"/>
                <a:ea typeface="方正姚体" pitchFamily="2" charset="-122"/>
              </a:rPr>
              <a:t>元哟，是</a:t>
            </a:r>
            <a:r>
              <a:rPr lang="en-US" altLang="zh-CN" sz="2200" b="1" kern="1000" dirty="0">
                <a:latin typeface="方正姚体" pitchFamily="2" charset="-122"/>
                <a:ea typeface="方正姚体" pitchFamily="2" charset="-122"/>
              </a:rPr>
              <a:t>1896</a:t>
            </a:r>
            <a:r>
              <a:rPr lang="zh-CN" altLang="en-US" sz="2200" b="1" kern="1000" dirty="0">
                <a:latin typeface="方正姚体" pitchFamily="2" charset="-122"/>
                <a:ea typeface="方正姚体" pitchFamily="2" charset="-122"/>
              </a:rPr>
              <a:t>元的十几倍啊！这家公司是慈善机构呢还是仍然要赚他们的钱呢？这对夫妇请你给他们一个满意的回答。</a:t>
            </a:r>
            <a:endParaRPr lang="en-US" altLang="zh-CN" sz="2200" b="1" kern="1000" dirty="0">
              <a:latin typeface="方正姚体" pitchFamily="2" charset="-122"/>
              <a:ea typeface="方正姚体" pitchFamily="2" charset="-122"/>
            </a:endParaRPr>
          </a:p>
        </p:txBody>
      </p:sp>
      <p:sp>
        <p:nvSpPr>
          <p:cNvPr id="9" name="Text Box 2">
            <a:extLst>
              <a:ext uri="{FF2B5EF4-FFF2-40B4-BE49-F238E27FC236}">
                <a16:creationId xmlns:a16="http://schemas.microsoft.com/office/drawing/2014/main" id="{3ACFE9C4-F7E3-4DCE-B14D-B910A979591A}"/>
              </a:ext>
            </a:extLst>
          </p:cNvPr>
          <p:cNvSpPr txBox="1">
            <a:spLocks noChangeArrowheads="1"/>
          </p:cNvSpPr>
          <p:nvPr/>
        </p:nvSpPr>
        <p:spPr bwMode="auto">
          <a:xfrm>
            <a:off x="1190443" y="1754355"/>
            <a:ext cx="10334444" cy="499752"/>
          </a:xfrm>
          <a:prstGeom prst="rect">
            <a:avLst/>
          </a:prstGeom>
          <a:solidFill>
            <a:schemeClr val="bg1"/>
          </a:solidFill>
          <a:ln>
            <a:noFill/>
          </a:ln>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ts val="3600"/>
              </a:lnSpc>
              <a:spcBef>
                <a:spcPct val="50000"/>
              </a:spcBef>
            </a:pPr>
            <a:r>
              <a:rPr lang="zh-CN" altLang="en-US" sz="2200" b="1" dirty="0"/>
              <a:t>恰此时这对夫妇看到某借贷公司的一则广告：若借款</a:t>
            </a:r>
            <a:r>
              <a:rPr lang="en-US" altLang="zh-CN" sz="2200" b="1" dirty="0"/>
              <a:t>60000</a:t>
            </a:r>
            <a:r>
              <a:rPr lang="zh-CN" altLang="en-US" sz="2200" b="1" dirty="0"/>
              <a:t>元，</a:t>
            </a:r>
            <a:r>
              <a:rPr lang="en-US" altLang="zh-CN" sz="2200" b="1" dirty="0"/>
              <a:t>22</a:t>
            </a:r>
            <a:r>
              <a:rPr lang="zh-CN" altLang="en-US" sz="2200" b="1" dirty="0"/>
              <a:t>年还清，只要</a:t>
            </a:r>
          </a:p>
        </p:txBody>
      </p:sp>
      <p:sp>
        <p:nvSpPr>
          <p:cNvPr id="10" name="标题 1">
            <a:extLst>
              <a:ext uri="{FF2B5EF4-FFF2-40B4-BE49-F238E27FC236}">
                <a16:creationId xmlns:a16="http://schemas.microsoft.com/office/drawing/2014/main" id="{9786EDFE-4AE4-41BF-A69A-3FEEB85E0F3D}"/>
              </a:ext>
            </a:extLst>
          </p:cNvPr>
          <p:cNvSpPr>
            <a:spLocks noGrp="1"/>
          </p:cNvSpPr>
          <p:nvPr>
            <p:ph type="title"/>
          </p:nvPr>
        </p:nvSpPr>
        <p:spPr>
          <a:xfrm>
            <a:off x="4063041" y="713947"/>
            <a:ext cx="3206151" cy="776378"/>
          </a:xfrm>
        </p:spPr>
        <p:txBody>
          <a:bodyPr>
            <a:normAutofit/>
          </a:bodyPr>
          <a:lstStyle/>
          <a:p>
            <a:r>
              <a:rPr lang="zh-CN" altLang="en-US" sz="3200" b="1" dirty="0">
                <a:solidFill>
                  <a:srgbClr val="0000FF"/>
                </a:solidFill>
                <a:latin typeface="微软雅黑" charset="-122"/>
                <a:ea typeface="微软雅黑" charset="-122"/>
                <a:sym typeface="+mn-ea"/>
              </a:rPr>
              <a:t>贷款买房问题</a:t>
            </a:r>
            <a:endParaRPr lang="zh-CN" altLang="en-US" sz="3200" dirty="0"/>
          </a:p>
        </p:txBody>
      </p:sp>
    </p:spTree>
    <p:extLst>
      <p:ext uri="{BB962C8B-B14F-4D97-AF65-F5344CB8AC3E}">
        <p14:creationId xmlns:p14="http://schemas.microsoft.com/office/powerpoint/2010/main" val="284409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1+#ppt_w/2"/>
                                          </p:val>
                                        </p:tav>
                                        <p:tav tm="100000">
                                          <p:val>
                                            <p:strVal val="#ppt_x"/>
                                          </p:val>
                                        </p:tav>
                                      </p:tavLst>
                                    </p:anim>
                                    <p:anim calcmode="lin" valueType="num">
                                      <p:cBhvr additive="base">
                                        <p:cTn id="19"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blinds(horizontal)">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checkerboard(across)">
                                      <p:cBhvr>
                                        <p:cTn id="3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A90B2F2C-53AA-46D1-ACF8-2D48CAF56611}"/>
              </a:ext>
            </a:extLst>
          </p:cNvPr>
          <p:cNvSpPr txBox="1">
            <a:spLocks noChangeArrowheads="1"/>
          </p:cNvSpPr>
          <p:nvPr/>
        </p:nvSpPr>
        <p:spPr bwMode="auto">
          <a:xfrm>
            <a:off x="866748" y="3028170"/>
            <a:ext cx="10393595" cy="784830"/>
          </a:xfrm>
          <a:prstGeom prst="rect">
            <a:avLst/>
          </a:prstGeom>
          <a:solidFill>
            <a:schemeClr val="bg1">
              <a:lumMod val="95000"/>
            </a:schemeClr>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ts val="2700"/>
              </a:lnSpc>
              <a:spcBef>
                <a:spcPct val="50000"/>
              </a:spcBef>
            </a:pPr>
            <a:r>
              <a:rPr lang="zh-CN" altLang="en-US" sz="2200" b="1" dirty="0"/>
              <a:t>即</a:t>
            </a:r>
            <a:r>
              <a:rPr lang="en-US" altLang="zh-CN" sz="2200" b="1" dirty="0"/>
              <a:t>N=598</a:t>
            </a:r>
            <a:r>
              <a:rPr lang="zh-CN" altLang="en-US" sz="2200" b="1" dirty="0"/>
              <a:t>（半个月）</a:t>
            </a:r>
            <a:r>
              <a:rPr lang="en-US" altLang="zh-CN" sz="2200" b="1" dirty="0"/>
              <a:t>=24.92</a:t>
            </a:r>
            <a:r>
              <a:rPr lang="zh-CN" altLang="en-US" sz="2200" b="1" dirty="0"/>
              <a:t>年，即只能提前大约</a:t>
            </a:r>
            <a:r>
              <a:rPr lang="en-US" altLang="zh-CN" sz="2200" b="1" dirty="0"/>
              <a:t>1</a:t>
            </a:r>
            <a:r>
              <a:rPr lang="zh-CN" altLang="en-US" sz="2200" b="1" dirty="0"/>
              <a:t>个月还清。由此可见，该借贷公司如果只有第</a:t>
            </a:r>
            <a:r>
              <a:rPr lang="en-US" altLang="zh-CN" sz="2200" b="1" dirty="0"/>
              <a:t>(</a:t>
            </a:r>
            <a:r>
              <a:rPr lang="en-US" altLang="zh-CN" sz="2200" b="1" dirty="0" err="1"/>
              <a:t>i</a:t>
            </a:r>
            <a:r>
              <a:rPr lang="en-US" altLang="zh-CN" sz="2200" b="1" dirty="0"/>
              <a:t>)</a:t>
            </a:r>
            <a:r>
              <a:rPr lang="zh-CN" altLang="en-US" sz="2200" b="1" dirty="0"/>
              <a:t>个条件的话，就只能是慈善机构了。</a:t>
            </a:r>
          </a:p>
        </p:txBody>
      </p:sp>
      <p:graphicFrame>
        <p:nvGraphicFramePr>
          <p:cNvPr id="5" name="Object 7">
            <a:extLst>
              <a:ext uri="{FF2B5EF4-FFF2-40B4-BE49-F238E27FC236}">
                <a16:creationId xmlns:a16="http://schemas.microsoft.com/office/drawing/2014/main" id="{37F351DE-EA1B-4C52-8FFC-F318F0411BF4}"/>
              </a:ext>
            </a:extLst>
          </p:cNvPr>
          <p:cNvGraphicFramePr>
            <a:graphicFrameLocks noChangeAspect="1"/>
          </p:cNvGraphicFramePr>
          <p:nvPr>
            <p:extLst>
              <p:ext uri="{D42A27DB-BD31-4B8C-83A1-F6EECF244321}">
                <p14:modId xmlns:p14="http://schemas.microsoft.com/office/powerpoint/2010/main" val="2540194451"/>
              </p:ext>
            </p:extLst>
          </p:nvPr>
        </p:nvGraphicFramePr>
        <p:xfrm>
          <a:off x="3929826" y="1772890"/>
          <a:ext cx="2514600" cy="1136622"/>
        </p:xfrm>
        <a:graphic>
          <a:graphicData uri="http://schemas.openxmlformats.org/presentationml/2006/ole">
            <mc:AlternateContent xmlns:mc="http://schemas.openxmlformats.org/markup-compatibility/2006">
              <mc:Choice xmlns:v="urn:schemas-microsoft-com:vml" Requires="v">
                <p:oleObj name="Equation" r:id="rId2" imgW="1054100" imgH="635000" progId="">
                  <p:embed/>
                </p:oleObj>
              </mc:Choice>
              <mc:Fallback>
                <p:oleObj name="Equation" r:id="rId2" imgW="1054100" imgH="635000" progId="">
                  <p:embed/>
                  <p:pic>
                    <p:nvPicPr>
                      <p:cNvPr id="5" name="Object 7">
                        <a:extLst>
                          <a:ext uri="{FF2B5EF4-FFF2-40B4-BE49-F238E27FC236}">
                            <a16:creationId xmlns:a16="http://schemas.microsoft.com/office/drawing/2014/main" id="{37F351DE-EA1B-4C52-8FFC-F318F0411B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9826" y="1772890"/>
                        <a:ext cx="2514600" cy="1136622"/>
                      </a:xfrm>
                      <a:prstGeom prst="rect">
                        <a:avLst/>
                      </a:prstGeom>
                      <a:solidFill>
                        <a:srgbClr val="FFD966"/>
                      </a:solidFill>
                    </p:spPr>
                  </p:pic>
                </p:oleObj>
              </mc:Fallback>
            </mc:AlternateContent>
          </a:graphicData>
        </a:graphic>
      </p:graphicFrame>
      <p:sp>
        <p:nvSpPr>
          <p:cNvPr id="6" name="Text Box 8">
            <a:extLst>
              <a:ext uri="{FF2B5EF4-FFF2-40B4-BE49-F238E27FC236}">
                <a16:creationId xmlns:a16="http://schemas.microsoft.com/office/drawing/2014/main" id="{F0832A69-54D6-44B9-90DD-199158628951}"/>
              </a:ext>
            </a:extLst>
          </p:cNvPr>
          <p:cNvSpPr txBox="1">
            <a:spLocks noChangeArrowheads="1"/>
          </p:cNvSpPr>
          <p:nvPr/>
        </p:nvSpPr>
        <p:spPr bwMode="auto">
          <a:xfrm>
            <a:off x="794742" y="3833853"/>
            <a:ext cx="10465602" cy="1176219"/>
          </a:xfrm>
          <a:prstGeom prst="rect">
            <a:avLst/>
          </a:prstGeom>
          <a:solidFill>
            <a:schemeClr val="bg1"/>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ts val="2900"/>
              </a:lnSpc>
            </a:pPr>
            <a:r>
              <a:rPr lang="zh-CN" altLang="en-US" sz="2200" b="1" dirty="0">
                <a:latin typeface="+mn-ea"/>
                <a:ea typeface="+mn-ea"/>
              </a:rPr>
              <a:t>分析</a:t>
            </a:r>
            <a:r>
              <a:rPr lang="en-US" altLang="zh-CN" sz="2200" b="1" dirty="0">
                <a:latin typeface="+mn-ea"/>
                <a:ea typeface="+mn-ea"/>
              </a:rPr>
              <a:t>(ii)</a:t>
            </a:r>
            <a:r>
              <a:rPr lang="zh-CN" altLang="en-US" sz="2200" b="1" dirty="0">
                <a:latin typeface="+mn-ea"/>
                <a:ea typeface="+mn-ea"/>
              </a:rPr>
              <a:t>，这时</a:t>
            </a:r>
            <a:r>
              <a:rPr lang="en-US" altLang="zh-CN" sz="2200" b="1" dirty="0"/>
              <a:t>A</a:t>
            </a:r>
            <a:r>
              <a:rPr lang="en-US" altLang="zh-CN" sz="2200" b="1" baseline="-25000" dirty="0"/>
              <a:t>0 </a:t>
            </a:r>
            <a:r>
              <a:rPr lang="en-US" altLang="zh-CN" sz="2200" b="1" dirty="0">
                <a:latin typeface="+mn-ea"/>
                <a:ea typeface="+mn-ea"/>
              </a:rPr>
              <a:t>=60000-1896=58104</a:t>
            </a:r>
            <a:r>
              <a:rPr lang="zh-CN" altLang="en-US" sz="2200" b="1" dirty="0">
                <a:latin typeface="+mn-ea"/>
                <a:ea typeface="+mn-ea"/>
              </a:rPr>
              <a:t>，这时只借了</a:t>
            </a:r>
            <a:r>
              <a:rPr lang="en-US" altLang="zh-CN" sz="2200" b="1" dirty="0">
                <a:latin typeface="+mn-ea"/>
                <a:ea typeface="+mn-ea"/>
              </a:rPr>
              <a:t>8104</a:t>
            </a:r>
            <a:r>
              <a:rPr lang="zh-CN" altLang="en-US" sz="2200" b="1" dirty="0">
                <a:latin typeface="+mn-ea"/>
                <a:ea typeface="+mn-ea"/>
              </a:rPr>
              <a:t>元，而不是</a:t>
            </a:r>
            <a:r>
              <a:rPr lang="en-US" altLang="zh-CN" sz="2200" b="1" dirty="0">
                <a:latin typeface="+mn-ea"/>
                <a:ea typeface="+mn-ea"/>
              </a:rPr>
              <a:t>60000</a:t>
            </a:r>
            <a:r>
              <a:rPr lang="zh-CN" altLang="en-US" sz="2200" b="1" dirty="0">
                <a:latin typeface="+mn-ea"/>
                <a:ea typeface="+mn-ea"/>
              </a:rPr>
              <a:t>元，可以按问题中银行贷款的条件算一算，即令</a:t>
            </a:r>
            <a:r>
              <a:rPr lang="en-US" altLang="zh-CN" sz="2200" b="1" i="1" dirty="0">
                <a:latin typeface="Times New Roman" pitchFamily="18" charset="0"/>
                <a:ea typeface="+mn-ea"/>
                <a:cs typeface="Times New Roman" pitchFamily="18" charset="0"/>
              </a:rPr>
              <a:t>x</a:t>
            </a:r>
            <a:r>
              <a:rPr lang="en-US" altLang="zh-CN" sz="2200" b="1" dirty="0">
                <a:latin typeface="+mn-ea"/>
                <a:ea typeface="+mn-ea"/>
              </a:rPr>
              <a:t>=632</a:t>
            </a:r>
            <a:r>
              <a:rPr lang="zh-CN" altLang="en-US" sz="2200" b="1" dirty="0">
                <a:latin typeface="+mn-ea"/>
                <a:ea typeface="+mn-ea"/>
              </a:rPr>
              <a:t>元（每月还款），</a:t>
            </a:r>
            <a:r>
              <a:rPr lang="en-US" altLang="zh-CN" sz="2200" b="1" dirty="0">
                <a:latin typeface="+mn-ea"/>
                <a:ea typeface="+mn-ea"/>
              </a:rPr>
              <a:t>R=0.01</a:t>
            </a:r>
            <a:r>
              <a:rPr lang="zh-CN" altLang="en-US" sz="2200" b="1" dirty="0">
                <a:latin typeface="+mn-ea"/>
                <a:ea typeface="+mn-ea"/>
              </a:rPr>
              <a:t>（月息），求使得</a:t>
            </a:r>
            <a:r>
              <a:rPr lang="en-US" altLang="zh-CN" sz="2200" b="1" dirty="0"/>
              <a:t>A</a:t>
            </a:r>
            <a:r>
              <a:rPr lang="en-US" altLang="zh-CN" sz="2200" b="1" baseline="-25000" dirty="0"/>
              <a:t>0 </a:t>
            </a:r>
            <a:r>
              <a:rPr lang="en-US" altLang="zh-CN" sz="2200" b="1" dirty="0">
                <a:latin typeface="+mn-ea"/>
                <a:ea typeface="+mn-ea"/>
              </a:rPr>
              <a:t>=0</a:t>
            </a:r>
            <a:r>
              <a:rPr lang="zh-CN" altLang="en-US" sz="2200" b="1" dirty="0">
                <a:latin typeface="+mn-ea"/>
                <a:ea typeface="+mn-ea"/>
              </a:rPr>
              <a:t>的</a:t>
            </a:r>
            <a:r>
              <a:rPr lang="en-US" altLang="zh-CN" sz="2200" b="1" dirty="0">
                <a:latin typeface="+mn-ea"/>
                <a:ea typeface="+mn-ea"/>
              </a:rPr>
              <a:t>N</a:t>
            </a:r>
            <a:r>
              <a:rPr lang="zh-CN" altLang="en-US" sz="2200" b="1" dirty="0">
                <a:latin typeface="+mn-ea"/>
                <a:ea typeface="+mn-ea"/>
              </a:rPr>
              <a:t>，来看看能否提前还清。</a:t>
            </a:r>
          </a:p>
        </p:txBody>
      </p:sp>
      <p:sp>
        <p:nvSpPr>
          <p:cNvPr id="7" name="Text Box 9">
            <a:extLst>
              <a:ext uri="{FF2B5EF4-FFF2-40B4-BE49-F238E27FC236}">
                <a16:creationId xmlns:a16="http://schemas.microsoft.com/office/drawing/2014/main" id="{C4F55CC4-3728-469F-8042-35E2A3F18573}"/>
              </a:ext>
            </a:extLst>
          </p:cNvPr>
          <p:cNvSpPr txBox="1">
            <a:spLocks noChangeArrowheads="1"/>
          </p:cNvSpPr>
          <p:nvPr/>
        </p:nvSpPr>
        <p:spPr bwMode="auto">
          <a:xfrm>
            <a:off x="846502" y="5107194"/>
            <a:ext cx="9000750" cy="532453"/>
          </a:xfrm>
          <a:prstGeom prst="rect">
            <a:avLst/>
          </a:prstGeom>
          <a:solidFill>
            <a:schemeClr val="bg1">
              <a:lumMod val="95000"/>
            </a:schemeClr>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200" b="1" dirty="0">
                <a:latin typeface="+mn-ea"/>
                <a:ea typeface="+mn-ea"/>
              </a:rPr>
              <a:t>用</a:t>
            </a:r>
            <a:r>
              <a:rPr lang="en-US" altLang="zh-CN" sz="2200" b="1" dirty="0">
                <a:latin typeface="+mn-ea"/>
                <a:ea typeface="+mn-ea"/>
              </a:rPr>
              <a:t>Maple</a:t>
            </a:r>
            <a:r>
              <a:rPr lang="zh-CN" altLang="en-US" sz="2200" b="1" dirty="0">
                <a:latin typeface="+mn-ea"/>
                <a:ea typeface="+mn-ea"/>
              </a:rPr>
              <a:t>数学软件，计算得</a:t>
            </a:r>
            <a:r>
              <a:rPr lang="en-US" altLang="zh-CN" sz="2200" b="1" dirty="0">
                <a:latin typeface="+mn-ea"/>
                <a:ea typeface="+mn-ea"/>
              </a:rPr>
              <a:t>N=21.09</a:t>
            </a:r>
            <a:r>
              <a:rPr lang="zh-CN" altLang="en-US" sz="2200" b="1" dirty="0">
                <a:latin typeface="+mn-ea"/>
                <a:ea typeface="+mn-ea"/>
              </a:rPr>
              <a:t>年，即实际上提前近</a:t>
            </a:r>
            <a:r>
              <a:rPr lang="en-US" altLang="zh-CN" sz="2200" b="1" dirty="0">
                <a:latin typeface="+mn-ea"/>
                <a:ea typeface="+mn-ea"/>
              </a:rPr>
              <a:t>4</a:t>
            </a:r>
            <a:r>
              <a:rPr lang="zh-CN" altLang="en-US" sz="2200" b="1" dirty="0">
                <a:latin typeface="+mn-ea"/>
                <a:ea typeface="+mn-ea"/>
              </a:rPr>
              <a:t>年就可还清，</a:t>
            </a:r>
          </a:p>
        </p:txBody>
      </p:sp>
      <p:sp>
        <p:nvSpPr>
          <p:cNvPr id="8" name="Text Box 10">
            <a:extLst>
              <a:ext uri="{FF2B5EF4-FFF2-40B4-BE49-F238E27FC236}">
                <a16:creationId xmlns:a16="http://schemas.microsoft.com/office/drawing/2014/main" id="{CA83116E-6929-4420-A1A2-7CF65D10EF52}"/>
              </a:ext>
            </a:extLst>
          </p:cNvPr>
          <p:cNvSpPr txBox="1">
            <a:spLocks noChangeArrowheads="1"/>
          </p:cNvSpPr>
          <p:nvPr/>
        </p:nvSpPr>
        <p:spPr bwMode="auto">
          <a:xfrm>
            <a:off x="794743" y="5542461"/>
            <a:ext cx="10523110" cy="1282018"/>
          </a:xfrm>
          <a:prstGeom prst="rect">
            <a:avLst/>
          </a:prstGeom>
          <a:solidFill>
            <a:schemeClr val="bg1"/>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ts val="3200"/>
              </a:lnSpc>
              <a:spcBef>
                <a:spcPct val="50000"/>
              </a:spcBef>
            </a:pPr>
            <a:r>
              <a:rPr lang="zh-CN" altLang="en-US" sz="2200" b="1" dirty="0">
                <a:solidFill>
                  <a:srgbClr val="000000"/>
                </a:solidFill>
                <a:latin typeface="+mn-ea"/>
                <a:ea typeface="+mn-ea"/>
              </a:rPr>
              <a:t>该公司只要去同样的银行贷款，即使半个月收来的</a:t>
            </a:r>
            <a:r>
              <a:rPr lang="en-US" altLang="zh-CN" sz="2200" b="1" dirty="0">
                <a:solidFill>
                  <a:srgbClr val="000000"/>
                </a:solidFill>
                <a:latin typeface="+mn-ea"/>
                <a:ea typeface="+mn-ea"/>
              </a:rPr>
              <a:t>316</a:t>
            </a:r>
            <a:r>
              <a:rPr lang="zh-CN" altLang="en-US" sz="2200" b="1" dirty="0">
                <a:solidFill>
                  <a:srgbClr val="000000"/>
                </a:solidFill>
                <a:latin typeface="+mn-ea"/>
                <a:ea typeface="+mn-ea"/>
              </a:rPr>
              <a:t>元不动，再过半个月合在一起去交给银行，它还可坐收第</a:t>
            </a:r>
            <a:r>
              <a:rPr lang="en-US" altLang="zh-CN" sz="2200" b="1" dirty="0">
                <a:solidFill>
                  <a:srgbClr val="000000"/>
                </a:solidFill>
                <a:latin typeface="+mn-ea"/>
                <a:ea typeface="+mn-ea"/>
              </a:rPr>
              <a:t>22</a:t>
            </a:r>
            <a:r>
              <a:rPr lang="zh-CN" altLang="en-US" sz="2200" b="1" dirty="0">
                <a:solidFill>
                  <a:srgbClr val="000000"/>
                </a:solidFill>
                <a:latin typeface="+mn-ea"/>
                <a:ea typeface="+mn-ea"/>
              </a:rPr>
              <a:t>年的款近</a:t>
            </a:r>
            <a:r>
              <a:rPr lang="en-US" altLang="zh-CN" sz="2200" b="1" dirty="0">
                <a:solidFill>
                  <a:srgbClr val="000000"/>
                </a:solidFill>
                <a:latin typeface="+mn-ea"/>
                <a:ea typeface="+mn-ea"/>
              </a:rPr>
              <a:t>7000</a:t>
            </a:r>
            <a:r>
              <a:rPr lang="zh-CN" altLang="en-US" sz="2200" b="1" dirty="0">
                <a:solidFill>
                  <a:srgbClr val="000000"/>
                </a:solidFill>
                <a:latin typeface="+mn-ea"/>
                <a:ea typeface="+mn-ea"/>
              </a:rPr>
              <a:t>元，更何况它可以利用收到的贷款去做短期（半个月内）的投资赚取额外的钱。</a:t>
            </a:r>
          </a:p>
        </p:txBody>
      </p:sp>
      <p:sp>
        <p:nvSpPr>
          <p:cNvPr id="9" name="标题 1">
            <a:extLst>
              <a:ext uri="{FF2B5EF4-FFF2-40B4-BE49-F238E27FC236}">
                <a16:creationId xmlns:a16="http://schemas.microsoft.com/office/drawing/2014/main" id="{3CA57790-5275-4903-ADE7-8F81FE7626CD}"/>
              </a:ext>
            </a:extLst>
          </p:cNvPr>
          <p:cNvSpPr>
            <a:spLocks noGrp="1"/>
          </p:cNvSpPr>
          <p:nvPr>
            <p:ph type="title"/>
          </p:nvPr>
        </p:nvSpPr>
        <p:spPr>
          <a:xfrm>
            <a:off x="3884760" y="713947"/>
            <a:ext cx="3206151" cy="776378"/>
          </a:xfrm>
        </p:spPr>
        <p:txBody>
          <a:bodyPr>
            <a:normAutofit/>
          </a:bodyPr>
          <a:lstStyle/>
          <a:p>
            <a:r>
              <a:rPr lang="zh-CN" altLang="en-US" sz="3200" b="1" dirty="0">
                <a:solidFill>
                  <a:srgbClr val="0000FF"/>
                </a:solidFill>
                <a:latin typeface="微软雅黑" charset="-122"/>
                <a:ea typeface="微软雅黑" charset="-122"/>
                <a:sym typeface="+mn-ea"/>
              </a:rPr>
              <a:t>贷款买房问题</a:t>
            </a:r>
            <a:endParaRPr lang="zh-CN" altLang="en-US" sz="3200" dirty="0"/>
          </a:p>
        </p:txBody>
      </p:sp>
    </p:spTree>
    <p:extLst>
      <p:ext uri="{BB962C8B-B14F-4D97-AF65-F5344CB8AC3E}">
        <p14:creationId xmlns:p14="http://schemas.microsoft.com/office/powerpoint/2010/main" val="2254916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8" presetClass="entr" presetSubtype="16"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diamond(in)">
                                      <p:cBhvr>
                                        <p:cTn id="23"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8">
            <a:extLst>
              <a:ext uri="{FF2B5EF4-FFF2-40B4-BE49-F238E27FC236}">
                <a16:creationId xmlns:a16="http://schemas.microsoft.com/office/drawing/2014/main" id="{4D1CECFE-2942-4935-A232-335873BC9EE8}"/>
              </a:ext>
            </a:extLst>
          </p:cNvPr>
          <p:cNvSpPr txBox="1">
            <a:spLocks noChangeArrowheads="1"/>
          </p:cNvSpPr>
          <p:nvPr/>
        </p:nvSpPr>
        <p:spPr bwMode="auto">
          <a:xfrm>
            <a:off x="2080688" y="1755260"/>
            <a:ext cx="7272606" cy="1042208"/>
          </a:xfrm>
          <a:prstGeom prst="rect">
            <a:avLst/>
          </a:prstGeom>
          <a:solidFill>
            <a:schemeClr val="bg1"/>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2200" b="1" dirty="0">
                <a:latin typeface="+mn-ea"/>
                <a:ea typeface="+mn-ea"/>
              </a:rPr>
              <a:t>贷款买房计算公式和上面的算例结果给了我们什么启示，或者说还有那些推广应用？</a:t>
            </a:r>
          </a:p>
        </p:txBody>
      </p:sp>
      <p:graphicFrame>
        <p:nvGraphicFramePr>
          <p:cNvPr id="5" name="Object 7">
            <a:extLst>
              <a:ext uri="{FF2B5EF4-FFF2-40B4-BE49-F238E27FC236}">
                <a16:creationId xmlns:a16="http://schemas.microsoft.com/office/drawing/2014/main" id="{FC34F5CF-11E2-4C7B-B074-E995398EC5BD}"/>
              </a:ext>
            </a:extLst>
          </p:cNvPr>
          <p:cNvGraphicFramePr>
            <a:graphicFrameLocks noChangeAspect="1"/>
          </p:cNvGraphicFramePr>
          <p:nvPr>
            <p:extLst>
              <p:ext uri="{D42A27DB-BD31-4B8C-83A1-F6EECF244321}">
                <p14:modId xmlns:p14="http://schemas.microsoft.com/office/powerpoint/2010/main" val="542125299"/>
              </p:ext>
            </p:extLst>
          </p:nvPr>
        </p:nvGraphicFramePr>
        <p:xfrm>
          <a:off x="3952844" y="2910487"/>
          <a:ext cx="2514600" cy="1136622"/>
        </p:xfrm>
        <a:graphic>
          <a:graphicData uri="http://schemas.openxmlformats.org/presentationml/2006/ole">
            <mc:AlternateContent xmlns:mc="http://schemas.openxmlformats.org/markup-compatibility/2006">
              <mc:Choice xmlns:v="urn:schemas-microsoft-com:vml" Requires="v">
                <p:oleObj name="Equation" r:id="rId2" imgW="1054100" imgH="635000" progId="">
                  <p:embed/>
                </p:oleObj>
              </mc:Choice>
              <mc:Fallback>
                <p:oleObj name="Equation" r:id="rId2" imgW="1054100" imgH="635000" progId="">
                  <p:embed/>
                  <p:pic>
                    <p:nvPicPr>
                      <p:cNvPr id="5" name="Object 7">
                        <a:extLst>
                          <a:ext uri="{FF2B5EF4-FFF2-40B4-BE49-F238E27FC236}">
                            <a16:creationId xmlns:a16="http://schemas.microsoft.com/office/drawing/2014/main" id="{FC34F5CF-11E2-4C7B-B074-E995398EC5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44" y="2910487"/>
                        <a:ext cx="2514600" cy="1136622"/>
                      </a:xfrm>
                      <a:prstGeom prst="rect">
                        <a:avLst/>
                      </a:prstGeom>
                      <a:solidFill>
                        <a:srgbClr val="FFD966"/>
                      </a:solidFill>
                    </p:spPr>
                  </p:pic>
                </p:oleObj>
              </mc:Fallback>
            </mc:AlternateContent>
          </a:graphicData>
        </a:graphic>
      </p:graphicFrame>
      <p:sp>
        <p:nvSpPr>
          <p:cNvPr id="6" name="Text Box 9">
            <a:extLst>
              <a:ext uri="{FF2B5EF4-FFF2-40B4-BE49-F238E27FC236}">
                <a16:creationId xmlns:a16="http://schemas.microsoft.com/office/drawing/2014/main" id="{EAD2017D-27E1-4429-B9DE-DF1D08AF52B2}"/>
              </a:ext>
            </a:extLst>
          </p:cNvPr>
          <p:cNvSpPr txBox="1">
            <a:spLocks noChangeArrowheads="1"/>
          </p:cNvSpPr>
          <p:nvPr/>
        </p:nvSpPr>
        <p:spPr bwMode="auto">
          <a:xfrm>
            <a:off x="1936676" y="4210928"/>
            <a:ext cx="7560630" cy="484235"/>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200" b="1" dirty="0">
                <a:latin typeface="+mn-ea"/>
                <a:ea typeface="+mn-ea"/>
              </a:rPr>
              <a:t>（</a:t>
            </a:r>
            <a:r>
              <a:rPr lang="en-US" altLang="zh-CN" sz="2200" b="1" dirty="0">
                <a:latin typeface="+mn-ea"/>
                <a:ea typeface="+mn-ea"/>
              </a:rPr>
              <a:t>1</a:t>
            </a:r>
            <a:r>
              <a:rPr lang="zh-CN" altLang="en-US" sz="2200" b="1" dirty="0">
                <a:latin typeface="+mn-ea"/>
                <a:ea typeface="+mn-ea"/>
              </a:rPr>
              <a:t>）</a:t>
            </a:r>
            <a:r>
              <a:rPr lang="zh-CN" altLang="en-US" sz="2200" b="1" dirty="0">
                <a:latin typeface="方正姚体" pitchFamily="2" charset="-122"/>
                <a:ea typeface="方正姚体" pitchFamily="2" charset="-122"/>
              </a:rPr>
              <a:t>少借</a:t>
            </a:r>
            <a:r>
              <a:rPr lang="en-US" altLang="zh-CN" sz="2200" b="1" dirty="0">
                <a:latin typeface="方正姚体" pitchFamily="2" charset="-122"/>
                <a:ea typeface="方正姚体" pitchFamily="2" charset="-122"/>
              </a:rPr>
              <a:t>316*6=1896</a:t>
            </a:r>
            <a:r>
              <a:rPr lang="zh-CN" altLang="en-US" sz="2200" b="1" dirty="0">
                <a:latin typeface="方正姚体" pitchFamily="2" charset="-122"/>
                <a:ea typeface="方正姚体" pitchFamily="2" charset="-122"/>
              </a:rPr>
              <a:t>元，</a:t>
            </a:r>
            <a:r>
              <a:rPr lang="zh-CN" altLang="en-US" sz="2200" b="1" dirty="0">
                <a:latin typeface="+mn-ea"/>
                <a:ea typeface="+mn-ea"/>
              </a:rPr>
              <a:t>提前近</a:t>
            </a:r>
            <a:r>
              <a:rPr lang="en-US" altLang="zh-CN" sz="2200" b="1" dirty="0">
                <a:latin typeface="+mn-ea"/>
                <a:ea typeface="+mn-ea"/>
              </a:rPr>
              <a:t>4</a:t>
            </a:r>
            <a:r>
              <a:rPr lang="zh-CN" altLang="en-US" sz="2200" b="1" dirty="0">
                <a:latin typeface="+mn-ea"/>
                <a:ea typeface="+mn-ea"/>
              </a:rPr>
              <a:t>年就可还清。</a:t>
            </a:r>
            <a:r>
              <a:rPr lang="el-GR" altLang="zh-CN" sz="2200" b="1" dirty="0">
                <a:latin typeface="Times New Roman" panose="02020603050405020304" pitchFamily="18" charset="0"/>
                <a:ea typeface="+mn-ea"/>
                <a:cs typeface="Times New Roman" panose="02020603050405020304" pitchFamily="18" charset="0"/>
              </a:rPr>
              <a:t>Δ</a:t>
            </a:r>
            <a:r>
              <a:rPr lang="en-US" altLang="zh-CN" sz="2200" b="1" i="1" dirty="0">
                <a:latin typeface="Times New Roman" panose="02020603050405020304" pitchFamily="18" charset="0"/>
                <a:ea typeface="+mn-ea"/>
                <a:cs typeface="Times New Roman" panose="02020603050405020304" pitchFamily="18" charset="0"/>
              </a:rPr>
              <a:t>A</a:t>
            </a:r>
            <a:r>
              <a:rPr lang="en-US" altLang="zh-CN" sz="2200" b="1" i="1" baseline="-25000" dirty="0">
                <a:latin typeface="Times New Roman" panose="02020603050405020304" pitchFamily="18" charset="0"/>
                <a:ea typeface="+mn-ea"/>
                <a:cs typeface="Times New Roman" panose="02020603050405020304" pitchFamily="18" charset="0"/>
              </a:rPr>
              <a:t>0</a:t>
            </a:r>
            <a:r>
              <a:rPr lang="zh-CN" altLang="en-US" sz="2200" b="1" dirty="0">
                <a:latin typeface="Times New Roman" panose="02020603050405020304" pitchFamily="18" charset="0"/>
                <a:ea typeface="+mn-ea"/>
                <a:cs typeface="Times New Roman" panose="02020603050405020304" pitchFamily="18" charset="0"/>
              </a:rPr>
              <a:t>与</a:t>
            </a:r>
            <a:r>
              <a:rPr lang="el-GR" altLang="zh-CN" sz="2200" b="1" dirty="0">
                <a:latin typeface="Times New Roman" panose="02020603050405020304" pitchFamily="18" charset="0"/>
                <a:cs typeface="Times New Roman" panose="02020603050405020304" pitchFamily="18" charset="0"/>
              </a:rPr>
              <a:t>Δ</a:t>
            </a:r>
            <a:r>
              <a:rPr lang="en-US" altLang="zh-CN" sz="2200" b="1" i="1" dirty="0">
                <a:latin typeface="Times New Roman" panose="02020603050405020304" pitchFamily="18" charset="0"/>
                <a:cs typeface="Times New Roman" panose="02020603050405020304" pitchFamily="18" charset="0"/>
              </a:rPr>
              <a:t>N</a:t>
            </a:r>
            <a:endParaRPr lang="zh-CN" altLang="en-US" sz="2200" b="1" i="1" dirty="0">
              <a:latin typeface="+mn-ea"/>
              <a:ea typeface="+mn-ea"/>
            </a:endParaRPr>
          </a:p>
        </p:txBody>
      </p:sp>
      <p:sp>
        <p:nvSpPr>
          <p:cNvPr id="7" name="Text Box 9">
            <a:extLst>
              <a:ext uri="{FF2B5EF4-FFF2-40B4-BE49-F238E27FC236}">
                <a16:creationId xmlns:a16="http://schemas.microsoft.com/office/drawing/2014/main" id="{DF962C08-9F18-4AB6-A482-5879C799E7B2}"/>
              </a:ext>
            </a:extLst>
          </p:cNvPr>
          <p:cNvSpPr txBox="1">
            <a:spLocks noChangeArrowheads="1"/>
          </p:cNvSpPr>
          <p:nvPr/>
        </p:nvSpPr>
        <p:spPr bwMode="auto">
          <a:xfrm>
            <a:off x="1936676" y="4855834"/>
            <a:ext cx="7546818" cy="872931"/>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200" b="1" dirty="0">
                <a:latin typeface="+mn-ea"/>
                <a:ea typeface="+mn-ea"/>
              </a:rPr>
              <a:t>（</a:t>
            </a:r>
            <a:r>
              <a:rPr lang="en-US" altLang="zh-CN" sz="2200" b="1" dirty="0">
                <a:latin typeface="+mn-ea"/>
                <a:ea typeface="+mn-ea"/>
              </a:rPr>
              <a:t>2</a:t>
            </a:r>
            <a:r>
              <a:rPr lang="zh-CN" altLang="en-US" sz="2200" b="1" dirty="0">
                <a:latin typeface="+mn-ea"/>
                <a:ea typeface="+mn-ea"/>
              </a:rPr>
              <a:t>）</a:t>
            </a:r>
            <a:r>
              <a:rPr lang="zh-CN" altLang="en-US" sz="2200" b="1" dirty="0">
                <a:latin typeface="方正姚体" pitchFamily="2" charset="-122"/>
                <a:ea typeface="方正姚体" pitchFamily="2" charset="-122"/>
              </a:rPr>
              <a:t>一个月、半个月还款，</a:t>
            </a:r>
            <a:r>
              <a:rPr lang="en-US" altLang="zh-CN" sz="2200" b="1" dirty="0">
                <a:latin typeface="+mn-ea"/>
                <a:ea typeface="+mn-ea"/>
              </a:rPr>
              <a:t>25</a:t>
            </a:r>
            <a:r>
              <a:rPr lang="zh-CN" altLang="en-US" sz="2200" b="1" dirty="0">
                <a:latin typeface="+mn-ea"/>
                <a:ea typeface="+mn-ea"/>
              </a:rPr>
              <a:t>年、</a:t>
            </a:r>
            <a:r>
              <a:rPr lang="en-US" altLang="zh-CN" sz="2200" b="1" dirty="0"/>
              <a:t>24.92</a:t>
            </a:r>
            <a:r>
              <a:rPr lang="zh-CN" altLang="en-US" sz="2200" b="1" dirty="0"/>
              <a:t>年</a:t>
            </a:r>
            <a:r>
              <a:rPr lang="zh-CN" altLang="en-US" sz="2200" b="1" dirty="0">
                <a:latin typeface="+mn-ea"/>
              </a:rPr>
              <a:t>还清</a:t>
            </a:r>
            <a:r>
              <a:rPr lang="zh-CN" altLang="en-US" sz="2200" b="1" dirty="0">
                <a:latin typeface="+mn-ea"/>
                <a:ea typeface="+mn-ea"/>
              </a:rPr>
              <a:t>。</a:t>
            </a:r>
            <a:endParaRPr lang="en-US" altLang="zh-CN" sz="2200" b="1" dirty="0">
              <a:latin typeface="+mn-ea"/>
              <a:ea typeface="+mn-ea"/>
            </a:endParaRPr>
          </a:p>
          <a:p>
            <a:pPr algn="just" eaLnBrk="1" hangingPunct="1">
              <a:lnSpc>
                <a:spcPct val="150000"/>
              </a:lnSpc>
            </a:pPr>
            <a:r>
              <a:rPr lang="zh-CN" altLang="en-US" sz="2200" b="1" dirty="0">
                <a:latin typeface="+mn-ea"/>
                <a:ea typeface="+mn-ea"/>
              </a:rPr>
              <a:t>存在最佳还款周期吗？</a:t>
            </a:r>
            <a:endParaRPr lang="zh-CN" altLang="en-US" sz="2200" b="1" i="1" dirty="0">
              <a:latin typeface="+mn-ea"/>
              <a:ea typeface="+mn-ea"/>
            </a:endParaRPr>
          </a:p>
        </p:txBody>
      </p:sp>
      <p:sp>
        <p:nvSpPr>
          <p:cNvPr id="8" name="Text Box 9">
            <a:extLst>
              <a:ext uri="{FF2B5EF4-FFF2-40B4-BE49-F238E27FC236}">
                <a16:creationId xmlns:a16="http://schemas.microsoft.com/office/drawing/2014/main" id="{0204F068-CDB6-4E46-AD1E-F6263893C75C}"/>
              </a:ext>
            </a:extLst>
          </p:cNvPr>
          <p:cNvSpPr txBox="1">
            <a:spLocks noChangeArrowheads="1"/>
          </p:cNvSpPr>
          <p:nvPr/>
        </p:nvSpPr>
        <p:spPr bwMode="auto">
          <a:xfrm>
            <a:off x="1893500" y="5904412"/>
            <a:ext cx="7710582" cy="872931"/>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200" b="1" dirty="0">
                <a:latin typeface="+mn-ea"/>
                <a:ea typeface="+mn-ea"/>
              </a:rPr>
              <a:t>（</a:t>
            </a:r>
            <a:r>
              <a:rPr lang="en-US" altLang="zh-CN" sz="2200" b="1" dirty="0">
                <a:latin typeface="+mn-ea"/>
                <a:ea typeface="+mn-ea"/>
              </a:rPr>
              <a:t>3</a:t>
            </a:r>
            <a:r>
              <a:rPr lang="zh-CN" altLang="en-US" sz="2200" b="1" dirty="0">
                <a:latin typeface="+mn-ea"/>
                <a:ea typeface="+mn-ea"/>
              </a:rPr>
              <a:t>）</a:t>
            </a:r>
            <a:r>
              <a:rPr lang="en-US" altLang="zh-CN" sz="2200" b="1" dirty="0">
                <a:latin typeface="方正姚体" pitchFamily="2" charset="-122"/>
                <a:ea typeface="方正姚体" pitchFamily="2" charset="-122"/>
              </a:rPr>
              <a:t>10</a:t>
            </a:r>
            <a:r>
              <a:rPr lang="zh-CN" altLang="en-US" sz="2200" b="1" dirty="0">
                <a:latin typeface="方正姚体" pitchFamily="2" charset="-122"/>
                <a:ea typeface="方正姚体" pitchFamily="2" charset="-122"/>
              </a:rPr>
              <a:t>天、</a:t>
            </a:r>
            <a:r>
              <a:rPr lang="en-US" altLang="zh-CN" sz="2200" b="1" dirty="0">
                <a:latin typeface="方正姚体" pitchFamily="2" charset="-122"/>
                <a:ea typeface="方正姚体" pitchFamily="2" charset="-122"/>
              </a:rPr>
              <a:t>5</a:t>
            </a:r>
            <a:r>
              <a:rPr lang="zh-CN" altLang="en-US" sz="2200" b="1" dirty="0">
                <a:latin typeface="方正姚体" pitchFamily="2" charset="-122"/>
                <a:ea typeface="方正姚体" pitchFamily="2" charset="-122"/>
              </a:rPr>
              <a:t>天、</a:t>
            </a:r>
            <a:r>
              <a:rPr lang="en-US" altLang="zh-CN" sz="2200" b="1" dirty="0">
                <a:latin typeface="方正姚体" pitchFamily="2" charset="-122"/>
                <a:ea typeface="方正姚体" pitchFamily="2" charset="-122"/>
              </a:rPr>
              <a:t>1</a:t>
            </a:r>
            <a:r>
              <a:rPr lang="zh-CN" altLang="en-US" sz="2200" b="1" dirty="0">
                <a:latin typeface="方正姚体" pitchFamily="2" charset="-122"/>
                <a:ea typeface="方正姚体" pitchFamily="2" charset="-122"/>
              </a:rPr>
              <a:t>天、</a:t>
            </a:r>
            <a:r>
              <a:rPr lang="en-US" altLang="zh-CN" sz="2200" b="1" dirty="0">
                <a:latin typeface="方正姚体" pitchFamily="2" charset="-122"/>
                <a:ea typeface="方正姚体" pitchFamily="2" charset="-122"/>
              </a:rPr>
              <a:t>1</a:t>
            </a:r>
            <a:r>
              <a:rPr lang="zh-CN" altLang="en-US" sz="2200" b="1" dirty="0">
                <a:latin typeface="方正姚体" pitchFamily="2" charset="-122"/>
                <a:ea typeface="方正姚体" pitchFamily="2" charset="-122"/>
              </a:rPr>
              <a:t>小时、</a:t>
            </a:r>
            <a:r>
              <a:rPr lang="en-US" altLang="zh-CN" sz="2200" b="1" dirty="0">
                <a:latin typeface="方正姚体" pitchFamily="2" charset="-122"/>
                <a:ea typeface="方正姚体" pitchFamily="2" charset="-122"/>
              </a:rPr>
              <a:t>1</a:t>
            </a:r>
            <a:r>
              <a:rPr lang="zh-CN" altLang="en-US" sz="2200" b="1" dirty="0">
                <a:latin typeface="方正姚体" pitchFamily="2" charset="-122"/>
                <a:ea typeface="方正姚体" pitchFamily="2" charset="-122"/>
              </a:rPr>
              <a:t>分钟</a:t>
            </a:r>
            <a:r>
              <a:rPr lang="en-US" altLang="zh-CN" sz="2200" b="1" dirty="0">
                <a:latin typeface="方正姚体" pitchFamily="2" charset="-122"/>
                <a:ea typeface="方正姚体" pitchFamily="2" charset="-122"/>
              </a:rPr>
              <a:t>……</a:t>
            </a:r>
            <a:r>
              <a:rPr lang="zh-CN" altLang="en-US" sz="2200" b="1" dirty="0">
                <a:latin typeface="方正姚体" pitchFamily="2" charset="-122"/>
                <a:ea typeface="方正姚体" pitchFamily="2" charset="-122"/>
              </a:rPr>
              <a:t>还款，</a:t>
            </a:r>
            <a:r>
              <a:rPr lang="en-US" altLang="zh-CN" sz="2200" b="1" i="1" dirty="0">
                <a:latin typeface="+mn-ea"/>
                <a:ea typeface="+mn-ea"/>
              </a:rPr>
              <a:t>N</a:t>
            </a:r>
            <a:r>
              <a:rPr lang="en-US" altLang="zh-CN" sz="2200" b="1" i="1" dirty="0">
                <a:latin typeface="Times New Roman" panose="02020603050405020304" pitchFamily="18" charset="0"/>
                <a:ea typeface="+mn-ea"/>
                <a:cs typeface="Times New Roman" panose="02020603050405020304" pitchFamily="18" charset="0"/>
              </a:rPr>
              <a:t>→?</a:t>
            </a:r>
            <a:r>
              <a:rPr lang="zh-CN" altLang="en-US" sz="2200" b="1" dirty="0">
                <a:latin typeface="+mn-ea"/>
              </a:rPr>
              <a:t>还清</a:t>
            </a:r>
            <a:r>
              <a:rPr lang="zh-CN" altLang="en-US" sz="2200" b="1" dirty="0">
                <a:latin typeface="+mn-ea"/>
                <a:ea typeface="+mn-ea"/>
              </a:rPr>
              <a:t>。</a:t>
            </a:r>
            <a:endParaRPr lang="en-US" altLang="zh-CN" sz="2200" b="1" dirty="0">
              <a:latin typeface="+mn-ea"/>
              <a:ea typeface="+mn-ea"/>
            </a:endParaRPr>
          </a:p>
          <a:p>
            <a:pPr algn="just" eaLnBrk="1" hangingPunct="1">
              <a:lnSpc>
                <a:spcPct val="150000"/>
              </a:lnSpc>
            </a:pPr>
            <a:r>
              <a:rPr lang="zh-CN" altLang="en-US" sz="2200" b="1" dirty="0">
                <a:latin typeface="+mn-ea"/>
                <a:ea typeface="+mn-ea"/>
              </a:rPr>
              <a:t>银行现行一个月还款方式可以改变吗？</a:t>
            </a:r>
            <a:r>
              <a:rPr lang="en-US" altLang="zh-CN" sz="2200" b="1" dirty="0">
                <a:latin typeface="+mn-ea"/>
                <a:ea typeface="+mn-ea"/>
              </a:rPr>
              <a:t>……</a:t>
            </a:r>
            <a:endParaRPr lang="zh-CN" altLang="en-US" sz="2200" b="1" i="1" dirty="0">
              <a:latin typeface="+mn-ea"/>
              <a:ea typeface="+mn-ea"/>
            </a:endParaRPr>
          </a:p>
        </p:txBody>
      </p:sp>
      <p:sp>
        <p:nvSpPr>
          <p:cNvPr id="9" name="标题 1">
            <a:extLst>
              <a:ext uri="{FF2B5EF4-FFF2-40B4-BE49-F238E27FC236}">
                <a16:creationId xmlns:a16="http://schemas.microsoft.com/office/drawing/2014/main" id="{6B60BE70-CFE6-4282-AF82-7F39FE89DC87}"/>
              </a:ext>
            </a:extLst>
          </p:cNvPr>
          <p:cNvSpPr>
            <a:spLocks noGrp="1"/>
          </p:cNvSpPr>
          <p:nvPr>
            <p:ph type="title"/>
          </p:nvPr>
        </p:nvSpPr>
        <p:spPr>
          <a:xfrm>
            <a:off x="3884760" y="713947"/>
            <a:ext cx="3206151" cy="776378"/>
          </a:xfrm>
        </p:spPr>
        <p:txBody>
          <a:bodyPr>
            <a:normAutofit/>
          </a:bodyPr>
          <a:lstStyle/>
          <a:p>
            <a:r>
              <a:rPr lang="zh-CN" altLang="en-US" sz="3200" b="1" dirty="0">
                <a:solidFill>
                  <a:srgbClr val="0000FF"/>
                </a:solidFill>
                <a:latin typeface="微软雅黑" charset="-122"/>
                <a:ea typeface="微软雅黑" charset="-122"/>
                <a:sym typeface="+mn-ea"/>
              </a:rPr>
              <a:t>贷款买房问题</a:t>
            </a:r>
            <a:endParaRPr lang="zh-CN" altLang="en-US" sz="3200" dirty="0"/>
          </a:p>
        </p:txBody>
      </p:sp>
    </p:spTree>
    <p:extLst>
      <p:ext uri="{BB962C8B-B14F-4D97-AF65-F5344CB8AC3E}">
        <p14:creationId xmlns:p14="http://schemas.microsoft.com/office/powerpoint/2010/main" val="2470629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ppt_x</p:attrName>
                                        </p:attrNameLst>
                                      </p:cBhvr>
                                      <p:tavLst>
                                        <p:tav tm="0">
                                          <p:val>
                                            <p:strVal val="#ppt_x"/>
                                          </p:val>
                                        </p:tav>
                                        <p:tav tm="100000">
                                          <p:val>
                                            <p:strVal val="#ppt_x"/>
                                          </p:val>
                                        </p:tav>
                                      </p:tavLst>
                                    </p:anim>
                                    <p:anim calcmode="lin" valueType="num">
                                      <p:cBhvr additive="base">
                                        <p:cTn id="3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05C5B36-9E4B-4C90-A5C9-9870FC6F18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2582" y="4567461"/>
            <a:ext cx="7596252" cy="1489888"/>
          </a:xfrm>
          <a:prstGeom prst="rect">
            <a:avLst/>
          </a:prstGeom>
        </p:spPr>
      </p:pic>
      <p:sp>
        <p:nvSpPr>
          <p:cNvPr id="5" name="文本框 4">
            <a:extLst>
              <a:ext uri="{FF2B5EF4-FFF2-40B4-BE49-F238E27FC236}">
                <a16:creationId xmlns:a16="http://schemas.microsoft.com/office/drawing/2014/main" id="{5BF57C50-770E-4084-8BFD-AE539819BA3B}"/>
              </a:ext>
            </a:extLst>
          </p:cNvPr>
          <p:cNvSpPr txBox="1"/>
          <p:nvPr/>
        </p:nvSpPr>
        <p:spPr>
          <a:xfrm>
            <a:off x="1464600" y="3330048"/>
            <a:ext cx="8030210" cy="430887"/>
          </a:xfrm>
          <a:prstGeom prst="rect">
            <a:avLst/>
          </a:prstGeom>
          <a:noFill/>
        </p:spPr>
        <p:txBody>
          <a:bodyPr wrap="square">
            <a:spAutoFit/>
          </a:bodyPr>
          <a:lstStyle/>
          <a:p>
            <a:pPr algn="l" latinLnBrk="1"/>
            <a:r>
              <a:rPr lang="en-US" altLang="zh-CN" sz="2200" b="1" i="0" dirty="0">
                <a:solidFill>
                  <a:srgbClr val="222226"/>
                </a:solidFill>
                <a:effectLst/>
                <a:latin typeface="Microsoft YaHei" panose="020B0503020204020204" pitchFamily="34" charset="-122"/>
                <a:ea typeface="Microsoft YaHei" panose="020B0503020204020204" pitchFamily="34" charset="-122"/>
              </a:rPr>
              <a:t>2019</a:t>
            </a:r>
            <a:r>
              <a:rPr lang="zh-CN" altLang="en-US" sz="2200" b="1" i="0" dirty="0">
                <a:solidFill>
                  <a:srgbClr val="222226"/>
                </a:solidFill>
                <a:effectLst/>
                <a:latin typeface="Microsoft YaHei" panose="020B0503020204020204" pitchFamily="34" charset="-122"/>
                <a:ea typeface="Microsoft YaHei" panose="020B0503020204020204" pitchFamily="34" charset="-122"/>
              </a:rPr>
              <a:t>全国大学生数学建模竞赛题目 </a:t>
            </a:r>
            <a:r>
              <a:rPr lang="en-US" altLang="zh-CN" sz="2200" b="1" i="0" dirty="0">
                <a:solidFill>
                  <a:srgbClr val="222226"/>
                </a:solidFill>
                <a:effectLst/>
                <a:latin typeface="Microsoft YaHei" panose="020B0503020204020204" pitchFamily="34" charset="-122"/>
                <a:ea typeface="Microsoft YaHei" panose="020B0503020204020204" pitchFamily="34" charset="-122"/>
              </a:rPr>
              <a:t>A</a:t>
            </a:r>
            <a:r>
              <a:rPr lang="zh-CN" altLang="en-US" sz="2200" b="1" i="0" dirty="0">
                <a:solidFill>
                  <a:srgbClr val="222226"/>
                </a:solidFill>
                <a:effectLst/>
                <a:latin typeface="Microsoft YaHei" panose="020B0503020204020204" pitchFamily="34" charset="-122"/>
                <a:ea typeface="Microsoft YaHei" panose="020B0503020204020204" pitchFamily="34" charset="-122"/>
              </a:rPr>
              <a:t>题 高压油管的压力控制</a:t>
            </a:r>
          </a:p>
        </p:txBody>
      </p:sp>
      <p:sp>
        <p:nvSpPr>
          <p:cNvPr id="6" name="文本框 5">
            <a:extLst>
              <a:ext uri="{FF2B5EF4-FFF2-40B4-BE49-F238E27FC236}">
                <a16:creationId xmlns:a16="http://schemas.microsoft.com/office/drawing/2014/main" id="{DD01388A-78A3-405E-923F-31C79B56F489}"/>
              </a:ext>
            </a:extLst>
          </p:cNvPr>
          <p:cNvSpPr txBox="1"/>
          <p:nvPr/>
        </p:nvSpPr>
        <p:spPr>
          <a:xfrm>
            <a:off x="1485339" y="2206707"/>
            <a:ext cx="9286180" cy="430887"/>
          </a:xfrm>
          <a:prstGeom prst="rect">
            <a:avLst/>
          </a:prstGeom>
          <a:noFill/>
        </p:spPr>
        <p:txBody>
          <a:bodyPr wrap="square">
            <a:spAutoFit/>
          </a:bodyPr>
          <a:lstStyle/>
          <a:p>
            <a:pPr algn="l" latinLnBrk="1"/>
            <a:r>
              <a:rPr lang="zh-CN" altLang="en-US" sz="2200" b="1" dirty="0">
                <a:solidFill>
                  <a:srgbClr val="222226"/>
                </a:solidFill>
                <a:latin typeface="Microsoft YaHei" panose="020B0503020204020204" pitchFamily="34" charset="-122"/>
                <a:ea typeface="Microsoft YaHei" panose="020B0503020204020204" pitchFamily="34" charset="-122"/>
              </a:rPr>
              <a:t>多年来大学生数学建模竞赛也充分说明了</a:t>
            </a:r>
            <a:r>
              <a:rPr lang="zh-CN" altLang="en-US" sz="2200" b="1" dirty="0">
                <a:solidFill>
                  <a:srgbClr val="FF0000"/>
                </a:solidFill>
                <a:latin typeface="Microsoft YaHei" panose="020B0503020204020204" pitchFamily="34" charset="-122"/>
                <a:ea typeface="Microsoft YaHei" panose="020B0503020204020204" pitchFamily="34" charset="-122"/>
              </a:rPr>
              <a:t>计算是解决科学工程问题的关键。</a:t>
            </a:r>
            <a:endParaRPr lang="en-US" altLang="zh-CN" sz="2200" b="1" dirty="0">
              <a:solidFill>
                <a:srgbClr val="FF0000"/>
              </a:solidFill>
              <a:latin typeface="Microsoft YaHei" panose="020B0503020204020204" pitchFamily="34" charset="-122"/>
              <a:ea typeface="Microsoft YaHei" panose="020B0503020204020204" pitchFamily="34" charset="-122"/>
            </a:endParaRPr>
          </a:p>
        </p:txBody>
      </p:sp>
      <p:sp>
        <p:nvSpPr>
          <p:cNvPr id="9" name="标题 1">
            <a:extLst>
              <a:ext uri="{FF2B5EF4-FFF2-40B4-BE49-F238E27FC236}">
                <a16:creationId xmlns:a16="http://schemas.microsoft.com/office/drawing/2014/main" id="{93377F8E-B0E8-4FAB-95A7-3D0AAEDAFD85}"/>
              </a:ext>
            </a:extLst>
          </p:cNvPr>
          <p:cNvSpPr>
            <a:spLocks noGrp="1"/>
          </p:cNvSpPr>
          <p:nvPr>
            <p:ph type="title"/>
          </p:nvPr>
        </p:nvSpPr>
        <p:spPr>
          <a:xfrm>
            <a:off x="1780886" y="869688"/>
            <a:ext cx="7297948" cy="660528"/>
          </a:xfrm>
        </p:spPr>
        <p:txBody>
          <a:bodyPr>
            <a:normAutofit/>
          </a:bodyPr>
          <a:lstStyle/>
          <a:p>
            <a:r>
              <a:rPr lang="zh-CN" altLang="en-US" sz="3200" b="1" dirty="0">
                <a:solidFill>
                  <a:srgbClr val="000000"/>
                </a:solidFill>
                <a:latin typeface="微软雅黑" charset="-122"/>
                <a:ea typeface="宋体" panose="02010600030101010101" pitchFamily="2" charset="-122"/>
              </a:rPr>
              <a:t>科学计算是解决科学工程问题的关键</a:t>
            </a:r>
          </a:p>
        </p:txBody>
      </p:sp>
    </p:spTree>
    <p:extLst>
      <p:ext uri="{BB962C8B-B14F-4D97-AF65-F5344CB8AC3E}">
        <p14:creationId xmlns:p14="http://schemas.microsoft.com/office/powerpoint/2010/main" val="3814462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8CA1920-9551-4760-AF1F-9DF63034B620}"/>
              </a:ext>
            </a:extLst>
          </p:cNvPr>
          <p:cNvSpPr/>
          <p:nvPr/>
        </p:nvSpPr>
        <p:spPr>
          <a:xfrm>
            <a:off x="1416181" y="1771677"/>
            <a:ext cx="8465103" cy="1120371"/>
          </a:xfrm>
          <a:prstGeom prst="rect">
            <a:avLst/>
          </a:prstGeom>
          <a:noFill/>
          <a:ln w="9525">
            <a:noFill/>
          </a:ln>
        </p:spPr>
        <p:txBody>
          <a:bodyPr wrap="square">
            <a:spAutoFit/>
          </a:bodyPr>
          <a:lstStyle/>
          <a:p>
            <a:pPr lvl="0">
              <a:lnSpc>
                <a:spcPts val="4200"/>
              </a:lnSpc>
            </a:pPr>
            <a:r>
              <a:rPr lang="zh-CN" altLang="en-US" sz="3200" dirty="0">
                <a:solidFill>
                  <a:srgbClr val="FF0000"/>
                </a:solidFill>
                <a:latin typeface="微软雅黑" panose="020B0503020204020204" charset="-122"/>
                <a:ea typeface="微软雅黑" panose="020B0503020204020204" charset="-122"/>
              </a:rPr>
              <a:t>      </a:t>
            </a:r>
            <a:r>
              <a:rPr lang="zh-CN" altLang="en-US" sz="3200" b="1" dirty="0">
                <a:solidFill>
                  <a:srgbClr val="FF0000"/>
                </a:solidFill>
                <a:latin typeface="微软雅黑" panose="020B0503020204020204" charset="-122"/>
                <a:ea typeface="微软雅黑" panose="020B0503020204020204" charset="-122"/>
                <a:cs typeface="+mj-cs"/>
              </a:rPr>
              <a:t>计算技术</a:t>
            </a:r>
            <a:r>
              <a:rPr lang="zh-CN" altLang="en-US" sz="3200" b="1" dirty="0">
                <a:solidFill>
                  <a:srgbClr val="1D41D5"/>
                </a:solidFill>
                <a:latin typeface="微软雅黑" panose="020B0503020204020204" charset="-122"/>
                <a:ea typeface="微软雅黑" panose="020B0503020204020204" charset="-122"/>
                <a:cs typeface="+mj-cs"/>
              </a:rPr>
              <a:t>与</a:t>
            </a:r>
            <a:r>
              <a:rPr lang="zh-CN" altLang="en-US" sz="3200" b="1" dirty="0">
                <a:solidFill>
                  <a:srgbClr val="FF0000"/>
                </a:solidFill>
                <a:latin typeface="微软雅黑" panose="020B0503020204020204" charset="-122"/>
                <a:ea typeface="微软雅黑" panose="020B0503020204020204" charset="-122"/>
                <a:cs typeface="+mj-cs"/>
              </a:rPr>
              <a:t>计算机技术</a:t>
            </a:r>
            <a:r>
              <a:rPr lang="zh-CN" altLang="en-US" sz="2800" b="1" dirty="0">
                <a:solidFill>
                  <a:srgbClr val="0000CC"/>
                </a:solidFill>
                <a:latin typeface="微软雅黑" panose="020B0503020204020204" charset="-122"/>
                <a:ea typeface="微软雅黑" panose="020B0503020204020204" charset="-122"/>
                <a:cs typeface="+mj-cs"/>
              </a:rPr>
              <a:t>的结合是</a:t>
            </a:r>
            <a:r>
              <a:rPr lang="zh-CN" altLang="en-US" sz="2800" b="1" dirty="0">
                <a:solidFill>
                  <a:srgbClr val="0000CC"/>
                </a:solidFill>
                <a:latin typeface="微软雅黑" panose="020B0503020204020204" charset="-122"/>
                <a:ea typeface="微软雅黑" panose="020B0503020204020204" charset="-122"/>
                <a:cs typeface="+mj-cs"/>
                <a:sym typeface="+mn-ea"/>
              </a:rPr>
              <a:t>解决快速准确计算问题的有效途径</a:t>
            </a:r>
            <a:r>
              <a:rPr lang="zh-CN" altLang="en-US" sz="2800" b="1" dirty="0">
                <a:solidFill>
                  <a:srgbClr val="0000CC"/>
                </a:solidFill>
                <a:latin typeface="微软雅黑" panose="020B0503020204020204" charset="-122"/>
                <a:ea typeface="微软雅黑" panose="020B0503020204020204" charset="-122"/>
                <a:cs typeface="+mj-cs"/>
              </a:rPr>
              <a:t>。</a:t>
            </a:r>
            <a:endParaRPr lang="en-US" altLang="zh-CN" sz="2800" b="1" dirty="0">
              <a:solidFill>
                <a:srgbClr val="0000CC"/>
              </a:solidFill>
              <a:latin typeface="微软雅黑" panose="020B0503020204020204" charset="-122"/>
              <a:ea typeface="微软雅黑" panose="020B0503020204020204" charset="-122"/>
              <a:cs typeface="+mj-cs"/>
            </a:endParaRPr>
          </a:p>
        </p:txBody>
      </p:sp>
      <p:sp>
        <p:nvSpPr>
          <p:cNvPr id="5" name="矩形 4">
            <a:extLst>
              <a:ext uri="{FF2B5EF4-FFF2-40B4-BE49-F238E27FC236}">
                <a16:creationId xmlns:a16="http://schemas.microsoft.com/office/drawing/2014/main" id="{40D39E54-92E0-49D5-98CE-8DE453077264}"/>
              </a:ext>
            </a:extLst>
          </p:cNvPr>
          <p:cNvSpPr/>
          <p:nvPr/>
        </p:nvSpPr>
        <p:spPr>
          <a:xfrm>
            <a:off x="2104636" y="2919742"/>
            <a:ext cx="4968414" cy="743986"/>
          </a:xfrm>
          <a:prstGeom prst="rect">
            <a:avLst/>
          </a:prstGeom>
          <a:noFill/>
          <a:ln w="9525">
            <a:noFill/>
          </a:ln>
        </p:spPr>
        <p:txBody>
          <a:bodyPr wrap="square">
            <a:spAutoFit/>
          </a:bodyPr>
          <a:lstStyle/>
          <a:p>
            <a:pPr lvl="0">
              <a:lnSpc>
                <a:spcPct val="150000"/>
              </a:lnSpc>
            </a:pPr>
            <a:r>
              <a:rPr lang="zh-CN" altLang="en-US" sz="3200" b="1" dirty="0">
                <a:solidFill>
                  <a:srgbClr val="FF0000"/>
                </a:solidFill>
                <a:latin typeface="微软雅黑" panose="020B0503020204020204" charset="-122"/>
                <a:ea typeface="微软雅黑" panose="020B0503020204020204" charset="-122"/>
                <a:cs typeface="+mj-cs"/>
              </a:rPr>
              <a:t>计算科学</a:t>
            </a:r>
            <a:r>
              <a:rPr lang="zh-CN" altLang="en-US" sz="3200" b="1" dirty="0">
                <a:solidFill>
                  <a:srgbClr val="1D41D5"/>
                </a:solidFill>
                <a:latin typeface="微软雅黑" panose="020B0503020204020204" charset="-122"/>
                <a:ea typeface="微软雅黑" panose="020B0503020204020204" charset="-122"/>
              </a:rPr>
              <a:t>与</a:t>
            </a:r>
            <a:r>
              <a:rPr lang="zh-CN" altLang="en-US" sz="3200" b="1" dirty="0">
                <a:solidFill>
                  <a:srgbClr val="FF0000"/>
                </a:solidFill>
                <a:latin typeface="微软雅黑" panose="020B0503020204020204" charset="-122"/>
                <a:ea typeface="微软雅黑" panose="020B0503020204020204" charset="-122"/>
                <a:cs typeface="+mj-cs"/>
              </a:rPr>
              <a:t>计算技术</a:t>
            </a:r>
            <a:endParaRPr lang="en-US" altLang="zh-CN" sz="3200" b="1" dirty="0">
              <a:solidFill>
                <a:srgbClr val="0000CC"/>
              </a:solidFill>
              <a:latin typeface="微软雅黑" panose="020B0503020204020204" charset="-122"/>
              <a:ea typeface="微软雅黑" panose="020B0503020204020204" charset="-122"/>
              <a:cs typeface="+mj-cs"/>
            </a:endParaRPr>
          </a:p>
        </p:txBody>
      </p:sp>
      <p:sp>
        <p:nvSpPr>
          <p:cNvPr id="6" name="矩形 5">
            <a:extLst>
              <a:ext uri="{FF2B5EF4-FFF2-40B4-BE49-F238E27FC236}">
                <a16:creationId xmlns:a16="http://schemas.microsoft.com/office/drawing/2014/main" id="{51A2473B-766D-4E0F-8E96-5F731F774075}"/>
              </a:ext>
            </a:extLst>
          </p:cNvPr>
          <p:cNvSpPr/>
          <p:nvPr/>
        </p:nvSpPr>
        <p:spPr>
          <a:xfrm>
            <a:off x="2104636" y="3771066"/>
            <a:ext cx="6624552" cy="743986"/>
          </a:xfrm>
          <a:prstGeom prst="rect">
            <a:avLst/>
          </a:prstGeom>
          <a:noFill/>
          <a:ln w="9525">
            <a:noFill/>
          </a:ln>
        </p:spPr>
        <p:txBody>
          <a:bodyPr wrap="square">
            <a:spAutoFit/>
          </a:bodyPr>
          <a:lstStyle/>
          <a:p>
            <a:pPr lvl="0">
              <a:lnSpc>
                <a:spcPct val="150000"/>
              </a:lnSpc>
            </a:pPr>
            <a:r>
              <a:rPr lang="zh-CN" altLang="en-US" sz="3200" b="1" dirty="0">
                <a:solidFill>
                  <a:srgbClr val="FF0000"/>
                </a:solidFill>
                <a:latin typeface="微软雅黑" panose="020B0503020204020204" charset="-122"/>
                <a:ea typeface="微软雅黑" panose="020B0503020204020204" charset="-122"/>
                <a:cs typeface="+mj-cs"/>
              </a:rPr>
              <a:t>计算科学</a:t>
            </a:r>
            <a:r>
              <a:rPr lang="zh-CN" altLang="en-US" sz="3200" b="1" dirty="0">
                <a:solidFill>
                  <a:srgbClr val="0000CC"/>
                </a:solidFill>
                <a:latin typeface="微软雅黑" panose="020B0503020204020204" charset="-122"/>
                <a:ea typeface="微软雅黑" panose="020B0503020204020204" charset="-122"/>
                <a:cs typeface="+mj-cs"/>
                <a:sym typeface="+mn-ea"/>
              </a:rPr>
              <a:t>：</a:t>
            </a:r>
            <a:r>
              <a:rPr lang="zh-CN" altLang="en-US" sz="2800" b="1" dirty="0">
                <a:solidFill>
                  <a:srgbClr val="0000CC"/>
                </a:solidFill>
                <a:latin typeface="微软雅黑" panose="020B0503020204020204" charset="-122"/>
                <a:ea typeface="微软雅黑" panose="020B0503020204020204" charset="-122"/>
                <a:cs typeface="+mj-cs"/>
                <a:sym typeface="+mn-ea"/>
              </a:rPr>
              <a:t>计算数学、计算机科学</a:t>
            </a:r>
            <a:endParaRPr lang="en-US" altLang="zh-CN" sz="2800" b="1" dirty="0">
              <a:solidFill>
                <a:srgbClr val="0000CC"/>
              </a:solidFill>
              <a:latin typeface="微软雅黑" panose="020B0503020204020204" charset="-122"/>
              <a:ea typeface="微软雅黑" panose="020B0503020204020204" charset="-122"/>
              <a:cs typeface="+mj-cs"/>
              <a:sym typeface="+mn-ea"/>
            </a:endParaRPr>
          </a:p>
        </p:txBody>
      </p:sp>
      <p:sp>
        <p:nvSpPr>
          <p:cNvPr id="7" name="矩形 6">
            <a:extLst>
              <a:ext uri="{FF2B5EF4-FFF2-40B4-BE49-F238E27FC236}">
                <a16:creationId xmlns:a16="http://schemas.microsoft.com/office/drawing/2014/main" id="{27770AE6-4EEE-41E8-876B-DF74B271A76B}"/>
              </a:ext>
            </a:extLst>
          </p:cNvPr>
          <p:cNvSpPr/>
          <p:nvPr/>
        </p:nvSpPr>
        <p:spPr>
          <a:xfrm>
            <a:off x="1315568" y="4557687"/>
            <a:ext cx="8806092" cy="2208105"/>
          </a:xfrm>
          <a:prstGeom prst="rect">
            <a:avLst/>
          </a:prstGeom>
        </p:spPr>
        <p:txBody>
          <a:bodyPr wrap="square">
            <a:spAutoFit/>
          </a:bodyPr>
          <a:lstStyle/>
          <a:p>
            <a:pPr>
              <a:lnSpc>
                <a:spcPct val="150000"/>
              </a:lnSpc>
            </a:pPr>
            <a:r>
              <a:rPr lang="zh-CN" altLang="en-US" sz="2800" b="1" dirty="0">
                <a:solidFill>
                  <a:srgbClr val="0000CC"/>
                </a:solidFill>
                <a:latin typeface="微软雅黑" panose="020B0503020204020204" charset="-122"/>
                <a:ea typeface="微软雅黑" panose="020B0503020204020204" charset="-122"/>
                <a:cs typeface="+mj-cs"/>
                <a:sym typeface="+mn-ea"/>
              </a:rPr>
              <a:t>计算数学</a:t>
            </a:r>
            <a:r>
              <a:rPr lang="zh-CN" altLang="en-US" sz="2200" b="1" dirty="0">
                <a:latin typeface="微软雅黑" panose="020B0503020204020204" charset="-122"/>
                <a:ea typeface="微软雅黑" panose="020B0503020204020204" charset="-122"/>
                <a:cs typeface="+mj-cs"/>
              </a:rPr>
              <a:t>主要内容包括代数方程、线性代数方程组、微分方程的数值解法，函数的数值逼近问题，矩阵特征值的求法，最优化计算问题，概率统计计算问题等等，还包括问题解的存在性、唯一性，以及算法的收敛性和误差传播分析等理论问题。</a:t>
            </a:r>
            <a:endParaRPr lang="zh-CN" altLang="en-US" dirty="0"/>
          </a:p>
        </p:txBody>
      </p:sp>
      <p:sp>
        <p:nvSpPr>
          <p:cNvPr id="8" name="标题 1">
            <a:extLst>
              <a:ext uri="{FF2B5EF4-FFF2-40B4-BE49-F238E27FC236}">
                <a16:creationId xmlns:a16="http://schemas.microsoft.com/office/drawing/2014/main" id="{D9996544-A2F7-491B-A069-39599AE40B72}"/>
              </a:ext>
            </a:extLst>
          </p:cNvPr>
          <p:cNvSpPr>
            <a:spLocks noGrp="1"/>
          </p:cNvSpPr>
          <p:nvPr>
            <p:ph type="title"/>
          </p:nvPr>
        </p:nvSpPr>
        <p:spPr>
          <a:xfrm>
            <a:off x="1780886" y="869688"/>
            <a:ext cx="7297948" cy="660528"/>
          </a:xfrm>
        </p:spPr>
        <p:txBody>
          <a:bodyPr>
            <a:normAutofit/>
          </a:bodyPr>
          <a:lstStyle/>
          <a:p>
            <a:r>
              <a:rPr lang="zh-CN" altLang="en-US" sz="3200" b="1" dirty="0">
                <a:solidFill>
                  <a:srgbClr val="000000"/>
                </a:solidFill>
                <a:latin typeface="微软雅黑" charset="-122"/>
                <a:ea typeface="宋体" panose="02010600030101010101" pitchFamily="2" charset="-122"/>
              </a:rPr>
              <a:t>科学计算是解决科学工程问题的关键</a:t>
            </a:r>
          </a:p>
        </p:txBody>
      </p:sp>
    </p:spTree>
    <p:extLst>
      <p:ext uri="{BB962C8B-B14F-4D97-AF65-F5344CB8AC3E}">
        <p14:creationId xmlns:p14="http://schemas.microsoft.com/office/powerpoint/2010/main" val="876821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250" fill="hold"/>
                                        <p:tgtEl>
                                          <p:spTgt spid="7"/>
                                        </p:tgtEl>
                                        <p:attrNameLst>
                                          <p:attrName>ppt_x</p:attrName>
                                        </p:attrNameLst>
                                      </p:cBhvr>
                                      <p:tavLst>
                                        <p:tav tm="0">
                                          <p:val>
                                            <p:strVal val="#ppt_x"/>
                                          </p:val>
                                        </p:tav>
                                        <p:tav tm="100000">
                                          <p:val>
                                            <p:strVal val="#ppt_x"/>
                                          </p:val>
                                        </p:tav>
                                      </p:tavLst>
                                    </p:anim>
                                    <p:anim calcmode="lin" valueType="num">
                                      <p:cBhvr additive="base">
                                        <p:cTn id="26" dur="25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2FE89E55-4605-46C6-9A8D-24087F59D61F}"/>
              </a:ext>
            </a:extLst>
          </p:cNvPr>
          <p:cNvSpPr/>
          <p:nvPr/>
        </p:nvSpPr>
        <p:spPr>
          <a:xfrm>
            <a:off x="1723886" y="1811934"/>
            <a:ext cx="5184432" cy="652486"/>
          </a:xfrm>
          <a:prstGeom prst="rect">
            <a:avLst/>
          </a:prstGeom>
        </p:spPr>
        <p:txBody>
          <a:bodyPr wrap="square">
            <a:spAutoFit/>
          </a:bodyPr>
          <a:lstStyle/>
          <a:p>
            <a:r>
              <a:rPr lang="zh-CN" altLang="en-US" sz="2800" b="1" dirty="0">
                <a:solidFill>
                  <a:srgbClr val="0000CC"/>
                </a:solidFill>
                <a:latin typeface="微软雅黑" panose="020B0503020204020204" charset="-122"/>
                <a:ea typeface="微软雅黑" panose="020B0503020204020204" charset="-122"/>
                <a:cs typeface="+mj-cs"/>
                <a:sym typeface="+mn-ea"/>
              </a:rPr>
              <a:t>算法误差传播分析</a:t>
            </a:r>
            <a:r>
              <a:rPr lang="zh-CN" altLang="en-US" sz="2200" b="1" dirty="0">
                <a:latin typeface="微软雅黑" panose="020B0503020204020204" charset="-122"/>
                <a:ea typeface="微软雅黑" panose="020B0503020204020204" charset="-122"/>
                <a:cs typeface="+mj-cs"/>
              </a:rPr>
              <a:t>的一个典型例子</a:t>
            </a:r>
            <a:endParaRPr lang="zh-CN" altLang="en-US" dirty="0"/>
          </a:p>
        </p:txBody>
      </p:sp>
      <p:grpSp>
        <p:nvGrpSpPr>
          <p:cNvPr id="5" name="组合 4">
            <a:extLst>
              <a:ext uri="{FF2B5EF4-FFF2-40B4-BE49-F238E27FC236}">
                <a16:creationId xmlns:a16="http://schemas.microsoft.com/office/drawing/2014/main" id="{E3023DBE-8B73-407D-B4E8-ECBF827BE732}"/>
              </a:ext>
            </a:extLst>
          </p:cNvPr>
          <p:cNvGrpSpPr>
            <a:grpSpLocks/>
          </p:cNvGrpSpPr>
          <p:nvPr/>
        </p:nvGrpSpPr>
        <p:grpSpPr bwMode="auto">
          <a:xfrm>
            <a:off x="1685667" y="2460400"/>
            <a:ext cx="4176783" cy="1112839"/>
            <a:chOff x="562" y="3066"/>
            <a:chExt cx="1818" cy="701"/>
          </a:xfrm>
        </p:grpSpPr>
        <p:graphicFrame>
          <p:nvGraphicFramePr>
            <p:cNvPr id="6" name="Object 69">
              <a:extLst>
                <a:ext uri="{FF2B5EF4-FFF2-40B4-BE49-F238E27FC236}">
                  <a16:creationId xmlns:a16="http://schemas.microsoft.com/office/drawing/2014/main" id="{BF34F1D7-F94A-4751-B3AF-01BA9976D853}"/>
                </a:ext>
              </a:extLst>
            </p:cNvPr>
            <p:cNvGraphicFramePr>
              <a:graphicFrameLocks noChangeAspect="1"/>
            </p:cNvGraphicFramePr>
            <p:nvPr>
              <p:extLst>
                <p:ext uri="{D42A27DB-BD31-4B8C-83A1-F6EECF244321}">
                  <p14:modId xmlns:p14="http://schemas.microsoft.com/office/powerpoint/2010/main" val="3794628526"/>
                </p:ext>
              </p:extLst>
            </p:nvPr>
          </p:nvGraphicFramePr>
          <p:xfrm>
            <a:off x="1262" y="3066"/>
            <a:ext cx="1118" cy="701"/>
          </p:xfrm>
          <a:graphic>
            <a:graphicData uri="http://schemas.openxmlformats.org/presentationml/2006/ole">
              <mc:AlternateContent xmlns:mc="http://schemas.openxmlformats.org/markup-compatibility/2006">
                <mc:Choice xmlns:v="urn:schemas-microsoft-com:vml" Requires="v">
                  <p:oleObj name="Equation" r:id="rId2" imgW="1079969" imgH="736920" progId="">
                    <p:embed/>
                  </p:oleObj>
                </mc:Choice>
                <mc:Fallback>
                  <p:oleObj name="Equation" r:id="rId2" imgW="1079969" imgH="736920" progId="">
                    <p:embed/>
                    <p:pic>
                      <p:nvPicPr>
                        <p:cNvPr id="6" name="Object 69">
                          <a:extLst>
                            <a:ext uri="{FF2B5EF4-FFF2-40B4-BE49-F238E27FC236}">
                              <a16:creationId xmlns:a16="http://schemas.microsoft.com/office/drawing/2014/main" id="{BF34F1D7-F94A-4751-B3AF-01BA9976D8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2" y="3066"/>
                          <a:ext cx="1118" cy="7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a:extLst>
                <a:ext uri="{FF2B5EF4-FFF2-40B4-BE49-F238E27FC236}">
                  <a16:creationId xmlns:a16="http://schemas.microsoft.com/office/drawing/2014/main" id="{E607B39C-9AC7-486E-8E1A-7EBE80BEFAA4}"/>
                </a:ext>
              </a:extLst>
            </p:cNvPr>
            <p:cNvSpPr/>
            <p:nvPr/>
          </p:nvSpPr>
          <p:spPr>
            <a:xfrm>
              <a:off x="562" y="3224"/>
              <a:ext cx="847" cy="411"/>
            </a:xfrm>
            <a:prstGeom prst="rect">
              <a:avLst/>
            </a:prstGeom>
            <a:noFill/>
            <a:ln w="9525">
              <a:noFill/>
            </a:ln>
          </p:spPr>
          <p:txBody>
            <a:bodyPr wrap="square">
              <a:spAutoFit/>
            </a:bodyPr>
            <a:lstStyle/>
            <a:p>
              <a:pPr fontAlgn="auto">
                <a:spcBef>
                  <a:spcPts val="0"/>
                </a:spcBef>
                <a:spcAft>
                  <a:spcPts val="0"/>
                </a:spcAft>
                <a:defRPr/>
              </a:pPr>
              <a:r>
                <a:rPr lang="zh-CN" altLang="en-US" sz="2800" b="1" dirty="0">
                  <a:solidFill>
                    <a:srgbClr val="0000CC"/>
                  </a:solidFill>
                  <a:latin typeface="微软雅黑" pitchFamily="34" charset="-122"/>
                  <a:ea typeface="微软雅黑" pitchFamily="34" charset="-122"/>
                  <a:cs typeface="+mj-cs"/>
                </a:rPr>
                <a:t>例如计算</a:t>
              </a:r>
              <a:endParaRPr lang="zh-CN" altLang="en-US" sz="2800" b="1" dirty="0">
                <a:solidFill>
                  <a:srgbClr val="0000CC"/>
                </a:solidFill>
                <a:latin typeface="微软雅黑" pitchFamily="34" charset="-122"/>
                <a:ea typeface="微软雅黑" pitchFamily="34" charset="-122"/>
              </a:endParaRPr>
            </a:p>
          </p:txBody>
        </p:sp>
      </p:grpSp>
      <p:graphicFrame>
        <p:nvGraphicFramePr>
          <p:cNvPr id="8" name="Object 70">
            <a:extLst>
              <a:ext uri="{FF2B5EF4-FFF2-40B4-BE49-F238E27FC236}">
                <a16:creationId xmlns:a16="http://schemas.microsoft.com/office/drawing/2014/main" id="{4D883864-1966-43AD-9170-08B7D694529F}"/>
              </a:ext>
            </a:extLst>
          </p:cNvPr>
          <p:cNvGraphicFramePr>
            <a:graphicFrameLocks/>
          </p:cNvGraphicFramePr>
          <p:nvPr>
            <p:extLst>
              <p:ext uri="{D42A27DB-BD31-4B8C-83A1-F6EECF244321}">
                <p14:modId xmlns:p14="http://schemas.microsoft.com/office/powerpoint/2010/main" val="726893125"/>
              </p:ext>
            </p:extLst>
          </p:nvPr>
        </p:nvGraphicFramePr>
        <p:xfrm>
          <a:off x="2708273" y="3709942"/>
          <a:ext cx="2218339" cy="1563072"/>
        </p:xfrm>
        <a:graphic>
          <a:graphicData uri="http://schemas.openxmlformats.org/presentationml/2006/ole">
            <mc:AlternateContent xmlns:mc="http://schemas.openxmlformats.org/markup-compatibility/2006">
              <mc:Choice xmlns:v="urn:schemas-microsoft-com:vml" Requires="v">
                <p:oleObj r:id="rId4" imgW="1079969" imgH="736920" progId="">
                  <p:embed/>
                </p:oleObj>
              </mc:Choice>
              <mc:Fallback>
                <p:oleObj r:id="rId4" imgW="1079969" imgH="736920" progId="">
                  <p:embed/>
                  <p:pic>
                    <p:nvPicPr>
                      <p:cNvPr id="8" name="Object 70">
                        <a:extLst>
                          <a:ext uri="{FF2B5EF4-FFF2-40B4-BE49-F238E27FC236}">
                            <a16:creationId xmlns:a16="http://schemas.microsoft.com/office/drawing/2014/main" id="{4D883864-1966-43AD-9170-08B7D694529F}"/>
                          </a:ext>
                        </a:extLst>
                      </p:cNvPr>
                      <p:cNvPicPr>
                        <a:picLocks noGrp="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8273" y="3709942"/>
                        <a:ext cx="2218339" cy="15630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71">
            <a:extLst>
              <a:ext uri="{FF2B5EF4-FFF2-40B4-BE49-F238E27FC236}">
                <a16:creationId xmlns:a16="http://schemas.microsoft.com/office/drawing/2014/main" id="{E5D1737C-2141-4FC4-A791-75181B207FC1}"/>
              </a:ext>
            </a:extLst>
          </p:cNvPr>
          <p:cNvGraphicFramePr>
            <a:graphicFrameLocks/>
          </p:cNvGraphicFramePr>
          <p:nvPr>
            <p:extLst>
              <p:ext uri="{D42A27DB-BD31-4B8C-83A1-F6EECF244321}">
                <p14:modId xmlns:p14="http://schemas.microsoft.com/office/powerpoint/2010/main" val="303436268"/>
              </p:ext>
            </p:extLst>
          </p:nvPr>
        </p:nvGraphicFramePr>
        <p:xfrm>
          <a:off x="6806551" y="2344551"/>
          <a:ext cx="2458217" cy="3837714"/>
        </p:xfrm>
        <a:graphic>
          <a:graphicData uri="http://schemas.openxmlformats.org/presentationml/2006/ole">
            <mc:AlternateContent xmlns:mc="http://schemas.openxmlformats.org/markup-compatibility/2006">
              <mc:Choice xmlns:v="urn:schemas-microsoft-com:vml" Requires="v">
                <p:oleObj r:id="rId6" imgW="1092200" imgH="1701800" progId="">
                  <p:embed/>
                </p:oleObj>
              </mc:Choice>
              <mc:Fallback>
                <p:oleObj r:id="rId6" imgW="1092200" imgH="1701800" progId="">
                  <p:embed/>
                  <p:pic>
                    <p:nvPicPr>
                      <p:cNvPr id="9" name="Object 71">
                        <a:extLst>
                          <a:ext uri="{FF2B5EF4-FFF2-40B4-BE49-F238E27FC236}">
                            <a16:creationId xmlns:a16="http://schemas.microsoft.com/office/drawing/2014/main" id="{E5D1737C-2141-4FC4-A791-75181B207FC1}"/>
                          </a:ext>
                        </a:extLst>
                      </p:cNvPr>
                      <p:cNvPicPr>
                        <a:picLocks noGrp="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06551" y="2344551"/>
                        <a:ext cx="2458217" cy="3837714"/>
                      </a:xfrm>
                      <a:prstGeom prst="rect">
                        <a:avLst/>
                      </a:prstGeom>
                      <a:noFill/>
                    </p:spPr>
                  </p:pic>
                </p:oleObj>
              </mc:Fallback>
            </mc:AlternateContent>
          </a:graphicData>
        </a:graphic>
      </p:graphicFrame>
      <p:sp>
        <p:nvSpPr>
          <p:cNvPr id="10" name="Rectangle 8">
            <a:extLst>
              <a:ext uri="{FF2B5EF4-FFF2-40B4-BE49-F238E27FC236}">
                <a16:creationId xmlns:a16="http://schemas.microsoft.com/office/drawing/2014/main" id="{F7A85049-E774-4207-9BDC-EA15E64FD1E6}"/>
              </a:ext>
            </a:extLst>
          </p:cNvPr>
          <p:cNvSpPr/>
          <p:nvPr/>
        </p:nvSpPr>
        <p:spPr>
          <a:xfrm>
            <a:off x="1672666" y="4037156"/>
            <a:ext cx="1004887" cy="630237"/>
          </a:xfrm>
          <a:prstGeom prst="rect">
            <a:avLst/>
          </a:prstGeom>
          <a:noFill/>
          <a:ln w="9525">
            <a:noFill/>
          </a:ln>
        </p:spPr>
        <p:txBody>
          <a:bodyPr wrap="square" anchor="ctr">
            <a:spAutoFit/>
          </a:bodyPr>
          <a:lstStyle/>
          <a:p>
            <a:pPr fontAlgn="auto">
              <a:lnSpc>
                <a:spcPct val="140000"/>
              </a:lnSpc>
              <a:spcBef>
                <a:spcPts val="0"/>
              </a:spcBef>
              <a:spcAft>
                <a:spcPts val="0"/>
              </a:spcAft>
              <a:defRPr/>
            </a:pPr>
            <a:r>
              <a:rPr lang="zh-CN" altLang="en-US" sz="2800" b="1" dirty="0">
                <a:solidFill>
                  <a:srgbClr val="0000CC"/>
                </a:solidFill>
                <a:latin typeface="微软雅黑" pitchFamily="34" charset="-122"/>
                <a:ea typeface="微软雅黑" pitchFamily="34" charset="-122"/>
                <a:cs typeface="+mj-cs"/>
              </a:rPr>
              <a:t>解：</a:t>
            </a:r>
            <a:endParaRPr lang="zh-CN" altLang="en-US" sz="2800" b="1" dirty="0">
              <a:solidFill>
                <a:srgbClr val="0000CC"/>
              </a:solidFill>
              <a:latin typeface="微软雅黑" pitchFamily="34" charset="-122"/>
              <a:ea typeface="微软雅黑" pitchFamily="34" charset="-122"/>
            </a:endParaRPr>
          </a:p>
        </p:txBody>
      </p:sp>
      <p:sp>
        <p:nvSpPr>
          <p:cNvPr id="11" name="AutoShape 37">
            <a:extLst>
              <a:ext uri="{FF2B5EF4-FFF2-40B4-BE49-F238E27FC236}">
                <a16:creationId xmlns:a16="http://schemas.microsoft.com/office/drawing/2014/main" id="{C0CF6C83-6AD2-4A72-AAC6-E792F15FF9B0}"/>
              </a:ext>
            </a:extLst>
          </p:cNvPr>
          <p:cNvSpPr>
            <a:spLocks noChangeArrowheads="1"/>
          </p:cNvSpPr>
          <p:nvPr/>
        </p:nvSpPr>
        <p:spPr bwMode="auto">
          <a:xfrm>
            <a:off x="4876799" y="4405989"/>
            <a:ext cx="1753857" cy="120005"/>
          </a:xfrm>
          <a:prstGeom prst="rightArrow">
            <a:avLst>
              <a:gd name="adj1" fmla="val 50000"/>
              <a:gd name="adj2" fmla="val 116728"/>
            </a:avLst>
          </a:prstGeom>
          <a:solidFill>
            <a:srgbClr val="33CCCC"/>
          </a:solidFill>
          <a:ln w="9525">
            <a:solidFill>
              <a:schemeClr val="tx1"/>
            </a:solidFill>
            <a:miter lim="800000"/>
            <a:headEnd/>
            <a:tailEnd/>
          </a:ln>
        </p:spPr>
        <p:txBody>
          <a:bodyPr wrap="none" anchor="ctr"/>
          <a:lstStyle/>
          <a:p>
            <a:endParaRPr lang="zh-CN" altLang="en-US"/>
          </a:p>
        </p:txBody>
      </p:sp>
      <p:grpSp>
        <p:nvGrpSpPr>
          <p:cNvPr id="12" name="组合 11">
            <a:extLst>
              <a:ext uri="{FF2B5EF4-FFF2-40B4-BE49-F238E27FC236}">
                <a16:creationId xmlns:a16="http://schemas.microsoft.com/office/drawing/2014/main" id="{90C11047-7B32-42FF-9739-5BBBEFD7F0C0}"/>
              </a:ext>
            </a:extLst>
          </p:cNvPr>
          <p:cNvGrpSpPr>
            <a:grpSpLocks/>
          </p:cNvGrpSpPr>
          <p:nvPr/>
        </p:nvGrpSpPr>
        <p:grpSpPr bwMode="auto">
          <a:xfrm>
            <a:off x="1603151" y="6236523"/>
            <a:ext cx="8148144" cy="566895"/>
            <a:chOff x="812" y="3570"/>
            <a:chExt cx="3086" cy="309"/>
          </a:xfrm>
        </p:grpSpPr>
        <p:graphicFrame>
          <p:nvGraphicFramePr>
            <p:cNvPr id="13" name="Object 72">
              <a:extLst>
                <a:ext uri="{FF2B5EF4-FFF2-40B4-BE49-F238E27FC236}">
                  <a16:creationId xmlns:a16="http://schemas.microsoft.com/office/drawing/2014/main" id="{344D1DF0-079A-4D7B-B96D-59EE25343A24}"/>
                </a:ext>
              </a:extLst>
            </p:cNvPr>
            <p:cNvGraphicFramePr>
              <a:graphicFrameLocks noChangeAspect="1"/>
            </p:cNvGraphicFramePr>
            <p:nvPr>
              <p:extLst>
                <p:ext uri="{D42A27DB-BD31-4B8C-83A1-F6EECF244321}">
                  <p14:modId xmlns:p14="http://schemas.microsoft.com/office/powerpoint/2010/main" val="768104265"/>
                </p:ext>
              </p:extLst>
            </p:nvPr>
          </p:nvGraphicFramePr>
          <p:xfrm>
            <a:off x="1965" y="3581"/>
            <a:ext cx="775" cy="298"/>
          </p:xfrm>
          <a:graphic>
            <a:graphicData uri="http://schemas.openxmlformats.org/presentationml/2006/ole">
              <mc:AlternateContent xmlns:mc="http://schemas.openxmlformats.org/markup-compatibility/2006">
                <mc:Choice xmlns:v="urn:schemas-microsoft-com:vml" Requires="v">
                  <p:oleObj r:id="rId8" imgW="927503" imgH="241405" progId="">
                    <p:embed/>
                  </p:oleObj>
                </mc:Choice>
                <mc:Fallback>
                  <p:oleObj r:id="rId8" imgW="927503" imgH="241405" progId="">
                    <p:embed/>
                    <p:pic>
                      <p:nvPicPr>
                        <p:cNvPr id="13" name="Object 72">
                          <a:extLst>
                            <a:ext uri="{FF2B5EF4-FFF2-40B4-BE49-F238E27FC236}">
                              <a16:creationId xmlns:a16="http://schemas.microsoft.com/office/drawing/2014/main" id="{344D1DF0-079A-4D7B-B96D-59EE25343A2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65" y="3581"/>
                          <a:ext cx="775" cy="2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73">
              <a:extLst>
                <a:ext uri="{FF2B5EF4-FFF2-40B4-BE49-F238E27FC236}">
                  <a16:creationId xmlns:a16="http://schemas.microsoft.com/office/drawing/2014/main" id="{3A648742-9B7D-40AC-A096-A93A3FE2575F}"/>
                </a:ext>
              </a:extLst>
            </p:cNvPr>
            <p:cNvGraphicFramePr>
              <a:graphicFrameLocks noChangeAspect="1"/>
            </p:cNvGraphicFramePr>
            <p:nvPr>
              <p:extLst>
                <p:ext uri="{D42A27DB-BD31-4B8C-83A1-F6EECF244321}">
                  <p14:modId xmlns:p14="http://schemas.microsoft.com/office/powerpoint/2010/main" val="2180713674"/>
                </p:ext>
              </p:extLst>
            </p:nvPr>
          </p:nvGraphicFramePr>
          <p:xfrm>
            <a:off x="2913" y="3570"/>
            <a:ext cx="985" cy="309"/>
          </p:xfrm>
          <a:graphic>
            <a:graphicData uri="http://schemas.openxmlformats.org/presentationml/2006/ole">
              <mc:AlternateContent xmlns:mc="http://schemas.openxmlformats.org/markup-compatibility/2006">
                <mc:Choice xmlns:v="urn:schemas-microsoft-com:vml" Requires="v">
                  <p:oleObj r:id="rId10" imgW="1423018" imgH="241405" progId="">
                    <p:embed/>
                  </p:oleObj>
                </mc:Choice>
                <mc:Fallback>
                  <p:oleObj r:id="rId10" imgW="1423018" imgH="241405" progId="">
                    <p:embed/>
                    <p:pic>
                      <p:nvPicPr>
                        <p:cNvPr id="14" name="Object 73">
                          <a:extLst>
                            <a:ext uri="{FF2B5EF4-FFF2-40B4-BE49-F238E27FC236}">
                              <a16:creationId xmlns:a16="http://schemas.microsoft.com/office/drawing/2014/main" id="{3A648742-9B7D-40AC-A096-A93A3FE2575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13" y="3570"/>
                          <a:ext cx="985" cy="3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Rectangle 12">
              <a:extLst>
                <a:ext uri="{FF2B5EF4-FFF2-40B4-BE49-F238E27FC236}">
                  <a16:creationId xmlns:a16="http://schemas.microsoft.com/office/drawing/2014/main" id="{F93FBF7F-C94A-45F5-99B3-E059EA916ACD}"/>
                </a:ext>
              </a:extLst>
            </p:cNvPr>
            <p:cNvSpPr/>
            <p:nvPr/>
          </p:nvSpPr>
          <p:spPr>
            <a:xfrm>
              <a:off x="812" y="3570"/>
              <a:ext cx="1158" cy="285"/>
            </a:xfrm>
            <a:prstGeom prst="rect">
              <a:avLst/>
            </a:prstGeom>
            <a:noFill/>
            <a:ln w="9525">
              <a:noFill/>
            </a:ln>
          </p:spPr>
          <p:txBody>
            <a:bodyPr wrap="none" anchor="ctr">
              <a:spAutoFit/>
            </a:bodyPr>
            <a:lstStyle/>
            <a:p>
              <a:pPr fontAlgn="auto">
                <a:spcBef>
                  <a:spcPts val="0"/>
                </a:spcBef>
                <a:spcAft>
                  <a:spcPts val="0"/>
                </a:spcAft>
                <a:defRPr/>
              </a:pPr>
              <a:r>
                <a:rPr lang="zh-CN" altLang="en-US" sz="2800" b="1" dirty="0">
                  <a:solidFill>
                    <a:srgbClr val="000000"/>
                  </a:solidFill>
                  <a:latin typeface="微软雅黑" pitchFamily="34" charset="-122"/>
                  <a:ea typeface="微软雅黑" pitchFamily="34" charset="-122"/>
                  <a:cs typeface="+mj-cs"/>
                </a:rPr>
                <a:t>如果分别用近似值</a:t>
              </a:r>
            </a:p>
          </p:txBody>
        </p:sp>
        <p:sp>
          <p:nvSpPr>
            <p:cNvPr id="16" name="Rectangle 13">
              <a:extLst>
                <a:ext uri="{FF2B5EF4-FFF2-40B4-BE49-F238E27FC236}">
                  <a16:creationId xmlns:a16="http://schemas.microsoft.com/office/drawing/2014/main" id="{4F32DBE0-830E-4E1D-93F5-DFC51195D6FA}"/>
                </a:ext>
              </a:extLst>
            </p:cNvPr>
            <p:cNvSpPr/>
            <p:nvPr/>
          </p:nvSpPr>
          <p:spPr>
            <a:xfrm>
              <a:off x="2746" y="3570"/>
              <a:ext cx="206" cy="285"/>
            </a:xfrm>
            <a:prstGeom prst="rect">
              <a:avLst/>
            </a:prstGeom>
            <a:noFill/>
            <a:ln w="9525">
              <a:noFill/>
            </a:ln>
          </p:spPr>
          <p:txBody>
            <a:bodyPr wrap="none" anchor="ctr">
              <a:spAutoFit/>
            </a:bodyPr>
            <a:lstStyle/>
            <a:p>
              <a:pPr fontAlgn="auto">
                <a:spcBef>
                  <a:spcPts val="0"/>
                </a:spcBef>
                <a:spcAft>
                  <a:spcPts val="0"/>
                </a:spcAft>
                <a:defRPr/>
              </a:pPr>
              <a:r>
                <a:rPr lang="zh-CN" altLang="en-US" sz="2800" b="1" dirty="0">
                  <a:solidFill>
                    <a:srgbClr val="000000"/>
                  </a:solidFill>
                  <a:latin typeface="微软雅黑" pitchFamily="34" charset="-122"/>
                  <a:ea typeface="微软雅黑" pitchFamily="34" charset="-122"/>
                  <a:cs typeface="+mj-cs"/>
                </a:rPr>
                <a:t>和</a:t>
              </a:r>
            </a:p>
          </p:txBody>
        </p:sp>
      </p:grpSp>
      <p:sp>
        <p:nvSpPr>
          <p:cNvPr id="17" name="文本框 92168">
            <a:extLst>
              <a:ext uri="{FF2B5EF4-FFF2-40B4-BE49-F238E27FC236}">
                <a16:creationId xmlns:a16="http://schemas.microsoft.com/office/drawing/2014/main" id="{23DC28A9-5E0E-481F-9D00-2617BC55573F}"/>
              </a:ext>
            </a:extLst>
          </p:cNvPr>
          <p:cNvSpPr txBox="1">
            <a:spLocks noChangeArrowheads="1"/>
          </p:cNvSpPr>
          <p:nvPr/>
        </p:nvSpPr>
        <p:spPr bwMode="auto">
          <a:xfrm>
            <a:off x="9597495" y="2385699"/>
            <a:ext cx="615553" cy="3509936"/>
          </a:xfrm>
          <a:prstGeom prst="rect">
            <a:avLst/>
          </a:prstGeom>
          <a:noFill/>
          <a:ln w="9525">
            <a:noFill/>
            <a:miter lim="800000"/>
            <a:headEnd/>
            <a:tailEnd/>
          </a:ln>
        </p:spPr>
        <p:txBody>
          <a:bodyPr vert="eaVert" wrap="square">
            <a:spAutoFit/>
          </a:bodyPr>
          <a:lstStyle/>
          <a:p>
            <a:pPr>
              <a:spcBef>
                <a:spcPct val="50000"/>
              </a:spcBef>
            </a:pPr>
            <a:r>
              <a:rPr lang="zh-CN" altLang="en-US" sz="2800" b="1" dirty="0">
                <a:solidFill>
                  <a:srgbClr val="FF0000"/>
                </a:solidFill>
                <a:latin typeface="微软雅黑" pitchFamily="34" charset="-122"/>
                <a:ea typeface="微软雅黑" pitchFamily="34" charset="-122"/>
              </a:rPr>
              <a:t>你会选哪个算式计算？</a:t>
            </a:r>
          </a:p>
        </p:txBody>
      </p:sp>
      <p:sp>
        <p:nvSpPr>
          <p:cNvPr id="18" name="标题 1">
            <a:extLst>
              <a:ext uri="{FF2B5EF4-FFF2-40B4-BE49-F238E27FC236}">
                <a16:creationId xmlns:a16="http://schemas.microsoft.com/office/drawing/2014/main" id="{F321E007-32FE-4C18-924D-AD63EC741270}"/>
              </a:ext>
            </a:extLst>
          </p:cNvPr>
          <p:cNvSpPr>
            <a:spLocks noGrp="1"/>
          </p:cNvSpPr>
          <p:nvPr>
            <p:ph type="title"/>
          </p:nvPr>
        </p:nvSpPr>
        <p:spPr>
          <a:xfrm>
            <a:off x="1780886" y="869688"/>
            <a:ext cx="7297948" cy="660528"/>
          </a:xfrm>
        </p:spPr>
        <p:txBody>
          <a:bodyPr>
            <a:normAutofit/>
          </a:bodyPr>
          <a:lstStyle/>
          <a:p>
            <a:r>
              <a:rPr lang="zh-CN" altLang="en-US" sz="3200" b="1" dirty="0">
                <a:solidFill>
                  <a:srgbClr val="000000"/>
                </a:solidFill>
                <a:latin typeface="微软雅黑" charset="-122"/>
                <a:ea typeface="宋体" panose="02010600030101010101" pitchFamily="2" charset="-122"/>
              </a:rPr>
              <a:t>科学计算是解决科学工程问题的关键</a:t>
            </a:r>
          </a:p>
        </p:txBody>
      </p:sp>
    </p:spTree>
    <p:extLst>
      <p:ext uri="{BB962C8B-B14F-4D97-AF65-F5344CB8AC3E}">
        <p14:creationId xmlns:p14="http://schemas.microsoft.com/office/powerpoint/2010/main" val="2915495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500" fill="hold"/>
                                        <p:tgtEl>
                                          <p:spTgt spid="10"/>
                                        </p:tgtEl>
                                        <p:attrNameLst>
                                          <p:attrName>ppt_w</p:attrName>
                                        </p:attrNameLst>
                                      </p:cBhvr>
                                      <p:tavLst>
                                        <p:tav tm="0">
                                          <p:val>
                                            <p:fltVal val="0"/>
                                          </p:val>
                                        </p:tav>
                                        <p:tav tm="100000">
                                          <p:val>
                                            <p:strVal val="#ppt_w"/>
                                          </p:val>
                                        </p:tav>
                                      </p:tavLst>
                                    </p:anim>
                                    <p:anim calcmode="lin" valueType="num">
                                      <p:cBhvr>
                                        <p:cTn id="14" dur="500" fill="hold"/>
                                        <p:tgtEl>
                                          <p:spTgt spid="10"/>
                                        </p:tgtEl>
                                        <p:attrNameLst>
                                          <p:attrName>ppt_h</p:attrName>
                                        </p:attrNameLst>
                                      </p:cBhvr>
                                      <p:tavLst>
                                        <p:tav tm="0">
                                          <p:val>
                                            <p:strVal val="#ppt_h"/>
                                          </p:val>
                                        </p:tav>
                                        <p:tav tm="100000">
                                          <p:val>
                                            <p:strVal val="#ppt_h"/>
                                          </p:val>
                                        </p:tav>
                                      </p:tavLst>
                                    </p:anim>
                                  </p:childTnLst>
                                </p:cTn>
                              </p:par>
                              <p:par>
                                <p:cTn id="15" presetID="2" presetClass="entr" presetSubtype="2" fill="hold" nodeType="clickPar">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1+#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10" fill="hold"/>
                                        <p:tgtEl>
                                          <p:spTgt spid="11"/>
                                        </p:tgtEl>
                                        <p:attrNameLst>
                                          <p:attrName>ppt_x</p:attrName>
                                        </p:attrNameLst>
                                      </p:cBhvr>
                                      <p:tavLst>
                                        <p:tav tm="0">
                                          <p:val>
                                            <p:strVal val="0-#ppt_w/2"/>
                                          </p:val>
                                        </p:tav>
                                        <p:tav tm="100000">
                                          <p:val>
                                            <p:strVal val="#ppt_x"/>
                                          </p:val>
                                        </p:tav>
                                      </p:tavLst>
                                    </p:anim>
                                    <p:anim calcmode="lin" valueType="num">
                                      <p:cBhvr additive="base">
                                        <p:cTn id="24" dur="1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7" presetClass="entr" presetSubtype="1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p:cTn id="29" dur="10" fill="hold"/>
                                        <p:tgtEl>
                                          <p:spTgt spid="9"/>
                                        </p:tgtEl>
                                        <p:attrNameLst>
                                          <p:attrName>ppt_w</p:attrName>
                                        </p:attrNameLst>
                                      </p:cBhvr>
                                      <p:tavLst>
                                        <p:tav tm="0">
                                          <p:val>
                                            <p:fltVal val="0"/>
                                          </p:val>
                                        </p:tav>
                                        <p:tav tm="100000">
                                          <p:val>
                                            <p:strVal val="#ppt_w"/>
                                          </p:val>
                                        </p:tav>
                                      </p:tavLst>
                                    </p:anim>
                                    <p:anim calcmode="lin" valueType="num">
                                      <p:cBhvr>
                                        <p:cTn id="30" dur="1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p:cTn id="35" dur="500" fill="hold"/>
                                        <p:tgtEl>
                                          <p:spTgt spid="17"/>
                                        </p:tgtEl>
                                        <p:attrNameLst>
                                          <p:attrName>ppt_x</p:attrName>
                                        </p:attrNameLst>
                                      </p:cBhvr>
                                      <p:tavLst>
                                        <p:tav tm="0">
                                          <p:val>
                                            <p:strVal val="#ppt_x"/>
                                          </p:val>
                                        </p:tav>
                                        <p:tav tm="100000">
                                          <p:val>
                                            <p:strVal val="#ppt_x"/>
                                          </p:val>
                                        </p:tav>
                                      </p:tavLst>
                                    </p:anim>
                                    <p:anim calcmode="lin" valueType="num">
                                      <p:cBhvr>
                                        <p:cTn id="3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ppt_x</p:attrName>
                                        </p:attrNameLst>
                                      </p:cBhvr>
                                      <p:tavLst>
                                        <p:tav tm="0">
                                          <p:val>
                                            <p:strVal val="#ppt_x"/>
                                          </p:val>
                                        </p:tav>
                                        <p:tav tm="100000">
                                          <p:val>
                                            <p:strVal val="#ppt_x"/>
                                          </p:val>
                                        </p:tav>
                                      </p:tavLst>
                                    </p:anim>
                                    <p:anim calcmode="lin" valueType="num">
                                      <p:cBhvr additive="base">
                                        <p:cTn id="4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bldLvl="0" animBg="1"/>
      <p:bldP spid="1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53">
            <a:extLst>
              <a:ext uri="{FF2B5EF4-FFF2-40B4-BE49-F238E27FC236}">
                <a16:creationId xmlns:a16="http://schemas.microsoft.com/office/drawing/2014/main" id="{A1750398-F8F0-41A3-9809-27830F391A4A}"/>
              </a:ext>
            </a:extLst>
          </p:cNvPr>
          <p:cNvSpPr txBox="1">
            <a:spLocks noChangeArrowheads="1"/>
          </p:cNvSpPr>
          <p:nvPr/>
        </p:nvSpPr>
        <p:spPr bwMode="auto">
          <a:xfrm>
            <a:off x="2845658" y="1922055"/>
            <a:ext cx="5869840" cy="360363"/>
          </a:xfrm>
          <a:prstGeom prst="rect">
            <a:avLst/>
          </a:prstGeom>
          <a:noFill/>
          <a:ln w="9525">
            <a:noFill/>
            <a:miter lim="800000"/>
            <a:headEnd/>
            <a:tailEnd/>
          </a:ln>
        </p:spPr>
        <p:txBody>
          <a:bodyPr anchor="ctr"/>
          <a:lstStyle/>
          <a:p>
            <a:pPr algn="ctr"/>
            <a:r>
              <a:rPr lang="zh-CN" altLang="en-US" sz="2400" b="1" dirty="0">
                <a:latin typeface="微软雅黑" pitchFamily="34" charset="-122"/>
                <a:ea typeface="微软雅黑" pitchFamily="34" charset="-122"/>
              </a:rPr>
              <a:t>四种不同算法计算结果比较表</a:t>
            </a:r>
            <a:endParaRPr lang="en-US" altLang="zh-CN" sz="2400" b="1" dirty="0">
              <a:latin typeface="微软雅黑" pitchFamily="34" charset="-122"/>
              <a:ea typeface="微软雅黑" pitchFamily="34" charset="-122"/>
            </a:endParaRPr>
          </a:p>
        </p:txBody>
      </p:sp>
      <p:graphicFrame>
        <p:nvGraphicFramePr>
          <p:cNvPr id="10" name="表格 9">
            <a:extLst>
              <a:ext uri="{FF2B5EF4-FFF2-40B4-BE49-F238E27FC236}">
                <a16:creationId xmlns:a16="http://schemas.microsoft.com/office/drawing/2014/main" id="{A8E4AE97-96E1-4205-9DC9-DA0DEDF1E27B}"/>
              </a:ext>
            </a:extLst>
          </p:cNvPr>
          <p:cNvGraphicFramePr/>
          <p:nvPr>
            <p:extLst>
              <p:ext uri="{D42A27DB-BD31-4B8C-83A1-F6EECF244321}">
                <p14:modId xmlns:p14="http://schemas.microsoft.com/office/powerpoint/2010/main" val="2093436089"/>
              </p:ext>
            </p:extLst>
          </p:nvPr>
        </p:nvGraphicFramePr>
        <p:xfrm>
          <a:off x="2062720" y="2494162"/>
          <a:ext cx="7559675" cy="4151630"/>
        </p:xfrm>
        <a:graphic>
          <a:graphicData uri="http://schemas.openxmlformats.org/drawingml/2006/table">
            <a:tbl>
              <a:tblPr/>
              <a:tblGrid>
                <a:gridCol w="515938">
                  <a:extLst>
                    <a:ext uri="{9D8B030D-6E8A-4147-A177-3AD203B41FA5}">
                      <a16:colId xmlns:a16="http://schemas.microsoft.com/office/drawing/2014/main" val="20000"/>
                    </a:ext>
                  </a:extLst>
                </a:gridCol>
                <a:gridCol w="1368425">
                  <a:extLst>
                    <a:ext uri="{9D8B030D-6E8A-4147-A177-3AD203B41FA5}">
                      <a16:colId xmlns:a16="http://schemas.microsoft.com/office/drawing/2014/main" val="20001"/>
                    </a:ext>
                  </a:extLst>
                </a:gridCol>
                <a:gridCol w="2876550">
                  <a:extLst>
                    <a:ext uri="{9D8B030D-6E8A-4147-A177-3AD203B41FA5}">
                      <a16:colId xmlns:a16="http://schemas.microsoft.com/office/drawing/2014/main" val="20002"/>
                    </a:ext>
                  </a:extLst>
                </a:gridCol>
                <a:gridCol w="2798762">
                  <a:extLst>
                    <a:ext uri="{9D8B030D-6E8A-4147-A177-3AD203B41FA5}">
                      <a16:colId xmlns:a16="http://schemas.microsoft.com/office/drawing/2014/main" val="20003"/>
                    </a:ext>
                  </a:extLst>
                </a:gridCol>
              </a:tblGrid>
              <a:tr h="576580">
                <a:tc rowSpan="2">
                  <a:txBody>
                    <a:bodyPr/>
                    <a:lstStyle>
                      <a:lvl1pPr marL="342900" lvl="0" indent="-342900" algn="l" rtl="0" fontAlgn="base">
                        <a:spcBef>
                          <a:spcPct val="20000"/>
                        </a:spcBef>
                        <a:spcAft>
                          <a:spcPct val="0"/>
                        </a:spcAft>
                        <a:buChar char="•"/>
                        <a:defRPr sz="2800" b="0" kern="1200">
                          <a:solidFill>
                            <a:schemeClr val="tx1"/>
                          </a:solidFill>
                          <a:latin typeface="+mn-lt"/>
                          <a:ea typeface="+mn-ea"/>
                          <a:cs typeface="+mn-cs"/>
                        </a:defRPr>
                      </a:lvl1pPr>
                      <a:lvl2pPr marL="742950" lvl="1" indent="-285750" algn="l" rtl="0" fontAlgn="base">
                        <a:spcBef>
                          <a:spcPct val="20000"/>
                        </a:spcBef>
                        <a:spcAft>
                          <a:spcPct val="0"/>
                        </a:spcAft>
                        <a:buChar char="–"/>
                        <a:defRPr sz="2400" b="0" kern="1200">
                          <a:solidFill>
                            <a:schemeClr val="tx1"/>
                          </a:solidFill>
                          <a:latin typeface="+mn-lt"/>
                          <a:ea typeface="+mn-ea"/>
                        </a:defRPr>
                      </a:lvl2pPr>
                      <a:lvl3pPr marL="1143000" lvl="2" indent="-228600" algn="l" rtl="0" fontAlgn="base">
                        <a:spcBef>
                          <a:spcPct val="20000"/>
                        </a:spcBef>
                        <a:spcAft>
                          <a:spcPct val="0"/>
                        </a:spcAft>
                        <a:buChar char="•"/>
                        <a:defRPr sz="2000" b="0" kern="1200">
                          <a:solidFill>
                            <a:schemeClr val="tx1"/>
                          </a:solidFill>
                          <a:latin typeface="+mn-lt"/>
                          <a:ea typeface="+mn-ea"/>
                        </a:defRPr>
                      </a:lvl3pPr>
                      <a:lvl4pPr marL="1600200" lvl="3" indent="-228600" algn="l" rtl="0" fontAlgn="base">
                        <a:spcBef>
                          <a:spcPct val="20000"/>
                        </a:spcBef>
                        <a:spcAft>
                          <a:spcPct val="0"/>
                        </a:spcAft>
                        <a:buChar char="–"/>
                        <a:defRPr sz="1800" b="0" kern="1200">
                          <a:solidFill>
                            <a:schemeClr val="tx1"/>
                          </a:solidFill>
                          <a:latin typeface="+mn-lt"/>
                          <a:ea typeface="+mn-ea"/>
                        </a:defRPr>
                      </a:lvl4pPr>
                      <a:lvl5pPr marL="2057400" lvl="4" indent="-228600" algn="l" rtl="0" fontAlgn="base">
                        <a:spcBef>
                          <a:spcPct val="20000"/>
                        </a:spcBef>
                        <a:spcAft>
                          <a:spcPct val="0"/>
                        </a:spcAft>
                        <a:buChar char="»"/>
                        <a:defRPr sz="1800" b="0" kern="1200">
                          <a:solidFill>
                            <a:schemeClr val="tx1"/>
                          </a:solidFill>
                          <a:latin typeface="+mn-lt"/>
                          <a:ea typeface="+mn-ea"/>
                        </a:defRPr>
                      </a:lvl5pPr>
                    </a:lstStyle>
                    <a:p>
                      <a:pPr marL="0" lvl="0" indent="0" algn="ctr" defTabSz="914400" rtl="0" eaLnBrk="1" fontAlgn="base" latinLnBrk="0" hangingPunct="1">
                        <a:spcBef>
                          <a:spcPct val="20000"/>
                        </a:spcBef>
                        <a:spcAft>
                          <a:spcPct val="0"/>
                        </a:spcAft>
                        <a:buNone/>
                      </a:pPr>
                      <a:r>
                        <a:rPr lang="zh-CN" altLang="en-US" sz="2400" b="1" kern="1200" dirty="0">
                          <a:solidFill>
                            <a:schemeClr val="tx2"/>
                          </a:solidFill>
                          <a:latin typeface="微软雅黑" pitchFamily="34" charset="-122"/>
                          <a:ea typeface="微软雅黑" pitchFamily="34" charset="-122"/>
                          <a:cs typeface="+mn-cs"/>
                        </a:rPr>
                        <a:t>序号</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rowSpan="2">
                  <a:txBody>
                    <a:bodyPr/>
                    <a:lstStyle>
                      <a:lvl1pPr marL="342900" lvl="0" indent="-342900" algn="l" rtl="0" fontAlgn="base">
                        <a:spcBef>
                          <a:spcPct val="20000"/>
                        </a:spcBef>
                        <a:spcAft>
                          <a:spcPct val="0"/>
                        </a:spcAft>
                        <a:buChar char="•"/>
                        <a:defRPr sz="2800" b="0" kern="1200">
                          <a:solidFill>
                            <a:schemeClr val="tx1"/>
                          </a:solidFill>
                          <a:latin typeface="+mn-lt"/>
                          <a:ea typeface="+mn-ea"/>
                          <a:cs typeface="+mn-cs"/>
                        </a:defRPr>
                      </a:lvl1pPr>
                      <a:lvl2pPr marL="742950" lvl="1" indent="-285750" algn="l" rtl="0" fontAlgn="base">
                        <a:spcBef>
                          <a:spcPct val="20000"/>
                        </a:spcBef>
                        <a:spcAft>
                          <a:spcPct val="0"/>
                        </a:spcAft>
                        <a:buChar char="–"/>
                        <a:defRPr sz="2400" b="0" kern="1200">
                          <a:solidFill>
                            <a:schemeClr val="tx1"/>
                          </a:solidFill>
                          <a:latin typeface="+mn-lt"/>
                          <a:ea typeface="+mn-ea"/>
                        </a:defRPr>
                      </a:lvl2pPr>
                      <a:lvl3pPr marL="1143000" lvl="2" indent="-228600" algn="l" rtl="0" fontAlgn="base">
                        <a:spcBef>
                          <a:spcPct val="20000"/>
                        </a:spcBef>
                        <a:spcAft>
                          <a:spcPct val="0"/>
                        </a:spcAft>
                        <a:buChar char="•"/>
                        <a:defRPr sz="2000" b="0" kern="1200">
                          <a:solidFill>
                            <a:schemeClr val="tx1"/>
                          </a:solidFill>
                          <a:latin typeface="+mn-lt"/>
                          <a:ea typeface="+mn-ea"/>
                        </a:defRPr>
                      </a:lvl3pPr>
                      <a:lvl4pPr marL="1600200" lvl="3" indent="-228600" algn="l" rtl="0" fontAlgn="base">
                        <a:spcBef>
                          <a:spcPct val="20000"/>
                        </a:spcBef>
                        <a:spcAft>
                          <a:spcPct val="0"/>
                        </a:spcAft>
                        <a:buChar char="–"/>
                        <a:defRPr sz="1800" b="0" kern="1200">
                          <a:solidFill>
                            <a:schemeClr val="tx1"/>
                          </a:solidFill>
                          <a:latin typeface="+mn-lt"/>
                          <a:ea typeface="+mn-ea"/>
                        </a:defRPr>
                      </a:lvl4pPr>
                      <a:lvl5pPr marL="2057400" lvl="4" indent="-228600" algn="l" rtl="0" fontAlgn="base">
                        <a:spcBef>
                          <a:spcPct val="20000"/>
                        </a:spcBef>
                        <a:spcAft>
                          <a:spcPct val="0"/>
                        </a:spcAft>
                        <a:buChar char="»"/>
                        <a:defRPr sz="1800" b="0" kern="1200">
                          <a:solidFill>
                            <a:schemeClr val="tx1"/>
                          </a:solidFill>
                          <a:latin typeface="+mn-lt"/>
                          <a:ea typeface="+mn-ea"/>
                        </a:defRPr>
                      </a:lvl5pPr>
                    </a:lstStyle>
                    <a:p>
                      <a:pPr marL="0" lvl="0" indent="0" algn="ctr" defTabSz="914400" rtl="0" eaLnBrk="1" fontAlgn="base" latinLnBrk="0" hangingPunct="1">
                        <a:spcBef>
                          <a:spcPct val="20000"/>
                        </a:spcBef>
                        <a:spcAft>
                          <a:spcPct val="0"/>
                        </a:spcAft>
                        <a:buNone/>
                      </a:pPr>
                      <a:r>
                        <a:rPr lang="zh-CN" altLang="en-US" sz="2400" b="1" kern="1200" dirty="0">
                          <a:solidFill>
                            <a:srgbClr val="0000CC"/>
                          </a:solidFill>
                          <a:latin typeface="微软雅黑" pitchFamily="34" charset="-122"/>
                          <a:ea typeface="微软雅黑" pitchFamily="34" charset="-122"/>
                          <a:cs typeface="+mn-cs"/>
                        </a:rPr>
                        <a:t>算式</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gridSpan="2">
                  <a:txBody>
                    <a:bodyPr/>
                    <a:lstStyle>
                      <a:lvl1pPr marL="342900" lvl="0" indent="-342900" algn="l" rtl="0" fontAlgn="base">
                        <a:spcBef>
                          <a:spcPct val="20000"/>
                        </a:spcBef>
                        <a:spcAft>
                          <a:spcPct val="0"/>
                        </a:spcAft>
                        <a:buChar char="•"/>
                        <a:defRPr sz="2800" b="0" kern="1200">
                          <a:solidFill>
                            <a:schemeClr val="tx1"/>
                          </a:solidFill>
                          <a:latin typeface="+mn-lt"/>
                          <a:ea typeface="+mn-ea"/>
                          <a:cs typeface="+mn-cs"/>
                        </a:defRPr>
                      </a:lvl1pPr>
                      <a:lvl2pPr marL="742950" lvl="1" indent="-285750" algn="l" rtl="0" fontAlgn="base">
                        <a:spcBef>
                          <a:spcPct val="20000"/>
                        </a:spcBef>
                        <a:spcAft>
                          <a:spcPct val="0"/>
                        </a:spcAft>
                        <a:buChar char="–"/>
                        <a:defRPr sz="2400" b="0" kern="1200">
                          <a:solidFill>
                            <a:schemeClr val="tx1"/>
                          </a:solidFill>
                          <a:latin typeface="+mn-lt"/>
                          <a:ea typeface="+mn-ea"/>
                        </a:defRPr>
                      </a:lvl2pPr>
                      <a:lvl3pPr marL="1143000" lvl="2" indent="-228600" algn="l" rtl="0" fontAlgn="base">
                        <a:spcBef>
                          <a:spcPct val="20000"/>
                        </a:spcBef>
                        <a:spcAft>
                          <a:spcPct val="0"/>
                        </a:spcAft>
                        <a:buChar char="•"/>
                        <a:defRPr sz="2000" b="0" kern="1200">
                          <a:solidFill>
                            <a:schemeClr val="tx1"/>
                          </a:solidFill>
                          <a:latin typeface="+mn-lt"/>
                          <a:ea typeface="+mn-ea"/>
                        </a:defRPr>
                      </a:lvl3pPr>
                      <a:lvl4pPr marL="1600200" lvl="3" indent="-228600" algn="l" rtl="0" fontAlgn="base">
                        <a:spcBef>
                          <a:spcPct val="20000"/>
                        </a:spcBef>
                        <a:spcAft>
                          <a:spcPct val="0"/>
                        </a:spcAft>
                        <a:buChar char="–"/>
                        <a:defRPr sz="1800" b="0" kern="1200">
                          <a:solidFill>
                            <a:schemeClr val="tx1"/>
                          </a:solidFill>
                          <a:latin typeface="+mn-lt"/>
                          <a:ea typeface="+mn-ea"/>
                        </a:defRPr>
                      </a:lvl4pPr>
                      <a:lvl5pPr marL="2057400" lvl="4" indent="-228600" algn="l" rtl="0" fontAlgn="base">
                        <a:spcBef>
                          <a:spcPct val="20000"/>
                        </a:spcBef>
                        <a:spcAft>
                          <a:spcPct val="0"/>
                        </a:spcAft>
                        <a:buChar char="»"/>
                        <a:defRPr sz="1800" b="0" kern="1200">
                          <a:solidFill>
                            <a:schemeClr val="tx1"/>
                          </a:solidFill>
                          <a:latin typeface="+mn-lt"/>
                          <a:ea typeface="+mn-ea"/>
                        </a:defRPr>
                      </a:lvl5pPr>
                    </a:lstStyle>
                    <a:p>
                      <a:pPr marL="0" lvl="0" indent="0" algn="ctr" eaLnBrk="1" hangingPunct="1">
                        <a:buNone/>
                      </a:pPr>
                      <a:r>
                        <a:rPr lang="en-US" altLang="zh-CN" sz="2400" b="1" dirty="0">
                          <a:solidFill>
                            <a:srgbClr val="0000CC"/>
                          </a:solidFill>
                          <a:latin typeface="微软雅黑" pitchFamily="34" charset="-122"/>
                          <a:ea typeface="微软雅黑" pitchFamily="34" charset="-122"/>
                        </a:rPr>
                        <a:t> </a:t>
                      </a:r>
                      <a:r>
                        <a:rPr lang="zh-CN" altLang="en-US" sz="2400" b="1" dirty="0">
                          <a:solidFill>
                            <a:srgbClr val="0000CC"/>
                          </a:solidFill>
                          <a:latin typeface="微软雅黑" pitchFamily="34" charset="-122"/>
                          <a:ea typeface="微软雅黑" pitchFamily="34" charset="-122"/>
                        </a:rPr>
                        <a:t>计算结果 </a:t>
                      </a:r>
                    </a:p>
                  </a:txBody>
                  <a:tcPr anchor="ctr">
                    <a:lnL w="12700" cap="flat" cmpd="sng">
                      <a:solidFill>
                        <a:schemeClr val="tx1"/>
                      </a:solidFill>
                      <a:prstDash val="solid"/>
                      <a:headEnd type="none" w="med" len="med"/>
                      <a:tailEnd type="none" w="med" len="med"/>
                    </a:lnL>
                    <a:lnR>
                      <a:noFill/>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2"/>
                    </a:solidFill>
                  </a:tcPr>
                </a:tc>
                <a:tc hMerge="1">
                  <a:txBody>
                    <a:bodyPr/>
                    <a:lstStyle/>
                    <a:p>
                      <a:endParaRPr lang="zh-CN"/>
                    </a:p>
                  </a:txBody>
                  <a:tcP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extLst>
                  <a:ext uri="{0D108BD9-81ED-4DB2-BD59-A6C34878D82A}">
                    <a16:rowId xmlns:a16="http://schemas.microsoft.com/office/drawing/2014/main" val="10000"/>
                  </a:ext>
                </a:extLst>
              </a:tr>
              <a:tr h="631825">
                <a:tc vMerge="1">
                  <a:txBody>
                    <a:bodyPr/>
                    <a:lstStyle/>
                    <a:p>
                      <a:endParaRPr lang="zh-CN"/>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a:txBody>
                    <a:bodyPr/>
                    <a:lstStyle/>
                    <a:p>
                      <a:endParaRPr lang="zh-CN"/>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lvl1pPr marL="342900" lvl="0" indent="-342900" algn="l" rtl="0" fontAlgn="base">
                        <a:spcBef>
                          <a:spcPct val="20000"/>
                        </a:spcBef>
                        <a:spcAft>
                          <a:spcPct val="0"/>
                        </a:spcAft>
                        <a:buChar char="•"/>
                        <a:defRPr sz="2800" b="0" kern="1200">
                          <a:solidFill>
                            <a:schemeClr val="tx1"/>
                          </a:solidFill>
                          <a:latin typeface="+mn-lt"/>
                          <a:ea typeface="+mn-ea"/>
                          <a:cs typeface="+mn-cs"/>
                        </a:defRPr>
                      </a:lvl1pPr>
                      <a:lvl2pPr marL="742950" lvl="1" indent="-285750" algn="l" rtl="0" fontAlgn="base">
                        <a:spcBef>
                          <a:spcPct val="20000"/>
                        </a:spcBef>
                        <a:spcAft>
                          <a:spcPct val="0"/>
                        </a:spcAft>
                        <a:buChar char="–"/>
                        <a:defRPr sz="2400" b="0" kern="1200">
                          <a:solidFill>
                            <a:schemeClr val="tx1"/>
                          </a:solidFill>
                          <a:latin typeface="+mn-lt"/>
                          <a:ea typeface="+mn-ea"/>
                        </a:defRPr>
                      </a:lvl2pPr>
                      <a:lvl3pPr marL="1143000" lvl="2" indent="-228600" algn="l" rtl="0" fontAlgn="base">
                        <a:spcBef>
                          <a:spcPct val="20000"/>
                        </a:spcBef>
                        <a:spcAft>
                          <a:spcPct val="0"/>
                        </a:spcAft>
                        <a:buChar char="•"/>
                        <a:defRPr sz="2000" b="0" kern="1200">
                          <a:solidFill>
                            <a:schemeClr val="tx1"/>
                          </a:solidFill>
                          <a:latin typeface="+mn-lt"/>
                          <a:ea typeface="+mn-ea"/>
                        </a:defRPr>
                      </a:lvl3pPr>
                      <a:lvl4pPr marL="1600200" lvl="3" indent="-228600" algn="l" rtl="0" fontAlgn="base">
                        <a:spcBef>
                          <a:spcPct val="20000"/>
                        </a:spcBef>
                        <a:spcAft>
                          <a:spcPct val="0"/>
                        </a:spcAft>
                        <a:buChar char="–"/>
                        <a:defRPr sz="1800" b="0" kern="1200">
                          <a:solidFill>
                            <a:schemeClr val="tx1"/>
                          </a:solidFill>
                          <a:latin typeface="+mn-lt"/>
                          <a:ea typeface="+mn-ea"/>
                        </a:defRPr>
                      </a:lvl4pPr>
                      <a:lvl5pPr marL="2057400" lvl="4" indent="-228600" algn="l" rtl="0" fontAlgn="base">
                        <a:spcBef>
                          <a:spcPct val="20000"/>
                        </a:spcBef>
                        <a:spcAft>
                          <a:spcPct val="0"/>
                        </a:spcAft>
                        <a:buChar char="»"/>
                        <a:defRPr sz="1800" b="0" kern="1200">
                          <a:solidFill>
                            <a:schemeClr val="tx1"/>
                          </a:solidFill>
                          <a:latin typeface="+mn-lt"/>
                          <a:ea typeface="+mn-ea"/>
                        </a:defRPr>
                      </a:lvl5pPr>
                    </a:lstStyle>
                    <a:p>
                      <a:pPr marL="0" lvl="0" indent="0" algn="ctr" eaLnBrk="1" hangingPunct="1">
                        <a:buNone/>
                      </a:pPr>
                      <a:endParaRPr lang="zh-CN" altLang="zh-CN" sz="2000" b="1" dirty="0">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har char="•"/>
                        <a:defRPr sz="2800" b="0" kern="1200">
                          <a:solidFill>
                            <a:schemeClr val="tx1"/>
                          </a:solidFill>
                          <a:latin typeface="+mn-lt"/>
                          <a:ea typeface="+mn-ea"/>
                          <a:cs typeface="+mn-cs"/>
                        </a:defRPr>
                      </a:lvl1pPr>
                      <a:lvl2pPr marL="742950" lvl="1" indent="-285750" algn="l" rtl="0" fontAlgn="base">
                        <a:spcBef>
                          <a:spcPct val="20000"/>
                        </a:spcBef>
                        <a:spcAft>
                          <a:spcPct val="0"/>
                        </a:spcAft>
                        <a:buChar char="–"/>
                        <a:defRPr sz="2400" b="0" kern="1200">
                          <a:solidFill>
                            <a:schemeClr val="tx1"/>
                          </a:solidFill>
                          <a:latin typeface="+mn-lt"/>
                          <a:ea typeface="+mn-ea"/>
                        </a:defRPr>
                      </a:lvl2pPr>
                      <a:lvl3pPr marL="1143000" lvl="2" indent="-228600" algn="l" rtl="0" fontAlgn="base">
                        <a:spcBef>
                          <a:spcPct val="20000"/>
                        </a:spcBef>
                        <a:spcAft>
                          <a:spcPct val="0"/>
                        </a:spcAft>
                        <a:buChar char="•"/>
                        <a:defRPr sz="2000" b="0" kern="1200">
                          <a:solidFill>
                            <a:schemeClr val="tx1"/>
                          </a:solidFill>
                          <a:latin typeface="+mn-lt"/>
                          <a:ea typeface="+mn-ea"/>
                        </a:defRPr>
                      </a:lvl3pPr>
                      <a:lvl4pPr marL="1600200" lvl="3" indent="-228600" algn="l" rtl="0" fontAlgn="base">
                        <a:spcBef>
                          <a:spcPct val="20000"/>
                        </a:spcBef>
                        <a:spcAft>
                          <a:spcPct val="0"/>
                        </a:spcAft>
                        <a:buChar char="–"/>
                        <a:defRPr sz="1800" b="0" kern="1200">
                          <a:solidFill>
                            <a:schemeClr val="tx1"/>
                          </a:solidFill>
                          <a:latin typeface="+mn-lt"/>
                          <a:ea typeface="+mn-ea"/>
                        </a:defRPr>
                      </a:lvl4pPr>
                      <a:lvl5pPr marL="2057400" lvl="4" indent="-228600" algn="l" rtl="0" fontAlgn="base">
                        <a:spcBef>
                          <a:spcPct val="20000"/>
                        </a:spcBef>
                        <a:spcAft>
                          <a:spcPct val="0"/>
                        </a:spcAft>
                        <a:buChar char="»"/>
                        <a:defRPr sz="1800" b="0" kern="1200">
                          <a:solidFill>
                            <a:schemeClr val="tx1"/>
                          </a:solidFill>
                          <a:latin typeface="+mn-lt"/>
                          <a:ea typeface="+mn-ea"/>
                        </a:defRPr>
                      </a:lvl5pPr>
                    </a:lstStyle>
                    <a:p>
                      <a:pPr marL="0" lvl="0" indent="0" algn="ctr" eaLnBrk="1" hangingPunct="1">
                        <a:buNone/>
                      </a:pPr>
                      <a:endParaRPr lang="zh-CN" altLang="zh-CN" sz="2000" b="1" dirty="0">
                        <a:solidFill>
                          <a:schemeClr val="bg1"/>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36600">
                <a:tc>
                  <a:txBody>
                    <a:bodyPr/>
                    <a:lstStyle>
                      <a:lvl1pPr marL="342900" lvl="0" indent="-342900" algn="l" rtl="0" fontAlgn="base">
                        <a:spcBef>
                          <a:spcPct val="20000"/>
                        </a:spcBef>
                        <a:spcAft>
                          <a:spcPct val="0"/>
                        </a:spcAft>
                        <a:buChar char="•"/>
                        <a:defRPr sz="2800" b="0" kern="1200">
                          <a:solidFill>
                            <a:schemeClr val="tx1"/>
                          </a:solidFill>
                          <a:latin typeface="+mn-lt"/>
                          <a:ea typeface="+mn-ea"/>
                          <a:cs typeface="+mn-cs"/>
                        </a:defRPr>
                      </a:lvl1pPr>
                      <a:lvl2pPr marL="742950" lvl="1" indent="-285750" algn="l" rtl="0" fontAlgn="base">
                        <a:spcBef>
                          <a:spcPct val="20000"/>
                        </a:spcBef>
                        <a:spcAft>
                          <a:spcPct val="0"/>
                        </a:spcAft>
                        <a:buChar char="–"/>
                        <a:defRPr sz="2400" b="0" kern="1200">
                          <a:solidFill>
                            <a:schemeClr val="tx1"/>
                          </a:solidFill>
                          <a:latin typeface="+mn-lt"/>
                          <a:ea typeface="+mn-ea"/>
                        </a:defRPr>
                      </a:lvl2pPr>
                      <a:lvl3pPr marL="1143000" lvl="2" indent="-228600" algn="l" rtl="0" fontAlgn="base">
                        <a:spcBef>
                          <a:spcPct val="20000"/>
                        </a:spcBef>
                        <a:spcAft>
                          <a:spcPct val="0"/>
                        </a:spcAft>
                        <a:buChar char="•"/>
                        <a:defRPr sz="2000" b="0" kern="1200">
                          <a:solidFill>
                            <a:schemeClr val="tx1"/>
                          </a:solidFill>
                          <a:latin typeface="+mn-lt"/>
                          <a:ea typeface="+mn-ea"/>
                        </a:defRPr>
                      </a:lvl3pPr>
                      <a:lvl4pPr marL="1600200" lvl="3" indent="-228600" algn="l" rtl="0" fontAlgn="base">
                        <a:spcBef>
                          <a:spcPct val="20000"/>
                        </a:spcBef>
                        <a:spcAft>
                          <a:spcPct val="0"/>
                        </a:spcAft>
                        <a:buChar char="–"/>
                        <a:defRPr sz="1800" b="0" kern="1200">
                          <a:solidFill>
                            <a:schemeClr val="tx1"/>
                          </a:solidFill>
                          <a:latin typeface="+mn-lt"/>
                          <a:ea typeface="+mn-ea"/>
                        </a:defRPr>
                      </a:lvl4pPr>
                      <a:lvl5pPr marL="2057400" lvl="4" indent="-228600" algn="l" rtl="0" fontAlgn="base">
                        <a:spcBef>
                          <a:spcPct val="20000"/>
                        </a:spcBef>
                        <a:spcAft>
                          <a:spcPct val="0"/>
                        </a:spcAft>
                        <a:buChar char="»"/>
                        <a:defRPr sz="1800" b="0" kern="1200">
                          <a:solidFill>
                            <a:schemeClr val="tx1"/>
                          </a:solidFill>
                          <a:latin typeface="+mn-lt"/>
                          <a:ea typeface="+mn-ea"/>
                        </a:defRPr>
                      </a:lvl5pPr>
                    </a:lstStyle>
                    <a:p>
                      <a:pPr marL="0" lvl="0" indent="0" algn="ctr" eaLnBrk="1" hangingPunct="1">
                        <a:buNone/>
                      </a:pPr>
                      <a:r>
                        <a:rPr lang="en-US" altLang="zh-CN" sz="2000" dirty="0"/>
                        <a:t>1</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har char="•"/>
                        <a:defRPr sz="2800" b="0" kern="1200">
                          <a:solidFill>
                            <a:schemeClr val="tx1"/>
                          </a:solidFill>
                          <a:latin typeface="+mn-lt"/>
                          <a:ea typeface="+mn-ea"/>
                          <a:cs typeface="+mn-cs"/>
                        </a:defRPr>
                      </a:lvl1pPr>
                      <a:lvl2pPr marL="742950" lvl="1" indent="-285750" algn="l" rtl="0" fontAlgn="base">
                        <a:spcBef>
                          <a:spcPct val="20000"/>
                        </a:spcBef>
                        <a:spcAft>
                          <a:spcPct val="0"/>
                        </a:spcAft>
                        <a:buChar char="–"/>
                        <a:defRPr sz="2400" b="0" kern="1200">
                          <a:solidFill>
                            <a:schemeClr val="tx1"/>
                          </a:solidFill>
                          <a:latin typeface="+mn-lt"/>
                          <a:ea typeface="+mn-ea"/>
                        </a:defRPr>
                      </a:lvl2pPr>
                      <a:lvl3pPr marL="1143000" lvl="2" indent="-228600" algn="l" rtl="0" fontAlgn="base">
                        <a:spcBef>
                          <a:spcPct val="20000"/>
                        </a:spcBef>
                        <a:spcAft>
                          <a:spcPct val="0"/>
                        </a:spcAft>
                        <a:buChar char="•"/>
                        <a:defRPr sz="2000" b="0" kern="1200">
                          <a:solidFill>
                            <a:schemeClr val="tx1"/>
                          </a:solidFill>
                          <a:latin typeface="+mn-lt"/>
                          <a:ea typeface="+mn-ea"/>
                        </a:defRPr>
                      </a:lvl3pPr>
                      <a:lvl4pPr marL="1600200" lvl="3" indent="-228600" algn="l" rtl="0" fontAlgn="base">
                        <a:spcBef>
                          <a:spcPct val="20000"/>
                        </a:spcBef>
                        <a:spcAft>
                          <a:spcPct val="0"/>
                        </a:spcAft>
                        <a:buChar char="–"/>
                        <a:defRPr sz="1800" b="0" kern="1200">
                          <a:solidFill>
                            <a:schemeClr val="tx1"/>
                          </a:solidFill>
                          <a:latin typeface="+mn-lt"/>
                          <a:ea typeface="+mn-ea"/>
                        </a:defRPr>
                      </a:lvl4pPr>
                      <a:lvl5pPr marL="2057400" lvl="4" indent="-228600" algn="l" rtl="0" fontAlgn="base">
                        <a:spcBef>
                          <a:spcPct val="20000"/>
                        </a:spcBef>
                        <a:spcAft>
                          <a:spcPct val="0"/>
                        </a:spcAft>
                        <a:buChar char="»"/>
                        <a:defRPr sz="1800" b="0" kern="1200">
                          <a:solidFill>
                            <a:schemeClr val="tx1"/>
                          </a:solidFill>
                          <a:latin typeface="+mn-lt"/>
                          <a:ea typeface="+mn-ea"/>
                        </a:defRPr>
                      </a:lvl5pPr>
                    </a:lstStyle>
                    <a:p>
                      <a:pPr marL="0" lvl="0" indent="0" algn="ctr" eaLnBrk="1" hangingPunct="1">
                        <a:buNone/>
                      </a:pPr>
                      <a:endParaRPr lang="zh-CN" altLang="zh-CN" sz="2000" dirty="0">
                        <a:solidFill>
                          <a:schemeClr val="tx2"/>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gradFill rotWithShape="0">
                      <a:gsLst>
                        <a:gs pos="0">
                          <a:srgbClr val="D8D8D8"/>
                        </a:gs>
                        <a:gs pos="100000">
                          <a:srgbClr val="FFFFFF"/>
                        </a:gs>
                      </a:gsLst>
                      <a:lin ang="2700000" scaled="1"/>
                      <a:tileRect/>
                    </a:gradFill>
                  </a:tcPr>
                </a:tc>
                <a:tc>
                  <a:txBody>
                    <a:bodyPr/>
                    <a:lstStyle>
                      <a:lvl1pPr marL="342900" lvl="0" indent="-342900" algn="l" rtl="0" fontAlgn="base">
                        <a:spcBef>
                          <a:spcPct val="20000"/>
                        </a:spcBef>
                        <a:spcAft>
                          <a:spcPct val="0"/>
                        </a:spcAft>
                        <a:buChar char="•"/>
                        <a:defRPr sz="2800" b="0" kern="1200">
                          <a:solidFill>
                            <a:schemeClr val="tx1"/>
                          </a:solidFill>
                          <a:latin typeface="+mn-lt"/>
                          <a:ea typeface="+mn-ea"/>
                          <a:cs typeface="+mn-cs"/>
                        </a:defRPr>
                      </a:lvl1pPr>
                      <a:lvl2pPr marL="742950" lvl="1" indent="-285750" algn="l" rtl="0" fontAlgn="base">
                        <a:spcBef>
                          <a:spcPct val="20000"/>
                        </a:spcBef>
                        <a:spcAft>
                          <a:spcPct val="0"/>
                        </a:spcAft>
                        <a:buChar char="–"/>
                        <a:defRPr sz="2400" b="0" kern="1200">
                          <a:solidFill>
                            <a:schemeClr val="tx1"/>
                          </a:solidFill>
                          <a:latin typeface="+mn-lt"/>
                          <a:ea typeface="+mn-ea"/>
                        </a:defRPr>
                      </a:lvl2pPr>
                      <a:lvl3pPr marL="1143000" lvl="2" indent="-228600" algn="l" rtl="0" fontAlgn="base">
                        <a:spcBef>
                          <a:spcPct val="20000"/>
                        </a:spcBef>
                        <a:spcAft>
                          <a:spcPct val="0"/>
                        </a:spcAft>
                        <a:buChar char="•"/>
                        <a:defRPr sz="2000" b="0" kern="1200">
                          <a:solidFill>
                            <a:schemeClr val="tx1"/>
                          </a:solidFill>
                          <a:latin typeface="+mn-lt"/>
                          <a:ea typeface="+mn-ea"/>
                        </a:defRPr>
                      </a:lvl3pPr>
                      <a:lvl4pPr marL="1600200" lvl="3" indent="-228600" algn="l" rtl="0" fontAlgn="base">
                        <a:spcBef>
                          <a:spcPct val="20000"/>
                        </a:spcBef>
                        <a:spcAft>
                          <a:spcPct val="0"/>
                        </a:spcAft>
                        <a:buChar char="–"/>
                        <a:defRPr sz="1800" b="0" kern="1200">
                          <a:solidFill>
                            <a:schemeClr val="tx1"/>
                          </a:solidFill>
                          <a:latin typeface="+mn-lt"/>
                          <a:ea typeface="+mn-ea"/>
                        </a:defRPr>
                      </a:lvl4pPr>
                      <a:lvl5pPr marL="2057400" lvl="4" indent="-228600" algn="l" rtl="0" fontAlgn="base">
                        <a:spcBef>
                          <a:spcPct val="20000"/>
                        </a:spcBef>
                        <a:spcAft>
                          <a:spcPct val="0"/>
                        </a:spcAft>
                        <a:buChar char="»"/>
                        <a:defRPr sz="1800" b="0" kern="1200">
                          <a:solidFill>
                            <a:schemeClr val="tx1"/>
                          </a:solidFill>
                          <a:latin typeface="+mn-lt"/>
                          <a:ea typeface="+mn-ea"/>
                        </a:defRPr>
                      </a:lvl5pPr>
                    </a:lstStyle>
                    <a:p>
                      <a:pPr marL="0" lvl="0" indent="0" algn="ctr" eaLnBrk="1" hangingPunct="1">
                        <a:buNone/>
                      </a:pPr>
                      <a:endParaRPr lang="zh-CN" altLang="zh-CN" sz="2000" dirty="0">
                        <a:solidFill>
                          <a:schemeClr val="tx2"/>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har char="•"/>
                        <a:defRPr sz="2800" b="0" kern="1200">
                          <a:solidFill>
                            <a:schemeClr val="tx1"/>
                          </a:solidFill>
                          <a:latin typeface="+mn-lt"/>
                          <a:ea typeface="+mn-ea"/>
                          <a:cs typeface="+mn-cs"/>
                        </a:defRPr>
                      </a:lvl1pPr>
                      <a:lvl2pPr marL="742950" lvl="1" indent="-285750" algn="l" rtl="0" fontAlgn="base">
                        <a:spcBef>
                          <a:spcPct val="20000"/>
                        </a:spcBef>
                        <a:spcAft>
                          <a:spcPct val="0"/>
                        </a:spcAft>
                        <a:buChar char="–"/>
                        <a:defRPr sz="2400" b="0" kern="1200">
                          <a:solidFill>
                            <a:schemeClr val="tx1"/>
                          </a:solidFill>
                          <a:latin typeface="+mn-lt"/>
                          <a:ea typeface="+mn-ea"/>
                        </a:defRPr>
                      </a:lvl2pPr>
                      <a:lvl3pPr marL="1143000" lvl="2" indent="-228600" algn="l" rtl="0" fontAlgn="base">
                        <a:spcBef>
                          <a:spcPct val="20000"/>
                        </a:spcBef>
                        <a:spcAft>
                          <a:spcPct val="0"/>
                        </a:spcAft>
                        <a:buChar char="•"/>
                        <a:defRPr sz="2000" b="0" kern="1200">
                          <a:solidFill>
                            <a:schemeClr val="tx1"/>
                          </a:solidFill>
                          <a:latin typeface="+mn-lt"/>
                          <a:ea typeface="+mn-ea"/>
                        </a:defRPr>
                      </a:lvl3pPr>
                      <a:lvl4pPr marL="1600200" lvl="3" indent="-228600" algn="l" rtl="0" fontAlgn="base">
                        <a:spcBef>
                          <a:spcPct val="20000"/>
                        </a:spcBef>
                        <a:spcAft>
                          <a:spcPct val="0"/>
                        </a:spcAft>
                        <a:buChar char="–"/>
                        <a:defRPr sz="1800" b="0" kern="1200">
                          <a:solidFill>
                            <a:schemeClr val="tx1"/>
                          </a:solidFill>
                          <a:latin typeface="+mn-lt"/>
                          <a:ea typeface="+mn-ea"/>
                        </a:defRPr>
                      </a:lvl4pPr>
                      <a:lvl5pPr marL="2057400" lvl="4" indent="-228600" algn="l" rtl="0" fontAlgn="base">
                        <a:spcBef>
                          <a:spcPct val="20000"/>
                        </a:spcBef>
                        <a:spcAft>
                          <a:spcPct val="0"/>
                        </a:spcAft>
                        <a:buChar char="»"/>
                        <a:defRPr sz="1800" b="0" kern="1200">
                          <a:solidFill>
                            <a:schemeClr val="tx1"/>
                          </a:solidFill>
                          <a:latin typeface="+mn-lt"/>
                          <a:ea typeface="+mn-ea"/>
                        </a:defRPr>
                      </a:lvl5pPr>
                    </a:lstStyle>
                    <a:p>
                      <a:pPr marL="0" lvl="0" indent="0" algn="ctr" eaLnBrk="1" hangingPunct="1">
                        <a:buNone/>
                      </a:pPr>
                      <a:endParaRPr lang="zh-CN" altLang="zh-CN" sz="2000" dirty="0">
                        <a:solidFill>
                          <a:schemeClr val="tx2"/>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35012">
                <a:tc>
                  <a:txBody>
                    <a:bodyPr/>
                    <a:lstStyle>
                      <a:lvl1pPr marL="342900" lvl="0" indent="-342900" algn="l" rtl="0" fontAlgn="base">
                        <a:spcBef>
                          <a:spcPct val="20000"/>
                        </a:spcBef>
                        <a:spcAft>
                          <a:spcPct val="0"/>
                        </a:spcAft>
                        <a:buChar char="•"/>
                        <a:defRPr sz="2800" b="0" kern="1200">
                          <a:solidFill>
                            <a:schemeClr val="tx1"/>
                          </a:solidFill>
                          <a:latin typeface="+mn-lt"/>
                          <a:ea typeface="+mn-ea"/>
                          <a:cs typeface="+mn-cs"/>
                        </a:defRPr>
                      </a:lvl1pPr>
                      <a:lvl2pPr marL="742950" lvl="1" indent="-285750" algn="l" rtl="0" fontAlgn="base">
                        <a:spcBef>
                          <a:spcPct val="20000"/>
                        </a:spcBef>
                        <a:spcAft>
                          <a:spcPct val="0"/>
                        </a:spcAft>
                        <a:buChar char="–"/>
                        <a:defRPr sz="2400" b="0" kern="1200">
                          <a:solidFill>
                            <a:schemeClr val="tx1"/>
                          </a:solidFill>
                          <a:latin typeface="+mn-lt"/>
                          <a:ea typeface="+mn-ea"/>
                        </a:defRPr>
                      </a:lvl2pPr>
                      <a:lvl3pPr marL="1143000" lvl="2" indent="-228600" algn="l" rtl="0" fontAlgn="base">
                        <a:spcBef>
                          <a:spcPct val="20000"/>
                        </a:spcBef>
                        <a:spcAft>
                          <a:spcPct val="0"/>
                        </a:spcAft>
                        <a:buChar char="•"/>
                        <a:defRPr sz="2000" b="0" kern="1200">
                          <a:solidFill>
                            <a:schemeClr val="tx1"/>
                          </a:solidFill>
                          <a:latin typeface="+mn-lt"/>
                          <a:ea typeface="+mn-ea"/>
                        </a:defRPr>
                      </a:lvl3pPr>
                      <a:lvl4pPr marL="1600200" lvl="3" indent="-228600" algn="l" rtl="0" fontAlgn="base">
                        <a:spcBef>
                          <a:spcPct val="20000"/>
                        </a:spcBef>
                        <a:spcAft>
                          <a:spcPct val="0"/>
                        </a:spcAft>
                        <a:buChar char="–"/>
                        <a:defRPr sz="1800" b="0" kern="1200">
                          <a:solidFill>
                            <a:schemeClr val="tx1"/>
                          </a:solidFill>
                          <a:latin typeface="+mn-lt"/>
                          <a:ea typeface="+mn-ea"/>
                        </a:defRPr>
                      </a:lvl4pPr>
                      <a:lvl5pPr marL="2057400" lvl="4" indent="-228600" algn="l" rtl="0" fontAlgn="base">
                        <a:spcBef>
                          <a:spcPct val="20000"/>
                        </a:spcBef>
                        <a:spcAft>
                          <a:spcPct val="0"/>
                        </a:spcAft>
                        <a:buChar char="»"/>
                        <a:defRPr sz="1800" b="0" kern="1200">
                          <a:solidFill>
                            <a:schemeClr val="tx1"/>
                          </a:solidFill>
                          <a:latin typeface="+mn-lt"/>
                          <a:ea typeface="+mn-ea"/>
                        </a:defRPr>
                      </a:lvl5pPr>
                    </a:lstStyle>
                    <a:p>
                      <a:pPr marL="0" lvl="0" indent="0" algn="ctr" eaLnBrk="1" hangingPunct="1">
                        <a:buNone/>
                      </a:pPr>
                      <a:r>
                        <a:rPr lang="en-US" altLang="zh-CN" sz="2000" dirty="0"/>
                        <a:t>2</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har char="•"/>
                        <a:defRPr sz="2800" b="0" kern="1200">
                          <a:solidFill>
                            <a:schemeClr val="tx1"/>
                          </a:solidFill>
                          <a:latin typeface="+mn-lt"/>
                          <a:ea typeface="+mn-ea"/>
                          <a:cs typeface="+mn-cs"/>
                        </a:defRPr>
                      </a:lvl1pPr>
                      <a:lvl2pPr marL="742950" lvl="1" indent="-285750" algn="l" rtl="0" fontAlgn="base">
                        <a:spcBef>
                          <a:spcPct val="20000"/>
                        </a:spcBef>
                        <a:spcAft>
                          <a:spcPct val="0"/>
                        </a:spcAft>
                        <a:buChar char="–"/>
                        <a:defRPr sz="2400" b="0" kern="1200">
                          <a:solidFill>
                            <a:schemeClr val="tx1"/>
                          </a:solidFill>
                          <a:latin typeface="+mn-lt"/>
                          <a:ea typeface="+mn-ea"/>
                        </a:defRPr>
                      </a:lvl2pPr>
                      <a:lvl3pPr marL="1143000" lvl="2" indent="-228600" algn="l" rtl="0" fontAlgn="base">
                        <a:spcBef>
                          <a:spcPct val="20000"/>
                        </a:spcBef>
                        <a:spcAft>
                          <a:spcPct val="0"/>
                        </a:spcAft>
                        <a:buChar char="•"/>
                        <a:defRPr sz="2000" b="0" kern="1200">
                          <a:solidFill>
                            <a:schemeClr val="tx1"/>
                          </a:solidFill>
                          <a:latin typeface="+mn-lt"/>
                          <a:ea typeface="+mn-ea"/>
                        </a:defRPr>
                      </a:lvl3pPr>
                      <a:lvl4pPr marL="1600200" lvl="3" indent="-228600" algn="l" rtl="0" fontAlgn="base">
                        <a:spcBef>
                          <a:spcPct val="20000"/>
                        </a:spcBef>
                        <a:spcAft>
                          <a:spcPct val="0"/>
                        </a:spcAft>
                        <a:buChar char="–"/>
                        <a:defRPr sz="1800" b="0" kern="1200">
                          <a:solidFill>
                            <a:schemeClr val="tx1"/>
                          </a:solidFill>
                          <a:latin typeface="+mn-lt"/>
                          <a:ea typeface="+mn-ea"/>
                        </a:defRPr>
                      </a:lvl4pPr>
                      <a:lvl5pPr marL="2057400" lvl="4" indent="-228600" algn="l" rtl="0" fontAlgn="base">
                        <a:spcBef>
                          <a:spcPct val="20000"/>
                        </a:spcBef>
                        <a:spcAft>
                          <a:spcPct val="0"/>
                        </a:spcAft>
                        <a:buChar char="»"/>
                        <a:defRPr sz="1800" b="0" kern="1200">
                          <a:solidFill>
                            <a:schemeClr val="tx1"/>
                          </a:solidFill>
                          <a:latin typeface="+mn-lt"/>
                          <a:ea typeface="+mn-ea"/>
                        </a:defRPr>
                      </a:lvl5pPr>
                    </a:lstStyle>
                    <a:p>
                      <a:pPr marL="0" lvl="0" indent="0" algn="ctr" eaLnBrk="1" hangingPunct="1">
                        <a:buNone/>
                      </a:pPr>
                      <a:endParaRPr lang="zh-CN" altLang="zh-CN" sz="2000" dirty="0">
                        <a:solidFill>
                          <a:schemeClr val="tx2"/>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gradFill rotWithShape="0">
                      <a:gsLst>
                        <a:gs pos="0">
                          <a:srgbClr val="D8D8D8"/>
                        </a:gs>
                        <a:gs pos="100000">
                          <a:srgbClr val="FFFFFF"/>
                        </a:gs>
                      </a:gsLst>
                      <a:lin ang="2700000" scaled="1"/>
                      <a:tileRect/>
                    </a:gradFill>
                  </a:tcPr>
                </a:tc>
                <a:tc>
                  <a:txBody>
                    <a:bodyPr/>
                    <a:lstStyle>
                      <a:lvl1pPr marL="342900" lvl="0" indent="-342900" algn="l" rtl="0" fontAlgn="base">
                        <a:spcBef>
                          <a:spcPct val="20000"/>
                        </a:spcBef>
                        <a:spcAft>
                          <a:spcPct val="0"/>
                        </a:spcAft>
                        <a:buChar char="•"/>
                        <a:defRPr sz="2800" b="0" kern="1200">
                          <a:solidFill>
                            <a:schemeClr val="tx1"/>
                          </a:solidFill>
                          <a:latin typeface="+mn-lt"/>
                          <a:ea typeface="+mn-ea"/>
                          <a:cs typeface="+mn-cs"/>
                        </a:defRPr>
                      </a:lvl1pPr>
                      <a:lvl2pPr marL="742950" lvl="1" indent="-285750" algn="l" rtl="0" fontAlgn="base">
                        <a:spcBef>
                          <a:spcPct val="20000"/>
                        </a:spcBef>
                        <a:spcAft>
                          <a:spcPct val="0"/>
                        </a:spcAft>
                        <a:buChar char="–"/>
                        <a:defRPr sz="2400" b="0" kern="1200">
                          <a:solidFill>
                            <a:schemeClr val="tx1"/>
                          </a:solidFill>
                          <a:latin typeface="+mn-lt"/>
                          <a:ea typeface="+mn-ea"/>
                        </a:defRPr>
                      </a:lvl2pPr>
                      <a:lvl3pPr marL="1143000" lvl="2" indent="-228600" algn="l" rtl="0" fontAlgn="base">
                        <a:spcBef>
                          <a:spcPct val="20000"/>
                        </a:spcBef>
                        <a:spcAft>
                          <a:spcPct val="0"/>
                        </a:spcAft>
                        <a:buChar char="•"/>
                        <a:defRPr sz="2000" b="0" kern="1200">
                          <a:solidFill>
                            <a:schemeClr val="tx1"/>
                          </a:solidFill>
                          <a:latin typeface="+mn-lt"/>
                          <a:ea typeface="+mn-ea"/>
                        </a:defRPr>
                      </a:lvl3pPr>
                      <a:lvl4pPr marL="1600200" lvl="3" indent="-228600" algn="l" rtl="0" fontAlgn="base">
                        <a:spcBef>
                          <a:spcPct val="20000"/>
                        </a:spcBef>
                        <a:spcAft>
                          <a:spcPct val="0"/>
                        </a:spcAft>
                        <a:buChar char="–"/>
                        <a:defRPr sz="1800" b="0" kern="1200">
                          <a:solidFill>
                            <a:schemeClr val="tx1"/>
                          </a:solidFill>
                          <a:latin typeface="+mn-lt"/>
                          <a:ea typeface="+mn-ea"/>
                        </a:defRPr>
                      </a:lvl4pPr>
                      <a:lvl5pPr marL="2057400" lvl="4" indent="-228600" algn="l" rtl="0" fontAlgn="base">
                        <a:spcBef>
                          <a:spcPct val="20000"/>
                        </a:spcBef>
                        <a:spcAft>
                          <a:spcPct val="0"/>
                        </a:spcAft>
                        <a:buChar char="»"/>
                        <a:defRPr sz="1800" b="0" kern="1200">
                          <a:solidFill>
                            <a:schemeClr val="tx1"/>
                          </a:solidFill>
                          <a:latin typeface="+mn-lt"/>
                          <a:ea typeface="+mn-ea"/>
                        </a:defRPr>
                      </a:lvl5pPr>
                    </a:lstStyle>
                    <a:p>
                      <a:pPr marL="0" lvl="0" indent="0" algn="ctr" eaLnBrk="1" hangingPunct="1">
                        <a:buNone/>
                      </a:pPr>
                      <a:endParaRPr lang="en-US" altLang="zh-CN" sz="2000" dirty="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har char="•"/>
                        <a:defRPr sz="2800" b="0" kern="1200">
                          <a:solidFill>
                            <a:schemeClr val="tx1"/>
                          </a:solidFill>
                          <a:latin typeface="+mn-lt"/>
                          <a:ea typeface="+mn-ea"/>
                          <a:cs typeface="+mn-cs"/>
                        </a:defRPr>
                      </a:lvl1pPr>
                      <a:lvl2pPr marL="742950" lvl="1" indent="-285750" algn="l" rtl="0" fontAlgn="base">
                        <a:spcBef>
                          <a:spcPct val="20000"/>
                        </a:spcBef>
                        <a:spcAft>
                          <a:spcPct val="0"/>
                        </a:spcAft>
                        <a:buChar char="–"/>
                        <a:defRPr sz="2400" b="0" kern="1200">
                          <a:solidFill>
                            <a:schemeClr val="tx1"/>
                          </a:solidFill>
                          <a:latin typeface="+mn-lt"/>
                          <a:ea typeface="+mn-ea"/>
                        </a:defRPr>
                      </a:lvl2pPr>
                      <a:lvl3pPr marL="1143000" lvl="2" indent="-228600" algn="l" rtl="0" fontAlgn="base">
                        <a:spcBef>
                          <a:spcPct val="20000"/>
                        </a:spcBef>
                        <a:spcAft>
                          <a:spcPct val="0"/>
                        </a:spcAft>
                        <a:buChar char="•"/>
                        <a:defRPr sz="2000" b="0" kern="1200">
                          <a:solidFill>
                            <a:schemeClr val="tx1"/>
                          </a:solidFill>
                          <a:latin typeface="+mn-lt"/>
                          <a:ea typeface="+mn-ea"/>
                        </a:defRPr>
                      </a:lvl3pPr>
                      <a:lvl4pPr marL="1600200" lvl="3" indent="-228600" algn="l" rtl="0" fontAlgn="base">
                        <a:spcBef>
                          <a:spcPct val="20000"/>
                        </a:spcBef>
                        <a:spcAft>
                          <a:spcPct val="0"/>
                        </a:spcAft>
                        <a:buChar char="–"/>
                        <a:defRPr sz="1800" b="0" kern="1200">
                          <a:solidFill>
                            <a:schemeClr val="tx1"/>
                          </a:solidFill>
                          <a:latin typeface="+mn-lt"/>
                          <a:ea typeface="+mn-ea"/>
                        </a:defRPr>
                      </a:lvl4pPr>
                      <a:lvl5pPr marL="2057400" lvl="4" indent="-228600" algn="l" rtl="0" fontAlgn="base">
                        <a:spcBef>
                          <a:spcPct val="20000"/>
                        </a:spcBef>
                        <a:spcAft>
                          <a:spcPct val="0"/>
                        </a:spcAft>
                        <a:buChar char="»"/>
                        <a:defRPr sz="1800" b="0" kern="1200">
                          <a:solidFill>
                            <a:schemeClr val="tx1"/>
                          </a:solidFill>
                          <a:latin typeface="+mn-lt"/>
                          <a:ea typeface="+mn-ea"/>
                        </a:defRPr>
                      </a:lvl5pPr>
                    </a:lstStyle>
                    <a:p>
                      <a:pPr marL="0" lvl="0" indent="0" algn="ctr" eaLnBrk="1" hangingPunct="1">
                        <a:buNone/>
                      </a:pPr>
                      <a:endParaRPr lang="zh-CN" altLang="zh-CN" sz="2000" dirty="0">
                        <a:solidFill>
                          <a:schemeClr val="tx2"/>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36600">
                <a:tc>
                  <a:txBody>
                    <a:bodyPr/>
                    <a:lstStyle>
                      <a:lvl1pPr marL="342900" lvl="0" indent="-342900" algn="l" rtl="0" fontAlgn="base">
                        <a:spcBef>
                          <a:spcPct val="20000"/>
                        </a:spcBef>
                        <a:spcAft>
                          <a:spcPct val="0"/>
                        </a:spcAft>
                        <a:buChar char="•"/>
                        <a:defRPr sz="2800" b="0" kern="1200">
                          <a:solidFill>
                            <a:schemeClr val="tx1"/>
                          </a:solidFill>
                          <a:latin typeface="+mn-lt"/>
                          <a:ea typeface="+mn-ea"/>
                          <a:cs typeface="+mn-cs"/>
                        </a:defRPr>
                      </a:lvl1pPr>
                      <a:lvl2pPr marL="742950" lvl="1" indent="-285750" algn="l" rtl="0" fontAlgn="base">
                        <a:spcBef>
                          <a:spcPct val="20000"/>
                        </a:spcBef>
                        <a:spcAft>
                          <a:spcPct val="0"/>
                        </a:spcAft>
                        <a:buChar char="–"/>
                        <a:defRPr sz="2400" b="0" kern="1200">
                          <a:solidFill>
                            <a:schemeClr val="tx1"/>
                          </a:solidFill>
                          <a:latin typeface="+mn-lt"/>
                          <a:ea typeface="+mn-ea"/>
                        </a:defRPr>
                      </a:lvl2pPr>
                      <a:lvl3pPr marL="1143000" lvl="2" indent="-228600" algn="l" rtl="0" fontAlgn="base">
                        <a:spcBef>
                          <a:spcPct val="20000"/>
                        </a:spcBef>
                        <a:spcAft>
                          <a:spcPct val="0"/>
                        </a:spcAft>
                        <a:buChar char="•"/>
                        <a:defRPr sz="2000" b="0" kern="1200">
                          <a:solidFill>
                            <a:schemeClr val="tx1"/>
                          </a:solidFill>
                          <a:latin typeface="+mn-lt"/>
                          <a:ea typeface="+mn-ea"/>
                        </a:defRPr>
                      </a:lvl3pPr>
                      <a:lvl4pPr marL="1600200" lvl="3" indent="-228600" algn="l" rtl="0" fontAlgn="base">
                        <a:spcBef>
                          <a:spcPct val="20000"/>
                        </a:spcBef>
                        <a:spcAft>
                          <a:spcPct val="0"/>
                        </a:spcAft>
                        <a:buChar char="–"/>
                        <a:defRPr sz="1800" b="0" kern="1200">
                          <a:solidFill>
                            <a:schemeClr val="tx1"/>
                          </a:solidFill>
                          <a:latin typeface="+mn-lt"/>
                          <a:ea typeface="+mn-ea"/>
                        </a:defRPr>
                      </a:lvl4pPr>
                      <a:lvl5pPr marL="2057400" lvl="4" indent="-228600" algn="l" rtl="0" fontAlgn="base">
                        <a:spcBef>
                          <a:spcPct val="20000"/>
                        </a:spcBef>
                        <a:spcAft>
                          <a:spcPct val="0"/>
                        </a:spcAft>
                        <a:buChar char="»"/>
                        <a:defRPr sz="1800" b="0" kern="1200">
                          <a:solidFill>
                            <a:schemeClr val="tx1"/>
                          </a:solidFill>
                          <a:latin typeface="+mn-lt"/>
                          <a:ea typeface="+mn-ea"/>
                        </a:defRPr>
                      </a:lvl5pPr>
                    </a:lstStyle>
                    <a:p>
                      <a:pPr marL="0" lvl="0" indent="0" algn="ctr" eaLnBrk="1" hangingPunct="1">
                        <a:buNone/>
                      </a:pPr>
                      <a:r>
                        <a:rPr lang="en-US" altLang="zh-CN" sz="2000" dirty="0"/>
                        <a:t>3</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har char="•"/>
                        <a:defRPr sz="2800" b="0" kern="1200">
                          <a:solidFill>
                            <a:schemeClr val="tx1"/>
                          </a:solidFill>
                          <a:latin typeface="+mn-lt"/>
                          <a:ea typeface="+mn-ea"/>
                          <a:cs typeface="+mn-cs"/>
                        </a:defRPr>
                      </a:lvl1pPr>
                      <a:lvl2pPr marL="742950" lvl="1" indent="-285750" algn="l" rtl="0" fontAlgn="base">
                        <a:spcBef>
                          <a:spcPct val="20000"/>
                        </a:spcBef>
                        <a:spcAft>
                          <a:spcPct val="0"/>
                        </a:spcAft>
                        <a:buChar char="–"/>
                        <a:defRPr sz="2400" b="0" kern="1200">
                          <a:solidFill>
                            <a:schemeClr val="tx1"/>
                          </a:solidFill>
                          <a:latin typeface="+mn-lt"/>
                          <a:ea typeface="+mn-ea"/>
                        </a:defRPr>
                      </a:lvl2pPr>
                      <a:lvl3pPr marL="1143000" lvl="2" indent="-228600" algn="l" rtl="0" fontAlgn="base">
                        <a:spcBef>
                          <a:spcPct val="20000"/>
                        </a:spcBef>
                        <a:spcAft>
                          <a:spcPct val="0"/>
                        </a:spcAft>
                        <a:buChar char="•"/>
                        <a:defRPr sz="2000" b="0" kern="1200">
                          <a:solidFill>
                            <a:schemeClr val="tx1"/>
                          </a:solidFill>
                          <a:latin typeface="+mn-lt"/>
                          <a:ea typeface="+mn-ea"/>
                        </a:defRPr>
                      </a:lvl3pPr>
                      <a:lvl4pPr marL="1600200" lvl="3" indent="-228600" algn="l" rtl="0" fontAlgn="base">
                        <a:spcBef>
                          <a:spcPct val="20000"/>
                        </a:spcBef>
                        <a:spcAft>
                          <a:spcPct val="0"/>
                        </a:spcAft>
                        <a:buChar char="–"/>
                        <a:defRPr sz="1800" b="0" kern="1200">
                          <a:solidFill>
                            <a:schemeClr val="tx1"/>
                          </a:solidFill>
                          <a:latin typeface="+mn-lt"/>
                          <a:ea typeface="+mn-ea"/>
                        </a:defRPr>
                      </a:lvl4pPr>
                      <a:lvl5pPr marL="2057400" lvl="4" indent="-228600" algn="l" rtl="0" fontAlgn="base">
                        <a:spcBef>
                          <a:spcPct val="20000"/>
                        </a:spcBef>
                        <a:spcAft>
                          <a:spcPct val="0"/>
                        </a:spcAft>
                        <a:buChar char="»"/>
                        <a:defRPr sz="1800" b="0" kern="1200">
                          <a:solidFill>
                            <a:schemeClr val="tx1"/>
                          </a:solidFill>
                          <a:latin typeface="+mn-lt"/>
                          <a:ea typeface="+mn-ea"/>
                        </a:defRPr>
                      </a:lvl5pPr>
                    </a:lstStyle>
                    <a:p>
                      <a:pPr marL="0" lvl="0" indent="0" algn="ctr" eaLnBrk="1" hangingPunct="1">
                        <a:buNone/>
                      </a:pPr>
                      <a:endParaRPr lang="zh-CN" altLang="zh-CN" sz="2000" dirty="0">
                        <a:solidFill>
                          <a:schemeClr val="tx2"/>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gradFill rotWithShape="0">
                      <a:gsLst>
                        <a:gs pos="0">
                          <a:srgbClr val="D8D8D8"/>
                        </a:gs>
                        <a:gs pos="100000">
                          <a:srgbClr val="FFFFFF"/>
                        </a:gs>
                      </a:gsLst>
                      <a:lin ang="2700000" scaled="1"/>
                      <a:tileRect/>
                    </a:gradFill>
                  </a:tcPr>
                </a:tc>
                <a:tc>
                  <a:txBody>
                    <a:bodyPr/>
                    <a:lstStyle>
                      <a:lvl1pPr marL="342900" lvl="0" indent="-342900" algn="l" rtl="0" fontAlgn="base">
                        <a:spcBef>
                          <a:spcPct val="20000"/>
                        </a:spcBef>
                        <a:spcAft>
                          <a:spcPct val="0"/>
                        </a:spcAft>
                        <a:buChar char="•"/>
                        <a:defRPr sz="2800" b="0" kern="1200">
                          <a:solidFill>
                            <a:schemeClr val="tx1"/>
                          </a:solidFill>
                          <a:latin typeface="+mn-lt"/>
                          <a:ea typeface="+mn-ea"/>
                          <a:cs typeface="+mn-cs"/>
                        </a:defRPr>
                      </a:lvl1pPr>
                      <a:lvl2pPr marL="742950" lvl="1" indent="-285750" algn="l" rtl="0" fontAlgn="base">
                        <a:spcBef>
                          <a:spcPct val="20000"/>
                        </a:spcBef>
                        <a:spcAft>
                          <a:spcPct val="0"/>
                        </a:spcAft>
                        <a:buChar char="–"/>
                        <a:defRPr sz="2400" b="0" kern="1200">
                          <a:solidFill>
                            <a:schemeClr val="tx1"/>
                          </a:solidFill>
                          <a:latin typeface="+mn-lt"/>
                          <a:ea typeface="+mn-ea"/>
                        </a:defRPr>
                      </a:lvl2pPr>
                      <a:lvl3pPr marL="1143000" lvl="2" indent="-228600" algn="l" rtl="0" fontAlgn="base">
                        <a:spcBef>
                          <a:spcPct val="20000"/>
                        </a:spcBef>
                        <a:spcAft>
                          <a:spcPct val="0"/>
                        </a:spcAft>
                        <a:buChar char="•"/>
                        <a:defRPr sz="2000" b="0" kern="1200">
                          <a:solidFill>
                            <a:schemeClr val="tx1"/>
                          </a:solidFill>
                          <a:latin typeface="+mn-lt"/>
                          <a:ea typeface="+mn-ea"/>
                        </a:defRPr>
                      </a:lvl3pPr>
                      <a:lvl4pPr marL="1600200" lvl="3" indent="-228600" algn="l" rtl="0" fontAlgn="base">
                        <a:spcBef>
                          <a:spcPct val="20000"/>
                        </a:spcBef>
                        <a:spcAft>
                          <a:spcPct val="0"/>
                        </a:spcAft>
                        <a:buChar char="–"/>
                        <a:defRPr sz="1800" b="0" kern="1200">
                          <a:solidFill>
                            <a:schemeClr val="tx1"/>
                          </a:solidFill>
                          <a:latin typeface="+mn-lt"/>
                          <a:ea typeface="+mn-ea"/>
                        </a:defRPr>
                      </a:lvl4pPr>
                      <a:lvl5pPr marL="2057400" lvl="4" indent="-228600" algn="l" rtl="0" fontAlgn="base">
                        <a:spcBef>
                          <a:spcPct val="20000"/>
                        </a:spcBef>
                        <a:spcAft>
                          <a:spcPct val="0"/>
                        </a:spcAft>
                        <a:buChar char="»"/>
                        <a:defRPr sz="1800" b="0" kern="1200">
                          <a:solidFill>
                            <a:schemeClr val="tx1"/>
                          </a:solidFill>
                          <a:latin typeface="+mn-lt"/>
                          <a:ea typeface="+mn-ea"/>
                        </a:defRPr>
                      </a:lvl5pPr>
                    </a:lstStyle>
                    <a:p>
                      <a:pPr marL="0" lvl="0" indent="0" algn="ctr" eaLnBrk="1" hangingPunct="1">
                        <a:buNone/>
                      </a:pPr>
                      <a:endParaRPr lang="zh-CN" altLang="zh-CN" sz="2000" dirty="0">
                        <a:solidFill>
                          <a:schemeClr val="tx2"/>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har char="•"/>
                        <a:defRPr sz="2800" b="0" kern="1200">
                          <a:solidFill>
                            <a:schemeClr val="tx1"/>
                          </a:solidFill>
                          <a:latin typeface="+mn-lt"/>
                          <a:ea typeface="+mn-ea"/>
                          <a:cs typeface="+mn-cs"/>
                        </a:defRPr>
                      </a:lvl1pPr>
                      <a:lvl2pPr marL="742950" lvl="1" indent="-285750" algn="l" rtl="0" fontAlgn="base">
                        <a:spcBef>
                          <a:spcPct val="20000"/>
                        </a:spcBef>
                        <a:spcAft>
                          <a:spcPct val="0"/>
                        </a:spcAft>
                        <a:buChar char="–"/>
                        <a:defRPr sz="2400" b="0" kern="1200">
                          <a:solidFill>
                            <a:schemeClr val="tx1"/>
                          </a:solidFill>
                          <a:latin typeface="+mn-lt"/>
                          <a:ea typeface="+mn-ea"/>
                        </a:defRPr>
                      </a:lvl2pPr>
                      <a:lvl3pPr marL="1143000" lvl="2" indent="-228600" algn="l" rtl="0" fontAlgn="base">
                        <a:spcBef>
                          <a:spcPct val="20000"/>
                        </a:spcBef>
                        <a:spcAft>
                          <a:spcPct val="0"/>
                        </a:spcAft>
                        <a:buChar char="•"/>
                        <a:defRPr sz="2000" b="0" kern="1200">
                          <a:solidFill>
                            <a:schemeClr val="tx1"/>
                          </a:solidFill>
                          <a:latin typeface="+mn-lt"/>
                          <a:ea typeface="+mn-ea"/>
                        </a:defRPr>
                      </a:lvl3pPr>
                      <a:lvl4pPr marL="1600200" lvl="3" indent="-228600" algn="l" rtl="0" fontAlgn="base">
                        <a:spcBef>
                          <a:spcPct val="20000"/>
                        </a:spcBef>
                        <a:spcAft>
                          <a:spcPct val="0"/>
                        </a:spcAft>
                        <a:buChar char="–"/>
                        <a:defRPr sz="1800" b="0" kern="1200">
                          <a:solidFill>
                            <a:schemeClr val="tx1"/>
                          </a:solidFill>
                          <a:latin typeface="+mn-lt"/>
                          <a:ea typeface="+mn-ea"/>
                        </a:defRPr>
                      </a:lvl4pPr>
                      <a:lvl5pPr marL="2057400" lvl="4" indent="-228600" algn="l" rtl="0" fontAlgn="base">
                        <a:spcBef>
                          <a:spcPct val="20000"/>
                        </a:spcBef>
                        <a:spcAft>
                          <a:spcPct val="0"/>
                        </a:spcAft>
                        <a:buChar char="»"/>
                        <a:defRPr sz="1800" b="0" kern="1200">
                          <a:solidFill>
                            <a:schemeClr val="tx1"/>
                          </a:solidFill>
                          <a:latin typeface="+mn-lt"/>
                          <a:ea typeface="+mn-ea"/>
                        </a:defRPr>
                      </a:lvl5pPr>
                    </a:lstStyle>
                    <a:p>
                      <a:pPr marL="0" lvl="0" indent="0" algn="ctr" eaLnBrk="1" hangingPunct="1">
                        <a:buNone/>
                      </a:pPr>
                      <a:endParaRPr lang="zh-CN" altLang="zh-CN" sz="2000" dirty="0">
                        <a:solidFill>
                          <a:schemeClr val="tx2"/>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35013">
                <a:tc>
                  <a:txBody>
                    <a:bodyPr/>
                    <a:lstStyle>
                      <a:lvl1pPr marL="342900" lvl="0" indent="-342900" algn="l" rtl="0" fontAlgn="base">
                        <a:spcBef>
                          <a:spcPct val="20000"/>
                        </a:spcBef>
                        <a:spcAft>
                          <a:spcPct val="0"/>
                        </a:spcAft>
                        <a:buChar char="•"/>
                        <a:defRPr sz="2800" b="0" kern="1200">
                          <a:solidFill>
                            <a:schemeClr val="tx1"/>
                          </a:solidFill>
                          <a:latin typeface="+mn-lt"/>
                          <a:ea typeface="+mn-ea"/>
                          <a:cs typeface="+mn-cs"/>
                        </a:defRPr>
                      </a:lvl1pPr>
                      <a:lvl2pPr marL="742950" lvl="1" indent="-285750" algn="l" rtl="0" fontAlgn="base">
                        <a:spcBef>
                          <a:spcPct val="20000"/>
                        </a:spcBef>
                        <a:spcAft>
                          <a:spcPct val="0"/>
                        </a:spcAft>
                        <a:buChar char="–"/>
                        <a:defRPr sz="2400" b="0" kern="1200">
                          <a:solidFill>
                            <a:schemeClr val="tx1"/>
                          </a:solidFill>
                          <a:latin typeface="+mn-lt"/>
                          <a:ea typeface="+mn-ea"/>
                        </a:defRPr>
                      </a:lvl2pPr>
                      <a:lvl3pPr marL="1143000" lvl="2" indent="-228600" algn="l" rtl="0" fontAlgn="base">
                        <a:spcBef>
                          <a:spcPct val="20000"/>
                        </a:spcBef>
                        <a:spcAft>
                          <a:spcPct val="0"/>
                        </a:spcAft>
                        <a:buChar char="•"/>
                        <a:defRPr sz="2000" b="0" kern="1200">
                          <a:solidFill>
                            <a:schemeClr val="tx1"/>
                          </a:solidFill>
                          <a:latin typeface="+mn-lt"/>
                          <a:ea typeface="+mn-ea"/>
                        </a:defRPr>
                      </a:lvl3pPr>
                      <a:lvl4pPr marL="1600200" lvl="3" indent="-228600" algn="l" rtl="0" fontAlgn="base">
                        <a:spcBef>
                          <a:spcPct val="20000"/>
                        </a:spcBef>
                        <a:spcAft>
                          <a:spcPct val="0"/>
                        </a:spcAft>
                        <a:buChar char="–"/>
                        <a:defRPr sz="1800" b="0" kern="1200">
                          <a:solidFill>
                            <a:schemeClr val="tx1"/>
                          </a:solidFill>
                          <a:latin typeface="+mn-lt"/>
                          <a:ea typeface="+mn-ea"/>
                        </a:defRPr>
                      </a:lvl4pPr>
                      <a:lvl5pPr marL="2057400" lvl="4" indent="-228600" algn="l" rtl="0" fontAlgn="base">
                        <a:spcBef>
                          <a:spcPct val="20000"/>
                        </a:spcBef>
                        <a:spcAft>
                          <a:spcPct val="0"/>
                        </a:spcAft>
                        <a:buChar char="»"/>
                        <a:defRPr sz="1800" b="0" kern="1200">
                          <a:solidFill>
                            <a:schemeClr val="tx1"/>
                          </a:solidFill>
                          <a:latin typeface="+mn-lt"/>
                          <a:ea typeface="+mn-ea"/>
                        </a:defRPr>
                      </a:lvl5pPr>
                    </a:lstStyle>
                    <a:p>
                      <a:pPr marL="0" lvl="0" indent="0" algn="ctr" eaLnBrk="1" hangingPunct="1">
                        <a:buNone/>
                      </a:pPr>
                      <a:r>
                        <a:rPr lang="en-US" altLang="zh-CN" sz="2000" dirty="0"/>
                        <a:t>4</a:t>
                      </a: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har char="•"/>
                        <a:defRPr sz="2800" b="0" kern="1200">
                          <a:solidFill>
                            <a:schemeClr val="tx1"/>
                          </a:solidFill>
                          <a:latin typeface="+mn-lt"/>
                          <a:ea typeface="+mn-ea"/>
                          <a:cs typeface="+mn-cs"/>
                        </a:defRPr>
                      </a:lvl1pPr>
                      <a:lvl2pPr marL="742950" lvl="1" indent="-285750" algn="l" rtl="0" fontAlgn="base">
                        <a:spcBef>
                          <a:spcPct val="20000"/>
                        </a:spcBef>
                        <a:spcAft>
                          <a:spcPct val="0"/>
                        </a:spcAft>
                        <a:buChar char="–"/>
                        <a:defRPr sz="2400" b="0" kern="1200">
                          <a:solidFill>
                            <a:schemeClr val="tx1"/>
                          </a:solidFill>
                          <a:latin typeface="+mn-lt"/>
                          <a:ea typeface="+mn-ea"/>
                        </a:defRPr>
                      </a:lvl2pPr>
                      <a:lvl3pPr marL="1143000" lvl="2" indent="-228600" algn="l" rtl="0" fontAlgn="base">
                        <a:spcBef>
                          <a:spcPct val="20000"/>
                        </a:spcBef>
                        <a:spcAft>
                          <a:spcPct val="0"/>
                        </a:spcAft>
                        <a:buChar char="•"/>
                        <a:defRPr sz="2000" b="0" kern="1200">
                          <a:solidFill>
                            <a:schemeClr val="tx1"/>
                          </a:solidFill>
                          <a:latin typeface="+mn-lt"/>
                          <a:ea typeface="+mn-ea"/>
                        </a:defRPr>
                      </a:lvl3pPr>
                      <a:lvl4pPr marL="1600200" lvl="3" indent="-228600" algn="l" rtl="0" fontAlgn="base">
                        <a:spcBef>
                          <a:spcPct val="20000"/>
                        </a:spcBef>
                        <a:spcAft>
                          <a:spcPct val="0"/>
                        </a:spcAft>
                        <a:buChar char="–"/>
                        <a:defRPr sz="1800" b="0" kern="1200">
                          <a:solidFill>
                            <a:schemeClr val="tx1"/>
                          </a:solidFill>
                          <a:latin typeface="+mn-lt"/>
                          <a:ea typeface="+mn-ea"/>
                        </a:defRPr>
                      </a:lvl4pPr>
                      <a:lvl5pPr marL="2057400" lvl="4" indent="-228600" algn="l" rtl="0" fontAlgn="base">
                        <a:spcBef>
                          <a:spcPct val="20000"/>
                        </a:spcBef>
                        <a:spcAft>
                          <a:spcPct val="0"/>
                        </a:spcAft>
                        <a:buChar char="»"/>
                        <a:defRPr sz="1800" b="0" kern="1200">
                          <a:solidFill>
                            <a:schemeClr val="tx1"/>
                          </a:solidFill>
                          <a:latin typeface="+mn-lt"/>
                          <a:ea typeface="+mn-ea"/>
                        </a:defRPr>
                      </a:lvl5pPr>
                    </a:lstStyle>
                    <a:p>
                      <a:pPr marL="0" lvl="0" indent="0" algn="ctr" eaLnBrk="1" hangingPunct="1">
                        <a:buNone/>
                      </a:pPr>
                      <a:endParaRPr lang="zh-CN" altLang="zh-CN" sz="2000" dirty="0">
                        <a:solidFill>
                          <a:schemeClr val="tx2"/>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gradFill rotWithShape="0">
                      <a:gsLst>
                        <a:gs pos="0">
                          <a:srgbClr val="D8D8D8"/>
                        </a:gs>
                        <a:gs pos="100000">
                          <a:srgbClr val="FFFFFF"/>
                        </a:gs>
                      </a:gsLst>
                      <a:lin ang="2700000" scaled="1"/>
                      <a:tileRect/>
                    </a:gradFill>
                  </a:tcPr>
                </a:tc>
                <a:tc>
                  <a:txBody>
                    <a:bodyPr/>
                    <a:lstStyle>
                      <a:lvl1pPr marL="342900" lvl="0" indent="-342900" algn="l" rtl="0" fontAlgn="base">
                        <a:spcBef>
                          <a:spcPct val="20000"/>
                        </a:spcBef>
                        <a:spcAft>
                          <a:spcPct val="0"/>
                        </a:spcAft>
                        <a:buChar char="•"/>
                        <a:defRPr sz="2800" b="0" kern="1200">
                          <a:solidFill>
                            <a:schemeClr val="tx1"/>
                          </a:solidFill>
                          <a:latin typeface="+mn-lt"/>
                          <a:ea typeface="+mn-ea"/>
                          <a:cs typeface="+mn-cs"/>
                        </a:defRPr>
                      </a:lvl1pPr>
                      <a:lvl2pPr marL="742950" lvl="1" indent="-285750" algn="l" rtl="0" fontAlgn="base">
                        <a:spcBef>
                          <a:spcPct val="20000"/>
                        </a:spcBef>
                        <a:spcAft>
                          <a:spcPct val="0"/>
                        </a:spcAft>
                        <a:buChar char="–"/>
                        <a:defRPr sz="2400" b="0" kern="1200">
                          <a:solidFill>
                            <a:schemeClr val="tx1"/>
                          </a:solidFill>
                          <a:latin typeface="+mn-lt"/>
                          <a:ea typeface="+mn-ea"/>
                        </a:defRPr>
                      </a:lvl2pPr>
                      <a:lvl3pPr marL="1143000" lvl="2" indent="-228600" algn="l" rtl="0" fontAlgn="base">
                        <a:spcBef>
                          <a:spcPct val="20000"/>
                        </a:spcBef>
                        <a:spcAft>
                          <a:spcPct val="0"/>
                        </a:spcAft>
                        <a:buChar char="•"/>
                        <a:defRPr sz="2000" b="0" kern="1200">
                          <a:solidFill>
                            <a:schemeClr val="tx1"/>
                          </a:solidFill>
                          <a:latin typeface="+mn-lt"/>
                          <a:ea typeface="+mn-ea"/>
                        </a:defRPr>
                      </a:lvl3pPr>
                      <a:lvl4pPr marL="1600200" lvl="3" indent="-228600" algn="l" rtl="0" fontAlgn="base">
                        <a:spcBef>
                          <a:spcPct val="20000"/>
                        </a:spcBef>
                        <a:spcAft>
                          <a:spcPct val="0"/>
                        </a:spcAft>
                        <a:buChar char="–"/>
                        <a:defRPr sz="1800" b="0" kern="1200">
                          <a:solidFill>
                            <a:schemeClr val="tx1"/>
                          </a:solidFill>
                          <a:latin typeface="+mn-lt"/>
                          <a:ea typeface="+mn-ea"/>
                        </a:defRPr>
                      </a:lvl4pPr>
                      <a:lvl5pPr marL="2057400" lvl="4" indent="-228600" algn="l" rtl="0" fontAlgn="base">
                        <a:spcBef>
                          <a:spcPct val="20000"/>
                        </a:spcBef>
                        <a:spcAft>
                          <a:spcPct val="0"/>
                        </a:spcAft>
                        <a:buChar char="»"/>
                        <a:defRPr sz="1800" b="0" kern="1200">
                          <a:solidFill>
                            <a:schemeClr val="tx1"/>
                          </a:solidFill>
                          <a:latin typeface="+mn-lt"/>
                          <a:ea typeface="+mn-ea"/>
                        </a:defRPr>
                      </a:lvl5pPr>
                    </a:lstStyle>
                    <a:p>
                      <a:pPr marL="0" lvl="0" indent="0" algn="ctr" eaLnBrk="1" hangingPunct="1">
                        <a:buNone/>
                      </a:pPr>
                      <a:endParaRPr lang="zh-CN" altLang="zh-CN" sz="2000" dirty="0">
                        <a:solidFill>
                          <a:schemeClr val="tx2"/>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rtl="0" fontAlgn="base">
                        <a:spcBef>
                          <a:spcPct val="20000"/>
                        </a:spcBef>
                        <a:spcAft>
                          <a:spcPct val="0"/>
                        </a:spcAft>
                        <a:buChar char="•"/>
                        <a:defRPr sz="2800" b="0" kern="1200">
                          <a:solidFill>
                            <a:schemeClr val="tx1"/>
                          </a:solidFill>
                          <a:latin typeface="+mn-lt"/>
                          <a:ea typeface="+mn-ea"/>
                          <a:cs typeface="+mn-cs"/>
                        </a:defRPr>
                      </a:lvl1pPr>
                      <a:lvl2pPr marL="742950" lvl="1" indent="-285750" algn="l" rtl="0" fontAlgn="base">
                        <a:spcBef>
                          <a:spcPct val="20000"/>
                        </a:spcBef>
                        <a:spcAft>
                          <a:spcPct val="0"/>
                        </a:spcAft>
                        <a:buChar char="–"/>
                        <a:defRPr sz="2400" b="0" kern="1200">
                          <a:solidFill>
                            <a:schemeClr val="tx1"/>
                          </a:solidFill>
                          <a:latin typeface="+mn-lt"/>
                          <a:ea typeface="+mn-ea"/>
                        </a:defRPr>
                      </a:lvl2pPr>
                      <a:lvl3pPr marL="1143000" lvl="2" indent="-228600" algn="l" rtl="0" fontAlgn="base">
                        <a:spcBef>
                          <a:spcPct val="20000"/>
                        </a:spcBef>
                        <a:spcAft>
                          <a:spcPct val="0"/>
                        </a:spcAft>
                        <a:buChar char="•"/>
                        <a:defRPr sz="2000" b="0" kern="1200">
                          <a:solidFill>
                            <a:schemeClr val="tx1"/>
                          </a:solidFill>
                          <a:latin typeface="+mn-lt"/>
                          <a:ea typeface="+mn-ea"/>
                        </a:defRPr>
                      </a:lvl3pPr>
                      <a:lvl4pPr marL="1600200" lvl="3" indent="-228600" algn="l" rtl="0" fontAlgn="base">
                        <a:spcBef>
                          <a:spcPct val="20000"/>
                        </a:spcBef>
                        <a:spcAft>
                          <a:spcPct val="0"/>
                        </a:spcAft>
                        <a:buChar char="–"/>
                        <a:defRPr sz="1800" b="0" kern="1200">
                          <a:solidFill>
                            <a:schemeClr val="tx1"/>
                          </a:solidFill>
                          <a:latin typeface="+mn-lt"/>
                          <a:ea typeface="+mn-ea"/>
                        </a:defRPr>
                      </a:lvl4pPr>
                      <a:lvl5pPr marL="2057400" lvl="4" indent="-228600" algn="l" rtl="0" fontAlgn="base">
                        <a:spcBef>
                          <a:spcPct val="20000"/>
                        </a:spcBef>
                        <a:spcAft>
                          <a:spcPct val="0"/>
                        </a:spcAft>
                        <a:buChar char="»"/>
                        <a:defRPr sz="1800" b="0" kern="1200">
                          <a:solidFill>
                            <a:schemeClr val="tx1"/>
                          </a:solidFill>
                          <a:latin typeface="+mn-lt"/>
                          <a:ea typeface="+mn-ea"/>
                        </a:defRPr>
                      </a:lvl5pPr>
                    </a:lstStyle>
                    <a:p>
                      <a:pPr marL="0" lvl="0" indent="0" algn="ctr" eaLnBrk="1" hangingPunct="1">
                        <a:buNone/>
                      </a:pPr>
                      <a:endParaRPr lang="zh-CN" altLang="zh-CN" sz="2000" dirty="0">
                        <a:solidFill>
                          <a:schemeClr val="tx2"/>
                        </a:solidFill>
                      </a:endParaRPr>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1" name="Object 157">
            <a:extLst>
              <a:ext uri="{FF2B5EF4-FFF2-40B4-BE49-F238E27FC236}">
                <a16:creationId xmlns:a16="http://schemas.microsoft.com/office/drawing/2014/main" id="{72C7F977-4CBA-4530-99CF-0B2FF7CD6AF4}"/>
              </a:ext>
            </a:extLst>
          </p:cNvPr>
          <p:cNvGraphicFramePr>
            <a:graphicFrameLocks noChangeAspect="1"/>
          </p:cNvGraphicFramePr>
          <p:nvPr>
            <p:extLst>
              <p:ext uri="{D42A27DB-BD31-4B8C-83A1-F6EECF244321}">
                <p14:modId xmlns:p14="http://schemas.microsoft.com/office/powerpoint/2010/main" val="2320309178"/>
              </p:ext>
            </p:extLst>
          </p:nvPr>
        </p:nvGraphicFramePr>
        <p:xfrm>
          <a:off x="2600882" y="3757812"/>
          <a:ext cx="1295400" cy="546100"/>
        </p:xfrm>
        <a:graphic>
          <a:graphicData uri="http://schemas.openxmlformats.org/presentationml/2006/ole">
            <mc:AlternateContent xmlns:mc="http://schemas.openxmlformats.org/markup-compatibility/2006">
              <mc:Choice xmlns:v="urn:schemas-microsoft-com:vml" Requires="v">
                <p:oleObj r:id="rId2" imgW="571500" imgH="241300" progId="">
                  <p:embed/>
                </p:oleObj>
              </mc:Choice>
              <mc:Fallback>
                <p:oleObj r:id="rId2" imgW="571500" imgH="241300" progId="">
                  <p:embed/>
                  <p:pic>
                    <p:nvPicPr>
                      <p:cNvPr id="11" name="Object 157">
                        <a:extLst>
                          <a:ext uri="{FF2B5EF4-FFF2-40B4-BE49-F238E27FC236}">
                            <a16:creationId xmlns:a16="http://schemas.microsoft.com/office/drawing/2014/main" id="{72C7F977-4CBA-4530-99CF-0B2FF7CD6A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0882" y="3757812"/>
                        <a:ext cx="1295400"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 name="Object 158">
            <a:extLst>
              <a:ext uri="{FF2B5EF4-FFF2-40B4-BE49-F238E27FC236}">
                <a16:creationId xmlns:a16="http://schemas.microsoft.com/office/drawing/2014/main" id="{C7D54F69-0E29-4D23-8A77-11B5BC03D752}"/>
              </a:ext>
            </a:extLst>
          </p:cNvPr>
          <p:cNvGraphicFramePr>
            <a:graphicFrameLocks noChangeAspect="1"/>
          </p:cNvGraphicFramePr>
          <p:nvPr>
            <p:extLst>
              <p:ext uri="{D42A27DB-BD31-4B8C-83A1-F6EECF244321}">
                <p14:modId xmlns:p14="http://schemas.microsoft.com/office/powerpoint/2010/main" val="1473780420"/>
              </p:ext>
            </p:extLst>
          </p:nvPr>
        </p:nvGraphicFramePr>
        <p:xfrm>
          <a:off x="2656445" y="4569024"/>
          <a:ext cx="1181100" cy="446088"/>
        </p:xfrm>
        <a:graphic>
          <a:graphicData uri="http://schemas.openxmlformats.org/presentationml/2006/ole">
            <mc:AlternateContent xmlns:mc="http://schemas.openxmlformats.org/markup-compatibility/2006">
              <mc:Choice xmlns:v="urn:schemas-microsoft-com:vml" Requires="v">
                <p:oleObj r:id="rId4" imgW="672516" imgH="215713" progId="">
                  <p:embed/>
                </p:oleObj>
              </mc:Choice>
              <mc:Fallback>
                <p:oleObj r:id="rId4" imgW="672516" imgH="215713" progId="">
                  <p:embed/>
                  <p:pic>
                    <p:nvPicPr>
                      <p:cNvPr id="12" name="Object 158">
                        <a:extLst>
                          <a:ext uri="{FF2B5EF4-FFF2-40B4-BE49-F238E27FC236}">
                            <a16:creationId xmlns:a16="http://schemas.microsoft.com/office/drawing/2014/main" id="{C7D54F69-0E29-4D23-8A77-11B5BC03D7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56445" y="4569024"/>
                        <a:ext cx="11811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 name="Object 159">
            <a:extLst>
              <a:ext uri="{FF2B5EF4-FFF2-40B4-BE49-F238E27FC236}">
                <a16:creationId xmlns:a16="http://schemas.microsoft.com/office/drawing/2014/main" id="{AFD73D50-7C4D-41C8-B61E-B5BE95CC49B8}"/>
              </a:ext>
            </a:extLst>
          </p:cNvPr>
          <p:cNvGraphicFramePr>
            <a:graphicFrameLocks noChangeAspect="1"/>
          </p:cNvGraphicFramePr>
          <p:nvPr>
            <p:extLst>
              <p:ext uri="{D42A27DB-BD31-4B8C-83A1-F6EECF244321}">
                <p14:modId xmlns:p14="http://schemas.microsoft.com/office/powerpoint/2010/main" val="3688493735"/>
              </p:ext>
            </p:extLst>
          </p:nvPr>
        </p:nvGraphicFramePr>
        <p:xfrm>
          <a:off x="2713595" y="5164337"/>
          <a:ext cx="1066800" cy="733425"/>
        </p:xfrm>
        <a:graphic>
          <a:graphicData uri="http://schemas.openxmlformats.org/presentationml/2006/ole">
            <mc:AlternateContent xmlns:mc="http://schemas.openxmlformats.org/markup-compatibility/2006">
              <mc:Choice xmlns:v="urn:schemas-microsoft-com:vml" Requires="v">
                <p:oleObj r:id="rId6" imgW="609865" imgH="419282" progId="">
                  <p:embed/>
                </p:oleObj>
              </mc:Choice>
              <mc:Fallback>
                <p:oleObj r:id="rId6" imgW="609865" imgH="419282" progId="">
                  <p:embed/>
                  <p:pic>
                    <p:nvPicPr>
                      <p:cNvPr id="13" name="Object 159">
                        <a:extLst>
                          <a:ext uri="{FF2B5EF4-FFF2-40B4-BE49-F238E27FC236}">
                            <a16:creationId xmlns:a16="http://schemas.microsoft.com/office/drawing/2014/main" id="{AFD73D50-7C4D-41C8-B61E-B5BE95CC49B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13595" y="5164337"/>
                        <a:ext cx="10668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 name="Object 160">
            <a:extLst>
              <a:ext uri="{FF2B5EF4-FFF2-40B4-BE49-F238E27FC236}">
                <a16:creationId xmlns:a16="http://schemas.microsoft.com/office/drawing/2014/main" id="{38CD4BD6-1E18-4FFF-A9AE-5780A46A3C00}"/>
              </a:ext>
            </a:extLst>
          </p:cNvPr>
          <p:cNvGraphicFramePr>
            <a:graphicFrameLocks noChangeAspect="1"/>
          </p:cNvGraphicFramePr>
          <p:nvPr>
            <p:extLst>
              <p:ext uri="{D42A27DB-BD31-4B8C-83A1-F6EECF244321}">
                <p14:modId xmlns:p14="http://schemas.microsoft.com/office/powerpoint/2010/main" val="3227507766"/>
              </p:ext>
            </p:extLst>
          </p:nvPr>
        </p:nvGraphicFramePr>
        <p:xfrm>
          <a:off x="2659620" y="5931099"/>
          <a:ext cx="1177925" cy="706438"/>
        </p:xfrm>
        <a:graphic>
          <a:graphicData uri="http://schemas.openxmlformats.org/presentationml/2006/ole">
            <mc:AlternateContent xmlns:mc="http://schemas.openxmlformats.org/markup-compatibility/2006">
              <mc:Choice xmlns:v="urn:schemas-microsoft-com:vml" Requires="v">
                <p:oleObj r:id="rId8" imgW="698803" imgH="419282" progId="">
                  <p:embed/>
                </p:oleObj>
              </mc:Choice>
              <mc:Fallback>
                <p:oleObj r:id="rId8" imgW="698803" imgH="419282" progId="">
                  <p:embed/>
                  <p:pic>
                    <p:nvPicPr>
                      <p:cNvPr id="14" name="Object 160">
                        <a:extLst>
                          <a:ext uri="{FF2B5EF4-FFF2-40B4-BE49-F238E27FC236}">
                            <a16:creationId xmlns:a16="http://schemas.microsoft.com/office/drawing/2014/main" id="{38CD4BD6-1E18-4FFF-A9AE-5780A46A3C0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59620" y="5931099"/>
                        <a:ext cx="117792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 name="Object 161">
            <a:extLst>
              <a:ext uri="{FF2B5EF4-FFF2-40B4-BE49-F238E27FC236}">
                <a16:creationId xmlns:a16="http://schemas.microsoft.com/office/drawing/2014/main" id="{5766C879-4A42-483C-839C-6FFA12C7870A}"/>
              </a:ext>
            </a:extLst>
          </p:cNvPr>
          <p:cNvGraphicFramePr>
            <a:graphicFrameLocks noChangeAspect="1"/>
          </p:cNvGraphicFramePr>
          <p:nvPr>
            <p:extLst>
              <p:ext uri="{D42A27DB-BD31-4B8C-83A1-F6EECF244321}">
                <p14:modId xmlns:p14="http://schemas.microsoft.com/office/powerpoint/2010/main" val="2134362427"/>
              </p:ext>
            </p:extLst>
          </p:nvPr>
        </p:nvGraphicFramePr>
        <p:xfrm>
          <a:off x="4639669" y="3116110"/>
          <a:ext cx="1455737" cy="476250"/>
        </p:xfrm>
        <a:graphic>
          <a:graphicData uri="http://schemas.openxmlformats.org/presentationml/2006/ole">
            <mc:AlternateContent xmlns:mc="http://schemas.openxmlformats.org/markup-compatibility/2006">
              <mc:Choice xmlns:v="urn:schemas-microsoft-com:vml" Requires="v">
                <p:oleObj name="Equation" r:id="rId10" imgW="660240" imgH="215640" progId="">
                  <p:embed/>
                </p:oleObj>
              </mc:Choice>
              <mc:Fallback>
                <p:oleObj name="Equation" r:id="rId10" imgW="660240" imgH="215640" progId="">
                  <p:embed/>
                  <p:pic>
                    <p:nvPicPr>
                      <p:cNvPr id="15" name="Object 161">
                        <a:extLst>
                          <a:ext uri="{FF2B5EF4-FFF2-40B4-BE49-F238E27FC236}">
                            <a16:creationId xmlns:a16="http://schemas.microsoft.com/office/drawing/2014/main" id="{5766C879-4A42-483C-839C-6FFA12C7870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39669" y="3116110"/>
                        <a:ext cx="145573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 name="Object 162">
            <a:extLst>
              <a:ext uri="{FF2B5EF4-FFF2-40B4-BE49-F238E27FC236}">
                <a16:creationId xmlns:a16="http://schemas.microsoft.com/office/drawing/2014/main" id="{30FF3FCC-DA7A-4BD3-A5FA-092782D9E53F}"/>
              </a:ext>
            </a:extLst>
          </p:cNvPr>
          <p:cNvGraphicFramePr>
            <a:graphicFrameLocks noChangeAspect="1"/>
          </p:cNvGraphicFramePr>
          <p:nvPr>
            <p:extLst>
              <p:ext uri="{D42A27DB-BD31-4B8C-83A1-F6EECF244321}">
                <p14:modId xmlns:p14="http://schemas.microsoft.com/office/powerpoint/2010/main" val="1654116614"/>
              </p:ext>
            </p:extLst>
          </p:nvPr>
        </p:nvGraphicFramePr>
        <p:xfrm>
          <a:off x="4428095" y="3730824"/>
          <a:ext cx="2057400" cy="681038"/>
        </p:xfrm>
        <a:graphic>
          <a:graphicData uri="http://schemas.openxmlformats.org/presentationml/2006/ole">
            <mc:AlternateContent xmlns:mc="http://schemas.openxmlformats.org/markup-compatibility/2006">
              <mc:Choice xmlns:v="urn:schemas-microsoft-com:vml" Requires="v">
                <p:oleObj r:id="rId12" imgW="1041400" imgH="393700" progId="">
                  <p:embed/>
                </p:oleObj>
              </mc:Choice>
              <mc:Fallback>
                <p:oleObj r:id="rId12" imgW="1041400" imgH="393700" progId="">
                  <p:embed/>
                  <p:pic>
                    <p:nvPicPr>
                      <p:cNvPr id="16" name="Object 162">
                        <a:extLst>
                          <a:ext uri="{FF2B5EF4-FFF2-40B4-BE49-F238E27FC236}">
                            <a16:creationId xmlns:a16="http://schemas.microsoft.com/office/drawing/2014/main" id="{30FF3FCC-DA7A-4BD3-A5FA-092782D9E53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28095" y="3730824"/>
                        <a:ext cx="2057400" cy="6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 name="Object 163">
            <a:extLst>
              <a:ext uri="{FF2B5EF4-FFF2-40B4-BE49-F238E27FC236}">
                <a16:creationId xmlns:a16="http://schemas.microsoft.com/office/drawing/2014/main" id="{99CF792E-DE35-4483-8F50-F902659B4A8D}"/>
              </a:ext>
            </a:extLst>
          </p:cNvPr>
          <p:cNvGraphicFramePr>
            <a:graphicFrameLocks noChangeAspect="1"/>
          </p:cNvGraphicFramePr>
          <p:nvPr>
            <p:extLst>
              <p:ext uri="{D42A27DB-BD31-4B8C-83A1-F6EECF244321}">
                <p14:modId xmlns:p14="http://schemas.microsoft.com/office/powerpoint/2010/main" val="1831990183"/>
              </p:ext>
            </p:extLst>
          </p:nvPr>
        </p:nvGraphicFramePr>
        <p:xfrm>
          <a:off x="5359957" y="4611887"/>
          <a:ext cx="193675" cy="360362"/>
        </p:xfrm>
        <a:graphic>
          <a:graphicData uri="http://schemas.openxmlformats.org/presentationml/2006/ole">
            <mc:AlternateContent xmlns:mc="http://schemas.openxmlformats.org/markup-compatibility/2006">
              <mc:Choice xmlns:v="urn:schemas-microsoft-com:vml" Requires="v">
                <p:oleObj r:id="rId14" imgW="88707" imgH="164742" progId="">
                  <p:embed/>
                </p:oleObj>
              </mc:Choice>
              <mc:Fallback>
                <p:oleObj r:id="rId14" imgW="88707" imgH="164742" progId="">
                  <p:embed/>
                  <p:pic>
                    <p:nvPicPr>
                      <p:cNvPr id="17" name="Object 163">
                        <a:extLst>
                          <a:ext uri="{FF2B5EF4-FFF2-40B4-BE49-F238E27FC236}">
                            <a16:creationId xmlns:a16="http://schemas.microsoft.com/office/drawing/2014/main" id="{99CF792E-DE35-4483-8F50-F902659B4A8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59957" y="4611887"/>
                        <a:ext cx="19367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 name="Object 164">
            <a:extLst>
              <a:ext uri="{FF2B5EF4-FFF2-40B4-BE49-F238E27FC236}">
                <a16:creationId xmlns:a16="http://schemas.microsoft.com/office/drawing/2014/main" id="{2B5DABA2-C98A-41D6-9F79-C563B523199C}"/>
              </a:ext>
            </a:extLst>
          </p:cNvPr>
          <p:cNvGraphicFramePr>
            <a:graphicFrameLocks noChangeAspect="1"/>
          </p:cNvGraphicFramePr>
          <p:nvPr>
            <p:extLst>
              <p:ext uri="{D42A27DB-BD31-4B8C-83A1-F6EECF244321}">
                <p14:modId xmlns:p14="http://schemas.microsoft.com/office/powerpoint/2010/main" val="2453879334"/>
              </p:ext>
            </p:extLst>
          </p:nvPr>
        </p:nvGraphicFramePr>
        <p:xfrm>
          <a:off x="4413807" y="5243712"/>
          <a:ext cx="1905000" cy="687387"/>
        </p:xfrm>
        <a:graphic>
          <a:graphicData uri="http://schemas.openxmlformats.org/presentationml/2006/ole">
            <mc:AlternateContent xmlns:mc="http://schemas.openxmlformats.org/markup-compatibility/2006">
              <mc:Choice xmlns:v="urn:schemas-microsoft-com:vml" Requires="v">
                <p:oleObj r:id="rId16" imgW="1092200" imgH="393700" progId="">
                  <p:embed/>
                </p:oleObj>
              </mc:Choice>
              <mc:Fallback>
                <p:oleObj r:id="rId16" imgW="1092200" imgH="393700" progId="">
                  <p:embed/>
                  <p:pic>
                    <p:nvPicPr>
                      <p:cNvPr id="18" name="Object 164">
                        <a:extLst>
                          <a:ext uri="{FF2B5EF4-FFF2-40B4-BE49-F238E27FC236}">
                            <a16:creationId xmlns:a16="http://schemas.microsoft.com/office/drawing/2014/main" id="{2B5DABA2-C98A-41D6-9F79-C563B523199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413807" y="5243712"/>
                        <a:ext cx="1905000"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 name="Object 165">
            <a:extLst>
              <a:ext uri="{FF2B5EF4-FFF2-40B4-BE49-F238E27FC236}">
                <a16:creationId xmlns:a16="http://schemas.microsoft.com/office/drawing/2014/main" id="{EBEBB98D-897A-4328-B1BF-1311D541C9B7}"/>
              </a:ext>
            </a:extLst>
          </p:cNvPr>
          <p:cNvGraphicFramePr>
            <a:graphicFrameLocks noChangeAspect="1"/>
          </p:cNvGraphicFramePr>
          <p:nvPr>
            <p:extLst>
              <p:ext uri="{D42A27DB-BD31-4B8C-83A1-F6EECF244321}">
                <p14:modId xmlns:p14="http://schemas.microsoft.com/office/powerpoint/2010/main" val="378611613"/>
              </p:ext>
            </p:extLst>
          </p:nvPr>
        </p:nvGraphicFramePr>
        <p:xfrm>
          <a:off x="4413807" y="5897762"/>
          <a:ext cx="1905000" cy="746125"/>
        </p:xfrm>
        <a:graphic>
          <a:graphicData uri="http://schemas.openxmlformats.org/presentationml/2006/ole">
            <mc:AlternateContent xmlns:mc="http://schemas.openxmlformats.org/markup-compatibility/2006">
              <mc:Choice xmlns:v="urn:schemas-microsoft-com:vml" Requires="v">
                <p:oleObj r:id="rId18" imgW="1003300" imgH="393700" progId="">
                  <p:embed/>
                </p:oleObj>
              </mc:Choice>
              <mc:Fallback>
                <p:oleObj r:id="rId18" imgW="1003300" imgH="393700" progId="">
                  <p:embed/>
                  <p:pic>
                    <p:nvPicPr>
                      <p:cNvPr id="19" name="Object 165">
                        <a:extLst>
                          <a:ext uri="{FF2B5EF4-FFF2-40B4-BE49-F238E27FC236}">
                            <a16:creationId xmlns:a16="http://schemas.microsoft.com/office/drawing/2014/main" id="{EBEBB98D-897A-4328-B1BF-1311D541C9B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413807" y="5897762"/>
                        <a:ext cx="1905000"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 name="椭圆 19">
            <a:extLst>
              <a:ext uri="{FF2B5EF4-FFF2-40B4-BE49-F238E27FC236}">
                <a16:creationId xmlns:a16="http://schemas.microsoft.com/office/drawing/2014/main" id="{8D2B609E-65E0-4D6E-A626-C64BC76E99F9}"/>
              </a:ext>
            </a:extLst>
          </p:cNvPr>
          <p:cNvSpPr>
            <a:spLocks noChangeArrowheads="1"/>
          </p:cNvSpPr>
          <p:nvPr/>
        </p:nvSpPr>
        <p:spPr bwMode="auto">
          <a:xfrm>
            <a:off x="5204382" y="4516637"/>
            <a:ext cx="504825" cy="647700"/>
          </a:xfrm>
          <a:prstGeom prst="ellipse">
            <a:avLst/>
          </a:prstGeom>
          <a:noFill/>
          <a:ln w="38100">
            <a:solidFill>
              <a:srgbClr val="FF0000"/>
            </a:solidFill>
            <a:round/>
            <a:headEnd/>
            <a:tailEnd/>
          </a:ln>
        </p:spPr>
        <p:txBody>
          <a:bodyPr/>
          <a:lstStyle/>
          <a:p>
            <a:endParaRPr lang="zh-CN" altLang="en-US">
              <a:latin typeface="Calibri" pitchFamily="34" charset="0"/>
            </a:endParaRPr>
          </a:p>
        </p:txBody>
      </p:sp>
      <p:graphicFrame>
        <p:nvGraphicFramePr>
          <p:cNvPr id="21" name="Object 166">
            <a:extLst>
              <a:ext uri="{FF2B5EF4-FFF2-40B4-BE49-F238E27FC236}">
                <a16:creationId xmlns:a16="http://schemas.microsoft.com/office/drawing/2014/main" id="{BA5330F9-D6BB-478E-984E-7A08E6D18AF5}"/>
              </a:ext>
            </a:extLst>
          </p:cNvPr>
          <p:cNvGraphicFramePr>
            <a:graphicFrameLocks noChangeAspect="1"/>
          </p:cNvGraphicFramePr>
          <p:nvPr>
            <p:extLst>
              <p:ext uri="{D42A27DB-BD31-4B8C-83A1-F6EECF244321}">
                <p14:modId xmlns:p14="http://schemas.microsoft.com/office/powerpoint/2010/main" val="609225141"/>
              </p:ext>
            </p:extLst>
          </p:nvPr>
        </p:nvGraphicFramePr>
        <p:xfrm>
          <a:off x="7246344" y="3138335"/>
          <a:ext cx="1654175" cy="454025"/>
        </p:xfrm>
        <a:graphic>
          <a:graphicData uri="http://schemas.openxmlformats.org/presentationml/2006/ole">
            <mc:AlternateContent xmlns:mc="http://schemas.openxmlformats.org/markup-compatibility/2006">
              <mc:Choice xmlns:v="urn:schemas-microsoft-com:vml" Requires="v">
                <p:oleObj name="Equation" r:id="rId20" imgW="787320" imgH="215640" progId="">
                  <p:embed/>
                </p:oleObj>
              </mc:Choice>
              <mc:Fallback>
                <p:oleObj name="Equation" r:id="rId20" imgW="787320" imgH="215640" progId="">
                  <p:embed/>
                  <p:pic>
                    <p:nvPicPr>
                      <p:cNvPr id="21" name="Object 166">
                        <a:extLst>
                          <a:ext uri="{FF2B5EF4-FFF2-40B4-BE49-F238E27FC236}">
                            <a16:creationId xmlns:a16="http://schemas.microsoft.com/office/drawing/2014/main" id="{BA5330F9-D6BB-478E-984E-7A08E6D18AF5}"/>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246344" y="3138335"/>
                        <a:ext cx="16541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 name="Object 167">
            <a:extLst>
              <a:ext uri="{FF2B5EF4-FFF2-40B4-BE49-F238E27FC236}">
                <a16:creationId xmlns:a16="http://schemas.microsoft.com/office/drawing/2014/main" id="{E2434382-DC19-4387-B897-9461E6F41068}"/>
              </a:ext>
            </a:extLst>
          </p:cNvPr>
          <p:cNvGraphicFramePr>
            <a:graphicFrameLocks noChangeAspect="1"/>
          </p:cNvGraphicFramePr>
          <p:nvPr>
            <p:extLst>
              <p:ext uri="{D42A27DB-BD31-4B8C-83A1-F6EECF244321}">
                <p14:modId xmlns:p14="http://schemas.microsoft.com/office/powerpoint/2010/main" val="240447839"/>
              </p:ext>
            </p:extLst>
          </p:nvPr>
        </p:nvGraphicFramePr>
        <p:xfrm>
          <a:off x="7272895" y="3638749"/>
          <a:ext cx="1857375" cy="671513"/>
        </p:xfrm>
        <a:graphic>
          <a:graphicData uri="http://schemas.openxmlformats.org/presentationml/2006/ole">
            <mc:AlternateContent xmlns:mc="http://schemas.openxmlformats.org/markup-compatibility/2006">
              <mc:Choice xmlns:v="urn:schemas-microsoft-com:vml" Requires="v">
                <p:oleObj r:id="rId22" imgW="1092200" imgH="393700" progId="">
                  <p:embed/>
                </p:oleObj>
              </mc:Choice>
              <mc:Fallback>
                <p:oleObj r:id="rId22" imgW="1092200" imgH="393700" progId="">
                  <p:embed/>
                  <p:pic>
                    <p:nvPicPr>
                      <p:cNvPr id="22" name="Object 167">
                        <a:extLst>
                          <a:ext uri="{FF2B5EF4-FFF2-40B4-BE49-F238E27FC236}">
                            <a16:creationId xmlns:a16="http://schemas.microsoft.com/office/drawing/2014/main" id="{E2434382-DC19-4387-B897-9461E6F41068}"/>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272895" y="3638749"/>
                        <a:ext cx="1857375"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 name="Object 168">
            <a:extLst>
              <a:ext uri="{FF2B5EF4-FFF2-40B4-BE49-F238E27FC236}">
                <a16:creationId xmlns:a16="http://schemas.microsoft.com/office/drawing/2014/main" id="{4B6A4B1D-088D-46B5-82DD-1D45538A7EDB}"/>
              </a:ext>
            </a:extLst>
          </p:cNvPr>
          <p:cNvGraphicFramePr>
            <a:graphicFrameLocks noChangeAspect="1"/>
          </p:cNvGraphicFramePr>
          <p:nvPr>
            <p:extLst>
              <p:ext uri="{D42A27DB-BD31-4B8C-83A1-F6EECF244321}">
                <p14:modId xmlns:p14="http://schemas.microsoft.com/office/powerpoint/2010/main" val="675633206"/>
              </p:ext>
            </p:extLst>
          </p:nvPr>
        </p:nvGraphicFramePr>
        <p:xfrm>
          <a:off x="7225270" y="4411862"/>
          <a:ext cx="1905000" cy="701675"/>
        </p:xfrm>
        <a:graphic>
          <a:graphicData uri="http://schemas.openxmlformats.org/presentationml/2006/ole">
            <mc:AlternateContent xmlns:mc="http://schemas.openxmlformats.org/markup-compatibility/2006">
              <mc:Choice xmlns:v="urn:schemas-microsoft-com:vml" Requires="v">
                <p:oleObj r:id="rId24" imgW="1066800" imgH="393700" progId="">
                  <p:embed/>
                </p:oleObj>
              </mc:Choice>
              <mc:Fallback>
                <p:oleObj r:id="rId24" imgW="1066800" imgH="393700" progId="">
                  <p:embed/>
                  <p:pic>
                    <p:nvPicPr>
                      <p:cNvPr id="23" name="Object 168">
                        <a:extLst>
                          <a:ext uri="{FF2B5EF4-FFF2-40B4-BE49-F238E27FC236}">
                            <a16:creationId xmlns:a16="http://schemas.microsoft.com/office/drawing/2014/main" id="{4B6A4B1D-088D-46B5-82DD-1D45538A7EDB}"/>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225270" y="4411862"/>
                        <a:ext cx="1905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4" name="Object 169">
            <a:extLst>
              <a:ext uri="{FF2B5EF4-FFF2-40B4-BE49-F238E27FC236}">
                <a16:creationId xmlns:a16="http://schemas.microsoft.com/office/drawing/2014/main" id="{F948F295-FD4E-498C-8F1C-D0A8960B7F3E}"/>
              </a:ext>
            </a:extLst>
          </p:cNvPr>
          <p:cNvGraphicFramePr>
            <a:graphicFrameLocks noChangeAspect="1"/>
          </p:cNvGraphicFramePr>
          <p:nvPr>
            <p:extLst>
              <p:ext uri="{D42A27DB-BD31-4B8C-83A1-F6EECF244321}">
                <p14:modId xmlns:p14="http://schemas.microsoft.com/office/powerpoint/2010/main" val="4199627702"/>
              </p:ext>
            </p:extLst>
          </p:nvPr>
        </p:nvGraphicFramePr>
        <p:xfrm>
          <a:off x="7272895" y="5164337"/>
          <a:ext cx="1905000" cy="671512"/>
        </p:xfrm>
        <a:graphic>
          <a:graphicData uri="http://schemas.openxmlformats.org/presentationml/2006/ole">
            <mc:AlternateContent xmlns:mc="http://schemas.openxmlformats.org/markup-compatibility/2006">
              <mc:Choice xmlns:v="urn:schemas-microsoft-com:vml" Requires="v">
                <p:oleObj r:id="rId26" imgW="1117600" imgH="393700" progId="">
                  <p:embed/>
                </p:oleObj>
              </mc:Choice>
              <mc:Fallback>
                <p:oleObj r:id="rId26" imgW="1117600" imgH="393700" progId="">
                  <p:embed/>
                  <p:pic>
                    <p:nvPicPr>
                      <p:cNvPr id="24" name="Object 169">
                        <a:extLst>
                          <a:ext uri="{FF2B5EF4-FFF2-40B4-BE49-F238E27FC236}">
                            <a16:creationId xmlns:a16="http://schemas.microsoft.com/office/drawing/2014/main" id="{F948F295-FD4E-498C-8F1C-D0A8960B7F3E}"/>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272895" y="5164337"/>
                        <a:ext cx="1905000"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5" name="Object 170">
            <a:extLst>
              <a:ext uri="{FF2B5EF4-FFF2-40B4-BE49-F238E27FC236}">
                <a16:creationId xmlns:a16="http://schemas.microsoft.com/office/drawing/2014/main" id="{E1C15033-22F0-4160-8DB6-650F75C258DC}"/>
              </a:ext>
            </a:extLst>
          </p:cNvPr>
          <p:cNvGraphicFramePr>
            <a:graphicFrameLocks noChangeAspect="1"/>
          </p:cNvGraphicFramePr>
          <p:nvPr>
            <p:extLst>
              <p:ext uri="{D42A27DB-BD31-4B8C-83A1-F6EECF244321}">
                <p14:modId xmlns:p14="http://schemas.microsoft.com/office/powerpoint/2010/main" val="3034070679"/>
              </p:ext>
            </p:extLst>
          </p:nvPr>
        </p:nvGraphicFramePr>
        <p:xfrm>
          <a:off x="7225270" y="5931099"/>
          <a:ext cx="1981200" cy="714375"/>
        </p:xfrm>
        <a:graphic>
          <a:graphicData uri="http://schemas.openxmlformats.org/presentationml/2006/ole">
            <mc:AlternateContent xmlns:mc="http://schemas.openxmlformats.org/markup-compatibility/2006">
              <mc:Choice xmlns:v="urn:schemas-microsoft-com:vml" Requires="v">
                <p:oleObj r:id="rId28" imgW="1092200" imgH="393700" progId="">
                  <p:embed/>
                </p:oleObj>
              </mc:Choice>
              <mc:Fallback>
                <p:oleObj r:id="rId28" imgW="1092200" imgH="393700" progId="">
                  <p:embed/>
                  <p:pic>
                    <p:nvPicPr>
                      <p:cNvPr id="25" name="Object 170">
                        <a:extLst>
                          <a:ext uri="{FF2B5EF4-FFF2-40B4-BE49-F238E27FC236}">
                            <a16:creationId xmlns:a16="http://schemas.microsoft.com/office/drawing/2014/main" id="{E1C15033-22F0-4160-8DB6-650F75C258DC}"/>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225270" y="5931099"/>
                        <a:ext cx="198120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 name="椭圆 25">
            <a:extLst>
              <a:ext uri="{FF2B5EF4-FFF2-40B4-BE49-F238E27FC236}">
                <a16:creationId xmlns:a16="http://schemas.microsoft.com/office/drawing/2014/main" id="{48AFE7F9-F9D3-49F4-9C60-749A8F1C08A1}"/>
              </a:ext>
            </a:extLst>
          </p:cNvPr>
          <p:cNvSpPr>
            <a:spLocks noChangeArrowheads="1"/>
          </p:cNvSpPr>
          <p:nvPr/>
        </p:nvSpPr>
        <p:spPr bwMode="auto">
          <a:xfrm>
            <a:off x="7014132" y="4488062"/>
            <a:ext cx="2376488" cy="647700"/>
          </a:xfrm>
          <a:prstGeom prst="ellipse">
            <a:avLst/>
          </a:prstGeom>
          <a:noFill/>
          <a:ln w="38100">
            <a:solidFill>
              <a:srgbClr val="FF0000"/>
            </a:solidFill>
            <a:round/>
            <a:headEnd/>
            <a:tailEnd/>
          </a:ln>
        </p:spPr>
        <p:txBody>
          <a:bodyPr/>
          <a:lstStyle/>
          <a:p>
            <a:endParaRPr lang="zh-CN" altLang="en-US">
              <a:latin typeface="Calibri" pitchFamily="34" charset="0"/>
            </a:endParaRPr>
          </a:p>
        </p:txBody>
      </p:sp>
      <p:sp>
        <p:nvSpPr>
          <p:cNvPr id="27" name="标题 1">
            <a:extLst>
              <a:ext uri="{FF2B5EF4-FFF2-40B4-BE49-F238E27FC236}">
                <a16:creationId xmlns:a16="http://schemas.microsoft.com/office/drawing/2014/main" id="{FA8E1A37-A769-418F-A54A-568BEE935842}"/>
              </a:ext>
            </a:extLst>
          </p:cNvPr>
          <p:cNvSpPr>
            <a:spLocks noGrp="1"/>
          </p:cNvSpPr>
          <p:nvPr>
            <p:ph type="title"/>
          </p:nvPr>
        </p:nvSpPr>
        <p:spPr>
          <a:xfrm>
            <a:off x="2327231" y="869688"/>
            <a:ext cx="7297948" cy="660528"/>
          </a:xfrm>
        </p:spPr>
        <p:txBody>
          <a:bodyPr>
            <a:normAutofit/>
          </a:bodyPr>
          <a:lstStyle/>
          <a:p>
            <a:r>
              <a:rPr lang="zh-CN" altLang="en-US" sz="3200" b="1" dirty="0">
                <a:solidFill>
                  <a:srgbClr val="000000"/>
                </a:solidFill>
                <a:latin typeface="微软雅黑" charset="-122"/>
                <a:ea typeface="宋体" panose="02010600030101010101" pitchFamily="2" charset="-122"/>
              </a:rPr>
              <a:t>科学计算是解决科学工程问题的关键</a:t>
            </a:r>
          </a:p>
        </p:txBody>
      </p:sp>
    </p:spTree>
    <p:extLst>
      <p:ext uri="{BB962C8B-B14F-4D97-AF65-F5344CB8AC3E}">
        <p14:creationId xmlns:p14="http://schemas.microsoft.com/office/powerpoint/2010/main" val="4147745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0-#ppt_w/2"/>
                                          </p:val>
                                        </p:tav>
                                        <p:tav tm="100000">
                                          <p:val>
                                            <p:strVal val="#ppt_x"/>
                                          </p:val>
                                        </p:tav>
                                      </p:tavLst>
                                    </p:anim>
                                    <p:anim calcmode="lin" valueType="num">
                                      <p:cBhvr additive="base">
                                        <p:cTn id="14" dur="500" fill="hold"/>
                                        <p:tgtEl>
                                          <p:spTgt spid="16"/>
                                        </p:tgtEl>
                                        <p:attrNameLst>
                                          <p:attrName>ppt_y</p:attrName>
                                        </p:attrNameLst>
                                      </p:cBhvr>
                                      <p:tavLst>
                                        <p:tav tm="0">
                                          <p:val>
                                            <p:strVal val="#ppt_y"/>
                                          </p:val>
                                        </p:tav>
                                        <p:tav tm="100000">
                                          <p:val>
                                            <p:strVal val="#ppt_y"/>
                                          </p:val>
                                        </p:tav>
                                      </p:tavLst>
                                    </p:anim>
                                  </p:childTnLst>
                                </p:cTn>
                              </p:par>
                              <p:par>
                                <p:cTn id="15" presetID="2" presetClass="entr" presetSubtype="8"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0-#ppt_w/2"/>
                                          </p:val>
                                        </p:tav>
                                        <p:tav tm="100000">
                                          <p:val>
                                            <p:strVal val="#ppt_x"/>
                                          </p:val>
                                        </p:tav>
                                      </p:tavLst>
                                    </p:anim>
                                    <p:anim calcmode="lin" valueType="num">
                                      <p:cBhvr additive="base">
                                        <p:cTn id="18" dur="500" fill="hold"/>
                                        <p:tgtEl>
                                          <p:spTgt spid="17"/>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fill="hold"/>
                                        <p:tgtEl>
                                          <p:spTgt spid="18"/>
                                        </p:tgtEl>
                                        <p:attrNameLst>
                                          <p:attrName>ppt_x</p:attrName>
                                        </p:attrNameLst>
                                      </p:cBhvr>
                                      <p:tavLst>
                                        <p:tav tm="0">
                                          <p:val>
                                            <p:strVal val="0-#ppt_w/2"/>
                                          </p:val>
                                        </p:tav>
                                        <p:tav tm="100000">
                                          <p:val>
                                            <p:strVal val="#ppt_x"/>
                                          </p:val>
                                        </p:tav>
                                      </p:tavLst>
                                    </p:anim>
                                    <p:anim calcmode="lin" valueType="num">
                                      <p:cBhvr additive="base">
                                        <p:cTn id="22" dur="500" fill="hold"/>
                                        <p:tgtEl>
                                          <p:spTgt spid="18"/>
                                        </p:tgtEl>
                                        <p:attrNameLst>
                                          <p:attrName>ppt_y</p:attrName>
                                        </p:attrNameLst>
                                      </p:cBhvr>
                                      <p:tavLst>
                                        <p:tav tm="0">
                                          <p:val>
                                            <p:strVal val="#ppt_y"/>
                                          </p:val>
                                        </p:tav>
                                        <p:tav tm="100000">
                                          <p:val>
                                            <p:strVal val="#ppt_y"/>
                                          </p:val>
                                        </p:tav>
                                      </p:tavLst>
                                    </p:anim>
                                  </p:childTnLst>
                                </p:cTn>
                              </p:par>
                              <p:par>
                                <p:cTn id="23" presetID="2" presetClass="entr" presetSubtype="8"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0-#ppt_w/2"/>
                                          </p:val>
                                        </p:tav>
                                        <p:tav tm="100000">
                                          <p:val>
                                            <p:strVal val="#ppt_x"/>
                                          </p:val>
                                        </p:tav>
                                      </p:tavLst>
                                    </p:anim>
                                    <p:anim calcmode="lin" valueType="num">
                                      <p:cBhvr additive="base">
                                        <p:cTn id="26"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box(in)">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21"/>
                                        </p:tgtEl>
                                        <p:attrNameLst>
                                          <p:attrName>style.visibility</p:attrName>
                                        </p:attrNameLst>
                                      </p:cBhvr>
                                      <p:to>
                                        <p:strVal val="visible"/>
                                      </p:to>
                                    </p:set>
                                    <p:anim calcmode="lin" valueType="num">
                                      <p:cBhvr additive="base">
                                        <p:cTn id="36" dur="500" fill="hold"/>
                                        <p:tgtEl>
                                          <p:spTgt spid="21"/>
                                        </p:tgtEl>
                                        <p:attrNameLst>
                                          <p:attrName>ppt_x</p:attrName>
                                        </p:attrNameLst>
                                      </p:cBhvr>
                                      <p:tavLst>
                                        <p:tav tm="0">
                                          <p:val>
                                            <p:strVal val="#ppt_x"/>
                                          </p:val>
                                        </p:tav>
                                        <p:tav tm="100000">
                                          <p:val>
                                            <p:strVal val="#ppt_x"/>
                                          </p:val>
                                        </p:tav>
                                      </p:tavLst>
                                    </p:anim>
                                    <p:anim calcmode="lin" valueType="num">
                                      <p:cBhvr additive="base">
                                        <p:cTn id="37"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 calcmode="lin" valueType="num">
                                      <p:cBhvr additive="base">
                                        <p:cTn id="42" dur="500" fill="hold"/>
                                        <p:tgtEl>
                                          <p:spTgt spid="22"/>
                                        </p:tgtEl>
                                        <p:attrNameLst>
                                          <p:attrName>ppt_x</p:attrName>
                                        </p:attrNameLst>
                                      </p:cBhvr>
                                      <p:tavLst>
                                        <p:tav tm="0">
                                          <p:val>
                                            <p:strVal val="#ppt_x"/>
                                          </p:val>
                                        </p:tav>
                                        <p:tav tm="100000">
                                          <p:val>
                                            <p:strVal val="#ppt_x"/>
                                          </p:val>
                                        </p:tav>
                                      </p:tavLst>
                                    </p:anim>
                                    <p:anim calcmode="lin" valueType="num">
                                      <p:cBhvr additive="base">
                                        <p:cTn id="43" dur="500" fill="hold"/>
                                        <p:tgtEl>
                                          <p:spTgt spid="22"/>
                                        </p:tgtEl>
                                        <p:attrNameLst>
                                          <p:attrName>ppt_y</p:attrName>
                                        </p:attrNameLst>
                                      </p:cBhvr>
                                      <p:tavLst>
                                        <p:tav tm="0">
                                          <p:val>
                                            <p:strVal val="1+#ppt_h/2"/>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 calcmode="lin" valueType="num">
                                      <p:cBhvr additive="base">
                                        <p:cTn id="46" dur="500" fill="hold"/>
                                        <p:tgtEl>
                                          <p:spTgt spid="23"/>
                                        </p:tgtEl>
                                        <p:attrNameLst>
                                          <p:attrName>ppt_x</p:attrName>
                                        </p:attrNameLst>
                                      </p:cBhvr>
                                      <p:tavLst>
                                        <p:tav tm="0">
                                          <p:val>
                                            <p:strVal val="#ppt_x"/>
                                          </p:val>
                                        </p:tav>
                                        <p:tav tm="100000">
                                          <p:val>
                                            <p:strVal val="#ppt_x"/>
                                          </p:val>
                                        </p:tav>
                                      </p:tavLst>
                                    </p:anim>
                                    <p:anim calcmode="lin" valueType="num">
                                      <p:cBhvr additive="base">
                                        <p:cTn id="47" dur="500" fill="hold"/>
                                        <p:tgtEl>
                                          <p:spTgt spid="23"/>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24"/>
                                        </p:tgtEl>
                                        <p:attrNameLst>
                                          <p:attrName>style.visibility</p:attrName>
                                        </p:attrNameLst>
                                      </p:cBhvr>
                                      <p:to>
                                        <p:strVal val="visible"/>
                                      </p:to>
                                    </p:set>
                                    <p:anim calcmode="lin" valueType="num">
                                      <p:cBhvr additive="base">
                                        <p:cTn id="50" dur="500" fill="hold"/>
                                        <p:tgtEl>
                                          <p:spTgt spid="24"/>
                                        </p:tgtEl>
                                        <p:attrNameLst>
                                          <p:attrName>ppt_x</p:attrName>
                                        </p:attrNameLst>
                                      </p:cBhvr>
                                      <p:tavLst>
                                        <p:tav tm="0">
                                          <p:val>
                                            <p:strVal val="#ppt_x"/>
                                          </p:val>
                                        </p:tav>
                                        <p:tav tm="100000">
                                          <p:val>
                                            <p:strVal val="#ppt_x"/>
                                          </p:val>
                                        </p:tav>
                                      </p:tavLst>
                                    </p:anim>
                                    <p:anim calcmode="lin" valueType="num">
                                      <p:cBhvr additive="base">
                                        <p:cTn id="51" dur="500" fill="hold"/>
                                        <p:tgtEl>
                                          <p:spTgt spid="24"/>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25"/>
                                        </p:tgtEl>
                                        <p:attrNameLst>
                                          <p:attrName>style.visibility</p:attrName>
                                        </p:attrNameLst>
                                      </p:cBhvr>
                                      <p:to>
                                        <p:strVal val="visible"/>
                                      </p:to>
                                    </p:set>
                                    <p:anim calcmode="lin" valueType="num">
                                      <p:cBhvr additive="base">
                                        <p:cTn id="54" dur="500" fill="hold"/>
                                        <p:tgtEl>
                                          <p:spTgt spid="25"/>
                                        </p:tgtEl>
                                        <p:attrNameLst>
                                          <p:attrName>ppt_x</p:attrName>
                                        </p:attrNameLst>
                                      </p:cBhvr>
                                      <p:tavLst>
                                        <p:tav tm="0">
                                          <p:val>
                                            <p:strVal val="#ppt_x"/>
                                          </p:val>
                                        </p:tav>
                                        <p:tav tm="100000">
                                          <p:val>
                                            <p:strVal val="#ppt_x"/>
                                          </p:val>
                                        </p:tav>
                                      </p:tavLst>
                                    </p:anim>
                                    <p:anim calcmode="lin" valueType="num">
                                      <p:cBhvr additive="base">
                                        <p:cTn id="55"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 presetClass="entr" presetSubtype="16" fill="hold" nodeType="click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box(in)">
                                      <p:cBhvr>
                                        <p:cTn id="6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5C71A55A-5065-4EB2-BCBF-D7D833081962}"/>
              </a:ext>
            </a:extLst>
          </p:cNvPr>
          <p:cNvSpPr/>
          <p:nvPr/>
        </p:nvSpPr>
        <p:spPr>
          <a:xfrm>
            <a:off x="1692229" y="4701445"/>
            <a:ext cx="8465103" cy="2139881"/>
          </a:xfrm>
          <a:prstGeom prst="rect">
            <a:avLst/>
          </a:prstGeom>
          <a:noFill/>
          <a:ln w="9525">
            <a:noFill/>
          </a:ln>
        </p:spPr>
        <p:txBody>
          <a:bodyPr wrap="square">
            <a:spAutoFit/>
          </a:bodyPr>
          <a:lstStyle/>
          <a:p>
            <a:pPr lvl="0" algn="l" eaLnBrk="1" hangingPunct="1">
              <a:lnSpc>
                <a:spcPct val="150000"/>
              </a:lnSpc>
            </a:pPr>
            <a:r>
              <a:rPr lang="zh-CN" altLang="en-US" sz="2800" dirty="0">
                <a:solidFill>
                  <a:srgbClr val="FF0000"/>
                </a:solidFill>
                <a:latin typeface="微软雅黑" panose="020B0503020204020204" charset="-122"/>
                <a:ea typeface="微软雅黑" panose="020B0503020204020204" charset="-122"/>
              </a:rPr>
              <a:t>       </a:t>
            </a:r>
            <a:r>
              <a:rPr lang="zh-CN" altLang="en-US" sz="3400" b="1" dirty="0">
                <a:solidFill>
                  <a:srgbClr val="FF0000"/>
                </a:solidFill>
                <a:latin typeface="微软雅黑" panose="020B0503020204020204" charset="-122"/>
                <a:ea typeface="微软雅黑" panose="020B0503020204020204" charset="-122"/>
                <a:cs typeface="+mj-cs"/>
              </a:rPr>
              <a:t>科学计算</a:t>
            </a:r>
            <a:r>
              <a:rPr lang="zh-CN" altLang="en-US" sz="2800" b="1" dirty="0">
                <a:latin typeface="微软雅黑" panose="020B0503020204020204" charset="-122"/>
                <a:ea typeface="微软雅黑" panose="020B0503020204020204" charset="-122"/>
                <a:cs typeface="+mj-cs"/>
              </a:rPr>
              <a:t>是指利用计算机来完成科学研究和工程技术中提出的数学问题的计算，是一种使用计算机解释和预测实验中难以验证的、复杂现象的方法。</a:t>
            </a:r>
            <a:endParaRPr lang="en-US" altLang="zh-CN" sz="2800" b="1" dirty="0">
              <a:latin typeface="微软雅黑" panose="020B0503020204020204" charset="-122"/>
              <a:ea typeface="微软雅黑" panose="020B0503020204020204" charset="-122"/>
              <a:cs typeface="+mj-cs"/>
            </a:endParaRPr>
          </a:p>
        </p:txBody>
      </p:sp>
      <p:sp>
        <p:nvSpPr>
          <p:cNvPr id="5" name="矩形 4">
            <a:extLst>
              <a:ext uri="{FF2B5EF4-FFF2-40B4-BE49-F238E27FC236}">
                <a16:creationId xmlns:a16="http://schemas.microsoft.com/office/drawing/2014/main" id="{66A04D1A-EF55-49E8-AB91-40C65E09E308}"/>
              </a:ext>
            </a:extLst>
          </p:cNvPr>
          <p:cNvSpPr/>
          <p:nvPr/>
        </p:nvSpPr>
        <p:spPr>
          <a:xfrm>
            <a:off x="1732630" y="1656894"/>
            <a:ext cx="8713889" cy="3108543"/>
          </a:xfrm>
          <a:prstGeom prst="rect">
            <a:avLst/>
          </a:prstGeom>
          <a:noFill/>
          <a:ln w="9525">
            <a:noFill/>
          </a:ln>
        </p:spPr>
        <p:txBody>
          <a:bodyPr wrap="square">
            <a:spAutoFit/>
          </a:bodyPr>
          <a:lstStyle/>
          <a:p>
            <a:pPr fontAlgn="auto">
              <a:lnSpc>
                <a:spcPct val="140000"/>
              </a:lnSpc>
              <a:spcBef>
                <a:spcPts val="0"/>
              </a:spcBef>
              <a:spcAft>
                <a:spcPts val="0"/>
              </a:spcAft>
              <a:buClr>
                <a:srgbClr val="692AA2"/>
              </a:buClr>
              <a:buFont typeface="Wingdings" pitchFamily="2" charset="2"/>
              <a:buNone/>
              <a:defRPr/>
            </a:pPr>
            <a:r>
              <a:rPr lang="zh-CN" altLang="en-US" sz="2800" b="1" dirty="0">
                <a:latin typeface="微软雅黑" pitchFamily="34" charset="-122"/>
                <a:ea typeface="微软雅黑" pitchFamily="34" charset="-122"/>
                <a:cs typeface="+mj-cs"/>
              </a:rPr>
              <a:t>由此可见，按不同算式计算出的结果各不相同，因此在研究算法的同时，还必须</a:t>
            </a:r>
            <a:r>
              <a:rPr lang="zh-CN" altLang="en-US" sz="2800" b="1" dirty="0">
                <a:solidFill>
                  <a:srgbClr val="0000CC"/>
                </a:solidFill>
                <a:latin typeface="微软雅黑" pitchFamily="34" charset="-122"/>
                <a:ea typeface="微软雅黑" pitchFamily="34" charset="-122"/>
                <a:cs typeface="+mj-cs"/>
              </a:rPr>
              <a:t>正确掌握误差的基本概念，误差在近似值运算中的传播规律，误差分析、估计的基本方法和算法的数值稳定性概念，</a:t>
            </a:r>
            <a:r>
              <a:rPr lang="zh-CN" altLang="en-US" sz="2800" b="1" dirty="0">
                <a:latin typeface="微软雅黑" pitchFamily="34" charset="-122"/>
                <a:ea typeface="微软雅黑" pitchFamily="34" charset="-122"/>
                <a:cs typeface="+mj-cs"/>
              </a:rPr>
              <a:t>否则，一个合理的算法也可能会得出一个错误的结果。</a:t>
            </a:r>
          </a:p>
        </p:txBody>
      </p:sp>
      <p:sp>
        <p:nvSpPr>
          <p:cNvPr id="6" name="标题 1">
            <a:extLst>
              <a:ext uri="{FF2B5EF4-FFF2-40B4-BE49-F238E27FC236}">
                <a16:creationId xmlns:a16="http://schemas.microsoft.com/office/drawing/2014/main" id="{A0AA2CF7-6681-4403-8F8F-C5115776B8D9}"/>
              </a:ext>
            </a:extLst>
          </p:cNvPr>
          <p:cNvSpPr>
            <a:spLocks noGrp="1"/>
          </p:cNvSpPr>
          <p:nvPr>
            <p:ph type="title"/>
          </p:nvPr>
        </p:nvSpPr>
        <p:spPr>
          <a:xfrm>
            <a:off x="2327231" y="869688"/>
            <a:ext cx="7297948" cy="660528"/>
          </a:xfrm>
        </p:spPr>
        <p:txBody>
          <a:bodyPr>
            <a:normAutofit/>
          </a:bodyPr>
          <a:lstStyle/>
          <a:p>
            <a:r>
              <a:rPr lang="zh-CN" altLang="en-US" sz="3200" b="1" dirty="0">
                <a:solidFill>
                  <a:srgbClr val="000000"/>
                </a:solidFill>
                <a:latin typeface="微软雅黑" charset="-122"/>
                <a:ea typeface="宋体" panose="02010600030101010101" pitchFamily="2" charset="-122"/>
              </a:rPr>
              <a:t>科学计算是解决科学工程问题的关键</a:t>
            </a:r>
          </a:p>
        </p:txBody>
      </p:sp>
    </p:spTree>
    <p:extLst>
      <p:ext uri="{BB962C8B-B14F-4D97-AF65-F5344CB8AC3E}">
        <p14:creationId xmlns:p14="http://schemas.microsoft.com/office/powerpoint/2010/main" val="2557010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01048B22-AD62-4C4B-BBDA-3133D7B745EB}"/>
              </a:ext>
            </a:extLst>
          </p:cNvPr>
          <p:cNvSpPr>
            <a:spLocks noChangeArrowheads="1"/>
          </p:cNvSpPr>
          <p:nvPr/>
        </p:nvSpPr>
        <p:spPr bwMode="auto">
          <a:xfrm>
            <a:off x="1758151" y="1906944"/>
            <a:ext cx="8712726" cy="2451953"/>
          </a:xfrm>
          <a:prstGeom prst="rect">
            <a:avLst/>
          </a:prstGeom>
          <a:noFill/>
          <a:ln w="9525">
            <a:noFill/>
            <a:miter lim="800000"/>
          </a:ln>
        </p:spPr>
        <p:txBody>
          <a:bodyPr wrap="square">
            <a:spAutoFit/>
          </a:bodyPr>
          <a:lstStyle/>
          <a:p>
            <a:pPr algn="just">
              <a:lnSpc>
                <a:spcPts val="4600"/>
              </a:lnSpc>
            </a:pPr>
            <a:r>
              <a:rPr lang="en-US" altLang="zh-CN" sz="2400" dirty="0">
                <a:solidFill>
                  <a:srgbClr val="692AA2"/>
                </a:solidFill>
                <a:latin typeface="微软雅黑" panose="020B0503020204020204" charset="-122"/>
                <a:ea typeface="微软雅黑" panose="020B0503020204020204" charset="-122"/>
              </a:rPr>
              <a:t>     </a:t>
            </a:r>
            <a:r>
              <a:rPr lang="zh-CN" altLang="en-US" sz="2800" b="1" dirty="0">
                <a:solidFill>
                  <a:schemeClr val="accent1">
                    <a:lumMod val="50000"/>
                  </a:schemeClr>
                </a:solidFill>
                <a:latin typeface="微软雅黑" panose="020B0503020204020204" charset="-122"/>
                <a:ea typeface="微软雅黑" panose="020B0503020204020204" charset="-122"/>
              </a:rPr>
              <a:t>“</a:t>
            </a:r>
            <a:r>
              <a:rPr lang="zh-CN" altLang="en-US" sz="2800" b="1" dirty="0">
                <a:solidFill>
                  <a:srgbClr val="FF0000"/>
                </a:solidFill>
                <a:latin typeface="微软雅黑" panose="020B0503020204020204" charset="-122"/>
                <a:ea typeface="微软雅黑" panose="020B0503020204020204" charset="-122"/>
              </a:rPr>
              <a:t>数学是一种关键的、普遍的、可以应用的技术</a:t>
            </a:r>
            <a:r>
              <a:rPr lang="zh-CN" altLang="en-US" sz="2800" b="1" dirty="0">
                <a:solidFill>
                  <a:schemeClr val="accent1">
                    <a:lumMod val="50000"/>
                  </a:schemeClr>
                </a:solidFill>
                <a:latin typeface="微软雅黑" panose="020B0503020204020204" charset="-122"/>
                <a:ea typeface="微软雅黑" panose="020B0503020204020204" charset="-122"/>
              </a:rPr>
              <a:t>”，</a:t>
            </a:r>
            <a:r>
              <a:rPr lang="zh-CN" altLang="en-US" sz="2800" b="1" dirty="0">
                <a:solidFill>
                  <a:srgbClr val="000000"/>
                </a:solidFill>
                <a:latin typeface="微软雅黑" panose="020B0503020204020204" charset="-122"/>
                <a:ea typeface="微软雅黑" panose="020B0503020204020204" charset="-122"/>
              </a:rPr>
              <a:t>数学“由研究到工业领域的技术转化，对加强经济竞争力是有重要意义”，而“</a:t>
            </a:r>
            <a:r>
              <a:rPr lang="zh-CN" altLang="en-US" sz="2800" b="1" dirty="0">
                <a:solidFill>
                  <a:srgbClr val="FF0000"/>
                </a:solidFill>
                <a:latin typeface="微软雅黑" panose="020B0503020204020204" charset="-122"/>
                <a:ea typeface="微软雅黑" panose="020B0503020204020204" charset="-122"/>
              </a:rPr>
              <a:t>计算和建模重新成为中心课题，它们是数学科学技术转化的主要途径</a:t>
            </a:r>
            <a:r>
              <a:rPr lang="zh-CN" altLang="en-US" sz="2800" b="1" dirty="0">
                <a:solidFill>
                  <a:srgbClr val="000000"/>
                </a:solidFill>
                <a:latin typeface="微软雅黑" panose="020B0503020204020204" charset="-122"/>
                <a:ea typeface="微软雅黑" panose="020B0503020204020204" charset="-122"/>
              </a:rPr>
              <a:t>”。</a:t>
            </a:r>
          </a:p>
        </p:txBody>
      </p:sp>
      <p:sp>
        <p:nvSpPr>
          <p:cNvPr id="5" name="Rectangle 10">
            <a:extLst>
              <a:ext uri="{FF2B5EF4-FFF2-40B4-BE49-F238E27FC236}">
                <a16:creationId xmlns:a16="http://schemas.microsoft.com/office/drawing/2014/main" id="{2783774E-D07F-4EE1-AA7F-DE3F3476B1E8}"/>
              </a:ext>
            </a:extLst>
          </p:cNvPr>
          <p:cNvSpPr>
            <a:spLocks noChangeArrowheads="1"/>
          </p:cNvSpPr>
          <p:nvPr/>
        </p:nvSpPr>
        <p:spPr bwMode="auto">
          <a:xfrm>
            <a:off x="1758151" y="4475919"/>
            <a:ext cx="8496708" cy="1210139"/>
          </a:xfrm>
          <a:prstGeom prst="rect">
            <a:avLst/>
          </a:prstGeom>
          <a:noFill/>
          <a:ln w="9525">
            <a:noFill/>
            <a:miter lim="800000"/>
          </a:ln>
        </p:spPr>
        <p:txBody>
          <a:bodyPr wrap="square">
            <a:spAutoFit/>
          </a:bodyPr>
          <a:lstStyle/>
          <a:p>
            <a:pPr algn="just">
              <a:lnSpc>
                <a:spcPts val="4600"/>
              </a:lnSpc>
            </a:pPr>
            <a:r>
              <a:rPr lang="zh-CN" altLang="en-US" sz="2800" b="1" dirty="0">
                <a:solidFill>
                  <a:srgbClr val="FF0000"/>
                </a:solidFill>
                <a:latin typeface="微软雅黑" panose="020B0503020204020204" charset="-122"/>
                <a:ea typeface="微软雅黑" panose="020B0503020204020204" charset="-122"/>
              </a:rPr>
              <a:t>       计算</a:t>
            </a:r>
            <a:r>
              <a:rPr lang="zh-CN" altLang="en-US" sz="2800" b="1" dirty="0">
                <a:latin typeface="微软雅黑" panose="020B0503020204020204" charset="-122"/>
                <a:ea typeface="微软雅黑" panose="020B0503020204020204" charset="-122"/>
              </a:rPr>
              <a:t>或者说快速准确计算是应用数学解决实际问题的关键。</a:t>
            </a:r>
          </a:p>
        </p:txBody>
      </p:sp>
      <p:sp>
        <p:nvSpPr>
          <p:cNvPr id="6" name="Rectangle 10">
            <a:extLst>
              <a:ext uri="{FF2B5EF4-FFF2-40B4-BE49-F238E27FC236}">
                <a16:creationId xmlns:a16="http://schemas.microsoft.com/office/drawing/2014/main" id="{42A76D32-0A60-43C2-86A7-7256F00DD16A}"/>
              </a:ext>
            </a:extLst>
          </p:cNvPr>
          <p:cNvSpPr>
            <a:spLocks noChangeArrowheads="1"/>
          </p:cNvSpPr>
          <p:nvPr/>
        </p:nvSpPr>
        <p:spPr bwMode="auto">
          <a:xfrm>
            <a:off x="2262193" y="5908242"/>
            <a:ext cx="7128594" cy="682238"/>
          </a:xfrm>
          <a:prstGeom prst="rect">
            <a:avLst/>
          </a:prstGeom>
          <a:noFill/>
          <a:ln w="9525">
            <a:noFill/>
            <a:miter lim="800000"/>
          </a:ln>
        </p:spPr>
        <p:txBody>
          <a:bodyPr wrap="square">
            <a:spAutoFit/>
          </a:bodyPr>
          <a:lstStyle/>
          <a:p>
            <a:pPr algn="just">
              <a:lnSpc>
                <a:spcPts val="4600"/>
              </a:lnSpc>
            </a:pPr>
            <a:r>
              <a:rPr lang="en-US" altLang="zh-CN" sz="2800" b="1" dirty="0">
                <a:solidFill>
                  <a:srgbClr val="1D41D5"/>
                </a:solidFill>
                <a:latin typeface="微软雅黑" panose="020B0503020204020204" charset="-122"/>
                <a:ea typeface="微软雅黑" panose="020B0503020204020204" charset="-122"/>
              </a:rPr>
              <a:t>《</a:t>
            </a:r>
            <a:r>
              <a:rPr lang="zh-CN" altLang="en-US" sz="2800" b="1" dirty="0">
                <a:solidFill>
                  <a:srgbClr val="1D41D5"/>
                </a:solidFill>
                <a:latin typeface="微软雅黑" panose="020B0503020204020204" charset="-122"/>
                <a:ea typeface="微软雅黑" panose="020B0503020204020204" charset="-122"/>
              </a:rPr>
              <a:t>科学计算与数学建模</a:t>
            </a:r>
            <a:r>
              <a:rPr lang="en-US" altLang="zh-CN" sz="2800" b="1" dirty="0">
                <a:solidFill>
                  <a:srgbClr val="1D41D5"/>
                </a:solidFill>
                <a:latin typeface="微软雅黑" panose="020B0503020204020204" charset="-122"/>
                <a:ea typeface="微软雅黑" panose="020B0503020204020204" charset="-122"/>
              </a:rPr>
              <a:t>》</a:t>
            </a:r>
            <a:r>
              <a:rPr lang="zh-CN" altLang="en-US" sz="2800" b="1" dirty="0">
                <a:latin typeface="微软雅黑" panose="020B0503020204020204" charset="-122"/>
                <a:ea typeface="微软雅黑" panose="020B0503020204020204" charset="-122"/>
              </a:rPr>
              <a:t>教材与课程介绍。</a:t>
            </a:r>
          </a:p>
        </p:txBody>
      </p:sp>
      <p:sp>
        <p:nvSpPr>
          <p:cNvPr id="7" name="标题 1">
            <a:extLst>
              <a:ext uri="{FF2B5EF4-FFF2-40B4-BE49-F238E27FC236}">
                <a16:creationId xmlns:a16="http://schemas.microsoft.com/office/drawing/2014/main" id="{80A2AC50-FF0F-4DE9-8C84-6856991229BC}"/>
              </a:ext>
            </a:extLst>
          </p:cNvPr>
          <p:cNvSpPr>
            <a:spLocks noGrp="1"/>
          </p:cNvSpPr>
          <p:nvPr>
            <p:ph type="title"/>
          </p:nvPr>
        </p:nvSpPr>
        <p:spPr>
          <a:xfrm>
            <a:off x="2551520" y="841678"/>
            <a:ext cx="7297948" cy="660528"/>
          </a:xfrm>
        </p:spPr>
        <p:txBody>
          <a:bodyPr>
            <a:normAutofit/>
          </a:bodyPr>
          <a:lstStyle/>
          <a:p>
            <a:r>
              <a:rPr lang="zh-CN" altLang="en-US" sz="3200" b="1" dirty="0">
                <a:solidFill>
                  <a:srgbClr val="000000"/>
                </a:solidFill>
                <a:latin typeface="Arial" panose="020B0604020202020204" pitchFamily="34" charset="0"/>
                <a:ea typeface="宋体" panose="02010600030101010101" pitchFamily="2" charset="-122"/>
              </a:rPr>
              <a:t>数学技术与数学应用</a:t>
            </a:r>
            <a:endParaRPr lang="zh-CN" altLang="en-US" sz="3200" b="1" dirty="0">
              <a:solidFill>
                <a:srgbClr val="000000"/>
              </a:solidFill>
              <a:latin typeface="微软雅黑" charset="-122"/>
              <a:ea typeface="宋体" panose="02010600030101010101" pitchFamily="2" charset="-122"/>
            </a:endParaRPr>
          </a:p>
        </p:txBody>
      </p:sp>
    </p:spTree>
    <p:extLst>
      <p:ext uri="{BB962C8B-B14F-4D97-AF65-F5344CB8AC3E}">
        <p14:creationId xmlns:p14="http://schemas.microsoft.com/office/powerpoint/2010/main" val="260659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6"/>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4D4FA4DC-CE88-4BF4-9189-400081966379}"/>
              </a:ext>
            </a:extLst>
          </p:cNvPr>
          <p:cNvSpPr>
            <a:spLocks noChangeArrowheads="1"/>
          </p:cNvSpPr>
          <p:nvPr/>
        </p:nvSpPr>
        <p:spPr bwMode="auto">
          <a:xfrm>
            <a:off x="1539620" y="2365669"/>
            <a:ext cx="4752396" cy="3409459"/>
          </a:xfrm>
          <a:prstGeom prst="rect">
            <a:avLst/>
          </a:prstGeom>
          <a:solidFill>
            <a:schemeClr val="bg2">
              <a:lumMod val="40000"/>
              <a:lumOff val="60000"/>
            </a:schemeClr>
          </a:solidFill>
          <a:ln w="9525">
            <a:noFill/>
            <a:miter lim="800000"/>
          </a:ln>
        </p:spPr>
        <p:txBody>
          <a:bodyPr wrap="square">
            <a:spAutoFit/>
          </a:bodyPr>
          <a:lstStyle/>
          <a:p>
            <a:pPr algn="just">
              <a:lnSpc>
                <a:spcPct val="200000"/>
              </a:lnSpc>
            </a:pPr>
            <a:r>
              <a:rPr lang="zh-CN" altLang="en-US" sz="2800" b="1" dirty="0">
                <a:solidFill>
                  <a:srgbClr val="FF0000"/>
                </a:solidFill>
                <a:latin typeface="微软雅黑" panose="020B0503020204020204" charset="-122"/>
                <a:ea typeface="微软雅黑" panose="020B0503020204020204" charset="-122"/>
              </a:rPr>
              <a:t>数学</a:t>
            </a:r>
            <a:endParaRPr lang="en-US" altLang="zh-CN" sz="2800" b="1" dirty="0">
              <a:solidFill>
                <a:srgbClr val="FF0000"/>
              </a:solidFill>
              <a:latin typeface="微软雅黑" panose="020B0503020204020204" charset="-122"/>
              <a:ea typeface="微软雅黑" panose="020B0503020204020204" charset="-122"/>
            </a:endParaRPr>
          </a:p>
          <a:p>
            <a:pPr algn="just">
              <a:lnSpc>
                <a:spcPct val="200000"/>
              </a:lnSpc>
            </a:pPr>
            <a:r>
              <a:rPr lang="zh-CN" altLang="en-US" sz="2800" b="1" dirty="0">
                <a:solidFill>
                  <a:srgbClr val="1D41D5"/>
                </a:solidFill>
                <a:latin typeface="微软雅黑" panose="020B0503020204020204" charset="-122"/>
                <a:ea typeface="微软雅黑" panose="020B0503020204020204" charset="-122"/>
              </a:rPr>
              <a:t>计算数学、应用数学</a:t>
            </a:r>
            <a:endParaRPr lang="en-US" altLang="zh-CN" sz="2800" b="1" dirty="0">
              <a:solidFill>
                <a:srgbClr val="1D41D5"/>
              </a:solidFill>
              <a:latin typeface="微软雅黑" panose="020B0503020204020204" charset="-122"/>
              <a:ea typeface="微软雅黑" panose="020B0503020204020204" charset="-122"/>
            </a:endParaRPr>
          </a:p>
          <a:p>
            <a:pPr algn="just">
              <a:lnSpc>
                <a:spcPct val="200000"/>
              </a:lnSpc>
            </a:pPr>
            <a:r>
              <a:rPr lang="zh-CN" altLang="en-US" sz="2800" b="1" dirty="0">
                <a:latin typeface="微软雅黑" panose="020B0503020204020204" charset="-122"/>
                <a:ea typeface="微软雅黑" panose="020B0503020204020204" charset="-122"/>
              </a:rPr>
              <a:t>微分方程数值解法及其应用</a:t>
            </a:r>
            <a:endParaRPr lang="en-US" altLang="zh-CN" sz="2800" b="1" dirty="0">
              <a:latin typeface="微软雅黑" panose="020B0503020204020204" charset="-122"/>
              <a:ea typeface="微软雅黑" panose="020B0503020204020204" charset="-122"/>
            </a:endParaRPr>
          </a:p>
          <a:p>
            <a:pPr algn="just">
              <a:lnSpc>
                <a:spcPct val="200000"/>
              </a:lnSpc>
            </a:pPr>
            <a:r>
              <a:rPr lang="zh-CN" altLang="en-US" sz="2800" b="1" dirty="0">
                <a:latin typeface="微软雅黑" panose="020B0503020204020204" charset="-122"/>
                <a:ea typeface="微软雅黑" panose="020B0503020204020204" charset="-122"/>
              </a:rPr>
              <a:t>科学与工程计算</a:t>
            </a:r>
          </a:p>
        </p:txBody>
      </p:sp>
      <p:sp>
        <p:nvSpPr>
          <p:cNvPr id="5" name="Rectangle 10">
            <a:extLst>
              <a:ext uri="{FF2B5EF4-FFF2-40B4-BE49-F238E27FC236}">
                <a16:creationId xmlns:a16="http://schemas.microsoft.com/office/drawing/2014/main" id="{8261D046-287F-4976-B7D8-39AB80DD02CC}"/>
              </a:ext>
            </a:extLst>
          </p:cNvPr>
          <p:cNvSpPr>
            <a:spLocks noChangeArrowheads="1"/>
          </p:cNvSpPr>
          <p:nvPr/>
        </p:nvSpPr>
        <p:spPr bwMode="auto">
          <a:xfrm>
            <a:off x="6542301" y="2365670"/>
            <a:ext cx="4326982" cy="3409459"/>
          </a:xfrm>
          <a:prstGeom prst="rect">
            <a:avLst/>
          </a:prstGeom>
          <a:solidFill>
            <a:schemeClr val="bg2">
              <a:lumMod val="40000"/>
              <a:lumOff val="60000"/>
            </a:schemeClr>
          </a:solidFill>
          <a:ln w="9525">
            <a:noFill/>
            <a:miter lim="800000"/>
          </a:ln>
        </p:spPr>
        <p:txBody>
          <a:bodyPr wrap="square">
            <a:spAutoFit/>
          </a:bodyPr>
          <a:lstStyle/>
          <a:p>
            <a:pPr algn="just">
              <a:lnSpc>
                <a:spcPct val="200000"/>
              </a:lnSpc>
            </a:pPr>
            <a:r>
              <a:rPr lang="zh-CN" altLang="en-US" sz="2800" b="1" dirty="0">
                <a:solidFill>
                  <a:srgbClr val="FF0000"/>
                </a:solidFill>
                <a:latin typeface="微软雅黑" panose="020B0503020204020204" charset="-122"/>
                <a:ea typeface="微软雅黑" panose="020B0503020204020204" charset="-122"/>
              </a:rPr>
              <a:t>材料科学与工程</a:t>
            </a:r>
            <a:endParaRPr lang="en-US" altLang="zh-CN" sz="2800" b="1" dirty="0">
              <a:solidFill>
                <a:srgbClr val="FF0000"/>
              </a:solidFill>
              <a:latin typeface="微软雅黑" panose="020B0503020204020204" charset="-122"/>
              <a:ea typeface="微软雅黑" panose="020B0503020204020204" charset="-122"/>
            </a:endParaRPr>
          </a:p>
          <a:p>
            <a:pPr algn="just">
              <a:lnSpc>
                <a:spcPct val="200000"/>
              </a:lnSpc>
            </a:pPr>
            <a:r>
              <a:rPr lang="zh-CN" altLang="en-US" sz="2800" b="1" dirty="0">
                <a:solidFill>
                  <a:srgbClr val="1D41D5"/>
                </a:solidFill>
                <a:latin typeface="微软雅黑" panose="020B0503020204020204" charset="-122"/>
                <a:ea typeface="微软雅黑" panose="020B0503020204020204" charset="-122"/>
              </a:rPr>
              <a:t>计算材料科学</a:t>
            </a:r>
            <a:endParaRPr lang="en-US" altLang="zh-CN" sz="2800" b="1" dirty="0">
              <a:solidFill>
                <a:srgbClr val="1D41D5"/>
              </a:solidFill>
              <a:latin typeface="微软雅黑" panose="020B0503020204020204" charset="-122"/>
              <a:ea typeface="微软雅黑" panose="020B0503020204020204" charset="-122"/>
            </a:endParaRPr>
          </a:p>
          <a:p>
            <a:pPr algn="just">
              <a:lnSpc>
                <a:spcPct val="200000"/>
              </a:lnSpc>
            </a:pPr>
            <a:r>
              <a:rPr lang="zh-CN" altLang="en-US" sz="2800" b="1" dirty="0">
                <a:latin typeface="微软雅黑" panose="020B0503020204020204" charset="-122"/>
                <a:ea typeface="微软雅黑" panose="020B0503020204020204" charset="-122"/>
              </a:rPr>
              <a:t>粉末成形过程数值模拟</a:t>
            </a:r>
            <a:endParaRPr lang="en-US" altLang="zh-CN" sz="2800" b="1" dirty="0">
              <a:latin typeface="微软雅黑" panose="020B0503020204020204" charset="-122"/>
              <a:ea typeface="微软雅黑" panose="020B0503020204020204" charset="-122"/>
            </a:endParaRPr>
          </a:p>
          <a:p>
            <a:pPr algn="just">
              <a:lnSpc>
                <a:spcPct val="200000"/>
              </a:lnSpc>
            </a:pPr>
            <a:r>
              <a:rPr lang="zh-CN" altLang="en-US" sz="2800" b="1" dirty="0">
                <a:latin typeface="微软雅黑" panose="020B0503020204020204" charset="-122"/>
                <a:ea typeface="微软雅黑" panose="020B0503020204020204" charset="-122"/>
              </a:rPr>
              <a:t>相图计算、微结构模拟</a:t>
            </a:r>
          </a:p>
        </p:txBody>
      </p:sp>
      <p:sp>
        <p:nvSpPr>
          <p:cNvPr id="6" name="标题 1">
            <a:extLst>
              <a:ext uri="{FF2B5EF4-FFF2-40B4-BE49-F238E27FC236}">
                <a16:creationId xmlns:a16="http://schemas.microsoft.com/office/drawing/2014/main" id="{FA9F7A8F-410C-476A-BD2B-6C1B051FB531}"/>
              </a:ext>
            </a:extLst>
          </p:cNvPr>
          <p:cNvSpPr>
            <a:spLocks noGrp="1"/>
          </p:cNvSpPr>
          <p:nvPr>
            <p:ph type="title"/>
          </p:nvPr>
        </p:nvSpPr>
        <p:spPr>
          <a:xfrm>
            <a:off x="3465929" y="869688"/>
            <a:ext cx="7297948" cy="660528"/>
          </a:xfrm>
        </p:spPr>
        <p:txBody>
          <a:bodyPr>
            <a:normAutofit/>
          </a:bodyPr>
          <a:lstStyle/>
          <a:p>
            <a:r>
              <a:rPr lang="zh-CN" altLang="en-US" sz="3200" b="1" dirty="0">
                <a:solidFill>
                  <a:srgbClr val="000000"/>
                </a:solidFill>
                <a:latin typeface="Arial" panose="020B0604020202020204" pitchFamily="34" charset="0"/>
                <a:ea typeface="宋体" panose="02010600030101010101" pitchFamily="2" charset="-122"/>
              </a:rPr>
              <a:t>数学技术与数学应用</a:t>
            </a:r>
            <a:endParaRPr lang="zh-CN" altLang="en-US" sz="3200" b="1" dirty="0">
              <a:solidFill>
                <a:srgbClr val="000000"/>
              </a:solidFill>
              <a:latin typeface="微软雅黑" charset="-122"/>
              <a:ea typeface="宋体" panose="02010600030101010101" pitchFamily="2" charset="-122"/>
            </a:endParaRPr>
          </a:p>
        </p:txBody>
      </p:sp>
    </p:spTree>
    <p:extLst>
      <p:ext uri="{BB962C8B-B14F-4D97-AF65-F5344CB8AC3E}">
        <p14:creationId xmlns:p14="http://schemas.microsoft.com/office/powerpoint/2010/main" val="3138881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103">
            <a:extLst>
              <a:ext uri="{FF2B5EF4-FFF2-40B4-BE49-F238E27FC236}">
                <a16:creationId xmlns:a16="http://schemas.microsoft.com/office/drawing/2014/main" id="{3D86B155-77D8-4125-9497-878E3591A101}"/>
              </a:ext>
            </a:extLst>
          </p:cNvPr>
          <p:cNvGrpSpPr>
            <a:grpSpLocks/>
          </p:cNvGrpSpPr>
          <p:nvPr/>
        </p:nvGrpSpPr>
        <p:grpSpPr bwMode="auto">
          <a:xfrm>
            <a:off x="2959019" y="2529732"/>
            <a:ext cx="5296920" cy="508000"/>
            <a:chOff x="1124" y="1253"/>
            <a:chExt cx="3616" cy="320"/>
          </a:xfrm>
        </p:grpSpPr>
        <p:sp>
          <p:nvSpPr>
            <p:cNvPr id="5" name="AutoShape 8">
              <a:extLst>
                <a:ext uri="{FF2B5EF4-FFF2-40B4-BE49-F238E27FC236}">
                  <a16:creationId xmlns:a16="http://schemas.microsoft.com/office/drawing/2014/main" id="{FB806632-6969-464F-9F32-02866E45F7BC}"/>
                </a:ext>
              </a:extLst>
            </p:cNvPr>
            <p:cNvSpPr>
              <a:spLocks noChangeArrowheads="1"/>
            </p:cNvSpPr>
            <p:nvPr/>
          </p:nvSpPr>
          <p:spPr bwMode="auto">
            <a:xfrm>
              <a:off x="1293" y="1253"/>
              <a:ext cx="3447" cy="320"/>
            </a:xfrm>
            <a:prstGeom prst="roundRect">
              <a:avLst>
                <a:gd name="adj" fmla="val 50000"/>
              </a:avLst>
            </a:prstGeom>
            <a:noFill/>
            <a:ln w="28575">
              <a:solidFill>
                <a:schemeClr val="bg2"/>
              </a:solidFill>
              <a:round/>
              <a:headEnd/>
              <a:tailEnd/>
            </a:ln>
            <a:effectLst/>
          </p:spPr>
          <p:txBody>
            <a:bodyPr wrap="none" anchor="ctr"/>
            <a:lstStyle/>
            <a:p>
              <a:pPr eaLnBrk="0" hangingPunct="0">
                <a:lnSpc>
                  <a:spcPct val="100000"/>
                </a:lnSpc>
                <a:spcBef>
                  <a:spcPct val="0"/>
                </a:spcBef>
              </a:pPr>
              <a:r>
                <a:rPr lang="zh-CN" altLang="en-US" sz="2400" b="1" dirty="0">
                  <a:solidFill>
                    <a:srgbClr val="FF9900"/>
                  </a:solidFill>
                  <a:latin typeface="宋体" charset="-122"/>
                  <a:ea typeface="宋体" charset="-122"/>
                </a:rPr>
                <a:t> 偏微分方程数值解法</a:t>
              </a:r>
              <a:endParaRPr lang="en-US" altLang="zh-CN" sz="2400" b="1" dirty="0">
                <a:solidFill>
                  <a:srgbClr val="FF9900"/>
                </a:solidFill>
                <a:latin typeface="宋体" charset="-122"/>
                <a:ea typeface="宋体" charset="-122"/>
              </a:endParaRPr>
            </a:p>
          </p:txBody>
        </p:sp>
        <p:grpSp>
          <p:nvGrpSpPr>
            <p:cNvPr id="6" name="Group 9">
              <a:extLst>
                <a:ext uri="{FF2B5EF4-FFF2-40B4-BE49-F238E27FC236}">
                  <a16:creationId xmlns:a16="http://schemas.microsoft.com/office/drawing/2014/main" id="{B49B2E3D-E065-4621-BE69-A8F87C17B013}"/>
                </a:ext>
              </a:extLst>
            </p:cNvPr>
            <p:cNvGrpSpPr>
              <a:grpSpLocks/>
            </p:cNvGrpSpPr>
            <p:nvPr/>
          </p:nvGrpSpPr>
          <p:grpSpPr bwMode="auto">
            <a:xfrm>
              <a:off x="1124" y="1306"/>
              <a:ext cx="272" cy="240"/>
              <a:chOff x="0" y="0"/>
              <a:chExt cx="1615" cy="1615"/>
            </a:xfrm>
          </p:grpSpPr>
          <p:sp>
            <p:nvSpPr>
              <p:cNvPr id="7" name="Oval 10">
                <a:extLst>
                  <a:ext uri="{FF2B5EF4-FFF2-40B4-BE49-F238E27FC236}">
                    <a16:creationId xmlns:a16="http://schemas.microsoft.com/office/drawing/2014/main" id="{1D079FDC-087B-4294-B4B3-501544DC903D}"/>
                  </a:ext>
                </a:extLst>
              </p:cNvPr>
              <p:cNvSpPr>
                <a:spLocks noChangeArrowheads="1"/>
              </p:cNvSpPr>
              <p:nvPr/>
            </p:nvSpPr>
            <p:spPr bwMode="auto">
              <a:xfrm>
                <a:off x="0" y="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9525">
                <a:noFill/>
                <a:round/>
                <a:headEnd/>
                <a:tailEnd/>
              </a:ln>
              <a:effectLst/>
            </p:spPr>
            <p:txBody>
              <a:bodyPr wrap="none" anchor="ctr"/>
              <a:lstStyle/>
              <a:p>
                <a:endParaRPr lang="zh-CN" altLang="en-US"/>
              </a:p>
            </p:txBody>
          </p:sp>
          <p:sp>
            <p:nvSpPr>
              <p:cNvPr id="8" name="Oval 11">
                <a:extLst>
                  <a:ext uri="{FF2B5EF4-FFF2-40B4-BE49-F238E27FC236}">
                    <a16:creationId xmlns:a16="http://schemas.microsoft.com/office/drawing/2014/main" id="{F6088B12-D199-4C47-8319-7FA3F850B2AC}"/>
                  </a:ext>
                </a:extLst>
              </p:cNvPr>
              <p:cNvSpPr>
                <a:spLocks noChangeArrowheads="1"/>
              </p:cNvSpPr>
              <p:nvPr/>
            </p:nvSpPr>
            <p:spPr bwMode="auto">
              <a:xfrm>
                <a:off x="92" y="9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noFill/>
                <a:round/>
                <a:headEnd/>
                <a:tailEnd/>
              </a:ln>
              <a:effectLst/>
            </p:spPr>
            <p:txBody>
              <a:bodyPr wrap="none" anchor="ctr"/>
              <a:lstStyle/>
              <a:p>
                <a:endParaRPr lang="zh-CN" altLang="en-US"/>
              </a:p>
            </p:txBody>
          </p:sp>
          <p:sp>
            <p:nvSpPr>
              <p:cNvPr id="9" name="Oval 12">
                <a:extLst>
                  <a:ext uri="{FF2B5EF4-FFF2-40B4-BE49-F238E27FC236}">
                    <a16:creationId xmlns:a16="http://schemas.microsoft.com/office/drawing/2014/main" id="{FBCAEC1D-7797-4648-8604-8280D9DB8696}"/>
                  </a:ext>
                </a:extLst>
              </p:cNvPr>
              <p:cNvSpPr>
                <a:spLocks noChangeArrowheads="1"/>
              </p:cNvSpPr>
              <p:nvPr/>
            </p:nvSpPr>
            <p:spPr bwMode="auto">
              <a:xfrm>
                <a:off x="176" y="17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9525">
                <a:noFill/>
                <a:round/>
                <a:headEnd/>
                <a:tailEnd/>
              </a:ln>
              <a:effectLst/>
            </p:spPr>
            <p:txBody>
              <a:bodyPr wrap="none" anchor="ctr">
                <a:spAutoFit/>
              </a:bodyPr>
              <a:lstStyle/>
              <a:p>
                <a:endParaRPr lang="zh-CN" altLang="en-US"/>
              </a:p>
            </p:txBody>
          </p:sp>
          <p:sp>
            <p:nvSpPr>
              <p:cNvPr id="10" name="Oval 13">
                <a:extLst>
                  <a:ext uri="{FF2B5EF4-FFF2-40B4-BE49-F238E27FC236}">
                    <a16:creationId xmlns:a16="http://schemas.microsoft.com/office/drawing/2014/main" id="{80BC48F1-FBB4-4A6F-BD69-4DDDF2F4EEFC}"/>
                  </a:ext>
                </a:extLst>
              </p:cNvPr>
              <p:cNvSpPr>
                <a:spLocks noChangeArrowheads="1"/>
              </p:cNvSpPr>
              <p:nvPr/>
            </p:nvSpPr>
            <p:spPr bwMode="auto">
              <a:xfrm>
                <a:off x="176" y="176"/>
                <a:ext cx="1262" cy="1264"/>
              </a:xfrm>
              <a:prstGeom prst="ellipse">
                <a:avLst/>
              </a:prstGeom>
              <a:gradFill rotWithShape="1">
                <a:gsLst>
                  <a:gs pos="0">
                    <a:srgbClr val="FFCC00">
                      <a:gamma/>
                      <a:shade val="0"/>
                      <a:invGamma/>
                    </a:srgbClr>
                  </a:gs>
                  <a:gs pos="100000">
                    <a:srgbClr val="FFCC00"/>
                  </a:gs>
                </a:gsLst>
                <a:lin ang="2700000" scaled="1"/>
              </a:gradFill>
              <a:ln w="9525">
                <a:noFill/>
                <a:round/>
                <a:headEnd/>
                <a:tailEnd/>
              </a:ln>
              <a:effectLst/>
            </p:spPr>
            <p:txBody>
              <a:bodyPr wrap="none" anchor="ctr">
                <a:spAutoFit/>
              </a:bodyPr>
              <a:lstStyle/>
              <a:p>
                <a:endParaRPr lang="zh-CN" altLang="en-US"/>
              </a:p>
            </p:txBody>
          </p:sp>
          <p:sp>
            <p:nvSpPr>
              <p:cNvPr id="11" name="Oval 14">
                <a:extLst>
                  <a:ext uri="{FF2B5EF4-FFF2-40B4-BE49-F238E27FC236}">
                    <a16:creationId xmlns:a16="http://schemas.microsoft.com/office/drawing/2014/main" id="{8544106A-082B-4410-8039-5EAAC2736A80}"/>
                  </a:ext>
                </a:extLst>
              </p:cNvPr>
              <p:cNvSpPr>
                <a:spLocks noChangeArrowheads="1"/>
              </p:cNvSpPr>
              <p:nvPr/>
            </p:nvSpPr>
            <p:spPr bwMode="auto">
              <a:xfrm>
                <a:off x="259" y="25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9525">
                <a:noFill/>
                <a:round/>
                <a:headEnd/>
                <a:tailEnd/>
              </a:ln>
              <a:effectLst/>
            </p:spPr>
            <p:txBody>
              <a:bodyPr anchor="ctr">
                <a:spAutoFit/>
              </a:bodyPr>
              <a:lstStyle/>
              <a:p>
                <a:endParaRPr lang="zh-CN" altLang="en-US"/>
              </a:p>
            </p:txBody>
          </p:sp>
          <p:sp>
            <p:nvSpPr>
              <p:cNvPr id="12" name="Oval 15">
                <a:extLst>
                  <a:ext uri="{FF2B5EF4-FFF2-40B4-BE49-F238E27FC236}">
                    <a16:creationId xmlns:a16="http://schemas.microsoft.com/office/drawing/2014/main" id="{1C72FB29-6882-4F6D-961F-EDB47FBD578A}"/>
                  </a:ext>
                </a:extLst>
              </p:cNvPr>
              <p:cNvSpPr>
                <a:spLocks noChangeArrowheads="1"/>
              </p:cNvSpPr>
              <p:nvPr/>
            </p:nvSpPr>
            <p:spPr bwMode="auto">
              <a:xfrm>
                <a:off x="259" y="259"/>
                <a:ext cx="1096" cy="1098"/>
              </a:xfrm>
              <a:prstGeom prst="ellipse">
                <a:avLst/>
              </a:prstGeom>
              <a:gradFill rotWithShape="1">
                <a:gsLst>
                  <a:gs pos="0">
                    <a:srgbClr val="FFCC00"/>
                  </a:gs>
                  <a:gs pos="100000">
                    <a:srgbClr val="FFCC00">
                      <a:gamma/>
                      <a:shade val="48627"/>
                      <a:invGamma/>
                    </a:srgbClr>
                  </a:gs>
                </a:gsLst>
                <a:lin ang="2700000" scaled="1"/>
              </a:gradFill>
              <a:ln w="9525">
                <a:noFill/>
                <a:round/>
                <a:headEnd/>
                <a:tailEnd/>
              </a:ln>
              <a:effectLst/>
            </p:spPr>
            <p:txBody>
              <a:bodyPr anchor="ctr">
                <a:spAutoFit/>
              </a:bodyPr>
              <a:lstStyle/>
              <a:p>
                <a:endParaRPr lang="zh-CN" altLang="en-US"/>
              </a:p>
            </p:txBody>
          </p:sp>
        </p:grpSp>
      </p:grpSp>
      <p:grpSp>
        <p:nvGrpSpPr>
          <p:cNvPr id="13" name="Group 95">
            <a:extLst>
              <a:ext uri="{FF2B5EF4-FFF2-40B4-BE49-F238E27FC236}">
                <a16:creationId xmlns:a16="http://schemas.microsoft.com/office/drawing/2014/main" id="{27DC2BA8-05F7-4A74-A9F4-66090FA8ACF9}"/>
              </a:ext>
            </a:extLst>
          </p:cNvPr>
          <p:cNvGrpSpPr>
            <a:grpSpLocks/>
          </p:cNvGrpSpPr>
          <p:nvPr/>
        </p:nvGrpSpPr>
        <p:grpSpPr bwMode="auto">
          <a:xfrm>
            <a:off x="2887013" y="3897588"/>
            <a:ext cx="5368925" cy="508000"/>
            <a:chOff x="1448" y="2069"/>
            <a:chExt cx="3382" cy="320"/>
          </a:xfrm>
        </p:grpSpPr>
        <p:sp>
          <p:nvSpPr>
            <p:cNvPr id="14" name="AutoShape 26">
              <a:extLst>
                <a:ext uri="{FF2B5EF4-FFF2-40B4-BE49-F238E27FC236}">
                  <a16:creationId xmlns:a16="http://schemas.microsoft.com/office/drawing/2014/main" id="{947EEE6F-A3C0-464C-A61B-0C41DF729539}"/>
                </a:ext>
              </a:extLst>
            </p:cNvPr>
            <p:cNvSpPr>
              <a:spLocks noChangeArrowheads="1"/>
            </p:cNvSpPr>
            <p:nvPr/>
          </p:nvSpPr>
          <p:spPr bwMode="auto">
            <a:xfrm>
              <a:off x="1667" y="2069"/>
              <a:ext cx="3163" cy="320"/>
            </a:xfrm>
            <a:prstGeom prst="roundRect">
              <a:avLst>
                <a:gd name="adj" fmla="val 50000"/>
              </a:avLst>
            </a:prstGeom>
            <a:noFill/>
            <a:ln w="28575">
              <a:solidFill>
                <a:schemeClr val="bg2"/>
              </a:solidFill>
              <a:round/>
              <a:headEnd/>
              <a:tailEnd/>
            </a:ln>
            <a:effectLst/>
          </p:spPr>
          <p:txBody>
            <a:bodyPr wrap="none" anchor="ctr"/>
            <a:lstStyle/>
            <a:p>
              <a:pPr eaLnBrk="0" hangingPunct="0">
                <a:lnSpc>
                  <a:spcPct val="100000"/>
                </a:lnSpc>
                <a:spcBef>
                  <a:spcPct val="0"/>
                </a:spcBef>
                <a:buClrTx/>
                <a:buFontTx/>
                <a:buNone/>
              </a:pPr>
              <a:r>
                <a:rPr lang="en-US" altLang="zh-CN" sz="2400" b="1" dirty="0">
                  <a:solidFill>
                    <a:srgbClr val="1F7DCB"/>
                  </a:solidFill>
                  <a:latin typeface="Arial" charset="0"/>
                  <a:ea typeface="宋体" charset="-122"/>
                </a:rPr>
                <a:t> </a:t>
              </a:r>
              <a:r>
                <a:rPr lang="zh-CN" altLang="en-US" sz="2400" b="1" dirty="0">
                  <a:solidFill>
                    <a:srgbClr val="1F7DCB"/>
                  </a:solidFill>
                  <a:latin typeface="Arial" charset="0"/>
                  <a:ea typeface="宋体" charset="-122"/>
                </a:rPr>
                <a:t>有限元方法</a:t>
              </a:r>
              <a:r>
                <a:rPr lang="zh-CN" altLang="en-US" sz="1800" dirty="0">
                  <a:latin typeface="Arial" charset="0"/>
                  <a:ea typeface="宋体" charset="-122"/>
                </a:rPr>
                <a:t> </a:t>
              </a:r>
              <a:endParaRPr lang="en-US" altLang="zh-CN" sz="1800" dirty="0">
                <a:latin typeface="Arial" charset="0"/>
                <a:ea typeface="宋体" charset="-122"/>
              </a:endParaRPr>
            </a:p>
          </p:txBody>
        </p:sp>
        <p:grpSp>
          <p:nvGrpSpPr>
            <p:cNvPr id="15" name="Group 27">
              <a:extLst>
                <a:ext uri="{FF2B5EF4-FFF2-40B4-BE49-F238E27FC236}">
                  <a16:creationId xmlns:a16="http://schemas.microsoft.com/office/drawing/2014/main" id="{E7566812-9BE3-48F6-9FFF-C4333FBE1B65}"/>
                </a:ext>
              </a:extLst>
            </p:cNvPr>
            <p:cNvGrpSpPr>
              <a:grpSpLocks/>
            </p:cNvGrpSpPr>
            <p:nvPr/>
          </p:nvGrpSpPr>
          <p:grpSpPr bwMode="auto">
            <a:xfrm>
              <a:off x="1448" y="2117"/>
              <a:ext cx="273" cy="240"/>
              <a:chOff x="0" y="0"/>
              <a:chExt cx="1615" cy="1615"/>
            </a:xfrm>
          </p:grpSpPr>
          <p:sp>
            <p:nvSpPr>
              <p:cNvPr id="16" name="Oval 28">
                <a:extLst>
                  <a:ext uri="{FF2B5EF4-FFF2-40B4-BE49-F238E27FC236}">
                    <a16:creationId xmlns:a16="http://schemas.microsoft.com/office/drawing/2014/main" id="{6EAF204E-4FE7-4C81-944A-AA74E1AD392F}"/>
                  </a:ext>
                </a:extLst>
              </p:cNvPr>
              <p:cNvSpPr>
                <a:spLocks noChangeArrowheads="1"/>
              </p:cNvSpPr>
              <p:nvPr/>
            </p:nvSpPr>
            <p:spPr bwMode="auto">
              <a:xfrm>
                <a:off x="0" y="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9525">
                <a:noFill/>
                <a:round/>
                <a:headEnd/>
                <a:tailEnd/>
              </a:ln>
              <a:effectLst/>
            </p:spPr>
            <p:txBody>
              <a:bodyPr wrap="none" anchor="ctr"/>
              <a:lstStyle/>
              <a:p>
                <a:endParaRPr lang="zh-CN" altLang="en-US"/>
              </a:p>
            </p:txBody>
          </p:sp>
          <p:sp>
            <p:nvSpPr>
              <p:cNvPr id="17" name="Oval 29">
                <a:extLst>
                  <a:ext uri="{FF2B5EF4-FFF2-40B4-BE49-F238E27FC236}">
                    <a16:creationId xmlns:a16="http://schemas.microsoft.com/office/drawing/2014/main" id="{82DAC1F6-41A7-4427-BCC6-D10CD918654E}"/>
                  </a:ext>
                </a:extLst>
              </p:cNvPr>
              <p:cNvSpPr>
                <a:spLocks noChangeArrowheads="1"/>
              </p:cNvSpPr>
              <p:nvPr/>
            </p:nvSpPr>
            <p:spPr bwMode="auto">
              <a:xfrm>
                <a:off x="92" y="9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noFill/>
                <a:round/>
                <a:headEnd/>
                <a:tailEnd/>
              </a:ln>
              <a:effectLst/>
            </p:spPr>
            <p:txBody>
              <a:bodyPr wrap="none" anchor="ctr"/>
              <a:lstStyle/>
              <a:p>
                <a:endParaRPr lang="zh-CN" altLang="en-US"/>
              </a:p>
            </p:txBody>
          </p:sp>
          <p:sp>
            <p:nvSpPr>
              <p:cNvPr id="18" name="Oval 30">
                <a:extLst>
                  <a:ext uri="{FF2B5EF4-FFF2-40B4-BE49-F238E27FC236}">
                    <a16:creationId xmlns:a16="http://schemas.microsoft.com/office/drawing/2014/main" id="{23CD89AD-46CB-40FB-9C94-FB3FF180474D}"/>
                  </a:ext>
                </a:extLst>
              </p:cNvPr>
              <p:cNvSpPr>
                <a:spLocks noChangeArrowheads="1"/>
              </p:cNvSpPr>
              <p:nvPr/>
            </p:nvSpPr>
            <p:spPr bwMode="auto">
              <a:xfrm>
                <a:off x="176" y="17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9525">
                <a:noFill/>
                <a:round/>
                <a:headEnd/>
                <a:tailEnd/>
              </a:ln>
              <a:effectLst/>
            </p:spPr>
            <p:txBody>
              <a:bodyPr wrap="none" anchor="ctr">
                <a:spAutoFit/>
              </a:bodyPr>
              <a:lstStyle/>
              <a:p>
                <a:endParaRPr lang="zh-CN" altLang="en-US"/>
              </a:p>
            </p:txBody>
          </p:sp>
          <p:sp>
            <p:nvSpPr>
              <p:cNvPr id="19" name="Oval 31">
                <a:extLst>
                  <a:ext uri="{FF2B5EF4-FFF2-40B4-BE49-F238E27FC236}">
                    <a16:creationId xmlns:a16="http://schemas.microsoft.com/office/drawing/2014/main" id="{51A6E47F-148A-4340-A5F2-92D9989F2162}"/>
                  </a:ext>
                </a:extLst>
              </p:cNvPr>
              <p:cNvSpPr>
                <a:spLocks noChangeArrowheads="1"/>
              </p:cNvSpPr>
              <p:nvPr/>
            </p:nvSpPr>
            <p:spPr bwMode="auto">
              <a:xfrm>
                <a:off x="176" y="176"/>
                <a:ext cx="1262" cy="1264"/>
              </a:xfrm>
              <a:prstGeom prst="ellipse">
                <a:avLst/>
              </a:prstGeom>
              <a:gradFill rotWithShape="1">
                <a:gsLst>
                  <a:gs pos="0">
                    <a:srgbClr val="21B3E1"/>
                  </a:gs>
                  <a:gs pos="100000">
                    <a:srgbClr val="21B3E1">
                      <a:gamma/>
                      <a:shade val="46275"/>
                      <a:invGamma/>
                    </a:srgbClr>
                  </a:gs>
                </a:gsLst>
                <a:lin ang="5400000" scaled="1"/>
              </a:gradFill>
              <a:ln w="9525">
                <a:noFill/>
                <a:round/>
                <a:headEnd/>
                <a:tailEnd/>
              </a:ln>
              <a:effectLst/>
            </p:spPr>
            <p:txBody>
              <a:bodyPr wrap="none" anchor="ctr">
                <a:spAutoFit/>
              </a:bodyPr>
              <a:lstStyle/>
              <a:p>
                <a:endParaRPr lang="zh-CN" altLang="en-US"/>
              </a:p>
            </p:txBody>
          </p:sp>
          <p:sp>
            <p:nvSpPr>
              <p:cNvPr id="20" name="Oval 32">
                <a:extLst>
                  <a:ext uri="{FF2B5EF4-FFF2-40B4-BE49-F238E27FC236}">
                    <a16:creationId xmlns:a16="http://schemas.microsoft.com/office/drawing/2014/main" id="{2489DEAA-A865-499B-88BD-0BCAE86133A6}"/>
                  </a:ext>
                </a:extLst>
              </p:cNvPr>
              <p:cNvSpPr>
                <a:spLocks noChangeArrowheads="1"/>
              </p:cNvSpPr>
              <p:nvPr/>
            </p:nvSpPr>
            <p:spPr bwMode="auto">
              <a:xfrm>
                <a:off x="259" y="25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9525">
                <a:noFill/>
                <a:round/>
                <a:headEnd/>
                <a:tailEnd/>
              </a:ln>
              <a:effectLst/>
            </p:spPr>
            <p:txBody>
              <a:bodyPr anchor="ctr">
                <a:spAutoFit/>
              </a:bodyPr>
              <a:lstStyle/>
              <a:p>
                <a:endParaRPr lang="zh-CN" altLang="en-US"/>
              </a:p>
            </p:txBody>
          </p:sp>
          <p:sp>
            <p:nvSpPr>
              <p:cNvPr id="21" name="Oval 33">
                <a:extLst>
                  <a:ext uri="{FF2B5EF4-FFF2-40B4-BE49-F238E27FC236}">
                    <a16:creationId xmlns:a16="http://schemas.microsoft.com/office/drawing/2014/main" id="{013B729D-AE76-4963-B4E6-BA0BDBEE14E3}"/>
                  </a:ext>
                </a:extLst>
              </p:cNvPr>
              <p:cNvSpPr>
                <a:spLocks noChangeArrowheads="1"/>
              </p:cNvSpPr>
              <p:nvPr/>
            </p:nvSpPr>
            <p:spPr bwMode="auto">
              <a:xfrm>
                <a:off x="259" y="259"/>
                <a:ext cx="1096" cy="1098"/>
              </a:xfrm>
              <a:prstGeom prst="ellipse">
                <a:avLst/>
              </a:prstGeom>
              <a:gradFill rotWithShape="1">
                <a:gsLst>
                  <a:gs pos="0">
                    <a:srgbClr val="21B3E1"/>
                  </a:gs>
                  <a:gs pos="100000">
                    <a:srgbClr val="21B3E1">
                      <a:gamma/>
                      <a:shade val="48627"/>
                      <a:invGamma/>
                    </a:srgbClr>
                  </a:gs>
                </a:gsLst>
                <a:lin ang="2700000" scaled="1"/>
              </a:gradFill>
              <a:ln w="9525">
                <a:noFill/>
                <a:round/>
                <a:headEnd/>
                <a:tailEnd/>
              </a:ln>
              <a:effectLst/>
            </p:spPr>
            <p:txBody>
              <a:bodyPr anchor="ctr">
                <a:spAutoFit/>
              </a:bodyPr>
              <a:lstStyle/>
              <a:p>
                <a:endParaRPr lang="zh-CN" altLang="en-US"/>
              </a:p>
            </p:txBody>
          </p:sp>
        </p:grpSp>
      </p:grpSp>
      <p:grpSp>
        <p:nvGrpSpPr>
          <p:cNvPr id="22" name="Group 104">
            <a:extLst>
              <a:ext uri="{FF2B5EF4-FFF2-40B4-BE49-F238E27FC236}">
                <a16:creationId xmlns:a16="http://schemas.microsoft.com/office/drawing/2014/main" id="{7790259E-751A-4EFF-8679-EB55A042BD16}"/>
              </a:ext>
            </a:extLst>
          </p:cNvPr>
          <p:cNvGrpSpPr>
            <a:grpSpLocks/>
          </p:cNvGrpSpPr>
          <p:nvPr/>
        </p:nvGrpSpPr>
        <p:grpSpPr bwMode="auto">
          <a:xfrm>
            <a:off x="2921453" y="3177528"/>
            <a:ext cx="5334486" cy="504825"/>
            <a:chOff x="1338" y="1661"/>
            <a:chExt cx="4127" cy="318"/>
          </a:xfrm>
        </p:grpSpPr>
        <p:sp>
          <p:nvSpPr>
            <p:cNvPr id="23" name="AutoShape 35">
              <a:extLst>
                <a:ext uri="{FF2B5EF4-FFF2-40B4-BE49-F238E27FC236}">
                  <a16:creationId xmlns:a16="http://schemas.microsoft.com/office/drawing/2014/main" id="{F3B7AAFA-48D7-4F1F-9DE9-F01152C4F043}"/>
                </a:ext>
              </a:extLst>
            </p:cNvPr>
            <p:cNvSpPr>
              <a:spLocks noChangeArrowheads="1"/>
            </p:cNvSpPr>
            <p:nvPr/>
          </p:nvSpPr>
          <p:spPr bwMode="auto">
            <a:xfrm>
              <a:off x="1519" y="1661"/>
              <a:ext cx="3946" cy="318"/>
            </a:xfrm>
            <a:prstGeom prst="roundRect">
              <a:avLst>
                <a:gd name="adj" fmla="val 50000"/>
              </a:avLst>
            </a:prstGeom>
            <a:noFill/>
            <a:ln w="28575">
              <a:solidFill>
                <a:schemeClr val="bg2"/>
              </a:solidFill>
              <a:round/>
              <a:headEnd/>
              <a:tailEnd/>
            </a:ln>
            <a:effectLst/>
          </p:spPr>
          <p:txBody>
            <a:bodyPr wrap="none" anchor="ctr"/>
            <a:lstStyle/>
            <a:p>
              <a:pPr eaLnBrk="0" hangingPunct="0">
                <a:lnSpc>
                  <a:spcPct val="100000"/>
                </a:lnSpc>
                <a:spcBef>
                  <a:spcPct val="0"/>
                </a:spcBef>
              </a:pPr>
              <a:r>
                <a:rPr lang="en-US" altLang="zh-CN" sz="2400" b="1" dirty="0">
                  <a:solidFill>
                    <a:srgbClr val="6600FF"/>
                  </a:solidFill>
                  <a:latin typeface="Arial" charset="0"/>
                  <a:ea typeface="宋体" charset="-122"/>
                </a:rPr>
                <a:t> </a:t>
              </a:r>
              <a:r>
                <a:rPr lang="zh-CN" altLang="en-US" sz="2400" b="1" dirty="0">
                  <a:solidFill>
                    <a:srgbClr val="6600FF"/>
                  </a:solidFill>
                  <a:latin typeface="Arial" charset="0"/>
                  <a:ea typeface="宋体" charset="-122"/>
                </a:rPr>
                <a:t>分数阶微分方程数值解法</a:t>
              </a:r>
            </a:p>
          </p:txBody>
        </p:sp>
        <p:grpSp>
          <p:nvGrpSpPr>
            <p:cNvPr id="24" name="Group 36">
              <a:extLst>
                <a:ext uri="{FF2B5EF4-FFF2-40B4-BE49-F238E27FC236}">
                  <a16:creationId xmlns:a16="http://schemas.microsoft.com/office/drawing/2014/main" id="{8BA90DA0-0852-4017-B1FC-1F728FBCD320}"/>
                </a:ext>
              </a:extLst>
            </p:cNvPr>
            <p:cNvGrpSpPr>
              <a:grpSpLocks/>
            </p:cNvGrpSpPr>
            <p:nvPr/>
          </p:nvGrpSpPr>
          <p:grpSpPr bwMode="auto">
            <a:xfrm>
              <a:off x="1338" y="1682"/>
              <a:ext cx="273" cy="240"/>
              <a:chOff x="0" y="0"/>
              <a:chExt cx="1615" cy="1615"/>
            </a:xfrm>
          </p:grpSpPr>
          <p:sp>
            <p:nvSpPr>
              <p:cNvPr id="25" name="Oval 37">
                <a:extLst>
                  <a:ext uri="{FF2B5EF4-FFF2-40B4-BE49-F238E27FC236}">
                    <a16:creationId xmlns:a16="http://schemas.microsoft.com/office/drawing/2014/main" id="{D3E6B383-E6DE-44D0-B794-E986D0F8083A}"/>
                  </a:ext>
                </a:extLst>
              </p:cNvPr>
              <p:cNvSpPr>
                <a:spLocks noChangeArrowheads="1"/>
              </p:cNvSpPr>
              <p:nvPr/>
            </p:nvSpPr>
            <p:spPr bwMode="auto">
              <a:xfrm>
                <a:off x="0" y="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9525">
                <a:noFill/>
                <a:round/>
                <a:headEnd/>
                <a:tailEnd/>
              </a:ln>
              <a:effectLst/>
            </p:spPr>
            <p:txBody>
              <a:bodyPr wrap="none" anchor="ctr"/>
              <a:lstStyle/>
              <a:p>
                <a:endParaRPr lang="zh-CN" altLang="en-US"/>
              </a:p>
            </p:txBody>
          </p:sp>
          <p:sp>
            <p:nvSpPr>
              <p:cNvPr id="26" name="Oval 38">
                <a:extLst>
                  <a:ext uri="{FF2B5EF4-FFF2-40B4-BE49-F238E27FC236}">
                    <a16:creationId xmlns:a16="http://schemas.microsoft.com/office/drawing/2014/main" id="{55081D2C-FFFB-451B-8BEE-6011B3D4F027}"/>
                  </a:ext>
                </a:extLst>
              </p:cNvPr>
              <p:cNvSpPr>
                <a:spLocks noChangeArrowheads="1"/>
              </p:cNvSpPr>
              <p:nvPr/>
            </p:nvSpPr>
            <p:spPr bwMode="auto">
              <a:xfrm>
                <a:off x="92" y="9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noFill/>
                <a:round/>
                <a:headEnd/>
                <a:tailEnd/>
              </a:ln>
              <a:effectLst/>
            </p:spPr>
            <p:txBody>
              <a:bodyPr wrap="none" anchor="ctr"/>
              <a:lstStyle/>
              <a:p>
                <a:endParaRPr lang="zh-CN" altLang="en-US"/>
              </a:p>
            </p:txBody>
          </p:sp>
          <p:sp>
            <p:nvSpPr>
              <p:cNvPr id="27" name="Oval 39">
                <a:extLst>
                  <a:ext uri="{FF2B5EF4-FFF2-40B4-BE49-F238E27FC236}">
                    <a16:creationId xmlns:a16="http://schemas.microsoft.com/office/drawing/2014/main" id="{28768365-0A16-4B28-86AF-5F80CB36991E}"/>
                  </a:ext>
                </a:extLst>
              </p:cNvPr>
              <p:cNvSpPr>
                <a:spLocks noChangeArrowheads="1"/>
              </p:cNvSpPr>
              <p:nvPr/>
            </p:nvSpPr>
            <p:spPr bwMode="auto">
              <a:xfrm>
                <a:off x="176" y="17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9525">
                <a:noFill/>
                <a:round/>
                <a:headEnd/>
                <a:tailEnd/>
              </a:ln>
              <a:effectLst/>
            </p:spPr>
            <p:txBody>
              <a:bodyPr wrap="none" anchor="ctr">
                <a:spAutoFit/>
              </a:bodyPr>
              <a:lstStyle/>
              <a:p>
                <a:endParaRPr lang="zh-CN" altLang="en-US"/>
              </a:p>
            </p:txBody>
          </p:sp>
          <p:sp>
            <p:nvSpPr>
              <p:cNvPr id="28" name="Oval 40">
                <a:extLst>
                  <a:ext uri="{FF2B5EF4-FFF2-40B4-BE49-F238E27FC236}">
                    <a16:creationId xmlns:a16="http://schemas.microsoft.com/office/drawing/2014/main" id="{E5FA6941-F603-4E9F-AC52-AF9F532C88BF}"/>
                  </a:ext>
                </a:extLst>
              </p:cNvPr>
              <p:cNvSpPr>
                <a:spLocks noChangeArrowheads="1"/>
              </p:cNvSpPr>
              <p:nvPr/>
            </p:nvSpPr>
            <p:spPr bwMode="auto">
              <a:xfrm>
                <a:off x="176" y="176"/>
                <a:ext cx="1262" cy="1264"/>
              </a:xfrm>
              <a:prstGeom prst="ellipse">
                <a:avLst/>
              </a:prstGeom>
              <a:gradFill rotWithShape="1">
                <a:gsLst>
                  <a:gs pos="0">
                    <a:srgbClr val="8D67E1">
                      <a:gamma/>
                      <a:shade val="0"/>
                      <a:invGamma/>
                    </a:srgbClr>
                  </a:gs>
                  <a:gs pos="100000">
                    <a:srgbClr val="8D67E1"/>
                  </a:gs>
                </a:gsLst>
                <a:lin ang="2700000" scaled="1"/>
              </a:gradFill>
              <a:ln w="9525">
                <a:noFill/>
                <a:round/>
                <a:headEnd/>
                <a:tailEnd/>
              </a:ln>
              <a:effectLst/>
            </p:spPr>
            <p:txBody>
              <a:bodyPr wrap="none" anchor="ctr">
                <a:spAutoFit/>
              </a:bodyPr>
              <a:lstStyle/>
              <a:p>
                <a:endParaRPr lang="zh-CN" altLang="en-US"/>
              </a:p>
            </p:txBody>
          </p:sp>
          <p:sp>
            <p:nvSpPr>
              <p:cNvPr id="29" name="Oval 41">
                <a:extLst>
                  <a:ext uri="{FF2B5EF4-FFF2-40B4-BE49-F238E27FC236}">
                    <a16:creationId xmlns:a16="http://schemas.microsoft.com/office/drawing/2014/main" id="{C78847A8-512C-4F3D-B38B-36237351BCFF}"/>
                  </a:ext>
                </a:extLst>
              </p:cNvPr>
              <p:cNvSpPr>
                <a:spLocks noChangeArrowheads="1"/>
              </p:cNvSpPr>
              <p:nvPr/>
            </p:nvSpPr>
            <p:spPr bwMode="auto">
              <a:xfrm>
                <a:off x="259" y="25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9525">
                <a:noFill/>
                <a:round/>
                <a:headEnd/>
                <a:tailEnd/>
              </a:ln>
              <a:effectLst/>
            </p:spPr>
            <p:txBody>
              <a:bodyPr anchor="ctr">
                <a:spAutoFit/>
              </a:bodyPr>
              <a:lstStyle/>
              <a:p>
                <a:endParaRPr lang="zh-CN" altLang="en-US"/>
              </a:p>
            </p:txBody>
          </p:sp>
          <p:sp>
            <p:nvSpPr>
              <p:cNvPr id="30" name="Oval 42">
                <a:extLst>
                  <a:ext uri="{FF2B5EF4-FFF2-40B4-BE49-F238E27FC236}">
                    <a16:creationId xmlns:a16="http://schemas.microsoft.com/office/drawing/2014/main" id="{397DDFAF-63F2-4057-BAE7-46FE9CCDBC81}"/>
                  </a:ext>
                </a:extLst>
              </p:cNvPr>
              <p:cNvSpPr>
                <a:spLocks noChangeArrowheads="1"/>
              </p:cNvSpPr>
              <p:nvPr/>
            </p:nvSpPr>
            <p:spPr bwMode="auto">
              <a:xfrm>
                <a:off x="259" y="259"/>
                <a:ext cx="1096" cy="1098"/>
              </a:xfrm>
              <a:prstGeom prst="ellipse">
                <a:avLst/>
              </a:prstGeom>
              <a:gradFill rotWithShape="1">
                <a:gsLst>
                  <a:gs pos="0">
                    <a:srgbClr val="8D67E1"/>
                  </a:gs>
                  <a:gs pos="100000">
                    <a:srgbClr val="8D67E1">
                      <a:gamma/>
                      <a:shade val="48627"/>
                      <a:invGamma/>
                    </a:srgbClr>
                  </a:gs>
                </a:gsLst>
                <a:lin ang="2700000" scaled="1"/>
              </a:gradFill>
              <a:ln w="9525">
                <a:noFill/>
                <a:round/>
                <a:headEnd/>
                <a:tailEnd/>
              </a:ln>
              <a:effectLst/>
            </p:spPr>
            <p:txBody>
              <a:bodyPr anchor="ctr">
                <a:spAutoFit/>
              </a:bodyPr>
              <a:lstStyle/>
              <a:p>
                <a:endParaRPr lang="zh-CN" altLang="en-US"/>
              </a:p>
            </p:txBody>
          </p:sp>
        </p:grpSp>
      </p:grpSp>
      <p:grpSp>
        <p:nvGrpSpPr>
          <p:cNvPr id="31" name="Group 97">
            <a:extLst>
              <a:ext uri="{FF2B5EF4-FFF2-40B4-BE49-F238E27FC236}">
                <a16:creationId xmlns:a16="http://schemas.microsoft.com/office/drawing/2014/main" id="{A104976B-C12B-4C04-9379-9E16BC01A458}"/>
              </a:ext>
            </a:extLst>
          </p:cNvPr>
          <p:cNvGrpSpPr>
            <a:grpSpLocks/>
          </p:cNvGrpSpPr>
          <p:nvPr/>
        </p:nvGrpSpPr>
        <p:grpSpPr bwMode="auto">
          <a:xfrm>
            <a:off x="2887013" y="4685696"/>
            <a:ext cx="5349875" cy="508000"/>
            <a:chOff x="1324" y="2886"/>
            <a:chExt cx="3370" cy="320"/>
          </a:xfrm>
        </p:grpSpPr>
        <p:sp>
          <p:nvSpPr>
            <p:cNvPr id="32" name="AutoShape 44">
              <a:extLst>
                <a:ext uri="{FF2B5EF4-FFF2-40B4-BE49-F238E27FC236}">
                  <a16:creationId xmlns:a16="http://schemas.microsoft.com/office/drawing/2014/main" id="{C09754ED-0C2D-4B4F-9B64-A5B170155539}"/>
                </a:ext>
              </a:extLst>
            </p:cNvPr>
            <p:cNvSpPr>
              <a:spLocks noChangeArrowheads="1"/>
            </p:cNvSpPr>
            <p:nvPr/>
          </p:nvSpPr>
          <p:spPr bwMode="auto">
            <a:xfrm>
              <a:off x="1531" y="2886"/>
              <a:ext cx="3163" cy="320"/>
            </a:xfrm>
            <a:prstGeom prst="roundRect">
              <a:avLst>
                <a:gd name="adj" fmla="val 50000"/>
              </a:avLst>
            </a:prstGeom>
            <a:noFill/>
            <a:ln w="28575">
              <a:solidFill>
                <a:schemeClr val="bg2"/>
              </a:solidFill>
              <a:round/>
              <a:headEnd/>
              <a:tailEnd/>
            </a:ln>
            <a:effectLst/>
          </p:spPr>
          <p:txBody>
            <a:bodyPr wrap="none" anchor="ctr"/>
            <a:lstStyle/>
            <a:p>
              <a:pPr eaLnBrk="0" hangingPunct="0">
                <a:lnSpc>
                  <a:spcPct val="100000"/>
                </a:lnSpc>
                <a:spcBef>
                  <a:spcPct val="0"/>
                </a:spcBef>
                <a:buClrTx/>
                <a:buFontTx/>
                <a:buNone/>
              </a:pPr>
              <a:r>
                <a:rPr lang="zh-CN" altLang="en-US" sz="2400" b="1" dirty="0">
                  <a:solidFill>
                    <a:srgbClr val="CC3300"/>
                  </a:solidFill>
                  <a:latin typeface="宋体" charset="-122"/>
                  <a:ea typeface="宋体" charset="-122"/>
                </a:rPr>
                <a:t> 有限差分方法</a:t>
              </a:r>
              <a:r>
                <a:rPr lang="zh-CN" altLang="en-US" b="1" dirty="0">
                  <a:solidFill>
                    <a:srgbClr val="CC3300"/>
                  </a:solidFill>
                  <a:latin typeface="宋体" charset="-122"/>
                  <a:ea typeface="宋体" charset="-122"/>
                </a:rPr>
                <a:t> </a:t>
              </a:r>
            </a:p>
          </p:txBody>
        </p:sp>
        <p:grpSp>
          <p:nvGrpSpPr>
            <p:cNvPr id="33" name="Group 45">
              <a:extLst>
                <a:ext uri="{FF2B5EF4-FFF2-40B4-BE49-F238E27FC236}">
                  <a16:creationId xmlns:a16="http://schemas.microsoft.com/office/drawing/2014/main" id="{63DE33D7-3F2C-4469-ABD1-0AB82E6CF12D}"/>
                </a:ext>
              </a:extLst>
            </p:cNvPr>
            <p:cNvGrpSpPr>
              <a:grpSpLocks/>
            </p:cNvGrpSpPr>
            <p:nvPr/>
          </p:nvGrpSpPr>
          <p:grpSpPr bwMode="auto">
            <a:xfrm>
              <a:off x="1324" y="2921"/>
              <a:ext cx="255" cy="240"/>
              <a:chOff x="0" y="0"/>
              <a:chExt cx="1615" cy="1615"/>
            </a:xfrm>
          </p:grpSpPr>
          <p:sp>
            <p:nvSpPr>
              <p:cNvPr id="34" name="Oval 46">
                <a:extLst>
                  <a:ext uri="{FF2B5EF4-FFF2-40B4-BE49-F238E27FC236}">
                    <a16:creationId xmlns:a16="http://schemas.microsoft.com/office/drawing/2014/main" id="{3EB39D0E-BBC0-4EE1-8CAA-6D44727B9830}"/>
                  </a:ext>
                </a:extLst>
              </p:cNvPr>
              <p:cNvSpPr>
                <a:spLocks noChangeArrowheads="1"/>
              </p:cNvSpPr>
              <p:nvPr/>
            </p:nvSpPr>
            <p:spPr bwMode="auto">
              <a:xfrm>
                <a:off x="0" y="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9525">
                <a:noFill/>
                <a:round/>
                <a:headEnd/>
                <a:tailEnd/>
              </a:ln>
              <a:effectLst/>
            </p:spPr>
            <p:txBody>
              <a:bodyPr wrap="none" anchor="ctr"/>
              <a:lstStyle/>
              <a:p>
                <a:endParaRPr lang="zh-CN" altLang="en-US"/>
              </a:p>
            </p:txBody>
          </p:sp>
          <p:sp>
            <p:nvSpPr>
              <p:cNvPr id="35" name="Oval 47">
                <a:extLst>
                  <a:ext uri="{FF2B5EF4-FFF2-40B4-BE49-F238E27FC236}">
                    <a16:creationId xmlns:a16="http://schemas.microsoft.com/office/drawing/2014/main" id="{33CFCA0A-1A11-480B-BFFE-D24D3B33AA18}"/>
                  </a:ext>
                </a:extLst>
              </p:cNvPr>
              <p:cNvSpPr>
                <a:spLocks noChangeArrowheads="1"/>
              </p:cNvSpPr>
              <p:nvPr/>
            </p:nvSpPr>
            <p:spPr bwMode="auto">
              <a:xfrm>
                <a:off x="92" y="9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noFill/>
                <a:round/>
                <a:headEnd/>
                <a:tailEnd/>
              </a:ln>
              <a:effectLst/>
            </p:spPr>
            <p:txBody>
              <a:bodyPr wrap="none" anchor="ctr"/>
              <a:lstStyle/>
              <a:p>
                <a:endParaRPr lang="zh-CN" altLang="en-US"/>
              </a:p>
            </p:txBody>
          </p:sp>
          <p:sp>
            <p:nvSpPr>
              <p:cNvPr id="36" name="Oval 48">
                <a:extLst>
                  <a:ext uri="{FF2B5EF4-FFF2-40B4-BE49-F238E27FC236}">
                    <a16:creationId xmlns:a16="http://schemas.microsoft.com/office/drawing/2014/main" id="{500C97FB-2D59-4667-8F31-05604A195698}"/>
                  </a:ext>
                </a:extLst>
              </p:cNvPr>
              <p:cNvSpPr>
                <a:spLocks noChangeArrowheads="1"/>
              </p:cNvSpPr>
              <p:nvPr/>
            </p:nvSpPr>
            <p:spPr bwMode="auto">
              <a:xfrm>
                <a:off x="176" y="17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9525">
                <a:noFill/>
                <a:round/>
                <a:headEnd/>
                <a:tailEnd/>
              </a:ln>
              <a:effectLst/>
            </p:spPr>
            <p:txBody>
              <a:bodyPr wrap="none" anchor="ctr">
                <a:spAutoFit/>
              </a:bodyPr>
              <a:lstStyle/>
              <a:p>
                <a:endParaRPr lang="zh-CN" altLang="en-US"/>
              </a:p>
            </p:txBody>
          </p:sp>
          <p:sp>
            <p:nvSpPr>
              <p:cNvPr id="37" name="Oval 49">
                <a:extLst>
                  <a:ext uri="{FF2B5EF4-FFF2-40B4-BE49-F238E27FC236}">
                    <a16:creationId xmlns:a16="http://schemas.microsoft.com/office/drawing/2014/main" id="{D6AF9028-018D-4E0A-AC30-2EF675CE0756}"/>
                  </a:ext>
                </a:extLst>
              </p:cNvPr>
              <p:cNvSpPr>
                <a:spLocks noChangeArrowheads="1"/>
              </p:cNvSpPr>
              <p:nvPr/>
            </p:nvSpPr>
            <p:spPr bwMode="auto">
              <a:xfrm>
                <a:off x="176" y="176"/>
                <a:ext cx="1262" cy="1264"/>
              </a:xfrm>
              <a:prstGeom prst="ellipse">
                <a:avLst/>
              </a:prstGeom>
              <a:gradFill rotWithShape="1">
                <a:gsLst>
                  <a:gs pos="0">
                    <a:srgbClr val="E35E23">
                      <a:gamma/>
                      <a:shade val="0"/>
                      <a:invGamma/>
                    </a:srgbClr>
                  </a:gs>
                  <a:gs pos="100000">
                    <a:srgbClr val="E35E23"/>
                  </a:gs>
                </a:gsLst>
                <a:lin ang="2700000" scaled="1"/>
              </a:gradFill>
              <a:ln w="9525">
                <a:noFill/>
                <a:round/>
                <a:headEnd/>
                <a:tailEnd/>
              </a:ln>
              <a:effectLst/>
            </p:spPr>
            <p:txBody>
              <a:bodyPr wrap="none" anchor="ctr">
                <a:spAutoFit/>
              </a:bodyPr>
              <a:lstStyle/>
              <a:p>
                <a:endParaRPr lang="zh-CN" altLang="en-US"/>
              </a:p>
            </p:txBody>
          </p:sp>
          <p:sp>
            <p:nvSpPr>
              <p:cNvPr id="38" name="Oval 50">
                <a:extLst>
                  <a:ext uri="{FF2B5EF4-FFF2-40B4-BE49-F238E27FC236}">
                    <a16:creationId xmlns:a16="http://schemas.microsoft.com/office/drawing/2014/main" id="{FC70D3AD-46EE-40E9-991E-2F4B7811C1B4}"/>
                  </a:ext>
                </a:extLst>
              </p:cNvPr>
              <p:cNvSpPr>
                <a:spLocks noChangeArrowheads="1"/>
              </p:cNvSpPr>
              <p:nvPr/>
            </p:nvSpPr>
            <p:spPr bwMode="auto">
              <a:xfrm>
                <a:off x="259" y="25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9525">
                <a:noFill/>
                <a:round/>
                <a:headEnd/>
                <a:tailEnd/>
              </a:ln>
              <a:effectLst/>
            </p:spPr>
            <p:txBody>
              <a:bodyPr anchor="ctr">
                <a:spAutoFit/>
              </a:bodyPr>
              <a:lstStyle/>
              <a:p>
                <a:endParaRPr lang="zh-CN" altLang="en-US"/>
              </a:p>
            </p:txBody>
          </p:sp>
          <p:sp>
            <p:nvSpPr>
              <p:cNvPr id="39" name="Oval 51">
                <a:extLst>
                  <a:ext uri="{FF2B5EF4-FFF2-40B4-BE49-F238E27FC236}">
                    <a16:creationId xmlns:a16="http://schemas.microsoft.com/office/drawing/2014/main" id="{557A4FD8-184B-4B98-890F-EA0F31EC9447}"/>
                  </a:ext>
                </a:extLst>
              </p:cNvPr>
              <p:cNvSpPr>
                <a:spLocks noChangeArrowheads="1"/>
              </p:cNvSpPr>
              <p:nvPr/>
            </p:nvSpPr>
            <p:spPr bwMode="auto">
              <a:xfrm>
                <a:off x="259" y="259"/>
                <a:ext cx="1096" cy="1098"/>
              </a:xfrm>
              <a:prstGeom prst="ellipse">
                <a:avLst/>
              </a:prstGeom>
              <a:gradFill rotWithShape="1">
                <a:gsLst>
                  <a:gs pos="0">
                    <a:srgbClr val="E35E23"/>
                  </a:gs>
                  <a:gs pos="100000">
                    <a:srgbClr val="E35E23">
                      <a:gamma/>
                      <a:shade val="48627"/>
                      <a:invGamma/>
                    </a:srgbClr>
                  </a:gs>
                </a:gsLst>
                <a:lin ang="2700000" scaled="1"/>
              </a:gradFill>
              <a:ln w="9525">
                <a:noFill/>
                <a:round/>
                <a:headEnd/>
                <a:tailEnd/>
              </a:ln>
              <a:effectLst/>
            </p:spPr>
            <p:txBody>
              <a:bodyPr anchor="ctr">
                <a:spAutoFit/>
              </a:bodyPr>
              <a:lstStyle/>
              <a:p>
                <a:endParaRPr lang="zh-CN" altLang="en-US"/>
              </a:p>
            </p:txBody>
          </p:sp>
        </p:grpSp>
      </p:grpSp>
      <p:grpSp>
        <p:nvGrpSpPr>
          <p:cNvPr id="40" name="Group 92">
            <a:extLst>
              <a:ext uri="{FF2B5EF4-FFF2-40B4-BE49-F238E27FC236}">
                <a16:creationId xmlns:a16="http://schemas.microsoft.com/office/drawing/2014/main" id="{42A6BAEF-7BEF-4DD2-B702-5148D3E1E1A7}"/>
              </a:ext>
            </a:extLst>
          </p:cNvPr>
          <p:cNvGrpSpPr>
            <a:grpSpLocks/>
          </p:cNvGrpSpPr>
          <p:nvPr/>
        </p:nvGrpSpPr>
        <p:grpSpPr bwMode="auto">
          <a:xfrm>
            <a:off x="2959019" y="1809414"/>
            <a:ext cx="5277870" cy="504825"/>
            <a:chOff x="703" y="845"/>
            <a:chExt cx="3539" cy="318"/>
          </a:xfrm>
        </p:grpSpPr>
        <p:sp>
          <p:nvSpPr>
            <p:cNvPr id="41" name="AutoShape 54">
              <a:extLst>
                <a:ext uri="{FF2B5EF4-FFF2-40B4-BE49-F238E27FC236}">
                  <a16:creationId xmlns:a16="http://schemas.microsoft.com/office/drawing/2014/main" id="{E2759406-A693-4C4F-881B-A11927F6E871}"/>
                </a:ext>
              </a:extLst>
            </p:cNvPr>
            <p:cNvSpPr>
              <a:spLocks noChangeArrowheads="1"/>
            </p:cNvSpPr>
            <p:nvPr/>
          </p:nvSpPr>
          <p:spPr bwMode="auto">
            <a:xfrm>
              <a:off x="885" y="845"/>
              <a:ext cx="3357" cy="318"/>
            </a:xfrm>
            <a:prstGeom prst="roundRect">
              <a:avLst>
                <a:gd name="adj" fmla="val 50000"/>
              </a:avLst>
            </a:prstGeom>
            <a:noFill/>
            <a:ln w="28575">
              <a:solidFill>
                <a:schemeClr val="bg2"/>
              </a:solidFill>
              <a:round/>
              <a:headEnd/>
              <a:tailEnd/>
            </a:ln>
            <a:effectLst/>
          </p:spPr>
          <p:txBody>
            <a:bodyPr wrap="none" anchor="ctr"/>
            <a:lstStyle/>
            <a:p>
              <a:pPr eaLnBrk="0" hangingPunct="0">
                <a:lnSpc>
                  <a:spcPct val="100000"/>
                </a:lnSpc>
                <a:spcBef>
                  <a:spcPct val="0"/>
                </a:spcBef>
              </a:pPr>
              <a:r>
                <a:rPr lang="zh-CN" altLang="en-US" sz="1800" dirty="0">
                  <a:latin typeface="Arial" charset="0"/>
                  <a:ea typeface="宋体" charset="-122"/>
                </a:rPr>
                <a:t>  </a:t>
              </a:r>
              <a:r>
                <a:rPr lang="zh-CN" altLang="en-US" sz="2400" b="1" dirty="0">
                  <a:solidFill>
                    <a:srgbClr val="99CC00"/>
                  </a:solidFill>
                  <a:latin typeface="Times New Roman" pitchFamily="18" charset="0"/>
                  <a:ea typeface="宋体" charset="-122"/>
                </a:rPr>
                <a:t>常微分方程数值解法</a:t>
              </a:r>
              <a:endParaRPr lang="en-US" altLang="zh-CN" sz="2400" b="1" dirty="0">
                <a:solidFill>
                  <a:srgbClr val="99CC00"/>
                </a:solidFill>
                <a:latin typeface="Times New Roman" pitchFamily="18" charset="0"/>
                <a:ea typeface="宋体" charset="-122"/>
              </a:endParaRPr>
            </a:p>
          </p:txBody>
        </p:sp>
        <p:grpSp>
          <p:nvGrpSpPr>
            <p:cNvPr id="42" name="Group 76">
              <a:extLst>
                <a:ext uri="{FF2B5EF4-FFF2-40B4-BE49-F238E27FC236}">
                  <a16:creationId xmlns:a16="http://schemas.microsoft.com/office/drawing/2014/main" id="{5AC6F4B4-5488-451F-B2DE-D2904E2A31D3}"/>
                </a:ext>
              </a:extLst>
            </p:cNvPr>
            <p:cNvGrpSpPr>
              <a:grpSpLocks/>
            </p:cNvGrpSpPr>
            <p:nvPr/>
          </p:nvGrpSpPr>
          <p:grpSpPr bwMode="auto">
            <a:xfrm>
              <a:off x="703" y="891"/>
              <a:ext cx="272" cy="240"/>
              <a:chOff x="801" y="1033"/>
              <a:chExt cx="240" cy="240"/>
            </a:xfrm>
          </p:grpSpPr>
          <p:sp>
            <p:nvSpPr>
              <p:cNvPr id="43" name="Oval 56">
                <a:extLst>
                  <a:ext uri="{FF2B5EF4-FFF2-40B4-BE49-F238E27FC236}">
                    <a16:creationId xmlns:a16="http://schemas.microsoft.com/office/drawing/2014/main" id="{60E0B88A-5DC0-4D5F-940D-A4380FF486FA}"/>
                  </a:ext>
                </a:extLst>
              </p:cNvPr>
              <p:cNvSpPr>
                <a:spLocks noChangeArrowheads="1"/>
              </p:cNvSpPr>
              <p:nvPr/>
            </p:nvSpPr>
            <p:spPr bwMode="auto">
              <a:xfrm>
                <a:off x="801" y="1033"/>
                <a:ext cx="240" cy="240"/>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9525">
                <a:noFill/>
                <a:round/>
                <a:headEnd/>
                <a:tailEnd/>
              </a:ln>
              <a:effectLst/>
            </p:spPr>
            <p:txBody>
              <a:bodyPr wrap="none" anchor="ctr"/>
              <a:lstStyle/>
              <a:p>
                <a:endParaRPr lang="zh-CN" altLang="en-US"/>
              </a:p>
            </p:txBody>
          </p:sp>
          <p:sp>
            <p:nvSpPr>
              <p:cNvPr id="44" name="Oval 57">
                <a:extLst>
                  <a:ext uri="{FF2B5EF4-FFF2-40B4-BE49-F238E27FC236}">
                    <a16:creationId xmlns:a16="http://schemas.microsoft.com/office/drawing/2014/main" id="{860D7F6B-8986-4EC1-8CCA-1879183E8BC7}"/>
                  </a:ext>
                </a:extLst>
              </p:cNvPr>
              <p:cNvSpPr>
                <a:spLocks noChangeArrowheads="1"/>
              </p:cNvSpPr>
              <p:nvPr/>
            </p:nvSpPr>
            <p:spPr bwMode="auto">
              <a:xfrm>
                <a:off x="815" y="1047"/>
                <a:ext cx="212" cy="212"/>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noFill/>
                <a:round/>
                <a:headEnd/>
                <a:tailEnd/>
              </a:ln>
              <a:effectLst/>
            </p:spPr>
            <p:txBody>
              <a:bodyPr wrap="none" anchor="ctr"/>
              <a:lstStyle/>
              <a:p>
                <a:endParaRPr lang="zh-CN" altLang="en-US"/>
              </a:p>
            </p:txBody>
          </p:sp>
          <p:sp>
            <p:nvSpPr>
              <p:cNvPr id="45" name="Oval 58">
                <a:extLst>
                  <a:ext uri="{FF2B5EF4-FFF2-40B4-BE49-F238E27FC236}">
                    <a16:creationId xmlns:a16="http://schemas.microsoft.com/office/drawing/2014/main" id="{AE2A0FF6-890F-4004-A35D-46CC6D741586}"/>
                  </a:ext>
                </a:extLst>
              </p:cNvPr>
              <p:cNvSpPr>
                <a:spLocks noChangeArrowheads="1"/>
              </p:cNvSpPr>
              <p:nvPr/>
            </p:nvSpPr>
            <p:spPr bwMode="auto">
              <a:xfrm>
                <a:off x="827" y="1059"/>
                <a:ext cx="188" cy="188"/>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9525">
                <a:noFill/>
                <a:round/>
                <a:headEnd/>
                <a:tailEnd/>
              </a:ln>
              <a:effectLst/>
            </p:spPr>
            <p:txBody>
              <a:bodyPr wrap="none" anchor="ctr">
                <a:spAutoFit/>
              </a:bodyPr>
              <a:lstStyle/>
              <a:p>
                <a:endParaRPr lang="zh-CN" altLang="en-US"/>
              </a:p>
            </p:txBody>
          </p:sp>
          <p:sp>
            <p:nvSpPr>
              <p:cNvPr id="46" name="Oval 59">
                <a:extLst>
                  <a:ext uri="{FF2B5EF4-FFF2-40B4-BE49-F238E27FC236}">
                    <a16:creationId xmlns:a16="http://schemas.microsoft.com/office/drawing/2014/main" id="{CC0C003F-73BF-4D0B-A812-B24C88022D0F}"/>
                  </a:ext>
                </a:extLst>
              </p:cNvPr>
              <p:cNvSpPr>
                <a:spLocks noChangeArrowheads="1"/>
              </p:cNvSpPr>
              <p:nvPr/>
            </p:nvSpPr>
            <p:spPr bwMode="auto">
              <a:xfrm>
                <a:off x="827" y="1059"/>
                <a:ext cx="188" cy="188"/>
              </a:xfrm>
              <a:prstGeom prst="ellipse">
                <a:avLst/>
              </a:prstGeom>
              <a:gradFill rotWithShape="1">
                <a:gsLst>
                  <a:gs pos="0">
                    <a:srgbClr val="FFCC00">
                      <a:gamma/>
                      <a:shade val="0"/>
                      <a:invGamma/>
                    </a:srgbClr>
                  </a:gs>
                  <a:gs pos="100000">
                    <a:srgbClr val="FFCC00"/>
                  </a:gs>
                </a:gsLst>
                <a:lin ang="2700000" scaled="1"/>
              </a:gradFill>
              <a:ln w="9525">
                <a:noFill/>
                <a:round/>
                <a:headEnd/>
                <a:tailEnd/>
              </a:ln>
              <a:effectLst/>
            </p:spPr>
            <p:txBody>
              <a:bodyPr wrap="none" anchor="ctr">
                <a:spAutoFit/>
              </a:bodyPr>
              <a:lstStyle/>
              <a:p>
                <a:endParaRPr lang="zh-CN" altLang="en-US"/>
              </a:p>
            </p:txBody>
          </p:sp>
          <p:sp>
            <p:nvSpPr>
              <p:cNvPr id="47" name="Oval 60">
                <a:extLst>
                  <a:ext uri="{FF2B5EF4-FFF2-40B4-BE49-F238E27FC236}">
                    <a16:creationId xmlns:a16="http://schemas.microsoft.com/office/drawing/2014/main" id="{DCA53285-1C89-4E59-B771-B4DDE492CBAC}"/>
                  </a:ext>
                </a:extLst>
              </p:cNvPr>
              <p:cNvSpPr>
                <a:spLocks noChangeArrowheads="1"/>
              </p:cNvSpPr>
              <p:nvPr/>
            </p:nvSpPr>
            <p:spPr bwMode="auto">
              <a:xfrm>
                <a:off x="839" y="1071"/>
                <a:ext cx="163" cy="164"/>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9525">
                <a:noFill/>
                <a:round/>
                <a:headEnd/>
                <a:tailEnd/>
              </a:ln>
              <a:effectLst/>
            </p:spPr>
            <p:txBody>
              <a:bodyPr anchor="ctr">
                <a:spAutoFit/>
              </a:bodyPr>
              <a:lstStyle/>
              <a:p>
                <a:endParaRPr lang="zh-CN" altLang="en-US"/>
              </a:p>
            </p:txBody>
          </p:sp>
          <p:sp>
            <p:nvSpPr>
              <p:cNvPr id="48" name="Oval 61">
                <a:extLst>
                  <a:ext uri="{FF2B5EF4-FFF2-40B4-BE49-F238E27FC236}">
                    <a16:creationId xmlns:a16="http://schemas.microsoft.com/office/drawing/2014/main" id="{DBA398B9-00C4-468E-A88B-DAB56F5F52EF}"/>
                  </a:ext>
                </a:extLst>
              </p:cNvPr>
              <p:cNvSpPr>
                <a:spLocks noChangeArrowheads="1"/>
              </p:cNvSpPr>
              <p:nvPr/>
            </p:nvSpPr>
            <p:spPr bwMode="auto">
              <a:xfrm>
                <a:off x="839" y="1071"/>
                <a:ext cx="163" cy="164"/>
              </a:xfrm>
              <a:prstGeom prst="ellipse">
                <a:avLst/>
              </a:prstGeom>
              <a:solidFill>
                <a:srgbClr val="99CC00"/>
              </a:solidFill>
              <a:ln w="9525">
                <a:noFill/>
                <a:round/>
                <a:headEnd/>
                <a:tailEnd/>
              </a:ln>
              <a:effectLst/>
            </p:spPr>
            <p:txBody>
              <a:bodyPr anchor="ctr">
                <a:spAutoFit/>
              </a:bodyPr>
              <a:lstStyle/>
              <a:p>
                <a:endParaRPr lang="zh-CN" altLang="en-US"/>
              </a:p>
            </p:txBody>
          </p:sp>
        </p:grpSp>
      </p:grpSp>
      <p:grpSp>
        <p:nvGrpSpPr>
          <p:cNvPr id="49" name="Group 98">
            <a:extLst>
              <a:ext uri="{FF2B5EF4-FFF2-40B4-BE49-F238E27FC236}">
                <a16:creationId xmlns:a16="http://schemas.microsoft.com/office/drawing/2014/main" id="{6C4F792F-F375-4F28-B98A-E2CFC122129F}"/>
              </a:ext>
            </a:extLst>
          </p:cNvPr>
          <p:cNvGrpSpPr>
            <a:grpSpLocks/>
          </p:cNvGrpSpPr>
          <p:nvPr/>
        </p:nvGrpSpPr>
        <p:grpSpPr bwMode="auto">
          <a:xfrm>
            <a:off x="2887013" y="5409714"/>
            <a:ext cx="5368926" cy="508000"/>
            <a:chOff x="1065" y="3294"/>
            <a:chExt cx="3811" cy="320"/>
          </a:xfrm>
        </p:grpSpPr>
        <p:sp>
          <p:nvSpPr>
            <p:cNvPr id="50" name="AutoShape 63">
              <a:extLst>
                <a:ext uri="{FF2B5EF4-FFF2-40B4-BE49-F238E27FC236}">
                  <a16:creationId xmlns:a16="http://schemas.microsoft.com/office/drawing/2014/main" id="{8AE6E8AB-2D84-4DE5-89BC-57EFDD9F41FF}"/>
                </a:ext>
              </a:extLst>
            </p:cNvPr>
            <p:cNvSpPr>
              <a:spLocks noChangeArrowheads="1"/>
            </p:cNvSpPr>
            <p:nvPr/>
          </p:nvSpPr>
          <p:spPr bwMode="auto">
            <a:xfrm>
              <a:off x="1260" y="3294"/>
              <a:ext cx="3616" cy="320"/>
            </a:xfrm>
            <a:prstGeom prst="roundRect">
              <a:avLst>
                <a:gd name="adj" fmla="val 50000"/>
              </a:avLst>
            </a:prstGeom>
            <a:noFill/>
            <a:ln w="28575">
              <a:solidFill>
                <a:schemeClr val="bg2"/>
              </a:solidFill>
              <a:round/>
              <a:headEnd/>
              <a:tailEnd/>
            </a:ln>
            <a:effectLst/>
          </p:spPr>
          <p:txBody>
            <a:bodyPr wrap="none" anchor="ctr"/>
            <a:lstStyle/>
            <a:p>
              <a:pPr eaLnBrk="0" hangingPunct="0">
                <a:lnSpc>
                  <a:spcPct val="100000"/>
                </a:lnSpc>
                <a:spcBef>
                  <a:spcPct val="0"/>
                </a:spcBef>
                <a:buClrTx/>
                <a:buFontTx/>
                <a:buNone/>
              </a:pPr>
              <a:r>
                <a:rPr lang="zh-CN" altLang="en-US" sz="2400" b="1" dirty="0">
                  <a:solidFill>
                    <a:srgbClr val="0066FF"/>
                  </a:solidFill>
                  <a:latin typeface="Arial" charset="0"/>
                  <a:ea typeface="宋体" charset="-122"/>
                </a:rPr>
                <a:t>  普方法等</a:t>
              </a:r>
              <a:r>
                <a:rPr lang="zh-CN" altLang="en-US" sz="2400" dirty="0">
                  <a:latin typeface="Arial" charset="0"/>
                  <a:ea typeface="宋体" charset="-122"/>
                </a:rPr>
                <a:t> </a:t>
              </a:r>
            </a:p>
          </p:txBody>
        </p:sp>
        <p:grpSp>
          <p:nvGrpSpPr>
            <p:cNvPr id="51" name="Group 91">
              <a:extLst>
                <a:ext uri="{FF2B5EF4-FFF2-40B4-BE49-F238E27FC236}">
                  <a16:creationId xmlns:a16="http://schemas.microsoft.com/office/drawing/2014/main" id="{FF93FC78-9060-484D-A9B6-E59BFEEF74A0}"/>
                </a:ext>
              </a:extLst>
            </p:cNvPr>
            <p:cNvGrpSpPr>
              <a:grpSpLocks/>
            </p:cNvGrpSpPr>
            <p:nvPr/>
          </p:nvGrpSpPr>
          <p:grpSpPr bwMode="auto">
            <a:xfrm>
              <a:off x="1065" y="3342"/>
              <a:ext cx="273" cy="240"/>
              <a:chOff x="1113" y="3222"/>
              <a:chExt cx="273" cy="240"/>
            </a:xfrm>
          </p:grpSpPr>
          <p:sp>
            <p:nvSpPr>
              <p:cNvPr id="52" name="Oval 65">
                <a:extLst>
                  <a:ext uri="{FF2B5EF4-FFF2-40B4-BE49-F238E27FC236}">
                    <a16:creationId xmlns:a16="http://schemas.microsoft.com/office/drawing/2014/main" id="{6A32FE38-7100-44A2-B99D-AF136C5366DA}"/>
                  </a:ext>
                </a:extLst>
              </p:cNvPr>
              <p:cNvSpPr>
                <a:spLocks noChangeArrowheads="1"/>
              </p:cNvSpPr>
              <p:nvPr/>
            </p:nvSpPr>
            <p:spPr bwMode="auto">
              <a:xfrm>
                <a:off x="1113" y="3222"/>
                <a:ext cx="273" cy="240"/>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9525">
                <a:noFill/>
                <a:round/>
                <a:headEnd/>
                <a:tailEnd/>
              </a:ln>
              <a:effectLst/>
            </p:spPr>
            <p:txBody>
              <a:bodyPr wrap="none" anchor="ctr"/>
              <a:lstStyle/>
              <a:p>
                <a:endParaRPr lang="zh-CN" altLang="en-US"/>
              </a:p>
            </p:txBody>
          </p:sp>
          <p:sp>
            <p:nvSpPr>
              <p:cNvPr id="53" name="Oval 66">
                <a:extLst>
                  <a:ext uri="{FF2B5EF4-FFF2-40B4-BE49-F238E27FC236}">
                    <a16:creationId xmlns:a16="http://schemas.microsoft.com/office/drawing/2014/main" id="{D40E34AF-FD2A-4946-8C7E-806523DB2641}"/>
                  </a:ext>
                </a:extLst>
              </p:cNvPr>
              <p:cNvSpPr>
                <a:spLocks noChangeArrowheads="1"/>
              </p:cNvSpPr>
              <p:nvPr/>
            </p:nvSpPr>
            <p:spPr bwMode="auto">
              <a:xfrm>
                <a:off x="1129" y="3236"/>
                <a:ext cx="241" cy="212"/>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noFill/>
                <a:round/>
                <a:headEnd/>
                <a:tailEnd/>
              </a:ln>
              <a:effectLst/>
            </p:spPr>
            <p:txBody>
              <a:bodyPr wrap="none" anchor="ctr"/>
              <a:lstStyle/>
              <a:p>
                <a:endParaRPr lang="zh-CN" altLang="en-US"/>
              </a:p>
            </p:txBody>
          </p:sp>
          <p:sp>
            <p:nvSpPr>
              <p:cNvPr id="54" name="Oval 68">
                <a:extLst>
                  <a:ext uri="{FF2B5EF4-FFF2-40B4-BE49-F238E27FC236}">
                    <a16:creationId xmlns:a16="http://schemas.microsoft.com/office/drawing/2014/main" id="{0A225F42-E4F8-4B58-92D1-7EAAA863EC2D}"/>
                  </a:ext>
                </a:extLst>
              </p:cNvPr>
              <p:cNvSpPr>
                <a:spLocks noChangeArrowheads="1"/>
              </p:cNvSpPr>
              <p:nvPr/>
            </p:nvSpPr>
            <p:spPr bwMode="auto">
              <a:xfrm>
                <a:off x="1142" y="3248"/>
                <a:ext cx="214" cy="188"/>
              </a:xfrm>
              <a:prstGeom prst="ellipse">
                <a:avLst/>
              </a:prstGeom>
              <a:gradFill rotWithShape="1">
                <a:gsLst>
                  <a:gs pos="0">
                    <a:srgbClr val="FFCC00">
                      <a:gamma/>
                      <a:shade val="0"/>
                      <a:invGamma/>
                    </a:srgbClr>
                  </a:gs>
                  <a:gs pos="100000">
                    <a:srgbClr val="FFCC00"/>
                  </a:gs>
                </a:gsLst>
                <a:lin ang="2700000" scaled="1"/>
              </a:gradFill>
              <a:ln w="9525">
                <a:noFill/>
                <a:round/>
                <a:headEnd/>
                <a:tailEnd/>
              </a:ln>
              <a:effectLst/>
            </p:spPr>
            <p:txBody>
              <a:bodyPr wrap="none" anchor="ctr">
                <a:spAutoFit/>
              </a:bodyPr>
              <a:lstStyle/>
              <a:p>
                <a:endParaRPr lang="zh-CN" altLang="en-US"/>
              </a:p>
            </p:txBody>
          </p:sp>
          <p:sp>
            <p:nvSpPr>
              <p:cNvPr id="55" name="Oval 70">
                <a:extLst>
                  <a:ext uri="{FF2B5EF4-FFF2-40B4-BE49-F238E27FC236}">
                    <a16:creationId xmlns:a16="http://schemas.microsoft.com/office/drawing/2014/main" id="{B1FC89BF-BE0F-4577-A378-D7AB4BB93269}"/>
                  </a:ext>
                </a:extLst>
              </p:cNvPr>
              <p:cNvSpPr>
                <a:spLocks noChangeArrowheads="1"/>
              </p:cNvSpPr>
              <p:nvPr/>
            </p:nvSpPr>
            <p:spPr bwMode="auto">
              <a:xfrm>
                <a:off x="1156" y="3260"/>
                <a:ext cx="185" cy="164"/>
              </a:xfrm>
              <a:prstGeom prst="ellipse">
                <a:avLst/>
              </a:prstGeom>
              <a:solidFill>
                <a:srgbClr val="3366FF"/>
              </a:solidFill>
              <a:ln w="9525">
                <a:noFill/>
                <a:round/>
                <a:headEnd/>
                <a:tailEnd/>
              </a:ln>
              <a:effectLst/>
            </p:spPr>
            <p:txBody>
              <a:bodyPr anchor="ctr">
                <a:spAutoFit/>
              </a:bodyPr>
              <a:lstStyle/>
              <a:p>
                <a:endParaRPr lang="zh-CN" altLang="en-US"/>
              </a:p>
            </p:txBody>
          </p:sp>
        </p:grpSp>
      </p:grpSp>
      <p:grpSp>
        <p:nvGrpSpPr>
          <p:cNvPr id="56" name="Group 94">
            <a:extLst>
              <a:ext uri="{FF2B5EF4-FFF2-40B4-BE49-F238E27FC236}">
                <a16:creationId xmlns:a16="http://schemas.microsoft.com/office/drawing/2014/main" id="{6A9E7B54-FEE9-4C15-856F-EB7F37D96BFA}"/>
              </a:ext>
            </a:extLst>
          </p:cNvPr>
          <p:cNvGrpSpPr>
            <a:grpSpLocks/>
          </p:cNvGrpSpPr>
          <p:nvPr/>
        </p:nvGrpSpPr>
        <p:grpSpPr bwMode="auto">
          <a:xfrm>
            <a:off x="2887014" y="6202585"/>
            <a:ext cx="5368925" cy="503237"/>
            <a:chOff x="1340" y="1661"/>
            <a:chExt cx="3853" cy="317"/>
          </a:xfrm>
        </p:grpSpPr>
        <p:sp>
          <p:nvSpPr>
            <p:cNvPr id="57" name="AutoShape 17">
              <a:extLst>
                <a:ext uri="{FF2B5EF4-FFF2-40B4-BE49-F238E27FC236}">
                  <a16:creationId xmlns:a16="http://schemas.microsoft.com/office/drawing/2014/main" id="{E80C862E-2670-4FE4-9261-FE1152A9968C}"/>
                </a:ext>
              </a:extLst>
            </p:cNvPr>
            <p:cNvSpPr>
              <a:spLocks noChangeArrowheads="1"/>
            </p:cNvSpPr>
            <p:nvPr/>
          </p:nvSpPr>
          <p:spPr bwMode="auto">
            <a:xfrm>
              <a:off x="1522" y="1661"/>
              <a:ext cx="3671" cy="317"/>
            </a:xfrm>
            <a:prstGeom prst="roundRect">
              <a:avLst>
                <a:gd name="adj" fmla="val 50000"/>
              </a:avLst>
            </a:prstGeom>
            <a:noFill/>
            <a:ln w="28575">
              <a:solidFill>
                <a:schemeClr val="bg2"/>
              </a:solidFill>
              <a:round/>
              <a:headEnd/>
              <a:tailEnd/>
            </a:ln>
            <a:effectLst/>
          </p:spPr>
          <p:txBody>
            <a:bodyPr wrap="none" anchor="ctr"/>
            <a:lstStyle/>
            <a:p>
              <a:pPr eaLnBrk="0" hangingPunct="0">
                <a:lnSpc>
                  <a:spcPct val="100000"/>
                </a:lnSpc>
                <a:spcBef>
                  <a:spcPct val="0"/>
                </a:spcBef>
                <a:buClrTx/>
                <a:buFontTx/>
                <a:buNone/>
              </a:pPr>
              <a:r>
                <a:rPr lang="zh-CN" altLang="en-US" sz="2400" b="1" dirty="0">
                  <a:solidFill>
                    <a:srgbClr val="339966"/>
                  </a:solidFill>
                  <a:latin typeface="Arial" charset="0"/>
                  <a:ea typeface="宋体" charset="-122"/>
                </a:rPr>
                <a:t>  材料计算及金属成形数值模拟</a:t>
              </a:r>
              <a:endParaRPr lang="en-US" altLang="zh-CN" sz="1800" dirty="0">
                <a:latin typeface="Arial" charset="0"/>
                <a:ea typeface="宋体" charset="-122"/>
              </a:endParaRPr>
            </a:p>
          </p:txBody>
        </p:sp>
        <p:grpSp>
          <p:nvGrpSpPr>
            <p:cNvPr id="58" name="Group 18">
              <a:extLst>
                <a:ext uri="{FF2B5EF4-FFF2-40B4-BE49-F238E27FC236}">
                  <a16:creationId xmlns:a16="http://schemas.microsoft.com/office/drawing/2014/main" id="{BD8FC127-DDD8-4142-AD4E-9BC7ED6330AE}"/>
                </a:ext>
              </a:extLst>
            </p:cNvPr>
            <p:cNvGrpSpPr>
              <a:grpSpLocks/>
            </p:cNvGrpSpPr>
            <p:nvPr/>
          </p:nvGrpSpPr>
          <p:grpSpPr bwMode="auto">
            <a:xfrm>
              <a:off x="1340" y="1705"/>
              <a:ext cx="283" cy="240"/>
              <a:chOff x="0" y="0"/>
              <a:chExt cx="1615" cy="1615"/>
            </a:xfrm>
          </p:grpSpPr>
          <p:sp>
            <p:nvSpPr>
              <p:cNvPr id="59" name="Oval 19">
                <a:extLst>
                  <a:ext uri="{FF2B5EF4-FFF2-40B4-BE49-F238E27FC236}">
                    <a16:creationId xmlns:a16="http://schemas.microsoft.com/office/drawing/2014/main" id="{0BDC0B27-59E2-4D0B-93F8-A29FA20CAC38}"/>
                  </a:ext>
                </a:extLst>
              </p:cNvPr>
              <p:cNvSpPr>
                <a:spLocks noChangeArrowheads="1"/>
              </p:cNvSpPr>
              <p:nvPr/>
            </p:nvSpPr>
            <p:spPr bwMode="auto">
              <a:xfrm>
                <a:off x="0" y="0"/>
                <a:ext cx="1615" cy="1615"/>
              </a:xfrm>
              <a:prstGeom prst="ellipse">
                <a:avLst/>
              </a:prstGeom>
              <a:gradFill rotWithShape="1">
                <a:gsLst>
                  <a:gs pos="0">
                    <a:srgbClr val="FFFFFF">
                      <a:gamma/>
                      <a:shade val="46275"/>
                      <a:invGamma/>
                    </a:srgbClr>
                  </a:gs>
                  <a:gs pos="50000">
                    <a:srgbClr val="FFFFFF"/>
                  </a:gs>
                  <a:gs pos="100000">
                    <a:srgbClr val="FFFFFF">
                      <a:gamma/>
                      <a:shade val="46275"/>
                      <a:invGamma/>
                    </a:srgbClr>
                  </a:gs>
                </a:gsLst>
                <a:lin ang="5400000" scaled="1"/>
              </a:gradFill>
              <a:ln w="9525">
                <a:noFill/>
                <a:round/>
                <a:headEnd/>
                <a:tailEnd/>
              </a:ln>
              <a:effectLst/>
            </p:spPr>
            <p:txBody>
              <a:bodyPr wrap="none" anchor="ctr"/>
              <a:lstStyle/>
              <a:p>
                <a:endParaRPr lang="zh-CN" altLang="en-US"/>
              </a:p>
            </p:txBody>
          </p:sp>
          <p:sp>
            <p:nvSpPr>
              <p:cNvPr id="60" name="Oval 20">
                <a:extLst>
                  <a:ext uri="{FF2B5EF4-FFF2-40B4-BE49-F238E27FC236}">
                    <a16:creationId xmlns:a16="http://schemas.microsoft.com/office/drawing/2014/main" id="{CEF1BA0B-7699-4EE2-82C4-286FE6B15DC6}"/>
                  </a:ext>
                </a:extLst>
              </p:cNvPr>
              <p:cNvSpPr>
                <a:spLocks noChangeArrowheads="1"/>
              </p:cNvSpPr>
              <p:nvPr/>
            </p:nvSpPr>
            <p:spPr bwMode="auto">
              <a:xfrm>
                <a:off x="92" y="91"/>
                <a:ext cx="1430" cy="1430"/>
              </a:xfrm>
              <a:prstGeom prst="ellipse">
                <a:avLst/>
              </a:prstGeom>
              <a:gradFill rotWithShape="1">
                <a:gsLst>
                  <a:gs pos="0">
                    <a:srgbClr val="FFFFFF">
                      <a:gamma/>
                      <a:shade val="63529"/>
                      <a:invGamma/>
                    </a:srgbClr>
                  </a:gs>
                  <a:gs pos="50000">
                    <a:srgbClr val="FFFFFF"/>
                  </a:gs>
                  <a:gs pos="100000">
                    <a:srgbClr val="FFFFFF">
                      <a:gamma/>
                      <a:shade val="63529"/>
                      <a:invGamma/>
                    </a:srgbClr>
                  </a:gs>
                </a:gsLst>
                <a:lin ang="0" scaled="1"/>
              </a:gradFill>
              <a:ln w="9525">
                <a:noFill/>
                <a:round/>
                <a:headEnd/>
                <a:tailEnd/>
              </a:ln>
              <a:effectLst/>
            </p:spPr>
            <p:txBody>
              <a:bodyPr wrap="none" anchor="ctr"/>
              <a:lstStyle/>
              <a:p>
                <a:endParaRPr lang="zh-CN" altLang="en-US"/>
              </a:p>
            </p:txBody>
          </p:sp>
          <p:sp>
            <p:nvSpPr>
              <p:cNvPr id="61" name="Oval 21">
                <a:extLst>
                  <a:ext uri="{FF2B5EF4-FFF2-40B4-BE49-F238E27FC236}">
                    <a16:creationId xmlns:a16="http://schemas.microsoft.com/office/drawing/2014/main" id="{975B69E8-F39A-4712-A134-A0DFDD8CF3DA}"/>
                  </a:ext>
                </a:extLst>
              </p:cNvPr>
              <p:cNvSpPr>
                <a:spLocks noChangeArrowheads="1"/>
              </p:cNvSpPr>
              <p:nvPr/>
            </p:nvSpPr>
            <p:spPr bwMode="auto">
              <a:xfrm>
                <a:off x="176" y="176"/>
                <a:ext cx="1262" cy="1264"/>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9525">
                <a:noFill/>
                <a:round/>
                <a:headEnd/>
                <a:tailEnd/>
              </a:ln>
              <a:effectLst/>
            </p:spPr>
            <p:txBody>
              <a:bodyPr wrap="none" anchor="ctr">
                <a:spAutoFit/>
              </a:bodyPr>
              <a:lstStyle/>
              <a:p>
                <a:endParaRPr lang="zh-CN" altLang="en-US"/>
              </a:p>
            </p:txBody>
          </p:sp>
          <p:sp>
            <p:nvSpPr>
              <p:cNvPr id="62" name="Oval 22">
                <a:extLst>
                  <a:ext uri="{FF2B5EF4-FFF2-40B4-BE49-F238E27FC236}">
                    <a16:creationId xmlns:a16="http://schemas.microsoft.com/office/drawing/2014/main" id="{D2D24B6B-70F6-42A8-9E71-FB5FC5BEA404}"/>
                  </a:ext>
                </a:extLst>
              </p:cNvPr>
              <p:cNvSpPr>
                <a:spLocks noChangeArrowheads="1"/>
              </p:cNvSpPr>
              <p:nvPr/>
            </p:nvSpPr>
            <p:spPr bwMode="auto">
              <a:xfrm>
                <a:off x="176" y="176"/>
                <a:ext cx="1262" cy="1264"/>
              </a:xfrm>
              <a:prstGeom prst="ellipse">
                <a:avLst/>
              </a:prstGeom>
              <a:gradFill rotWithShape="1">
                <a:gsLst>
                  <a:gs pos="0">
                    <a:srgbClr val="48BE67">
                      <a:gamma/>
                      <a:shade val="0"/>
                      <a:invGamma/>
                    </a:srgbClr>
                  </a:gs>
                  <a:gs pos="100000">
                    <a:srgbClr val="48BE67"/>
                  </a:gs>
                </a:gsLst>
                <a:lin ang="2700000" scaled="1"/>
              </a:gradFill>
              <a:ln w="9525">
                <a:noFill/>
                <a:round/>
                <a:headEnd/>
                <a:tailEnd/>
              </a:ln>
              <a:effectLst/>
            </p:spPr>
            <p:txBody>
              <a:bodyPr wrap="none" anchor="ctr">
                <a:spAutoFit/>
              </a:bodyPr>
              <a:lstStyle/>
              <a:p>
                <a:endParaRPr lang="zh-CN" altLang="en-US"/>
              </a:p>
            </p:txBody>
          </p:sp>
          <p:sp>
            <p:nvSpPr>
              <p:cNvPr id="63" name="Oval 23">
                <a:extLst>
                  <a:ext uri="{FF2B5EF4-FFF2-40B4-BE49-F238E27FC236}">
                    <a16:creationId xmlns:a16="http://schemas.microsoft.com/office/drawing/2014/main" id="{3573E32A-4236-4B8B-B3B9-918C4AF30F35}"/>
                  </a:ext>
                </a:extLst>
              </p:cNvPr>
              <p:cNvSpPr>
                <a:spLocks noChangeArrowheads="1"/>
              </p:cNvSpPr>
              <p:nvPr/>
            </p:nvSpPr>
            <p:spPr bwMode="auto">
              <a:xfrm>
                <a:off x="259" y="259"/>
                <a:ext cx="1096" cy="1098"/>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9525">
                <a:noFill/>
                <a:round/>
                <a:headEnd/>
                <a:tailEnd/>
              </a:ln>
              <a:effectLst/>
            </p:spPr>
            <p:txBody>
              <a:bodyPr anchor="ctr">
                <a:spAutoFit/>
              </a:bodyPr>
              <a:lstStyle/>
              <a:p>
                <a:endParaRPr lang="zh-CN" altLang="en-US"/>
              </a:p>
            </p:txBody>
          </p:sp>
          <p:sp>
            <p:nvSpPr>
              <p:cNvPr id="64" name="Oval 24">
                <a:extLst>
                  <a:ext uri="{FF2B5EF4-FFF2-40B4-BE49-F238E27FC236}">
                    <a16:creationId xmlns:a16="http://schemas.microsoft.com/office/drawing/2014/main" id="{6732F894-20AE-4435-AC03-702C86A1B6D9}"/>
                  </a:ext>
                </a:extLst>
              </p:cNvPr>
              <p:cNvSpPr>
                <a:spLocks noChangeArrowheads="1"/>
              </p:cNvSpPr>
              <p:nvPr/>
            </p:nvSpPr>
            <p:spPr bwMode="auto">
              <a:xfrm>
                <a:off x="259" y="259"/>
                <a:ext cx="1096" cy="1098"/>
              </a:xfrm>
              <a:prstGeom prst="ellipse">
                <a:avLst/>
              </a:prstGeom>
              <a:gradFill rotWithShape="1">
                <a:gsLst>
                  <a:gs pos="0">
                    <a:srgbClr val="48BE67"/>
                  </a:gs>
                  <a:gs pos="100000">
                    <a:srgbClr val="48BE67">
                      <a:gamma/>
                      <a:shade val="48627"/>
                      <a:invGamma/>
                    </a:srgbClr>
                  </a:gs>
                </a:gsLst>
                <a:lin ang="2700000" scaled="1"/>
              </a:gradFill>
              <a:ln w="9525">
                <a:noFill/>
                <a:round/>
                <a:headEnd/>
                <a:tailEnd/>
              </a:ln>
              <a:effectLst/>
            </p:spPr>
            <p:txBody>
              <a:bodyPr anchor="ctr">
                <a:spAutoFit/>
              </a:bodyPr>
              <a:lstStyle/>
              <a:p>
                <a:endParaRPr lang="zh-CN" altLang="en-US"/>
              </a:p>
            </p:txBody>
          </p:sp>
        </p:grpSp>
      </p:grpSp>
      <p:sp>
        <p:nvSpPr>
          <p:cNvPr id="65" name="标题 1">
            <a:extLst>
              <a:ext uri="{FF2B5EF4-FFF2-40B4-BE49-F238E27FC236}">
                <a16:creationId xmlns:a16="http://schemas.microsoft.com/office/drawing/2014/main" id="{DDE39B93-846B-4A54-9D0E-505D1269A131}"/>
              </a:ext>
            </a:extLst>
          </p:cNvPr>
          <p:cNvSpPr>
            <a:spLocks noGrp="1"/>
          </p:cNvSpPr>
          <p:nvPr>
            <p:ph type="title"/>
          </p:nvPr>
        </p:nvSpPr>
        <p:spPr>
          <a:xfrm>
            <a:off x="3247391" y="869688"/>
            <a:ext cx="7297948" cy="660528"/>
          </a:xfrm>
        </p:spPr>
        <p:txBody>
          <a:bodyPr>
            <a:normAutofit/>
          </a:bodyPr>
          <a:lstStyle/>
          <a:p>
            <a:r>
              <a:rPr lang="zh-CN" altLang="en-US" sz="3200" b="1" dirty="0">
                <a:solidFill>
                  <a:srgbClr val="000000"/>
                </a:solidFill>
                <a:latin typeface="Arial" panose="020B0604020202020204" pitchFamily="34" charset="0"/>
                <a:ea typeface="宋体" panose="02010600030101010101" pitchFamily="2" charset="-122"/>
              </a:rPr>
              <a:t>数学技术与数学应用</a:t>
            </a:r>
            <a:endParaRPr lang="zh-CN" altLang="en-US" sz="3200" b="1" dirty="0">
              <a:solidFill>
                <a:srgbClr val="000000"/>
              </a:solidFill>
              <a:latin typeface="微软雅黑" charset="-122"/>
              <a:ea typeface="宋体" panose="02010600030101010101" pitchFamily="2" charset="-122"/>
            </a:endParaRPr>
          </a:p>
        </p:txBody>
      </p:sp>
    </p:spTree>
    <p:extLst>
      <p:ext uri="{BB962C8B-B14F-4D97-AF65-F5344CB8AC3E}">
        <p14:creationId xmlns:p14="http://schemas.microsoft.com/office/powerpoint/2010/main" val="1701862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500" fill="hold"/>
                                        <p:tgtEl>
                                          <p:spTgt spid="40"/>
                                        </p:tgtEl>
                                        <p:attrNameLst>
                                          <p:attrName>ppt_x</p:attrName>
                                        </p:attrNameLst>
                                      </p:cBhvr>
                                      <p:tavLst>
                                        <p:tav tm="0">
                                          <p:val>
                                            <p:strVal val="#ppt_x"/>
                                          </p:val>
                                        </p:tav>
                                        <p:tav tm="100000">
                                          <p:val>
                                            <p:strVal val="#ppt_x"/>
                                          </p:val>
                                        </p:tav>
                                      </p:tavLst>
                                    </p:anim>
                                    <p:anim calcmode="lin" valueType="num">
                                      <p:cBhvr additive="base">
                                        <p:cTn id="8" dur="500" fill="hold"/>
                                        <p:tgtEl>
                                          <p:spTgt spid="40"/>
                                        </p:tgtEl>
                                        <p:attrNameLst>
                                          <p:attrName>ppt_y</p:attrName>
                                        </p:attrNameLst>
                                      </p:cBhvr>
                                      <p:tavLst>
                                        <p:tav tm="0">
                                          <p:val>
                                            <p:strVal val="1+#ppt_h/2"/>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1+#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31"/>
                                        </p:tgtEl>
                                        <p:attrNameLst>
                                          <p:attrName>style.visibility</p:attrName>
                                        </p:attrNameLst>
                                      </p:cBhvr>
                                      <p:to>
                                        <p:strVal val="visible"/>
                                      </p:to>
                                    </p:set>
                                    <p:anim calcmode="lin" valueType="num">
                                      <p:cBhvr additive="base">
                                        <p:cTn id="23" dur="500" fill="hold"/>
                                        <p:tgtEl>
                                          <p:spTgt spid="31"/>
                                        </p:tgtEl>
                                        <p:attrNameLst>
                                          <p:attrName>ppt_x</p:attrName>
                                        </p:attrNameLst>
                                      </p:cBhvr>
                                      <p:tavLst>
                                        <p:tav tm="0">
                                          <p:val>
                                            <p:strVal val="0-#ppt_w/2"/>
                                          </p:val>
                                        </p:tav>
                                        <p:tav tm="100000">
                                          <p:val>
                                            <p:strVal val="#ppt_x"/>
                                          </p:val>
                                        </p:tav>
                                      </p:tavLst>
                                    </p:anim>
                                    <p:anim calcmode="lin" valueType="num">
                                      <p:cBhvr additive="base">
                                        <p:cTn id="24" dur="500" fill="hold"/>
                                        <p:tgtEl>
                                          <p:spTgt spid="31"/>
                                        </p:tgtEl>
                                        <p:attrNameLst>
                                          <p:attrName>ppt_y</p:attrName>
                                        </p:attrNameLst>
                                      </p:cBhvr>
                                      <p:tavLst>
                                        <p:tav tm="0">
                                          <p:val>
                                            <p:strVal val="#ppt_y"/>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9"/>
                                        </p:tgtEl>
                                        <p:attrNameLst>
                                          <p:attrName>style.visibility</p:attrName>
                                        </p:attrNameLst>
                                      </p:cBhvr>
                                      <p:to>
                                        <p:strVal val="visible"/>
                                      </p:to>
                                    </p:set>
                                    <p:anim calcmode="lin" valueType="num">
                                      <p:cBhvr additive="base">
                                        <p:cTn id="27" dur="500" fill="hold"/>
                                        <p:tgtEl>
                                          <p:spTgt spid="49"/>
                                        </p:tgtEl>
                                        <p:attrNameLst>
                                          <p:attrName>ppt_x</p:attrName>
                                        </p:attrNameLst>
                                      </p:cBhvr>
                                      <p:tavLst>
                                        <p:tav tm="0">
                                          <p:val>
                                            <p:strVal val="#ppt_x"/>
                                          </p:val>
                                        </p:tav>
                                        <p:tav tm="100000">
                                          <p:val>
                                            <p:strVal val="#ppt_x"/>
                                          </p:val>
                                        </p:tav>
                                      </p:tavLst>
                                    </p:anim>
                                    <p:anim calcmode="lin" valueType="num">
                                      <p:cBhvr additive="base">
                                        <p:cTn id="28" dur="500" fill="hold"/>
                                        <p:tgtEl>
                                          <p:spTgt spid="49"/>
                                        </p:tgtEl>
                                        <p:attrNameLst>
                                          <p:attrName>ppt_y</p:attrName>
                                        </p:attrNameLst>
                                      </p:cBhvr>
                                      <p:tavLst>
                                        <p:tav tm="0">
                                          <p:val>
                                            <p:strVal val="1+#ppt_h/2"/>
                                          </p:val>
                                        </p:tav>
                                        <p:tav tm="100000">
                                          <p:val>
                                            <p:strVal val="#ppt_y"/>
                                          </p:val>
                                        </p:tav>
                                      </p:tavLst>
                                    </p:anim>
                                  </p:childTnLst>
                                </p:cTn>
                              </p:par>
                              <p:par>
                                <p:cTn id="29" presetID="2" presetClass="entr" presetSubtype="8" fill="hold" nodeType="withEffect">
                                  <p:stCondLst>
                                    <p:cond delay="0"/>
                                  </p:stCondLst>
                                  <p:childTnLst>
                                    <p:set>
                                      <p:cBhvr>
                                        <p:cTn id="30" dur="1" fill="hold">
                                          <p:stCondLst>
                                            <p:cond delay="0"/>
                                          </p:stCondLst>
                                        </p:cTn>
                                        <p:tgtEl>
                                          <p:spTgt spid="56"/>
                                        </p:tgtEl>
                                        <p:attrNameLst>
                                          <p:attrName>style.visibility</p:attrName>
                                        </p:attrNameLst>
                                      </p:cBhvr>
                                      <p:to>
                                        <p:strVal val="visible"/>
                                      </p:to>
                                    </p:set>
                                    <p:anim calcmode="lin" valueType="num">
                                      <p:cBhvr additive="base">
                                        <p:cTn id="31" dur="500" fill="hold"/>
                                        <p:tgtEl>
                                          <p:spTgt spid="56"/>
                                        </p:tgtEl>
                                        <p:attrNameLst>
                                          <p:attrName>ppt_x</p:attrName>
                                        </p:attrNameLst>
                                      </p:cBhvr>
                                      <p:tavLst>
                                        <p:tav tm="0">
                                          <p:val>
                                            <p:strVal val="0-#ppt_w/2"/>
                                          </p:val>
                                        </p:tav>
                                        <p:tav tm="100000">
                                          <p:val>
                                            <p:strVal val="#ppt_x"/>
                                          </p:val>
                                        </p:tav>
                                      </p:tavLst>
                                    </p:anim>
                                    <p:anim calcmode="lin" valueType="num">
                                      <p:cBhvr additive="base">
                                        <p:cTn id="32" dur="500" fill="hold"/>
                                        <p:tgtEl>
                                          <p:spTgt spid="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55298">
            <a:extLst>
              <a:ext uri="{FF2B5EF4-FFF2-40B4-BE49-F238E27FC236}">
                <a16:creationId xmlns:a16="http://schemas.microsoft.com/office/drawing/2014/main" id="{F6C0DA54-B6C5-4233-919D-1117B249670B}"/>
              </a:ext>
            </a:extLst>
          </p:cNvPr>
          <p:cNvSpPr>
            <a:spLocks noGrp="1"/>
          </p:cNvSpPr>
          <p:nvPr>
            <p:ph idx="1"/>
          </p:nvPr>
        </p:nvSpPr>
        <p:spPr>
          <a:xfrm>
            <a:off x="745411" y="1639437"/>
            <a:ext cx="10560948" cy="5248275"/>
          </a:xfrm>
        </p:spPr>
        <p:txBody>
          <a:bodyPr anchor="t">
            <a:noAutofit/>
          </a:bodyPr>
          <a:lstStyle/>
          <a:p>
            <a:pPr>
              <a:lnSpc>
                <a:spcPts val="3200"/>
              </a:lnSpc>
              <a:spcBef>
                <a:spcPts val="600"/>
              </a:spcBef>
            </a:pPr>
            <a:r>
              <a:rPr lang="en-US" altLang="zh-CN" sz="1900" b="1" dirty="0">
                <a:solidFill>
                  <a:srgbClr val="000000"/>
                </a:solidFill>
                <a:ea typeface="宋体" panose="02010600030101010101" pitchFamily="2" charset="-122"/>
              </a:rPr>
              <a:t>(1)</a:t>
            </a:r>
            <a:r>
              <a:rPr lang="zh-CN" altLang="en-US" sz="1900" b="1" dirty="0">
                <a:solidFill>
                  <a:srgbClr val="000000"/>
                </a:solidFill>
                <a:ea typeface="宋体" panose="02010600030101010101" pitchFamily="2" charset="-122"/>
              </a:rPr>
              <a:t>主持</a:t>
            </a:r>
            <a:r>
              <a:rPr lang="zh-CN" altLang="zh-CN" sz="1900" b="1" dirty="0">
                <a:solidFill>
                  <a:srgbClr val="000000"/>
                </a:solidFill>
                <a:ea typeface="宋体" panose="02010600030101010101" pitchFamily="2" charset="-122"/>
              </a:rPr>
              <a:t>国家自然科学基金面上项目，</a:t>
            </a:r>
            <a:r>
              <a:rPr lang="en-US" altLang="zh-CN" sz="1900" b="1" dirty="0">
                <a:solidFill>
                  <a:srgbClr val="000000"/>
                </a:solidFill>
                <a:ea typeface="宋体" panose="02010600030101010101" pitchFamily="2" charset="-122"/>
              </a:rPr>
              <a:t>51974377</a:t>
            </a:r>
            <a:r>
              <a:rPr lang="zh-CN" altLang="zh-CN" sz="1900" b="1" dirty="0">
                <a:solidFill>
                  <a:srgbClr val="000000"/>
                </a:solidFill>
                <a:ea typeface="宋体" panose="02010600030101010101" pitchFamily="2" charset="-122"/>
              </a:rPr>
              <a:t>、分数阶相场模型的建立及其在材料微结构演化模拟中的应用、</a:t>
            </a:r>
            <a:r>
              <a:rPr lang="en-US" altLang="zh-CN" sz="1900" b="1" dirty="0">
                <a:solidFill>
                  <a:srgbClr val="000000"/>
                </a:solidFill>
                <a:ea typeface="宋体" panose="02010600030101010101" pitchFamily="2" charset="-122"/>
              </a:rPr>
              <a:t>2020/01-2023/12</a:t>
            </a:r>
            <a:r>
              <a:rPr lang="zh-CN" altLang="zh-CN" sz="1900" b="1" dirty="0">
                <a:solidFill>
                  <a:srgbClr val="000000"/>
                </a:solidFill>
                <a:ea typeface="宋体" panose="02010600030101010101" pitchFamily="2" charset="-122"/>
              </a:rPr>
              <a:t>、</a:t>
            </a:r>
            <a:r>
              <a:rPr lang="en-US" altLang="zh-CN" sz="1900" b="1" dirty="0">
                <a:solidFill>
                  <a:srgbClr val="000000"/>
                </a:solidFill>
                <a:ea typeface="宋体" panose="02010600030101010101" pitchFamily="2" charset="-122"/>
              </a:rPr>
              <a:t>60</a:t>
            </a:r>
            <a:r>
              <a:rPr lang="zh-CN" altLang="zh-CN" sz="1900" b="1" dirty="0">
                <a:solidFill>
                  <a:srgbClr val="000000"/>
                </a:solidFill>
                <a:ea typeface="宋体" panose="02010600030101010101" pitchFamily="2" charset="-122"/>
              </a:rPr>
              <a:t>万元</a:t>
            </a:r>
            <a:r>
              <a:rPr lang="zh-CN" altLang="en-US" sz="1900" b="1" dirty="0">
                <a:solidFill>
                  <a:srgbClr val="000000"/>
                </a:solidFill>
                <a:ea typeface="宋体" panose="02010600030101010101" pitchFamily="2" charset="-122"/>
              </a:rPr>
              <a:t>，主持、在研；</a:t>
            </a:r>
            <a:endParaRPr lang="en-US" altLang="zh-CN" sz="1900" b="1" dirty="0">
              <a:solidFill>
                <a:srgbClr val="000000"/>
              </a:solidFill>
              <a:ea typeface="宋体" panose="02010600030101010101" pitchFamily="2" charset="-122"/>
            </a:endParaRPr>
          </a:p>
          <a:p>
            <a:pPr>
              <a:lnSpc>
                <a:spcPts val="3200"/>
              </a:lnSpc>
              <a:spcBef>
                <a:spcPts val="600"/>
              </a:spcBef>
            </a:pPr>
            <a:r>
              <a:rPr lang="en-US" altLang="zh-CN" sz="1900" b="1" dirty="0">
                <a:solidFill>
                  <a:srgbClr val="0000FF"/>
                </a:solidFill>
                <a:ea typeface="宋体" panose="02010600030101010101" pitchFamily="2" charset="-122"/>
              </a:rPr>
              <a:t>(2)</a:t>
            </a:r>
            <a:r>
              <a:rPr lang="zh-CN" altLang="en-US" sz="1900" b="1" dirty="0">
                <a:solidFill>
                  <a:srgbClr val="0000FF"/>
                </a:solidFill>
                <a:ea typeface="宋体" panose="02010600030101010101" pitchFamily="2" charset="-122"/>
              </a:rPr>
              <a:t>主持</a:t>
            </a:r>
            <a:r>
              <a:rPr lang="zh-CN" altLang="zh-CN" sz="1900" b="1" dirty="0">
                <a:solidFill>
                  <a:srgbClr val="0000FF"/>
                </a:solidFill>
                <a:ea typeface="宋体" panose="02010600030101010101" pitchFamily="2" charset="-122"/>
              </a:rPr>
              <a:t>云南省重大科技专项“云南稀贵金属材料基因工程——计算平台建设及计算关键技术研发” 项目</a:t>
            </a:r>
            <a:r>
              <a:rPr lang="zh-CN" altLang="en-US" sz="1900" b="1" dirty="0">
                <a:solidFill>
                  <a:srgbClr val="0000FF"/>
                </a:solidFill>
                <a:ea typeface="宋体" panose="02010600030101010101" pitchFamily="2" charset="-122"/>
              </a:rPr>
              <a:t>子</a:t>
            </a:r>
            <a:r>
              <a:rPr lang="zh-CN" altLang="zh-CN" sz="1900" b="1" dirty="0">
                <a:solidFill>
                  <a:srgbClr val="0000FF"/>
                </a:solidFill>
                <a:ea typeface="宋体" panose="02010600030101010101" pitchFamily="2" charset="-122"/>
              </a:rPr>
              <a:t>课题“贵金属合金相图热力学、物热性高效计算软件开发及应用</a:t>
            </a:r>
            <a:r>
              <a:rPr lang="zh-CN" altLang="en-US" sz="1900" b="1" dirty="0">
                <a:solidFill>
                  <a:srgbClr val="0000FF"/>
                </a:solidFill>
                <a:ea typeface="宋体" panose="02010600030101010101" pitchFamily="2" charset="-122"/>
              </a:rPr>
              <a:t>（</a:t>
            </a:r>
            <a:r>
              <a:rPr lang="en-US" altLang="zh-CN" sz="1900" b="1" dirty="0">
                <a:solidFill>
                  <a:srgbClr val="0000FF"/>
                </a:solidFill>
                <a:ea typeface="宋体" panose="02010600030101010101" pitchFamily="2" charset="-122"/>
              </a:rPr>
              <a:t>2019ZE001-1</a:t>
            </a:r>
            <a:r>
              <a:rPr lang="zh-CN" altLang="en-US" sz="1900" b="1" dirty="0">
                <a:solidFill>
                  <a:srgbClr val="0000FF"/>
                </a:solidFill>
                <a:ea typeface="宋体" panose="02010600030101010101" pitchFamily="2" charset="-122"/>
              </a:rPr>
              <a:t>）”</a:t>
            </a:r>
            <a:r>
              <a:rPr lang="zh-CN" altLang="zh-CN" sz="1900" b="1" dirty="0">
                <a:solidFill>
                  <a:srgbClr val="0000FF"/>
                </a:solidFill>
                <a:ea typeface="宋体" panose="02010600030101010101" pitchFamily="2" charset="-122"/>
              </a:rPr>
              <a:t>，</a:t>
            </a:r>
            <a:r>
              <a:rPr lang="en-US" altLang="zh-CN" sz="1900" b="1" dirty="0">
                <a:solidFill>
                  <a:srgbClr val="0000FF"/>
                </a:solidFill>
                <a:ea typeface="宋体" panose="02010600030101010101" pitchFamily="2" charset="-122"/>
              </a:rPr>
              <a:t>2019-2020</a:t>
            </a:r>
            <a:r>
              <a:rPr lang="zh-CN" altLang="en-US" sz="1900" b="1" dirty="0">
                <a:solidFill>
                  <a:srgbClr val="0000FF"/>
                </a:solidFill>
                <a:ea typeface="宋体" panose="02010600030101010101" pitchFamily="2" charset="-122"/>
              </a:rPr>
              <a:t>，经费</a:t>
            </a:r>
            <a:r>
              <a:rPr lang="en-US" altLang="zh-CN" sz="1900" b="1" dirty="0">
                <a:solidFill>
                  <a:srgbClr val="0000FF"/>
                </a:solidFill>
                <a:ea typeface="宋体" panose="02010600030101010101" pitchFamily="2" charset="-122"/>
              </a:rPr>
              <a:t>60</a:t>
            </a:r>
            <a:r>
              <a:rPr lang="zh-CN" altLang="en-US" sz="1900" b="1" dirty="0">
                <a:solidFill>
                  <a:srgbClr val="0000FF"/>
                </a:solidFill>
                <a:ea typeface="宋体" panose="02010600030101010101" pitchFamily="2" charset="-122"/>
              </a:rPr>
              <a:t>万元；</a:t>
            </a:r>
            <a:endParaRPr lang="en-US" altLang="zh-CN" sz="1900" b="1" dirty="0">
              <a:solidFill>
                <a:srgbClr val="0000FF"/>
              </a:solidFill>
              <a:ea typeface="宋体" panose="02010600030101010101" pitchFamily="2" charset="-122"/>
            </a:endParaRPr>
          </a:p>
          <a:p>
            <a:pPr>
              <a:lnSpc>
                <a:spcPts val="3200"/>
              </a:lnSpc>
              <a:spcBef>
                <a:spcPts val="600"/>
              </a:spcBef>
            </a:pPr>
            <a:r>
              <a:rPr lang="en-US" altLang="zh-CN" sz="1900" b="1" dirty="0">
                <a:solidFill>
                  <a:srgbClr val="000000"/>
                </a:solidFill>
                <a:ea typeface="宋体" panose="02010600030101010101" pitchFamily="2" charset="-122"/>
              </a:rPr>
              <a:t>(3)</a:t>
            </a:r>
            <a:r>
              <a:rPr lang="zh-CN" altLang="en-US" sz="1900" b="1" dirty="0">
                <a:solidFill>
                  <a:srgbClr val="000000"/>
                </a:solidFill>
                <a:ea typeface="宋体" panose="02010600030101010101" pitchFamily="2" charset="-122"/>
              </a:rPr>
              <a:t>主持</a:t>
            </a:r>
            <a:r>
              <a:rPr lang="zh-CN" altLang="zh-CN" sz="1900" b="1" dirty="0">
                <a:solidFill>
                  <a:srgbClr val="000000"/>
                </a:solidFill>
                <a:ea typeface="宋体" panose="02010600030101010101" pitchFamily="2" charset="-122"/>
              </a:rPr>
              <a:t>国家重点研发计划材料基因工程关键技术与支撑平台重点专项项目课题 “高通量材料数据管理、可靠性分析与智能学习”、</a:t>
            </a:r>
            <a:r>
              <a:rPr lang="en-US" altLang="zh-CN" sz="1900" b="1" dirty="0">
                <a:solidFill>
                  <a:srgbClr val="000000"/>
                </a:solidFill>
                <a:ea typeface="宋体" panose="02010600030101010101" pitchFamily="2" charset="-122"/>
              </a:rPr>
              <a:t>2017YFB0701702</a:t>
            </a:r>
            <a:r>
              <a:rPr lang="zh-CN" altLang="zh-CN" sz="1900" b="1" dirty="0">
                <a:solidFill>
                  <a:srgbClr val="000000"/>
                </a:solidFill>
                <a:ea typeface="宋体" panose="02010600030101010101" pitchFamily="2" charset="-122"/>
              </a:rPr>
              <a:t>、</a:t>
            </a:r>
            <a:r>
              <a:rPr lang="en-US" altLang="zh-CN" sz="1900" b="1" dirty="0">
                <a:solidFill>
                  <a:srgbClr val="000000"/>
                </a:solidFill>
                <a:ea typeface="宋体" panose="02010600030101010101" pitchFamily="2" charset="-122"/>
              </a:rPr>
              <a:t>2017/07-2021/06</a:t>
            </a:r>
            <a:r>
              <a:rPr lang="zh-CN" altLang="zh-CN" sz="1900" b="1" dirty="0">
                <a:solidFill>
                  <a:srgbClr val="000000"/>
                </a:solidFill>
                <a:ea typeface="宋体" panose="02010600030101010101" pitchFamily="2" charset="-122"/>
              </a:rPr>
              <a:t>、项目经费</a:t>
            </a:r>
            <a:r>
              <a:rPr lang="en-US" altLang="zh-CN" sz="1900" b="1" dirty="0">
                <a:solidFill>
                  <a:srgbClr val="000000"/>
                </a:solidFill>
                <a:ea typeface="宋体" panose="02010600030101010101" pitchFamily="2" charset="-122"/>
              </a:rPr>
              <a:t>1612.5</a:t>
            </a:r>
            <a:r>
              <a:rPr lang="zh-CN" altLang="zh-CN" sz="1900" b="1" dirty="0">
                <a:solidFill>
                  <a:srgbClr val="000000"/>
                </a:solidFill>
                <a:ea typeface="宋体" panose="02010600030101010101" pitchFamily="2" charset="-122"/>
              </a:rPr>
              <a:t>万元（课题任务经费</a:t>
            </a:r>
            <a:r>
              <a:rPr lang="en-US" altLang="zh-CN" sz="1900" b="1" dirty="0">
                <a:solidFill>
                  <a:srgbClr val="000000"/>
                </a:solidFill>
                <a:ea typeface="宋体" panose="02010600030101010101" pitchFamily="2" charset="-122"/>
              </a:rPr>
              <a:t>100</a:t>
            </a:r>
            <a:r>
              <a:rPr lang="zh-CN" altLang="zh-CN" sz="1900" b="1" dirty="0">
                <a:solidFill>
                  <a:srgbClr val="000000"/>
                </a:solidFill>
                <a:ea typeface="宋体" panose="02010600030101010101" pitchFamily="2" charset="-122"/>
              </a:rPr>
              <a:t>万元）</a:t>
            </a:r>
            <a:r>
              <a:rPr lang="zh-CN" altLang="en-US" sz="1900" b="1" dirty="0">
                <a:solidFill>
                  <a:srgbClr val="000000"/>
                </a:solidFill>
                <a:ea typeface="宋体" panose="02010600030101010101" pitchFamily="2" charset="-122"/>
              </a:rPr>
              <a:t>；</a:t>
            </a:r>
            <a:endParaRPr lang="en-US" altLang="zh-CN" sz="1900" b="1" dirty="0">
              <a:solidFill>
                <a:srgbClr val="000000"/>
              </a:solidFill>
              <a:ea typeface="宋体" panose="02010600030101010101" pitchFamily="2" charset="-122"/>
            </a:endParaRPr>
          </a:p>
          <a:p>
            <a:pPr>
              <a:lnSpc>
                <a:spcPts val="3200"/>
              </a:lnSpc>
              <a:spcBef>
                <a:spcPts val="600"/>
              </a:spcBef>
            </a:pPr>
            <a:r>
              <a:rPr lang="en-US" altLang="zh-CN" sz="1900" b="1" dirty="0">
                <a:solidFill>
                  <a:srgbClr val="0000FF"/>
                </a:solidFill>
                <a:ea typeface="宋体" panose="02010600030101010101" pitchFamily="2" charset="-122"/>
              </a:rPr>
              <a:t>(4)</a:t>
            </a:r>
            <a:r>
              <a:rPr lang="zh-CN" altLang="en-US" sz="1900" b="1" dirty="0">
                <a:solidFill>
                  <a:srgbClr val="0000FF"/>
                </a:solidFill>
                <a:ea typeface="宋体" panose="02010600030101010101" pitchFamily="2" charset="-122"/>
              </a:rPr>
              <a:t>主持国家自然科学基金面上项目“粉体高速压制成形的格子</a:t>
            </a:r>
            <a:r>
              <a:rPr lang="en-US" altLang="zh-CN" sz="1900" b="1" dirty="0">
                <a:solidFill>
                  <a:srgbClr val="0000FF"/>
                </a:solidFill>
                <a:ea typeface="宋体" panose="02010600030101010101" pitchFamily="2" charset="-122"/>
              </a:rPr>
              <a:t>Boltzmann</a:t>
            </a:r>
            <a:r>
              <a:rPr lang="zh-CN" altLang="en-US" sz="1900" b="1" dirty="0">
                <a:solidFill>
                  <a:srgbClr val="0000FF"/>
                </a:solidFill>
                <a:ea typeface="宋体" panose="02010600030101010101" pitchFamily="2" charset="-122"/>
              </a:rPr>
              <a:t>跨尺度模拟及应用研究（</a:t>
            </a:r>
            <a:r>
              <a:rPr lang="en-US" altLang="zh-CN" sz="1900" b="1" dirty="0">
                <a:solidFill>
                  <a:srgbClr val="0000FF"/>
                </a:solidFill>
                <a:ea typeface="宋体" panose="02010600030101010101" pitchFamily="2" charset="-122"/>
              </a:rPr>
              <a:t>51174236</a:t>
            </a:r>
            <a:r>
              <a:rPr lang="zh-CN" altLang="en-US" sz="1900" b="1" dirty="0">
                <a:solidFill>
                  <a:srgbClr val="0000FF"/>
                </a:solidFill>
                <a:ea typeface="宋体" panose="02010600030101010101" pitchFamily="2" charset="-122"/>
              </a:rPr>
              <a:t>）”，</a:t>
            </a:r>
            <a:r>
              <a:rPr lang="en-US" altLang="zh-CN" sz="1900" b="1" dirty="0">
                <a:solidFill>
                  <a:srgbClr val="0000FF"/>
                </a:solidFill>
                <a:ea typeface="宋体" panose="02010600030101010101" pitchFamily="2" charset="-122"/>
              </a:rPr>
              <a:t>2012-2015</a:t>
            </a:r>
            <a:r>
              <a:rPr lang="zh-CN" altLang="en-US" sz="1900" b="1" dirty="0">
                <a:solidFill>
                  <a:srgbClr val="0000FF"/>
                </a:solidFill>
                <a:ea typeface="宋体" panose="02010600030101010101" pitchFamily="2" charset="-122"/>
              </a:rPr>
              <a:t>，经费</a:t>
            </a:r>
            <a:r>
              <a:rPr lang="en-US" altLang="zh-CN" sz="1900" b="1" dirty="0">
                <a:solidFill>
                  <a:srgbClr val="0000FF"/>
                </a:solidFill>
                <a:ea typeface="宋体" panose="02010600030101010101" pitchFamily="2" charset="-122"/>
              </a:rPr>
              <a:t>60</a:t>
            </a:r>
            <a:r>
              <a:rPr lang="zh-CN" altLang="en-US" sz="1900" b="1" dirty="0">
                <a:solidFill>
                  <a:srgbClr val="0000FF"/>
                </a:solidFill>
                <a:ea typeface="宋体" panose="02010600030101010101" pitchFamily="2" charset="-122"/>
              </a:rPr>
              <a:t>万元；</a:t>
            </a:r>
          </a:p>
          <a:p>
            <a:pPr>
              <a:lnSpc>
                <a:spcPts val="3200"/>
              </a:lnSpc>
              <a:spcBef>
                <a:spcPts val="600"/>
              </a:spcBef>
            </a:pPr>
            <a:r>
              <a:rPr lang="en-US" altLang="zh-CN" sz="1900" b="1" dirty="0">
                <a:solidFill>
                  <a:srgbClr val="000000"/>
                </a:solidFill>
                <a:ea typeface="宋体" panose="02010600030101010101" pitchFamily="2" charset="-122"/>
              </a:rPr>
              <a:t>(5)</a:t>
            </a:r>
            <a:r>
              <a:rPr lang="zh-CN" altLang="en-US" sz="1900" b="1" dirty="0">
                <a:solidFill>
                  <a:srgbClr val="000000"/>
                </a:solidFill>
                <a:ea typeface="宋体" panose="02010600030101010101" pitchFamily="2" charset="-122"/>
              </a:rPr>
              <a:t>主持国家重点基础研究发展规划</a:t>
            </a:r>
            <a:r>
              <a:rPr lang="en-US" altLang="zh-CN" sz="1900" b="1" dirty="0">
                <a:solidFill>
                  <a:srgbClr val="000000"/>
                </a:solidFill>
                <a:ea typeface="宋体" panose="02010600030101010101" pitchFamily="2" charset="-122"/>
              </a:rPr>
              <a:t>973</a:t>
            </a:r>
            <a:r>
              <a:rPr lang="zh-CN" altLang="en-US" sz="1900" b="1" dirty="0">
                <a:solidFill>
                  <a:srgbClr val="000000"/>
                </a:solidFill>
                <a:ea typeface="宋体" panose="02010600030101010101" pitchFamily="2" charset="-122"/>
              </a:rPr>
              <a:t>项目专题“金属材料制备高效成形过程的数值模拟与智能化研究（ </a:t>
            </a:r>
            <a:r>
              <a:rPr lang="en-US" altLang="zh-CN" sz="1900" b="1" dirty="0">
                <a:solidFill>
                  <a:srgbClr val="000000"/>
                </a:solidFill>
                <a:ea typeface="宋体" panose="02010600030101010101" pitchFamily="2" charset="-122"/>
              </a:rPr>
              <a:t>2011CB606306-4 </a:t>
            </a:r>
            <a:r>
              <a:rPr lang="zh-CN" altLang="en-US" sz="1900" b="1" dirty="0">
                <a:solidFill>
                  <a:srgbClr val="000000"/>
                </a:solidFill>
                <a:ea typeface="宋体" panose="02010600030101010101" pitchFamily="2" charset="-122"/>
              </a:rPr>
              <a:t>）”，</a:t>
            </a:r>
            <a:r>
              <a:rPr lang="en-US" altLang="zh-CN" sz="1900" b="1" dirty="0">
                <a:solidFill>
                  <a:srgbClr val="000000"/>
                </a:solidFill>
                <a:ea typeface="宋体" panose="02010600030101010101" pitchFamily="2" charset="-122"/>
              </a:rPr>
              <a:t>2010-2015</a:t>
            </a:r>
            <a:r>
              <a:rPr lang="zh-CN" altLang="en-US" sz="1900" b="1" dirty="0">
                <a:solidFill>
                  <a:srgbClr val="000000"/>
                </a:solidFill>
                <a:ea typeface="宋体" panose="02010600030101010101" pitchFamily="2" charset="-122"/>
              </a:rPr>
              <a:t>，经费</a:t>
            </a:r>
            <a:r>
              <a:rPr lang="en-US" altLang="zh-CN" sz="1900" b="1" dirty="0">
                <a:solidFill>
                  <a:srgbClr val="000000"/>
                </a:solidFill>
                <a:ea typeface="宋体" panose="02010600030101010101" pitchFamily="2" charset="-122"/>
              </a:rPr>
              <a:t>25</a:t>
            </a:r>
            <a:r>
              <a:rPr lang="zh-CN" altLang="en-US" sz="1900" b="1" dirty="0">
                <a:solidFill>
                  <a:srgbClr val="000000"/>
                </a:solidFill>
                <a:ea typeface="宋体" panose="02010600030101010101" pitchFamily="2" charset="-122"/>
              </a:rPr>
              <a:t>万元；</a:t>
            </a:r>
            <a:endParaRPr lang="en-US" altLang="zh-CN" sz="1900" b="1" dirty="0">
              <a:solidFill>
                <a:srgbClr val="000000"/>
              </a:solidFill>
              <a:ea typeface="宋体" panose="02010600030101010101" pitchFamily="2" charset="-122"/>
            </a:endParaRPr>
          </a:p>
        </p:txBody>
      </p:sp>
      <p:sp>
        <p:nvSpPr>
          <p:cNvPr id="5" name="标题 1">
            <a:extLst>
              <a:ext uri="{FF2B5EF4-FFF2-40B4-BE49-F238E27FC236}">
                <a16:creationId xmlns:a16="http://schemas.microsoft.com/office/drawing/2014/main" id="{53E7E696-7CF4-4885-9F0B-BA8CAFD9180B}"/>
              </a:ext>
            </a:extLst>
          </p:cNvPr>
          <p:cNvSpPr>
            <a:spLocks noGrp="1"/>
          </p:cNvSpPr>
          <p:nvPr>
            <p:ph type="title"/>
          </p:nvPr>
        </p:nvSpPr>
        <p:spPr>
          <a:xfrm>
            <a:off x="3322154" y="869688"/>
            <a:ext cx="7297948" cy="660528"/>
          </a:xfrm>
        </p:spPr>
        <p:txBody>
          <a:bodyPr>
            <a:normAutofit/>
          </a:bodyPr>
          <a:lstStyle/>
          <a:p>
            <a:r>
              <a:rPr lang="zh-CN" altLang="en-US" sz="3200" b="1" dirty="0">
                <a:solidFill>
                  <a:srgbClr val="000000"/>
                </a:solidFill>
                <a:latin typeface="Arial" panose="020B0604020202020204" pitchFamily="34" charset="0"/>
                <a:ea typeface="宋体" panose="02010600030101010101" pitchFamily="2" charset="-122"/>
              </a:rPr>
              <a:t>数学技术与数学应用</a:t>
            </a:r>
            <a:endParaRPr lang="zh-CN" altLang="en-US" sz="3200" b="1" dirty="0">
              <a:solidFill>
                <a:srgbClr val="000000"/>
              </a:solidFill>
              <a:latin typeface="微软雅黑" charset="-122"/>
              <a:ea typeface="宋体" panose="02010600030101010101" pitchFamily="2" charset="-122"/>
            </a:endParaRPr>
          </a:p>
        </p:txBody>
      </p:sp>
    </p:spTree>
    <p:extLst>
      <p:ext uri="{BB962C8B-B14F-4D97-AF65-F5344CB8AC3E}">
        <p14:creationId xmlns:p14="http://schemas.microsoft.com/office/powerpoint/2010/main" val="728717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 presetClass="entr" presetSubtype="2" fill="hold" nodeType="afterEffect">
                                  <p:stCondLst>
                                    <p:cond delay="0"/>
                                  </p:stCondLst>
                                  <p:childTnLst>
                                    <p:set>
                                      <p:cBhvr>
                                        <p:cTn id="29" dur="1" fill="hold">
                                          <p:stCondLst>
                                            <p:cond delay="0"/>
                                          </p:stCondLst>
                                        </p:cTn>
                                        <p:tgtEl>
                                          <p:spTgt spid="4">
                                            <p:txEl>
                                              <p:pRg st="4" end="4"/>
                                            </p:txEl>
                                          </p:spTgt>
                                        </p:tgtEl>
                                        <p:attrNameLst>
                                          <p:attrName>style.visibility</p:attrName>
                                        </p:attrNameLst>
                                      </p:cBhvr>
                                      <p:to>
                                        <p:strVal val="visible"/>
                                      </p:to>
                                    </p:set>
                                    <p:anim calcmode="lin" valueType="num">
                                      <p:cBhvr>
                                        <p:cTn id="30" dur="500" fill="hold"/>
                                        <p:tgtEl>
                                          <p:spTgt spid="4">
                                            <p:txEl>
                                              <p:pRg st="4" end="4"/>
                                            </p:txEl>
                                          </p:spTgt>
                                        </p:tgtEl>
                                        <p:attrNameLst>
                                          <p:attrName>ppt_x</p:attrName>
                                        </p:attrNameLst>
                                      </p:cBhvr>
                                      <p:tavLst>
                                        <p:tav tm="0">
                                          <p:val>
                                            <p:strVal val="1+#ppt_w/2"/>
                                          </p:val>
                                        </p:tav>
                                        <p:tav tm="100000">
                                          <p:val>
                                            <p:strVal val="#ppt_x"/>
                                          </p:val>
                                        </p:tav>
                                      </p:tavLst>
                                    </p:anim>
                                    <p:anim calcmode="lin" valueType="num">
                                      <p:cBhvr>
                                        <p:cTn id="31" dur="500" fill="hold"/>
                                        <p:tgtEl>
                                          <p:spTgt spid="4">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55298">
            <a:extLst>
              <a:ext uri="{FF2B5EF4-FFF2-40B4-BE49-F238E27FC236}">
                <a16:creationId xmlns:a16="http://schemas.microsoft.com/office/drawing/2014/main" id="{3347643F-2FEB-4D65-B0A6-443606A5F9EB}"/>
              </a:ext>
            </a:extLst>
          </p:cNvPr>
          <p:cNvSpPr>
            <a:spLocks noGrp="1"/>
          </p:cNvSpPr>
          <p:nvPr>
            <p:ph idx="1"/>
          </p:nvPr>
        </p:nvSpPr>
        <p:spPr>
          <a:xfrm>
            <a:off x="1153732" y="1817298"/>
            <a:ext cx="10008853" cy="4965940"/>
          </a:xfrm>
        </p:spPr>
        <p:txBody>
          <a:bodyPr anchor="t">
            <a:normAutofit lnSpcReduction="10000"/>
          </a:bodyPr>
          <a:lstStyle/>
          <a:p>
            <a:pPr>
              <a:lnSpc>
                <a:spcPct val="150000"/>
              </a:lnSpc>
              <a:spcBef>
                <a:spcPts val="1800"/>
              </a:spcBef>
            </a:pPr>
            <a:r>
              <a:rPr lang="en-US" altLang="zh-CN" sz="1900" b="1" dirty="0">
                <a:ea typeface="宋体" panose="02010600030101010101" pitchFamily="2" charset="-122"/>
              </a:rPr>
              <a:t>(6)</a:t>
            </a:r>
            <a:r>
              <a:rPr lang="zh-CN" altLang="en-US" sz="1900" b="1" dirty="0">
                <a:ea typeface="宋体" panose="02010600030101010101" pitchFamily="2" charset="-122"/>
              </a:rPr>
              <a:t>主持国家自然科学基金面上项目“粉体注射成形两相流动的数值模拟及应用研究（</a:t>
            </a:r>
            <a:r>
              <a:rPr lang="en-US" altLang="zh-CN" sz="1900" b="1" dirty="0">
                <a:ea typeface="宋体" panose="02010600030101010101" pitchFamily="2" charset="-122"/>
              </a:rPr>
              <a:t>50874123</a:t>
            </a:r>
            <a:r>
              <a:rPr lang="zh-CN" altLang="en-US" sz="1900" b="1" dirty="0">
                <a:ea typeface="宋体" panose="02010600030101010101" pitchFamily="2" charset="-122"/>
              </a:rPr>
              <a:t>）”，</a:t>
            </a:r>
            <a:r>
              <a:rPr lang="en-US" altLang="zh-CN" sz="1900" b="1" dirty="0">
                <a:ea typeface="宋体" panose="02010600030101010101" pitchFamily="2" charset="-122"/>
              </a:rPr>
              <a:t>2009-2011</a:t>
            </a:r>
            <a:r>
              <a:rPr lang="zh-CN" altLang="en-US" sz="1900" b="1" dirty="0">
                <a:ea typeface="宋体" panose="02010600030101010101" pitchFamily="2" charset="-122"/>
              </a:rPr>
              <a:t>，经费</a:t>
            </a:r>
            <a:r>
              <a:rPr lang="en-US" altLang="zh-CN" sz="1900" b="1" dirty="0">
                <a:ea typeface="宋体" panose="02010600030101010101" pitchFamily="2" charset="-122"/>
              </a:rPr>
              <a:t>36</a:t>
            </a:r>
            <a:r>
              <a:rPr lang="zh-CN" altLang="en-US" sz="1900" b="1" dirty="0">
                <a:ea typeface="宋体" panose="02010600030101010101" pitchFamily="2" charset="-122"/>
              </a:rPr>
              <a:t>万元；</a:t>
            </a:r>
          </a:p>
          <a:p>
            <a:pPr>
              <a:lnSpc>
                <a:spcPct val="150000"/>
              </a:lnSpc>
              <a:spcBef>
                <a:spcPts val="1200"/>
              </a:spcBef>
            </a:pPr>
            <a:r>
              <a:rPr lang="en-US" altLang="zh-CN" sz="1900" b="1" dirty="0">
                <a:solidFill>
                  <a:srgbClr val="1D41D5"/>
                </a:solidFill>
                <a:ea typeface="宋体" panose="02010600030101010101" pitchFamily="2" charset="-122"/>
              </a:rPr>
              <a:t>(7)</a:t>
            </a:r>
            <a:r>
              <a:rPr lang="zh-CN" altLang="en-US" sz="1900" b="1" dirty="0">
                <a:solidFill>
                  <a:srgbClr val="1D41D5"/>
                </a:solidFill>
                <a:ea typeface="宋体" panose="02010600030101010101" pitchFamily="2" charset="-122"/>
              </a:rPr>
              <a:t>主持国家重点基础研究发展规划</a:t>
            </a:r>
            <a:r>
              <a:rPr lang="en-US" altLang="zh-CN" sz="1900" b="1" dirty="0">
                <a:solidFill>
                  <a:srgbClr val="1D41D5"/>
                </a:solidFill>
                <a:ea typeface="宋体" panose="02010600030101010101" pitchFamily="2" charset="-122"/>
              </a:rPr>
              <a:t>973</a:t>
            </a:r>
            <a:r>
              <a:rPr lang="zh-CN" altLang="en-US" sz="1900" b="1" dirty="0">
                <a:solidFill>
                  <a:srgbClr val="1D41D5"/>
                </a:solidFill>
                <a:ea typeface="宋体" panose="02010600030101010101" pitchFamily="2" charset="-122"/>
              </a:rPr>
              <a:t>项目专题“粉末成形及致密化过程的数值模拟研究（</a:t>
            </a:r>
            <a:r>
              <a:rPr lang="en-US" altLang="zh-CN" sz="1900" b="1" dirty="0">
                <a:solidFill>
                  <a:srgbClr val="1D41D5"/>
                </a:solidFill>
                <a:ea typeface="宋体" panose="02010600030101010101" pitchFamily="2" charset="-122"/>
              </a:rPr>
              <a:t>2006CB605207-3</a:t>
            </a:r>
            <a:r>
              <a:rPr lang="zh-CN" altLang="en-US" sz="1900" b="1" dirty="0">
                <a:solidFill>
                  <a:srgbClr val="1D41D5"/>
                </a:solidFill>
                <a:ea typeface="宋体" panose="02010600030101010101" pitchFamily="2" charset="-122"/>
              </a:rPr>
              <a:t>）”，</a:t>
            </a:r>
            <a:r>
              <a:rPr lang="en-US" altLang="zh-CN" sz="1900" b="1" dirty="0">
                <a:solidFill>
                  <a:srgbClr val="1D41D5"/>
                </a:solidFill>
                <a:ea typeface="宋体" panose="02010600030101010101" pitchFamily="2" charset="-122"/>
              </a:rPr>
              <a:t>2006-2011</a:t>
            </a:r>
            <a:r>
              <a:rPr lang="zh-CN" altLang="en-US" sz="1900" b="1" dirty="0">
                <a:solidFill>
                  <a:srgbClr val="1D41D5"/>
                </a:solidFill>
                <a:ea typeface="宋体" panose="02010600030101010101" pitchFamily="2" charset="-122"/>
              </a:rPr>
              <a:t>，经费</a:t>
            </a:r>
            <a:r>
              <a:rPr lang="en-US" altLang="zh-CN" sz="1900" b="1" dirty="0">
                <a:solidFill>
                  <a:srgbClr val="1D41D5"/>
                </a:solidFill>
                <a:ea typeface="宋体" panose="02010600030101010101" pitchFamily="2" charset="-122"/>
              </a:rPr>
              <a:t>25</a:t>
            </a:r>
            <a:r>
              <a:rPr lang="zh-CN" altLang="en-US" sz="1900" b="1" dirty="0">
                <a:solidFill>
                  <a:srgbClr val="1D41D5"/>
                </a:solidFill>
                <a:ea typeface="宋体" panose="02010600030101010101" pitchFamily="2" charset="-122"/>
              </a:rPr>
              <a:t>万元；</a:t>
            </a:r>
          </a:p>
          <a:p>
            <a:pPr>
              <a:lnSpc>
                <a:spcPct val="150000"/>
              </a:lnSpc>
              <a:spcBef>
                <a:spcPts val="1200"/>
              </a:spcBef>
            </a:pPr>
            <a:r>
              <a:rPr lang="en-US" altLang="zh-CN" sz="1900" b="1" dirty="0">
                <a:ea typeface="宋体" panose="02010600030101010101" pitchFamily="2" charset="-122"/>
              </a:rPr>
              <a:t>(8)</a:t>
            </a:r>
            <a:r>
              <a:rPr lang="zh-CN" altLang="en-US" sz="1900" b="1" dirty="0">
                <a:ea typeface="宋体" panose="02010600030101010101" pitchFamily="2" charset="-122"/>
              </a:rPr>
              <a:t>主持国家高技术研究发展计划</a:t>
            </a:r>
            <a:r>
              <a:rPr lang="en-US" altLang="zh-CN" sz="1900" b="1" dirty="0">
                <a:ea typeface="宋体" panose="02010600030101010101" pitchFamily="2" charset="-122"/>
              </a:rPr>
              <a:t>863</a:t>
            </a:r>
            <a:r>
              <a:rPr lang="zh-CN" altLang="en-US" sz="1900" b="1" dirty="0">
                <a:ea typeface="宋体" panose="02010600030101010101" pitchFamily="2" charset="-122"/>
              </a:rPr>
              <a:t>计划课题“被动源电磁测深的多尺度自适应双模联合反演研究（</a:t>
            </a:r>
            <a:r>
              <a:rPr lang="en-US" altLang="zh-CN" sz="1900" b="1" dirty="0">
                <a:ea typeface="宋体" panose="02010600030101010101" pitchFamily="2" charset="-122"/>
              </a:rPr>
              <a:t>2006AA06Z105</a:t>
            </a:r>
            <a:r>
              <a:rPr lang="zh-CN" altLang="en-US" sz="1900" b="1" dirty="0">
                <a:ea typeface="宋体" panose="02010600030101010101" pitchFamily="2" charset="-122"/>
              </a:rPr>
              <a:t>）”，</a:t>
            </a:r>
            <a:r>
              <a:rPr lang="en-US" altLang="zh-CN" sz="1900" b="1" dirty="0">
                <a:ea typeface="宋体" panose="02010600030101010101" pitchFamily="2" charset="-122"/>
              </a:rPr>
              <a:t>2006-2009</a:t>
            </a:r>
            <a:r>
              <a:rPr lang="zh-CN" altLang="en-US" sz="1900" b="1" dirty="0">
                <a:ea typeface="宋体" panose="02010600030101010101" pitchFamily="2" charset="-122"/>
              </a:rPr>
              <a:t>，经费</a:t>
            </a:r>
            <a:r>
              <a:rPr lang="en-US" altLang="zh-CN" sz="1900" b="1" dirty="0">
                <a:ea typeface="宋体" panose="02010600030101010101" pitchFamily="2" charset="-122"/>
              </a:rPr>
              <a:t>77</a:t>
            </a:r>
            <a:r>
              <a:rPr lang="zh-CN" altLang="en-US" sz="1900" b="1" dirty="0">
                <a:ea typeface="宋体" panose="02010600030101010101" pitchFamily="2" charset="-122"/>
              </a:rPr>
              <a:t>万元；</a:t>
            </a:r>
          </a:p>
          <a:p>
            <a:pPr>
              <a:lnSpc>
                <a:spcPct val="150000"/>
              </a:lnSpc>
              <a:spcBef>
                <a:spcPts val="1200"/>
              </a:spcBef>
            </a:pPr>
            <a:r>
              <a:rPr lang="en-US" altLang="zh-CN" sz="1900" b="1" dirty="0">
                <a:solidFill>
                  <a:srgbClr val="1D41D5"/>
                </a:solidFill>
                <a:ea typeface="宋体" panose="02010600030101010101" pitchFamily="2" charset="-122"/>
              </a:rPr>
              <a:t>(9)</a:t>
            </a:r>
            <a:r>
              <a:rPr lang="zh-CN" altLang="en-US" sz="1900" b="1" dirty="0">
                <a:solidFill>
                  <a:srgbClr val="1D41D5"/>
                </a:solidFill>
                <a:ea typeface="宋体" panose="02010600030101010101" pitchFamily="2" charset="-122"/>
              </a:rPr>
              <a:t>主持湖南省科技厅博士后专项课题“固液两相流动的数值模拟及应用研究</a:t>
            </a:r>
            <a:r>
              <a:rPr lang="en-US" altLang="zh-CN" sz="1900" b="1" dirty="0">
                <a:solidFill>
                  <a:srgbClr val="1D41D5"/>
                </a:solidFill>
                <a:ea typeface="宋体" panose="02010600030101010101" pitchFamily="2" charset="-122"/>
              </a:rPr>
              <a:t>(2007RS4028)”</a:t>
            </a:r>
            <a:r>
              <a:rPr lang="zh-CN" altLang="en-US" sz="1900" b="1" dirty="0">
                <a:solidFill>
                  <a:srgbClr val="1D41D5"/>
                </a:solidFill>
                <a:ea typeface="宋体" panose="02010600030101010101" pitchFamily="2" charset="-122"/>
              </a:rPr>
              <a:t>，</a:t>
            </a:r>
            <a:r>
              <a:rPr lang="en-US" altLang="zh-CN" sz="1900" b="1" dirty="0">
                <a:solidFill>
                  <a:srgbClr val="1D41D5"/>
                </a:solidFill>
                <a:ea typeface="宋体" panose="02010600030101010101" pitchFamily="2" charset="-122"/>
              </a:rPr>
              <a:t>2007-2009</a:t>
            </a:r>
            <a:r>
              <a:rPr lang="zh-CN" altLang="en-US" sz="1900" b="1" dirty="0">
                <a:solidFill>
                  <a:srgbClr val="1D41D5"/>
                </a:solidFill>
                <a:ea typeface="宋体" panose="02010600030101010101" pitchFamily="2" charset="-122"/>
              </a:rPr>
              <a:t>，经费</a:t>
            </a:r>
            <a:r>
              <a:rPr lang="en-US" altLang="zh-CN" sz="1900" b="1" dirty="0">
                <a:solidFill>
                  <a:srgbClr val="1D41D5"/>
                </a:solidFill>
                <a:ea typeface="宋体" panose="02010600030101010101" pitchFamily="2" charset="-122"/>
              </a:rPr>
              <a:t>2</a:t>
            </a:r>
            <a:r>
              <a:rPr lang="zh-CN" altLang="en-US" sz="1900" b="1" dirty="0">
                <a:solidFill>
                  <a:srgbClr val="1D41D5"/>
                </a:solidFill>
                <a:ea typeface="宋体" panose="02010600030101010101" pitchFamily="2" charset="-122"/>
              </a:rPr>
              <a:t>万元；</a:t>
            </a:r>
          </a:p>
          <a:p>
            <a:pPr>
              <a:lnSpc>
                <a:spcPct val="150000"/>
              </a:lnSpc>
              <a:spcBef>
                <a:spcPts val="1200"/>
              </a:spcBef>
            </a:pPr>
            <a:r>
              <a:rPr lang="en-US" altLang="zh-CN" sz="1900" b="1" dirty="0">
                <a:ea typeface="宋体" panose="02010600030101010101" pitchFamily="2" charset="-122"/>
              </a:rPr>
              <a:t>(10)</a:t>
            </a:r>
            <a:r>
              <a:rPr lang="zh-CN" altLang="en-US" sz="1900" b="1" dirty="0">
                <a:ea typeface="宋体" panose="02010600030101010101" pitchFamily="2" charset="-122"/>
              </a:rPr>
              <a:t>主持中南大学博士后基金项目“固液两相流动的数值模拟及应用研究”，</a:t>
            </a:r>
            <a:r>
              <a:rPr lang="en-US" altLang="zh-CN" sz="1900" b="1" dirty="0">
                <a:ea typeface="宋体" panose="02010600030101010101" pitchFamily="2" charset="-122"/>
              </a:rPr>
              <a:t>2007-2009</a:t>
            </a:r>
            <a:r>
              <a:rPr lang="zh-CN" altLang="en-US" sz="1900" b="1" dirty="0">
                <a:ea typeface="宋体" panose="02010600030101010101" pitchFamily="2" charset="-122"/>
              </a:rPr>
              <a:t>，经费</a:t>
            </a:r>
            <a:r>
              <a:rPr lang="en-US" altLang="zh-CN" sz="1900" b="1" dirty="0">
                <a:ea typeface="宋体" panose="02010600030101010101" pitchFamily="2" charset="-122"/>
              </a:rPr>
              <a:t>4</a:t>
            </a:r>
            <a:r>
              <a:rPr lang="zh-CN" altLang="en-US" sz="1900" b="1" dirty="0">
                <a:ea typeface="宋体" panose="02010600030101010101" pitchFamily="2" charset="-122"/>
              </a:rPr>
              <a:t>万元。</a:t>
            </a:r>
          </a:p>
        </p:txBody>
      </p:sp>
      <p:sp>
        <p:nvSpPr>
          <p:cNvPr id="5" name="标题 1">
            <a:extLst>
              <a:ext uri="{FF2B5EF4-FFF2-40B4-BE49-F238E27FC236}">
                <a16:creationId xmlns:a16="http://schemas.microsoft.com/office/drawing/2014/main" id="{9AF7D350-2E6B-410D-930D-2F158B0EABD6}"/>
              </a:ext>
            </a:extLst>
          </p:cNvPr>
          <p:cNvSpPr>
            <a:spLocks noGrp="1"/>
          </p:cNvSpPr>
          <p:nvPr>
            <p:ph type="title"/>
          </p:nvPr>
        </p:nvSpPr>
        <p:spPr>
          <a:xfrm>
            <a:off x="3247391" y="869688"/>
            <a:ext cx="7297948" cy="660528"/>
          </a:xfrm>
        </p:spPr>
        <p:txBody>
          <a:bodyPr>
            <a:normAutofit/>
          </a:bodyPr>
          <a:lstStyle/>
          <a:p>
            <a:r>
              <a:rPr lang="zh-CN" altLang="en-US" sz="3200" b="1" dirty="0">
                <a:solidFill>
                  <a:srgbClr val="000000"/>
                </a:solidFill>
                <a:latin typeface="Arial" panose="020B0604020202020204" pitchFamily="34" charset="0"/>
                <a:ea typeface="宋体" panose="02010600030101010101" pitchFamily="2" charset="-122"/>
              </a:rPr>
              <a:t>数学技术与数学应用</a:t>
            </a:r>
            <a:endParaRPr lang="zh-CN" altLang="en-US" sz="3200" b="1" dirty="0">
              <a:solidFill>
                <a:srgbClr val="000000"/>
              </a:solidFill>
              <a:latin typeface="微软雅黑" charset="-122"/>
              <a:ea typeface="宋体" panose="02010600030101010101" pitchFamily="2" charset="-122"/>
            </a:endParaRPr>
          </a:p>
        </p:txBody>
      </p:sp>
    </p:spTree>
    <p:extLst>
      <p:ext uri="{BB962C8B-B14F-4D97-AF65-F5344CB8AC3E}">
        <p14:creationId xmlns:p14="http://schemas.microsoft.com/office/powerpoint/2010/main" val="374683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 calcmode="lin" valueType="num">
                                      <p:cBhvr>
                                        <p:cTn id="12" dur="500" fill="hold"/>
                                        <p:tgtEl>
                                          <p:spTgt spid="4">
                                            <p:txEl>
                                              <p:pRg st="1" end="1"/>
                                            </p:txEl>
                                          </p:spTgt>
                                        </p:tgtEl>
                                        <p:attrNameLst>
                                          <p:attrName>ppt_x</p:attrName>
                                        </p:attrNameLst>
                                      </p:cBhvr>
                                      <p:tavLst>
                                        <p:tav tm="0">
                                          <p:val>
                                            <p:strVal val="1+#ppt_w/2"/>
                                          </p:val>
                                        </p:tav>
                                        <p:tav tm="100000">
                                          <p:val>
                                            <p:strVal val="#ppt_x"/>
                                          </p:val>
                                        </p:tav>
                                      </p:tavLst>
                                    </p:anim>
                                    <p:anim calcmode="lin" valueType="num">
                                      <p:cBhvr>
                                        <p:cTn id="13" dur="500" fill="hold"/>
                                        <p:tgtEl>
                                          <p:spTgt spid="4">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p:cTn id="17"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p:cTn id="18" dur="500" fill="hold"/>
                                        <p:tgtEl>
                                          <p:spTgt spid="4">
                                            <p:txEl>
                                              <p:pRg st="2" end="2"/>
                                            </p:txEl>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nodeType="after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 calcmode="lin" valueType="num">
                                      <p:cBhvr>
                                        <p:cTn id="22" dur="500" fill="hold"/>
                                        <p:tgtEl>
                                          <p:spTgt spid="4">
                                            <p:txEl>
                                              <p:pRg st="3" end="3"/>
                                            </p:txEl>
                                          </p:spTgt>
                                        </p:tgtEl>
                                        <p:attrNameLst>
                                          <p:attrName>ppt_x</p:attrName>
                                        </p:attrNameLst>
                                      </p:cBhvr>
                                      <p:tavLst>
                                        <p:tav tm="0">
                                          <p:val>
                                            <p:strVal val="1+#ppt_w/2"/>
                                          </p:val>
                                        </p:tav>
                                        <p:tav tm="100000">
                                          <p:val>
                                            <p:strVal val="#ppt_x"/>
                                          </p:val>
                                        </p:tav>
                                      </p:tavLst>
                                    </p:anim>
                                    <p:anim calcmode="lin" valueType="num">
                                      <p:cBhvr>
                                        <p:cTn id="23" dur="500" fill="hold"/>
                                        <p:tgtEl>
                                          <p:spTgt spid="4">
                                            <p:txEl>
                                              <p:pRg st="3" end="3"/>
                                            </p:txEl>
                                          </p:spTgt>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 calcmode="lin" valueType="num">
                                      <p:cBhvr>
                                        <p:cTn id="2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8"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17762">
            <a:extLst>
              <a:ext uri="{FF2B5EF4-FFF2-40B4-BE49-F238E27FC236}">
                <a16:creationId xmlns:a16="http://schemas.microsoft.com/office/drawing/2014/main" id="{EF8CF2C3-22CC-4059-B771-9FB7863A0B38}"/>
              </a:ext>
            </a:extLst>
          </p:cNvPr>
          <p:cNvSpPr>
            <a:spLocks noGrp="1"/>
          </p:cNvSpPr>
          <p:nvPr>
            <p:ph idx="1"/>
          </p:nvPr>
        </p:nvSpPr>
        <p:spPr>
          <a:xfrm>
            <a:off x="2744788" y="1953620"/>
            <a:ext cx="8137525" cy="4728977"/>
          </a:xfrm>
        </p:spPr>
        <p:txBody>
          <a:bodyPr anchor="t"/>
          <a:lstStyle/>
          <a:p>
            <a:pPr>
              <a:spcBef>
                <a:spcPct val="50000"/>
              </a:spcBef>
            </a:pPr>
            <a:r>
              <a:rPr lang="zh-CN" altLang="en-US" b="1" dirty="0">
                <a:solidFill>
                  <a:srgbClr val="800000"/>
                </a:solidFill>
                <a:ea typeface="宋体" panose="02010600030101010101" pitchFamily="2" charset="-122"/>
              </a:rPr>
              <a:t> </a:t>
            </a:r>
            <a:r>
              <a:rPr lang="zh-CN" altLang="en-US" sz="3200" b="1" dirty="0">
                <a:solidFill>
                  <a:srgbClr val="800000"/>
                </a:solidFill>
                <a:ea typeface="宋体" panose="02010600030101010101" pitchFamily="2" charset="-122"/>
              </a:rPr>
              <a:t>偏微分方程数值解法及应用；</a:t>
            </a:r>
          </a:p>
          <a:p>
            <a:pPr>
              <a:spcBef>
                <a:spcPct val="50000"/>
              </a:spcBef>
            </a:pPr>
            <a:r>
              <a:rPr lang="zh-CN" altLang="en-US" sz="3200" b="1" dirty="0">
                <a:solidFill>
                  <a:schemeClr val="tx2"/>
                </a:solidFill>
                <a:ea typeface="宋体" panose="02010600030101010101" pitchFamily="2" charset="-122"/>
              </a:rPr>
              <a:t> </a:t>
            </a:r>
            <a:r>
              <a:rPr lang="zh-CN" altLang="en-US" sz="3200" b="1" dirty="0">
                <a:ea typeface="宋体" panose="02010600030101010101" pitchFamily="2" charset="-122"/>
              </a:rPr>
              <a:t>分数阶微分方程数值解法及应用；</a:t>
            </a:r>
            <a:endParaRPr lang="en-US" altLang="zh-CN" sz="3200" b="1" dirty="0">
              <a:ea typeface="宋体" panose="02010600030101010101" pitchFamily="2" charset="-122"/>
            </a:endParaRPr>
          </a:p>
          <a:p>
            <a:pPr>
              <a:spcBef>
                <a:spcPct val="50000"/>
              </a:spcBef>
            </a:pPr>
            <a:r>
              <a:rPr lang="zh-CN" altLang="en-US" sz="3200" b="1" dirty="0">
                <a:solidFill>
                  <a:srgbClr val="3366FF"/>
                </a:solidFill>
                <a:ea typeface="宋体" panose="02010600030101010101" pitchFamily="2" charset="-122"/>
              </a:rPr>
              <a:t> 数学建模与数值模拟；</a:t>
            </a:r>
            <a:endParaRPr lang="zh-CN" altLang="en-US" sz="3200" b="1" dirty="0">
              <a:solidFill>
                <a:schemeClr val="tx2"/>
              </a:solidFill>
              <a:ea typeface="宋体" panose="02010600030101010101" pitchFamily="2" charset="-122"/>
            </a:endParaRPr>
          </a:p>
          <a:p>
            <a:pPr>
              <a:spcBef>
                <a:spcPct val="50000"/>
              </a:spcBef>
            </a:pPr>
            <a:r>
              <a:rPr lang="zh-CN" altLang="en-US" sz="3200" b="1" dirty="0">
                <a:solidFill>
                  <a:srgbClr val="006600"/>
                </a:solidFill>
                <a:ea typeface="宋体" panose="02010600030101010101" pitchFamily="2" charset="-122"/>
              </a:rPr>
              <a:t> 分形与混沌的理论及应用；</a:t>
            </a:r>
          </a:p>
          <a:p>
            <a:pPr>
              <a:spcBef>
                <a:spcPct val="50000"/>
              </a:spcBef>
            </a:pPr>
            <a:r>
              <a:rPr lang="zh-CN" altLang="en-US" sz="3200" b="1" dirty="0">
                <a:solidFill>
                  <a:srgbClr val="008080"/>
                </a:solidFill>
                <a:ea typeface="宋体" panose="02010600030101010101" pitchFamily="2" charset="-122"/>
              </a:rPr>
              <a:t> 数据挖掘分析；</a:t>
            </a:r>
          </a:p>
          <a:p>
            <a:pPr>
              <a:spcBef>
                <a:spcPct val="50000"/>
              </a:spcBef>
            </a:pPr>
            <a:r>
              <a:rPr lang="zh-CN" altLang="en-US" sz="3200" b="1" dirty="0">
                <a:solidFill>
                  <a:srgbClr val="6600FF"/>
                </a:solidFill>
                <a:ea typeface="宋体" panose="02010600030101010101" pitchFamily="2" charset="-122"/>
              </a:rPr>
              <a:t> 线性方程组数值解法；</a:t>
            </a:r>
          </a:p>
          <a:p>
            <a:pPr>
              <a:spcBef>
                <a:spcPct val="50000"/>
              </a:spcBef>
            </a:pPr>
            <a:r>
              <a:rPr lang="en-US" altLang="zh-CN" sz="3200" b="1" dirty="0">
                <a:solidFill>
                  <a:srgbClr val="6600FF"/>
                </a:solidFill>
                <a:ea typeface="宋体" panose="02010600030101010101" pitchFamily="2" charset="-122"/>
              </a:rPr>
              <a:t>……</a:t>
            </a:r>
          </a:p>
        </p:txBody>
      </p:sp>
      <p:sp>
        <p:nvSpPr>
          <p:cNvPr id="5" name="标题 1">
            <a:extLst>
              <a:ext uri="{FF2B5EF4-FFF2-40B4-BE49-F238E27FC236}">
                <a16:creationId xmlns:a16="http://schemas.microsoft.com/office/drawing/2014/main" id="{8B73DE84-8C9E-460E-B968-E656E8D51F8B}"/>
              </a:ext>
            </a:extLst>
          </p:cNvPr>
          <p:cNvSpPr>
            <a:spLocks noGrp="1"/>
          </p:cNvSpPr>
          <p:nvPr>
            <p:ph type="title"/>
          </p:nvPr>
        </p:nvSpPr>
        <p:spPr>
          <a:xfrm>
            <a:off x="3247391" y="869688"/>
            <a:ext cx="7297948" cy="660528"/>
          </a:xfrm>
        </p:spPr>
        <p:txBody>
          <a:bodyPr>
            <a:normAutofit/>
          </a:bodyPr>
          <a:lstStyle/>
          <a:p>
            <a:r>
              <a:rPr lang="zh-CN" altLang="en-US" sz="3200" b="1" dirty="0">
                <a:ea typeface="宋体" panose="02010600030101010101" pitchFamily="2" charset="-122"/>
              </a:rPr>
              <a:t>一些感兴趣的研究领域</a:t>
            </a:r>
            <a:endParaRPr lang="zh-CN" altLang="en-US" sz="3200" b="1" dirty="0">
              <a:solidFill>
                <a:srgbClr val="000000"/>
              </a:solidFill>
              <a:latin typeface="微软雅黑" charset="-122"/>
              <a:ea typeface="宋体" panose="02010600030101010101" pitchFamily="2" charset="-122"/>
            </a:endParaRPr>
          </a:p>
        </p:txBody>
      </p:sp>
    </p:spTree>
    <p:extLst>
      <p:ext uri="{BB962C8B-B14F-4D97-AF65-F5344CB8AC3E}">
        <p14:creationId xmlns:p14="http://schemas.microsoft.com/office/powerpoint/2010/main" val="2158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 calcmode="lin" valueType="num">
                                      <p:cBhvr>
                                        <p:cTn id="12" dur="500" fill="hold"/>
                                        <p:tgtEl>
                                          <p:spTgt spid="4">
                                            <p:txEl>
                                              <p:pRg st="1" end="1"/>
                                            </p:txEl>
                                          </p:spTgt>
                                        </p:tgtEl>
                                        <p:attrNameLst>
                                          <p:attrName>ppt_x</p:attrName>
                                        </p:attrNameLst>
                                      </p:cBhvr>
                                      <p:tavLst>
                                        <p:tav tm="0">
                                          <p:val>
                                            <p:strVal val="1+#ppt_w/2"/>
                                          </p:val>
                                        </p:tav>
                                        <p:tav tm="100000">
                                          <p:val>
                                            <p:strVal val="#ppt_x"/>
                                          </p:val>
                                        </p:tav>
                                      </p:tavLst>
                                    </p:anim>
                                    <p:anim calcmode="lin" valueType="num">
                                      <p:cBhvr>
                                        <p:cTn id="13" dur="500" fill="hold"/>
                                        <p:tgtEl>
                                          <p:spTgt spid="4">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p:cTn id="17"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p:cTn id="18" dur="500" fill="hold"/>
                                        <p:tgtEl>
                                          <p:spTgt spid="4">
                                            <p:txEl>
                                              <p:pRg st="2" end="2"/>
                                            </p:txEl>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nodeType="after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 calcmode="lin" valueType="num">
                                      <p:cBhvr>
                                        <p:cTn id="22" dur="500" fill="hold"/>
                                        <p:tgtEl>
                                          <p:spTgt spid="4">
                                            <p:txEl>
                                              <p:pRg st="3" end="3"/>
                                            </p:txEl>
                                          </p:spTgt>
                                        </p:tgtEl>
                                        <p:attrNameLst>
                                          <p:attrName>ppt_x</p:attrName>
                                        </p:attrNameLst>
                                      </p:cBhvr>
                                      <p:tavLst>
                                        <p:tav tm="0">
                                          <p:val>
                                            <p:strVal val="1+#ppt_w/2"/>
                                          </p:val>
                                        </p:tav>
                                        <p:tav tm="100000">
                                          <p:val>
                                            <p:strVal val="#ppt_x"/>
                                          </p:val>
                                        </p:tav>
                                      </p:tavLst>
                                    </p:anim>
                                    <p:anim calcmode="lin" valueType="num">
                                      <p:cBhvr>
                                        <p:cTn id="23" dur="500" fill="hold"/>
                                        <p:tgtEl>
                                          <p:spTgt spid="4">
                                            <p:txEl>
                                              <p:pRg st="3" end="3"/>
                                            </p:txEl>
                                          </p:spTgt>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nodeType="after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 calcmode="lin" valueType="num">
                                      <p:cBhvr>
                                        <p:cTn id="27" dur="500" fill="hold"/>
                                        <p:tgtEl>
                                          <p:spTgt spid="4">
                                            <p:txEl>
                                              <p:pRg st="4" end="4"/>
                                            </p:txEl>
                                          </p:spTgt>
                                        </p:tgtEl>
                                        <p:attrNameLst>
                                          <p:attrName>ppt_x</p:attrName>
                                        </p:attrNameLst>
                                      </p:cBhvr>
                                      <p:tavLst>
                                        <p:tav tm="0">
                                          <p:val>
                                            <p:strVal val="0-#ppt_w/2"/>
                                          </p:val>
                                        </p:tav>
                                        <p:tav tm="100000">
                                          <p:val>
                                            <p:strVal val="#ppt_x"/>
                                          </p:val>
                                        </p:tav>
                                      </p:tavLst>
                                    </p:anim>
                                    <p:anim calcmode="lin" valueType="num">
                                      <p:cBhvr>
                                        <p:cTn id="28" dur="500" fill="hold"/>
                                        <p:tgtEl>
                                          <p:spTgt spid="4">
                                            <p:txEl>
                                              <p:pRg st="4" end="4"/>
                                            </p:txEl>
                                          </p:spTgt>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2" fill="hold" nodeType="after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 calcmode="lin" valueType="num">
                                      <p:cBhvr>
                                        <p:cTn id="32" dur="500" fill="hold"/>
                                        <p:tgtEl>
                                          <p:spTgt spid="4">
                                            <p:txEl>
                                              <p:pRg st="5" end="5"/>
                                            </p:txEl>
                                          </p:spTgt>
                                        </p:tgtEl>
                                        <p:attrNameLst>
                                          <p:attrName>ppt_x</p:attrName>
                                        </p:attrNameLst>
                                      </p:cBhvr>
                                      <p:tavLst>
                                        <p:tav tm="0">
                                          <p:val>
                                            <p:strVal val="1+#ppt_w/2"/>
                                          </p:val>
                                        </p:tav>
                                        <p:tav tm="100000">
                                          <p:val>
                                            <p:strVal val="#ppt_x"/>
                                          </p:val>
                                        </p:tav>
                                      </p:tavLst>
                                    </p:anim>
                                    <p:anim calcmode="lin" valueType="num">
                                      <p:cBhvr>
                                        <p:cTn id="33" dur="500" fill="hold"/>
                                        <p:tgtEl>
                                          <p:spTgt spid="4">
                                            <p:txEl>
                                              <p:pRg st="5" end="5"/>
                                            </p:txEl>
                                          </p:spTgt>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 presetClass="entr" presetSubtype="4" fill="hold" nodeType="after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 calcmode="lin" valueType="num">
                                      <p:cBhvr>
                                        <p:cTn id="3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8"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Woman and young girl gardening"/>
          <p:cNvPicPr>
            <a:picLocks noGrp="1" noChangeAspect="1"/>
          </p:cNvPicPr>
          <p:nvPr>
            <p:ph type="pic" idx="1"/>
          </p:nvPr>
        </p:nvPicPr>
        <p:blipFill>
          <a:blip r:embed="rId2" cstate="email">
            <a:extLst>
              <a:ext uri="{28A0092B-C50C-407E-A947-70E740481C1C}">
                <a14:useLocalDpi xmlns:a14="http://schemas.microsoft.com/office/drawing/2010/main"/>
              </a:ext>
            </a:extLst>
          </a:blip>
          <a:srcRect l="78" r="78"/>
          <a:stretch>
            <a:fillRect/>
          </a:stretch>
        </p:blipFill>
        <p:spPr>
          <a:xfrm>
            <a:off x="630440" y="971909"/>
            <a:ext cx="10839104" cy="5135593"/>
          </a:xfrm>
        </p:spPr>
      </p:pic>
      <p:sp>
        <p:nvSpPr>
          <p:cNvPr id="6" name="矩形 5">
            <a:extLst>
              <a:ext uri="{FF2B5EF4-FFF2-40B4-BE49-F238E27FC236}">
                <a16:creationId xmlns:a16="http://schemas.microsoft.com/office/drawing/2014/main" id="{21EA2999-42E5-4D30-8E13-BA06ADE77FF6}"/>
              </a:ext>
            </a:extLst>
          </p:cNvPr>
          <p:cNvSpPr>
            <a:spLocks noChangeArrowheads="1" noChangeShapeType="1" noTextEdit="1"/>
          </p:cNvSpPr>
          <p:nvPr/>
        </p:nvSpPr>
        <p:spPr bwMode="auto">
          <a:xfrm>
            <a:off x="2280679" y="2569516"/>
            <a:ext cx="5880100" cy="652463"/>
          </a:xfrm>
          <a:prstGeom prst="rect">
            <a:avLst/>
          </a:prstGeom>
        </p:spPr>
        <p:txBody>
          <a:bodyPr wrap="none" fromWordArt="1">
            <a:prstTxWarp prst="textDeflate">
              <a:avLst>
                <a:gd name="adj" fmla="val 0"/>
              </a:avLst>
            </a:prstTxWarp>
          </a:bodyPr>
          <a:lstStyle/>
          <a:p>
            <a:pPr algn="ctr"/>
            <a:r>
              <a:rPr lang="zh-CN" altLang="en-US" sz="3600" b="1" kern="10" dirty="0">
                <a:ln w="19050">
                  <a:solidFill>
                    <a:srgbClr val="FFFFFF"/>
                  </a:solidFill>
                  <a:round/>
                  <a:headEnd/>
                  <a:tailEnd/>
                </a:ln>
                <a:solidFill>
                  <a:srgbClr val="FF0000"/>
                </a:solidFill>
                <a:effectLst>
                  <a:outerShdw dist="71842" dir="2700000" algn="ctr" rotWithShape="0">
                    <a:schemeClr val="tx1">
                      <a:alpha val="50000"/>
                    </a:schemeClr>
                  </a:outerShdw>
                </a:effectLst>
                <a:latin typeface="Arial"/>
                <a:cs typeface="Arial"/>
              </a:rPr>
              <a:t>学数学用数学</a:t>
            </a:r>
          </a:p>
        </p:txBody>
      </p:sp>
      <p:sp>
        <p:nvSpPr>
          <p:cNvPr id="7" name="矩形 6">
            <a:extLst>
              <a:ext uri="{FF2B5EF4-FFF2-40B4-BE49-F238E27FC236}">
                <a16:creationId xmlns:a16="http://schemas.microsoft.com/office/drawing/2014/main" id="{94DD9E7B-4F46-40ED-8227-C459733D4991}"/>
              </a:ext>
            </a:extLst>
          </p:cNvPr>
          <p:cNvSpPr>
            <a:spLocks noChangeArrowheads="1" noChangeShapeType="1" noTextEdit="1"/>
          </p:cNvSpPr>
          <p:nvPr/>
        </p:nvSpPr>
        <p:spPr bwMode="auto">
          <a:xfrm>
            <a:off x="3203404" y="4238793"/>
            <a:ext cx="5880100" cy="652463"/>
          </a:xfrm>
          <a:prstGeom prst="rect">
            <a:avLst/>
          </a:prstGeom>
        </p:spPr>
        <p:txBody>
          <a:bodyPr wrap="none" fromWordArt="1">
            <a:prstTxWarp prst="textDeflate">
              <a:avLst>
                <a:gd name="adj" fmla="val 0"/>
              </a:avLst>
            </a:prstTxWarp>
          </a:bodyPr>
          <a:lstStyle/>
          <a:p>
            <a:pPr algn="ctr"/>
            <a:r>
              <a:rPr lang="zh-CN" altLang="en-US" sz="3600" b="1" kern="10" dirty="0">
                <a:ln w="19050">
                  <a:solidFill>
                    <a:srgbClr val="FFFFFF"/>
                  </a:solidFill>
                  <a:round/>
                  <a:headEnd/>
                  <a:tailEnd/>
                </a:ln>
                <a:solidFill>
                  <a:srgbClr val="FF0000"/>
                </a:solidFill>
                <a:effectLst>
                  <a:outerShdw dist="71842" dir="2700000" algn="ctr" rotWithShape="0">
                    <a:schemeClr val="tx1">
                      <a:alpha val="50000"/>
                    </a:schemeClr>
                  </a:outerShdw>
                </a:effectLst>
                <a:latin typeface="Arial"/>
                <a:cs typeface="Arial"/>
              </a:rPr>
              <a:t>我们共同努力</a:t>
            </a:r>
            <a:r>
              <a:rPr lang="en-US" altLang="zh-CN" sz="3600" b="1" kern="10" dirty="0">
                <a:ln w="19050">
                  <a:solidFill>
                    <a:srgbClr val="FFFFFF"/>
                  </a:solidFill>
                  <a:round/>
                  <a:headEnd/>
                  <a:tailEnd/>
                </a:ln>
                <a:solidFill>
                  <a:srgbClr val="FF0000"/>
                </a:solidFill>
                <a:effectLst>
                  <a:outerShdw dist="71842" dir="2700000" algn="ctr" rotWithShape="0">
                    <a:schemeClr val="tx1">
                      <a:alpha val="50000"/>
                    </a:schemeClr>
                  </a:outerShdw>
                </a:effectLst>
                <a:latin typeface="Arial"/>
                <a:cs typeface="Arial"/>
              </a:rPr>
              <a:t>!</a:t>
            </a:r>
            <a:endParaRPr lang="zh-CN" altLang="en-US" sz="3600" b="1" kern="10" dirty="0">
              <a:ln w="19050">
                <a:solidFill>
                  <a:srgbClr val="FFFFFF"/>
                </a:solidFill>
                <a:round/>
                <a:headEnd/>
                <a:tailEnd/>
              </a:ln>
              <a:solidFill>
                <a:srgbClr val="FF0000"/>
              </a:solidFill>
              <a:effectLst>
                <a:outerShdw dist="71842" dir="2700000" algn="ctr" rotWithShape="0">
                  <a:schemeClr val="tx1">
                    <a:alpha val="50000"/>
                  </a:schemeClr>
                </a:outerShdw>
              </a:effectLst>
              <a:latin typeface="Arial"/>
              <a:cs typeface="Arial"/>
            </a:endParaRPr>
          </a:p>
        </p:txBody>
      </p:sp>
    </p:spTree>
    <p:extLst>
      <p:ext uri="{BB962C8B-B14F-4D97-AF65-F5344CB8AC3E}">
        <p14:creationId xmlns:p14="http://schemas.microsoft.com/office/powerpoint/2010/main" val="271313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fltVal val="0"/>
                                          </p:val>
                                        </p:tav>
                                        <p:tav tm="100000">
                                          <p:val>
                                            <p:strVal val="#ppt_w"/>
                                          </p:val>
                                        </p:tav>
                                      </p:tavLst>
                                    </p:anim>
                                    <p:anim calcmode="lin" valueType="num">
                                      <p:cBhvr>
                                        <p:cTn id="14" dur="500" fill="hold"/>
                                        <p:tgtEl>
                                          <p:spTgt spid="7"/>
                                        </p:tgtEl>
                                        <p:attrNameLst>
                                          <p:attrName>ppt_h</p:attrName>
                                        </p:attrNameLst>
                                      </p:cBhvr>
                                      <p:tavLst>
                                        <p:tav tm="0">
                                          <p:val>
                                            <p:fltVal val="0"/>
                                          </p:val>
                                        </p:tav>
                                        <p:tav tm="100000">
                                          <p:val>
                                            <p:strVal val="#ppt_h"/>
                                          </p:val>
                                        </p:tav>
                                      </p:tavLst>
                                    </p:anim>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theme/theme1.xml><?xml version="1.0" encoding="utf-8"?>
<a:theme xmlns:a="http://schemas.openxmlformats.org/drawingml/2006/main" name="Four Seasons 16x9">
  <a:themeElements>
    <a:clrScheme name="Four Seasons">
      <a:dk1>
        <a:sysClr val="windowText" lastClr="000000"/>
      </a:dk1>
      <a:lt1>
        <a:sysClr val="window" lastClr="FFFFFF"/>
      </a:lt1>
      <a:dk2>
        <a:srgbClr val="6B7F7F"/>
      </a:dk2>
      <a:lt2>
        <a:srgbClr val="B0BCBC"/>
      </a:lt2>
      <a:accent1>
        <a:srgbClr val="7DB41B"/>
      </a:accent1>
      <a:accent2>
        <a:srgbClr val="ED8A05"/>
      </a:accent2>
      <a:accent3>
        <a:srgbClr val="288DFC"/>
      </a:accent3>
      <a:accent4>
        <a:srgbClr val="36D2B8"/>
      </a:accent4>
      <a:accent5>
        <a:srgbClr val="F5B605"/>
      </a:accent5>
      <a:accent6>
        <a:srgbClr val="E75524"/>
      </a:accent6>
      <a:hlink>
        <a:srgbClr val="ED8A05"/>
      </a:hlink>
      <a:folHlink>
        <a:srgbClr val="B0BCBC"/>
      </a:folHlink>
    </a:clrScheme>
    <a:fontScheme name="Constantia-Calibri">
      <a:majorFont>
        <a:latin typeface="Constanti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湖南省数学建模组委会-邀请报告-计算是解决科学工程问题的关键-2020-07-24" id="{68AAC787-1D3D-437E-8364-BF78AF5DD139}" vid="{C91CFA79-53BC-4F31-9984-F7835C2B459C}"/>
    </a:ext>
  </a:extLst>
</a:theme>
</file>

<file path=ppt/theme/theme2.xml><?xml version="1.0" encoding="utf-8"?>
<a:theme xmlns:a="http://schemas.openxmlformats.org/drawingml/2006/main" name="Office Theme">
  <a:themeElements>
    <a:clrScheme name="Four Seasons">
      <a:dk1>
        <a:sysClr val="windowText" lastClr="000000"/>
      </a:dk1>
      <a:lt1>
        <a:sysClr val="window" lastClr="FFFFFF"/>
      </a:lt1>
      <a:dk2>
        <a:srgbClr val="6B7F7F"/>
      </a:dk2>
      <a:lt2>
        <a:srgbClr val="B0BCBC"/>
      </a:lt2>
      <a:accent1>
        <a:srgbClr val="7DB41B"/>
      </a:accent1>
      <a:accent2>
        <a:srgbClr val="ED8A05"/>
      </a:accent2>
      <a:accent3>
        <a:srgbClr val="288DFC"/>
      </a:accent3>
      <a:accent4>
        <a:srgbClr val="36D2B8"/>
      </a:accent4>
      <a:accent5>
        <a:srgbClr val="F5B605"/>
      </a:accent5>
      <a:accent6>
        <a:srgbClr val="E75524"/>
      </a:accent6>
      <a:hlink>
        <a:srgbClr val="ED8A05"/>
      </a:hlink>
      <a:folHlink>
        <a:srgbClr val="B0BCBC"/>
      </a:folHlink>
    </a:clrScheme>
    <a:fontScheme name="Constantia-Calibri">
      <a:majorFont>
        <a:latin typeface="Constanti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Four Seasons">
      <a:dk1>
        <a:sysClr val="windowText" lastClr="000000"/>
      </a:dk1>
      <a:lt1>
        <a:sysClr val="window" lastClr="FFFFFF"/>
      </a:lt1>
      <a:dk2>
        <a:srgbClr val="6B7F7F"/>
      </a:dk2>
      <a:lt2>
        <a:srgbClr val="B0BCBC"/>
      </a:lt2>
      <a:accent1>
        <a:srgbClr val="7DB41B"/>
      </a:accent1>
      <a:accent2>
        <a:srgbClr val="ED8A05"/>
      </a:accent2>
      <a:accent3>
        <a:srgbClr val="288DFC"/>
      </a:accent3>
      <a:accent4>
        <a:srgbClr val="36D2B8"/>
      </a:accent4>
      <a:accent5>
        <a:srgbClr val="F5B605"/>
      </a:accent5>
      <a:accent6>
        <a:srgbClr val="E75524"/>
      </a:accent6>
      <a:hlink>
        <a:srgbClr val="ED8A05"/>
      </a:hlink>
      <a:folHlink>
        <a:srgbClr val="B0BCBC"/>
      </a:folHlink>
    </a:clrScheme>
    <a:fontScheme name="Constantia-Calibri">
      <a:majorFont>
        <a:latin typeface="Constanti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2.湖南省数学建模组委会-邀请报告-计算是解决科学工程问题的关键-2020-07-24</Template>
  <TotalTime>433</TotalTime>
  <Words>2818</Words>
  <Application>Microsoft Office PowerPoint</Application>
  <PresentationFormat>宽屏</PresentationFormat>
  <Paragraphs>188</Paragraphs>
  <Slides>37</Slides>
  <Notes>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37</vt:i4>
      </vt:variant>
    </vt:vector>
  </HeadingPairs>
  <TitlesOfParts>
    <vt:vector size="52" baseType="lpstr">
      <vt:lpstr>方正姚体</vt:lpstr>
      <vt:lpstr>华文楷体</vt:lpstr>
      <vt:lpstr>华文隶书</vt:lpstr>
      <vt:lpstr>宋体</vt:lpstr>
      <vt:lpstr>微软雅黑</vt:lpstr>
      <vt:lpstr>微软雅黑</vt:lpstr>
      <vt:lpstr>Arial</vt:lpstr>
      <vt:lpstr>Calibri</vt:lpstr>
      <vt:lpstr>Constantia</vt:lpstr>
      <vt:lpstr>Tahoma</vt:lpstr>
      <vt:lpstr>Times New Roman</vt:lpstr>
      <vt:lpstr>Wingdings</vt:lpstr>
      <vt:lpstr>Four Seasons 16x9</vt:lpstr>
      <vt:lpstr>Equation</vt:lpstr>
      <vt:lpstr>公式</vt:lpstr>
      <vt:lpstr>计算是解决科学工程问题的关键</vt:lpstr>
      <vt:lpstr>提    纲</vt:lpstr>
      <vt:lpstr>数学有用吗？</vt:lpstr>
      <vt:lpstr>数学有用，且有大用。</vt:lpstr>
      <vt:lpstr>例1. 在水果市场买水果。</vt:lpstr>
      <vt:lpstr>例2 如何选择养老保险？</vt:lpstr>
      <vt:lpstr>养老保险问题——将结余的钱买保险还是存银行？     </vt:lpstr>
      <vt:lpstr>养老保险方案分析 </vt:lpstr>
      <vt:lpstr>数学建模是应用数学解决实际问题的关键</vt:lpstr>
      <vt:lpstr>数学建模是应用数学解决实际问题的关键</vt:lpstr>
      <vt:lpstr>PowerPoint 演示文稿</vt:lpstr>
      <vt:lpstr>PowerPoint 演示文稿</vt:lpstr>
      <vt:lpstr>沃克饮水机现购多少一台？</vt:lpstr>
      <vt:lpstr>分期付款购物与贷款买房问题 </vt:lpstr>
      <vt:lpstr>PowerPoint 演示文稿</vt:lpstr>
      <vt:lpstr>PowerPoint 演示文稿</vt:lpstr>
      <vt:lpstr>PowerPoint 演示文稿</vt:lpstr>
      <vt:lpstr>PowerPoint 演示文稿</vt:lpstr>
      <vt:lpstr>贷款买房问题</vt:lpstr>
      <vt:lpstr>贷款买房问题</vt:lpstr>
      <vt:lpstr>贷款买房问题</vt:lpstr>
      <vt:lpstr>贷款买房问题</vt:lpstr>
      <vt:lpstr>贷款买房问题</vt:lpstr>
      <vt:lpstr>贷款买房问题</vt:lpstr>
      <vt:lpstr>贷款买房问题</vt:lpstr>
      <vt:lpstr>科学计算是解决科学工程问题的关键</vt:lpstr>
      <vt:lpstr>科学计算是解决科学工程问题的关键</vt:lpstr>
      <vt:lpstr>科学计算是解决科学工程问题的关键</vt:lpstr>
      <vt:lpstr>科学计算是解决科学工程问题的关键</vt:lpstr>
      <vt:lpstr>科学计算是解决科学工程问题的关键</vt:lpstr>
      <vt:lpstr>数学技术与数学应用</vt:lpstr>
      <vt:lpstr>数学技术与数学应用</vt:lpstr>
      <vt:lpstr>数学技术与数学应用</vt:lpstr>
      <vt:lpstr>数学技术与数学应用</vt:lpstr>
      <vt:lpstr>数学技术与数学应用</vt:lpstr>
      <vt:lpstr>一些感兴趣的研究领域</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计算是解决科学工程问题的关键</dc:title>
  <dc:creator>zheng zhoushun</dc:creator>
  <cp:lastModifiedBy>zhoushun zheng</cp:lastModifiedBy>
  <cp:revision>20</cp:revision>
  <dcterms:created xsi:type="dcterms:W3CDTF">2020-07-22T08:45:19Z</dcterms:created>
  <dcterms:modified xsi:type="dcterms:W3CDTF">2024-07-01T16:14:25Z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