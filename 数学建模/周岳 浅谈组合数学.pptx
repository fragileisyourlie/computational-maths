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73" r:id="rId2"/>
    <p:sldId id="379" r:id="rId3"/>
    <p:sldId id="274" r:id="rId4"/>
    <p:sldId id="275" r:id="rId5"/>
    <p:sldId id="278" r:id="rId6"/>
    <p:sldId id="295" r:id="rId7"/>
    <p:sldId id="260" r:id="rId8"/>
    <p:sldId id="259" r:id="rId9"/>
    <p:sldId id="314" r:id="rId10"/>
    <p:sldId id="294" r:id="rId11"/>
    <p:sldId id="346" r:id="rId12"/>
    <p:sldId id="276" r:id="rId13"/>
    <p:sldId id="296" r:id="rId14"/>
    <p:sldId id="380" r:id="rId15"/>
    <p:sldId id="277" r:id="rId16"/>
    <p:sldId id="299" r:id="rId17"/>
    <p:sldId id="300" r:id="rId18"/>
    <p:sldId id="327" r:id="rId19"/>
    <p:sldId id="328" r:id="rId20"/>
    <p:sldId id="329" r:id="rId21"/>
    <p:sldId id="347" r:id="rId22"/>
    <p:sldId id="348" r:id="rId23"/>
    <p:sldId id="306" r:id="rId24"/>
    <p:sldId id="307" r:id="rId25"/>
    <p:sldId id="308" r:id="rId26"/>
    <p:sldId id="318" r:id="rId27"/>
    <p:sldId id="284" r:id="rId28"/>
    <p:sldId id="334" r:id="rId29"/>
    <p:sldId id="335" r:id="rId30"/>
    <p:sldId id="336" r:id="rId31"/>
    <p:sldId id="285" r:id="rId32"/>
    <p:sldId id="319" r:id="rId33"/>
    <p:sldId id="320" r:id="rId34"/>
    <p:sldId id="321" r:id="rId35"/>
    <p:sldId id="322" r:id="rId36"/>
    <p:sldId id="323" r:id="rId37"/>
    <p:sldId id="324" r:id="rId38"/>
    <p:sldId id="325" r:id="rId39"/>
    <p:sldId id="261" r:id="rId40"/>
    <p:sldId id="262" r:id="rId41"/>
    <p:sldId id="341" r:id="rId42"/>
    <p:sldId id="304" r:id="rId43"/>
    <p:sldId id="326" r:id="rId44"/>
    <p:sldId id="316" r:id="rId45"/>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vl6pPr marL="2286000" lvl="5"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6pPr>
    <a:lvl7pPr marL="2743200" lvl="6"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7pPr>
    <a:lvl8pPr marL="3200400" lvl="7"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8pPr>
    <a:lvl9pPr marL="3657600" lvl="8"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6FF33"/>
    <a:srgbClr val="009900"/>
    <a:srgbClr val="021202"/>
    <a:srgbClr val="FF6699"/>
    <a:srgbClr val="FF3300"/>
    <a:srgbClr val="FFFF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0" d="100"/>
          <a:sy n="90" d="100"/>
        </p:scale>
        <p:origin x="100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592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defRPr sz="1200" baseline="0">
                <a:effectLst/>
                <a:latin typeface="Arial" panose="020B0604020202090204" pitchFamily="34" charset="0"/>
                <a:ea typeface="宋体" charset="0"/>
                <a:cs typeface="宋体"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宋体" charset="0"/>
            </a:endParaRPr>
          </a:p>
        </p:txBody>
      </p:sp>
      <p:sp>
        <p:nvSpPr>
          <p:cNvPr id="86019"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a:defRPr sz="1200" baseline="0">
                <a:effectLst/>
                <a:latin typeface="Arial" panose="020B0604020202090204" pitchFamily="34" charset="0"/>
                <a:ea typeface="宋体" charset="0"/>
                <a:cs typeface="宋体"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宋体" charset="0"/>
            </a:endParaRPr>
          </a:p>
        </p:txBody>
      </p:sp>
      <p:sp>
        <p:nvSpPr>
          <p:cNvPr id="51204"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6021"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宋体" charset="0"/>
              </a:rPr>
              <a:t>单击此处编辑母版文本样式</a:t>
            </a:r>
            <a:endParaRPr kumimoji="1"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宋体" charset="0"/>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rPr>
              <a:t>第二级</a:t>
            </a:r>
            <a:endParaRPr kumimoji="1"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rPr>
              <a:t>第三级</a:t>
            </a:r>
            <a:endParaRPr kumimoji="1"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rPr>
              <a:t>第四级</a:t>
            </a:r>
            <a:endParaRPr kumimoji="1"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rPr>
              <a:t>第五级</a:t>
            </a:r>
          </a:p>
        </p:txBody>
      </p:sp>
      <p:sp>
        <p:nvSpPr>
          <p:cNvPr id="86022"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defRPr sz="1200" baseline="0">
                <a:effectLst/>
                <a:latin typeface="Arial" panose="020B0604020202090204" pitchFamily="34" charset="0"/>
                <a:ea typeface="宋体" charset="0"/>
                <a:cs typeface="宋体"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宋体" charset="0"/>
            </a:endParaRPr>
          </a:p>
        </p:txBody>
      </p:sp>
      <p:sp>
        <p:nvSpPr>
          <p:cNvPr id="86023"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baseline="0" dirty="0">
                <a:latin typeface="Arial" panose="020B0604020202090204" pitchFamily="34" charset="0"/>
              </a:rPr>
              <a:pPr lvl="0" algn="r" eaLnBrk="1" hangingPunct="1">
                <a:buNone/>
              </a:pPr>
              <a:t>‹#›</a:t>
            </a:fld>
            <a:endParaRPr lang="en-US" altLang="zh-CN" sz="1200" baseline="0" dirty="0">
              <a:latin typeface="Arial" panose="020B0604020202090204" pitchFamily="34" charset="0"/>
            </a:endParaRPr>
          </a:p>
        </p:txBody>
      </p:sp>
    </p:spTree>
    <p:extLst>
      <p:ext uri="{BB962C8B-B14F-4D97-AF65-F5344CB8AC3E}">
        <p14:creationId xmlns:p14="http://schemas.microsoft.com/office/powerpoint/2010/main" val="2519177270"/>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宋体" charset="0"/>
        <a:cs typeface="宋体" charset="0"/>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宋体" charset="0"/>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宋体" charset="0"/>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宋体" charset="0"/>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宋体"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6146" name="Group 2"/>
          <p:cNvGrpSpPr/>
          <p:nvPr/>
        </p:nvGrpSpPr>
        <p:grpSpPr>
          <a:xfrm>
            <a:off x="0" y="0"/>
            <a:ext cx="9140825" cy="6850063"/>
            <a:chOff x="0" y="0"/>
            <a:chExt cx="5758" cy="4315"/>
          </a:xfrm>
        </p:grpSpPr>
        <p:grpSp>
          <p:nvGrpSpPr>
            <p:cNvPr id="6152" name="Group 3"/>
            <p:cNvGrpSpPr/>
            <p:nvPr userDrawn="1"/>
          </p:nvGrpSpPr>
          <p:grpSpPr>
            <a:xfrm>
              <a:off x="1728" y="2230"/>
              <a:ext cx="4027" cy="2085"/>
              <a:chOff x="1728" y="2230"/>
              <a:chExt cx="4027" cy="2085"/>
            </a:xfrm>
          </p:grpSpPr>
          <p:sp>
            <p:nvSpPr>
              <p:cNvPr id="20" name="Freeform 4"/>
              <p:cNvSpPr/>
              <p:nvPr/>
            </p:nvSpPr>
            <p:spPr bwMode="hidden">
              <a:xfrm>
                <a:off x="1728" y="2644"/>
                <a:ext cx="2882" cy="1671"/>
              </a:xfrm>
              <a:custGeom>
                <a:avLst/>
                <a:gdLst>
                  <a:gd name="T0" fmla="*/ 2740 w 2882"/>
                  <a:gd name="T1" fmla="*/ 528 h 1671"/>
                  <a:gd name="T2" fmla="*/ 2632 w 2882"/>
                  <a:gd name="T3" fmla="*/ 484 h 1671"/>
                  <a:gd name="T4" fmla="*/ 2480 w 2882"/>
                  <a:gd name="T5" fmla="*/ 424 h 1671"/>
                  <a:gd name="T6" fmla="*/ 2203 w 2882"/>
                  <a:gd name="T7" fmla="*/ 343 h 1671"/>
                  <a:gd name="T8" fmla="*/ 1970 w 2882"/>
                  <a:gd name="T9" fmla="*/ 277 h 1671"/>
                  <a:gd name="T10" fmla="*/ 1807 w 2882"/>
                  <a:gd name="T11" fmla="*/ 212 h 1671"/>
                  <a:gd name="T12" fmla="*/ 1693 w 2882"/>
                  <a:gd name="T13" fmla="*/ 152 h 1671"/>
                  <a:gd name="T14" fmla="*/ 1628 w 2882"/>
                  <a:gd name="T15" fmla="*/ 103 h 1671"/>
                  <a:gd name="T16" fmla="*/ 1590 w 2882"/>
                  <a:gd name="T17" fmla="*/ 60 h 1671"/>
                  <a:gd name="T18" fmla="*/ 1579 w 2882"/>
                  <a:gd name="T19" fmla="*/ 27 h 1671"/>
                  <a:gd name="T20" fmla="*/ 1585 w 2882"/>
                  <a:gd name="T21" fmla="*/ 0 h 1671"/>
                  <a:gd name="T22" fmla="*/ 1557 w 2882"/>
                  <a:gd name="T23" fmla="*/ 49 h 1671"/>
                  <a:gd name="T24" fmla="*/ 1568 w 2882"/>
                  <a:gd name="T25" fmla="*/ 98 h 1671"/>
                  <a:gd name="T26" fmla="*/ 1617 w 2882"/>
                  <a:gd name="T27" fmla="*/ 141 h 1671"/>
                  <a:gd name="T28" fmla="*/ 1688 w 2882"/>
                  <a:gd name="T29" fmla="*/ 185 h 1671"/>
                  <a:gd name="T30" fmla="*/ 1791 w 2882"/>
                  <a:gd name="T31" fmla="*/ 228 h 1671"/>
                  <a:gd name="T32" fmla="*/ 2040 w 2882"/>
                  <a:gd name="T33" fmla="*/ 310 h 1671"/>
                  <a:gd name="T34" fmla="*/ 2285 w 2882"/>
                  <a:gd name="T35" fmla="*/ 381 h 1671"/>
                  <a:gd name="T36" fmla="*/ 2464 w 2882"/>
                  <a:gd name="T37" fmla="*/ 435 h 1671"/>
                  <a:gd name="T38" fmla="*/ 2605 w 2882"/>
                  <a:gd name="T39" fmla="*/ 484 h 1671"/>
                  <a:gd name="T40" fmla="*/ 2708 w 2882"/>
                  <a:gd name="T41" fmla="*/ 528 h 1671"/>
                  <a:gd name="T42" fmla="*/ 2768 w 2882"/>
                  <a:gd name="T43" fmla="*/ 560 h 1671"/>
                  <a:gd name="T44" fmla="*/ 2795 w 2882"/>
                  <a:gd name="T45" fmla="*/ 593 h 1671"/>
                  <a:gd name="T46" fmla="*/ 2795 w 2882"/>
                  <a:gd name="T47" fmla="*/ 642 h 1671"/>
                  <a:gd name="T48" fmla="*/ 2762 w 2882"/>
                  <a:gd name="T49" fmla="*/ 691 h 1671"/>
                  <a:gd name="T50" fmla="*/ 2692 w 2882"/>
                  <a:gd name="T51" fmla="*/ 735 h 1671"/>
                  <a:gd name="T52" fmla="*/ 2589 w 2882"/>
                  <a:gd name="T53" fmla="*/ 778 h 1671"/>
                  <a:gd name="T54" fmla="*/ 2458 w 2882"/>
                  <a:gd name="T55" fmla="*/ 822 h 1671"/>
                  <a:gd name="T56" fmla="*/ 2301 w 2882"/>
                  <a:gd name="T57" fmla="*/ 865 h 1671"/>
                  <a:gd name="T58" fmla="*/ 2030 w 2882"/>
                  <a:gd name="T59" fmla="*/ 930 h 1671"/>
                  <a:gd name="T60" fmla="*/ 1606 w 2882"/>
                  <a:gd name="T61" fmla="*/ 1034 h 1671"/>
                  <a:gd name="T62" fmla="*/ 1145 w 2882"/>
                  <a:gd name="T63" fmla="*/ 1164 h 1671"/>
                  <a:gd name="T64" fmla="*/ 673 w 2882"/>
                  <a:gd name="T65" fmla="*/ 1328 h 1671"/>
                  <a:gd name="T66" fmla="*/ 217 w 2882"/>
                  <a:gd name="T67" fmla="*/ 1545 h 1671"/>
                  <a:gd name="T68" fmla="*/ 353 w 2882"/>
                  <a:gd name="T69" fmla="*/ 1671 h 1671"/>
                  <a:gd name="T70" fmla="*/ 754 w 2882"/>
                  <a:gd name="T71" fmla="*/ 1469 h 1671"/>
                  <a:gd name="T72" fmla="*/ 1145 w 2882"/>
                  <a:gd name="T73" fmla="*/ 1311 h 1671"/>
                  <a:gd name="T74" fmla="*/ 1519 w 2882"/>
                  <a:gd name="T75" fmla="*/ 1186 h 1671"/>
                  <a:gd name="T76" fmla="*/ 1861 w 2882"/>
                  <a:gd name="T77" fmla="*/ 1083 h 1671"/>
                  <a:gd name="T78" fmla="*/ 2165 w 2882"/>
                  <a:gd name="T79" fmla="*/ 1007 h 1671"/>
                  <a:gd name="T80" fmla="*/ 2426 w 2882"/>
                  <a:gd name="T81" fmla="*/ 947 h 1671"/>
                  <a:gd name="T82" fmla="*/ 2626 w 2882"/>
                  <a:gd name="T83" fmla="*/ 892 h 1671"/>
                  <a:gd name="T84" fmla="*/ 2762 w 2882"/>
                  <a:gd name="T85" fmla="*/ 838 h 1671"/>
                  <a:gd name="T86" fmla="*/ 2827 w 2882"/>
                  <a:gd name="T87" fmla="*/ 794 h 1671"/>
                  <a:gd name="T88" fmla="*/ 2865 w 2882"/>
                  <a:gd name="T89" fmla="*/ 745 h 1671"/>
                  <a:gd name="T90" fmla="*/ 2882 w 2882"/>
                  <a:gd name="T91" fmla="*/ 702 h 1671"/>
                  <a:gd name="T92" fmla="*/ 2854 w 2882"/>
                  <a:gd name="T93" fmla="*/ 620 h 1671"/>
                  <a:gd name="T94" fmla="*/ 2800 w 2882"/>
                  <a:gd name="T95" fmla="*/ 560 h 1671"/>
                  <a:gd name="T96" fmla="*/ 2773 w 2882"/>
                  <a:gd name="T97" fmla="*/ 544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21" name="Freeform 5"/>
              <p:cNvSpPr/>
              <p:nvPr/>
            </p:nvSpPr>
            <p:spPr bwMode="hidden">
              <a:xfrm>
                <a:off x="4170" y="2671"/>
                <a:ext cx="1259" cy="811"/>
              </a:xfrm>
              <a:custGeom>
                <a:avLst/>
                <a:gdLst>
                  <a:gd name="T0" fmla="*/ 1259 w 1259"/>
                  <a:gd name="T1" fmla="*/ 615 h 811"/>
                  <a:gd name="T2" fmla="*/ 1248 w 1259"/>
                  <a:gd name="T3" fmla="*/ 588 h 811"/>
                  <a:gd name="T4" fmla="*/ 1237 w 1259"/>
                  <a:gd name="T5" fmla="*/ 566 h 811"/>
                  <a:gd name="T6" fmla="*/ 1216 w 1259"/>
                  <a:gd name="T7" fmla="*/ 539 h 811"/>
                  <a:gd name="T8" fmla="*/ 1188 w 1259"/>
                  <a:gd name="T9" fmla="*/ 517 h 811"/>
                  <a:gd name="T10" fmla="*/ 1123 w 1259"/>
                  <a:gd name="T11" fmla="*/ 479 h 811"/>
                  <a:gd name="T12" fmla="*/ 1042 w 1259"/>
                  <a:gd name="T13" fmla="*/ 441 h 811"/>
                  <a:gd name="T14" fmla="*/ 944 w 1259"/>
                  <a:gd name="T15" fmla="*/ 408 h 811"/>
                  <a:gd name="T16" fmla="*/ 841 w 1259"/>
                  <a:gd name="T17" fmla="*/ 381 h 811"/>
                  <a:gd name="T18" fmla="*/ 727 w 1259"/>
                  <a:gd name="T19" fmla="*/ 348 h 811"/>
                  <a:gd name="T20" fmla="*/ 613 w 1259"/>
                  <a:gd name="T21" fmla="*/ 321 h 811"/>
                  <a:gd name="T22" fmla="*/ 499 w 1259"/>
                  <a:gd name="T23" fmla="*/ 294 h 811"/>
                  <a:gd name="T24" fmla="*/ 391 w 1259"/>
                  <a:gd name="T25" fmla="*/ 261 h 811"/>
                  <a:gd name="T26" fmla="*/ 288 w 1259"/>
                  <a:gd name="T27" fmla="*/ 229 h 811"/>
                  <a:gd name="T28" fmla="*/ 195 w 1259"/>
                  <a:gd name="T29" fmla="*/ 196 h 811"/>
                  <a:gd name="T30" fmla="*/ 119 w 1259"/>
                  <a:gd name="T31" fmla="*/ 152 h 811"/>
                  <a:gd name="T32" fmla="*/ 54 w 1259"/>
                  <a:gd name="T33" fmla="*/ 109 h 811"/>
                  <a:gd name="T34" fmla="*/ 33 w 1259"/>
                  <a:gd name="T35" fmla="*/ 87 h 811"/>
                  <a:gd name="T36" fmla="*/ 16 w 1259"/>
                  <a:gd name="T37" fmla="*/ 60 h 811"/>
                  <a:gd name="T38" fmla="*/ 5 w 1259"/>
                  <a:gd name="T39" fmla="*/ 33 h 811"/>
                  <a:gd name="T40" fmla="*/ 0 w 1259"/>
                  <a:gd name="T41" fmla="*/ 0 h 811"/>
                  <a:gd name="T42" fmla="*/ 0 w 1259"/>
                  <a:gd name="T43" fmla="*/ 6 h 811"/>
                  <a:gd name="T44" fmla="*/ 0 w 1259"/>
                  <a:gd name="T45" fmla="*/ 11 h 811"/>
                  <a:gd name="T46" fmla="*/ 0 w 1259"/>
                  <a:gd name="T47" fmla="*/ 38 h 811"/>
                  <a:gd name="T48" fmla="*/ 5 w 1259"/>
                  <a:gd name="T49" fmla="*/ 60 h 811"/>
                  <a:gd name="T50" fmla="*/ 16 w 1259"/>
                  <a:gd name="T51" fmla="*/ 87 h 811"/>
                  <a:gd name="T52" fmla="*/ 33 w 1259"/>
                  <a:gd name="T53" fmla="*/ 114 h 811"/>
                  <a:gd name="T54" fmla="*/ 54 w 1259"/>
                  <a:gd name="T55" fmla="*/ 142 h 811"/>
                  <a:gd name="T56" fmla="*/ 87 w 1259"/>
                  <a:gd name="T57" fmla="*/ 174 h 811"/>
                  <a:gd name="T58" fmla="*/ 125 w 1259"/>
                  <a:gd name="T59" fmla="*/ 207 h 811"/>
                  <a:gd name="T60" fmla="*/ 179 w 1259"/>
                  <a:gd name="T61" fmla="*/ 240 h 811"/>
                  <a:gd name="T62" fmla="*/ 244 w 1259"/>
                  <a:gd name="T63" fmla="*/ 278 h 811"/>
                  <a:gd name="T64" fmla="*/ 326 w 1259"/>
                  <a:gd name="T65" fmla="*/ 310 h 811"/>
                  <a:gd name="T66" fmla="*/ 418 w 1259"/>
                  <a:gd name="T67" fmla="*/ 348 h 811"/>
                  <a:gd name="T68" fmla="*/ 526 w 1259"/>
                  <a:gd name="T69" fmla="*/ 381 h 811"/>
                  <a:gd name="T70" fmla="*/ 657 w 1259"/>
                  <a:gd name="T71" fmla="*/ 414 h 811"/>
                  <a:gd name="T72" fmla="*/ 749 w 1259"/>
                  <a:gd name="T73" fmla="*/ 435 h 811"/>
                  <a:gd name="T74" fmla="*/ 830 w 1259"/>
                  <a:gd name="T75" fmla="*/ 463 h 811"/>
                  <a:gd name="T76" fmla="*/ 901 w 1259"/>
                  <a:gd name="T77" fmla="*/ 490 h 811"/>
                  <a:gd name="T78" fmla="*/ 966 w 1259"/>
                  <a:gd name="T79" fmla="*/ 512 h 811"/>
                  <a:gd name="T80" fmla="*/ 1015 w 1259"/>
                  <a:gd name="T81" fmla="*/ 539 h 811"/>
                  <a:gd name="T82" fmla="*/ 1053 w 1259"/>
                  <a:gd name="T83" fmla="*/ 566 h 811"/>
                  <a:gd name="T84" fmla="*/ 1080 w 1259"/>
                  <a:gd name="T85" fmla="*/ 593 h 811"/>
                  <a:gd name="T86" fmla="*/ 1102 w 1259"/>
                  <a:gd name="T87" fmla="*/ 620 h 811"/>
                  <a:gd name="T88" fmla="*/ 1112 w 1259"/>
                  <a:gd name="T89" fmla="*/ 648 h 811"/>
                  <a:gd name="T90" fmla="*/ 1118 w 1259"/>
                  <a:gd name="T91" fmla="*/ 675 h 811"/>
                  <a:gd name="T92" fmla="*/ 1112 w 1259"/>
                  <a:gd name="T93" fmla="*/ 697 h 811"/>
                  <a:gd name="T94" fmla="*/ 1096 w 1259"/>
                  <a:gd name="T95" fmla="*/ 724 h 811"/>
                  <a:gd name="T96" fmla="*/ 1080 w 1259"/>
                  <a:gd name="T97" fmla="*/ 746 h 811"/>
                  <a:gd name="T98" fmla="*/ 1053 w 1259"/>
                  <a:gd name="T99" fmla="*/ 767 h 811"/>
                  <a:gd name="T100" fmla="*/ 1015 w 1259"/>
                  <a:gd name="T101" fmla="*/ 789 h 811"/>
                  <a:gd name="T102" fmla="*/ 977 w 1259"/>
                  <a:gd name="T103" fmla="*/ 811 h 811"/>
                  <a:gd name="T104" fmla="*/ 1047 w 1259"/>
                  <a:gd name="T105" fmla="*/ 789 h 811"/>
                  <a:gd name="T106" fmla="*/ 1107 w 1259"/>
                  <a:gd name="T107" fmla="*/ 767 h 811"/>
                  <a:gd name="T108" fmla="*/ 1156 w 1259"/>
                  <a:gd name="T109" fmla="*/ 746 h 811"/>
                  <a:gd name="T110" fmla="*/ 1199 w 1259"/>
                  <a:gd name="T111" fmla="*/ 724 h 811"/>
                  <a:gd name="T112" fmla="*/ 1226 w 1259"/>
                  <a:gd name="T113" fmla="*/ 702 h 811"/>
                  <a:gd name="T114" fmla="*/ 1248 w 1259"/>
                  <a:gd name="T115" fmla="*/ 675 h 811"/>
                  <a:gd name="T116" fmla="*/ 1259 w 1259"/>
                  <a:gd name="T117" fmla="*/ 648 h 811"/>
                  <a:gd name="T118" fmla="*/ 1259 w 1259"/>
                  <a:gd name="T119" fmla="*/ 615 h 811"/>
                  <a:gd name="T120" fmla="*/ 1259 w 1259"/>
                  <a:gd name="T121" fmla="*/ 615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22" name="Freeform 6"/>
              <p:cNvSpPr/>
              <p:nvPr/>
            </p:nvSpPr>
            <p:spPr bwMode="hidden">
              <a:xfrm>
                <a:off x="2900" y="3346"/>
                <a:ext cx="2849" cy="969"/>
              </a:xfrm>
              <a:custGeom>
                <a:avLst/>
                <a:gdLst>
                  <a:gd name="T0" fmla="*/ 92 w 2849"/>
                  <a:gd name="T1" fmla="*/ 958 h 969"/>
                  <a:gd name="T2" fmla="*/ 0 w 2849"/>
                  <a:gd name="T3" fmla="*/ 969 h 969"/>
                  <a:gd name="T4" fmla="*/ 391 w 2849"/>
                  <a:gd name="T5" fmla="*/ 969 h 969"/>
                  <a:gd name="T6" fmla="*/ 434 w 2849"/>
                  <a:gd name="T7" fmla="*/ 947 h 969"/>
                  <a:gd name="T8" fmla="*/ 483 w 2849"/>
                  <a:gd name="T9" fmla="*/ 914 h 969"/>
                  <a:gd name="T10" fmla="*/ 554 w 2849"/>
                  <a:gd name="T11" fmla="*/ 876 h 969"/>
                  <a:gd name="T12" fmla="*/ 635 w 2849"/>
                  <a:gd name="T13" fmla="*/ 838 h 969"/>
                  <a:gd name="T14" fmla="*/ 727 w 2849"/>
                  <a:gd name="T15" fmla="*/ 794 h 969"/>
                  <a:gd name="T16" fmla="*/ 836 w 2849"/>
                  <a:gd name="T17" fmla="*/ 745 h 969"/>
                  <a:gd name="T18" fmla="*/ 961 w 2849"/>
                  <a:gd name="T19" fmla="*/ 696 h 969"/>
                  <a:gd name="T20" fmla="*/ 1102 w 2849"/>
                  <a:gd name="T21" fmla="*/ 642 h 969"/>
                  <a:gd name="T22" fmla="*/ 1259 w 2849"/>
                  <a:gd name="T23" fmla="*/ 582 h 969"/>
                  <a:gd name="T24" fmla="*/ 1433 w 2849"/>
                  <a:gd name="T25" fmla="*/ 522 h 969"/>
                  <a:gd name="T26" fmla="*/ 1623 w 2849"/>
                  <a:gd name="T27" fmla="*/ 462 h 969"/>
                  <a:gd name="T28" fmla="*/ 1829 w 2849"/>
                  <a:gd name="T29" fmla="*/ 403 h 969"/>
                  <a:gd name="T30" fmla="*/ 2057 w 2849"/>
                  <a:gd name="T31" fmla="*/ 343 h 969"/>
                  <a:gd name="T32" fmla="*/ 2301 w 2849"/>
                  <a:gd name="T33" fmla="*/ 283 h 969"/>
                  <a:gd name="T34" fmla="*/ 2567 w 2849"/>
                  <a:gd name="T35" fmla="*/ 223 h 969"/>
                  <a:gd name="T36" fmla="*/ 2849 w 2849"/>
                  <a:gd name="T37" fmla="*/ 163 h 969"/>
                  <a:gd name="T38" fmla="*/ 2849 w 2849"/>
                  <a:gd name="T39" fmla="*/ 0 h 969"/>
                  <a:gd name="T40" fmla="*/ 2817 w 2849"/>
                  <a:gd name="T41" fmla="*/ 16 h 969"/>
                  <a:gd name="T42" fmla="*/ 2773 w 2849"/>
                  <a:gd name="T43" fmla="*/ 33 h 969"/>
                  <a:gd name="T44" fmla="*/ 2719 w 2849"/>
                  <a:gd name="T45" fmla="*/ 54 h 969"/>
                  <a:gd name="T46" fmla="*/ 2648 w 2849"/>
                  <a:gd name="T47" fmla="*/ 76 h 969"/>
                  <a:gd name="T48" fmla="*/ 2572 w 2849"/>
                  <a:gd name="T49" fmla="*/ 98 h 969"/>
                  <a:gd name="T50" fmla="*/ 2491 w 2849"/>
                  <a:gd name="T51" fmla="*/ 120 h 969"/>
                  <a:gd name="T52" fmla="*/ 2399 w 2849"/>
                  <a:gd name="T53" fmla="*/ 147 h 969"/>
                  <a:gd name="T54" fmla="*/ 2301 w 2849"/>
                  <a:gd name="T55" fmla="*/ 169 h 969"/>
                  <a:gd name="T56" fmla="*/ 2095 w 2849"/>
                  <a:gd name="T57" fmla="*/ 223 h 969"/>
                  <a:gd name="T58" fmla="*/ 1889 w 2849"/>
                  <a:gd name="T59" fmla="*/ 277 h 969"/>
                  <a:gd name="T60" fmla="*/ 1688 w 2849"/>
                  <a:gd name="T61" fmla="*/ 326 h 969"/>
                  <a:gd name="T62" fmla="*/ 1590 w 2849"/>
                  <a:gd name="T63" fmla="*/ 354 h 969"/>
                  <a:gd name="T64" fmla="*/ 1503 w 2849"/>
                  <a:gd name="T65" fmla="*/ 381 h 969"/>
                  <a:gd name="T66" fmla="*/ 1107 w 2849"/>
                  <a:gd name="T67" fmla="*/ 506 h 969"/>
                  <a:gd name="T68" fmla="*/ 912 w 2849"/>
                  <a:gd name="T69" fmla="*/ 577 h 969"/>
                  <a:gd name="T70" fmla="*/ 727 w 2849"/>
                  <a:gd name="T71" fmla="*/ 647 h 969"/>
                  <a:gd name="T72" fmla="*/ 548 w 2849"/>
                  <a:gd name="T73" fmla="*/ 718 h 969"/>
                  <a:gd name="T74" fmla="*/ 380 w 2849"/>
                  <a:gd name="T75" fmla="*/ 794 h 969"/>
                  <a:gd name="T76" fmla="*/ 228 w 2849"/>
                  <a:gd name="T77" fmla="*/ 876 h 969"/>
                  <a:gd name="T78" fmla="*/ 92 w 2849"/>
                  <a:gd name="T79" fmla="*/ 958 h 969"/>
                  <a:gd name="T80" fmla="*/ 92 w 2849"/>
                  <a:gd name="T81" fmla="*/ 958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23" name="Freeform 7"/>
              <p:cNvSpPr/>
              <p:nvPr/>
            </p:nvSpPr>
            <p:spPr bwMode="hidden">
              <a:xfrm>
                <a:off x="2748" y="2230"/>
                <a:ext cx="3007" cy="2085"/>
              </a:xfrm>
              <a:custGeom>
                <a:avLst/>
                <a:gdLst>
                  <a:gd name="T0" fmla="*/ 1433 w 3007"/>
                  <a:gd name="T1" fmla="*/ 474 h 2085"/>
                  <a:gd name="T2" fmla="*/ 1460 w 3007"/>
                  <a:gd name="T3" fmla="*/ 528 h 2085"/>
                  <a:gd name="T4" fmla="*/ 1541 w 3007"/>
                  <a:gd name="T5" fmla="*/ 593 h 2085"/>
                  <a:gd name="T6" fmla="*/ 1715 w 3007"/>
                  <a:gd name="T7" fmla="*/ 670 h 2085"/>
                  <a:gd name="T8" fmla="*/ 1927 w 3007"/>
                  <a:gd name="T9" fmla="*/ 735 h 2085"/>
                  <a:gd name="T10" fmla="*/ 2155 w 3007"/>
                  <a:gd name="T11" fmla="*/ 789 h 2085"/>
                  <a:gd name="T12" fmla="*/ 2372 w 3007"/>
                  <a:gd name="T13" fmla="*/ 849 h 2085"/>
                  <a:gd name="T14" fmla="*/ 2551 w 3007"/>
                  <a:gd name="T15" fmla="*/ 920 h 2085"/>
                  <a:gd name="T16" fmla="*/ 2638 w 3007"/>
                  <a:gd name="T17" fmla="*/ 980 h 2085"/>
                  <a:gd name="T18" fmla="*/ 2676 w 3007"/>
                  <a:gd name="T19" fmla="*/ 1029 h 2085"/>
                  <a:gd name="T20" fmla="*/ 2681 w 3007"/>
                  <a:gd name="T21" fmla="*/ 1083 h 2085"/>
                  <a:gd name="T22" fmla="*/ 2665 w 3007"/>
                  <a:gd name="T23" fmla="*/ 1127 h 2085"/>
                  <a:gd name="T24" fmla="*/ 2616 w 3007"/>
                  <a:gd name="T25" fmla="*/ 1170 h 2085"/>
                  <a:gd name="T26" fmla="*/ 2545 w 3007"/>
                  <a:gd name="T27" fmla="*/ 1208 h 2085"/>
                  <a:gd name="T28" fmla="*/ 2448 w 3007"/>
                  <a:gd name="T29" fmla="*/ 1241 h 2085"/>
                  <a:gd name="T30" fmla="*/ 2328 w 3007"/>
                  <a:gd name="T31" fmla="*/ 1274 h 2085"/>
                  <a:gd name="T32" fmla="*/ 2106 w 3007"/>
                  <a:gd name="T33" fmla="*/ 1328 h 2085"/>
                  <a:gd name="T34" fmla="*/ 1742 w 3007"/>
                  <a:gd name="T35" fmla="*/ 1421 h 2085"/>
                  <a:gd name="T36" fmla="*/ 1308 w 3007"/>
                  <a:gd name="T37" fmla="*/ 1540 h 2085"/>
                  <a:gd name="T38" fmla="*/ 820 w 3007"/>
                  <a:gd name="T39" fmla="*/ 1709 h 2085"/>
                  <a:gd name="T40" fmla="*/ 282 w 3007"/>
                  <a:gd name="T41" fmla="*/ 1943 h 2085"/>
                  <a:gd name="T42" fmla="*/ 152 w 3007"/>
                  <a:gd name="T43" fmla="*/ 2085 h 2085"/>
                  <a:gd name="T44" fmla="*/ 386 w 3007"/>
                  <a:gd name="T45" fmla="*/ 1992 h 2085"/>
                  <a:gd name="T46" fmla="*/ 700 w 3007"/>
                  <a:gd name="T47" fmla="*/ 1834 h 2085"/>
                  <a:gd name="T48" fmla="*/ 1064 w 3007"/>
                  <a:gd name="T49" fmla="*/ 1693 h 2085"/>
                  <a:gd name="T50" fmla="*/ 1661 w 3007"/>
                  <a:gd name="T51" fmla="*/ 1497 h 2085"/>
                  <a:gd name="T52" fmla="*/ 1845 w 3007"/>
                  <a:gd name="T53" fmla="*/ 1442 h 2085"/>
                  <a:gd name="T54" fmla="*/ 2252 w 3007"/>
                  <a:gd name="T55" fmla="*/ 1339 h 2085"/>
                  <a:gd name="T56" fmla="*/ 2551 w 3007"/>
                  <a:gd name="T57" fmla="*/ 1263 h 2085"/>
                  <a:gd name="T58" fmla="*/ 2730 w 3007"/>
                  <a:gd name="T59" fmla="*/ 1214 h 2085"/>
                  <a:gd name="T60" fmla="*/ 2876 w 3007"/>
                  <a:gd name="T61" fmla="*/ 1170 h 2085"/>
                  <a:gd name="T62" fmla="*/ 2974 w 3007"/>
                  <a:gd name="T63" fmla="*/ 1132 h 2085"/>
                  <a:gd name="T64" fmla="*/ 3007 w 3007"/>
                  <a:gd name="T65" fmla="*/ 871 h 2085"/>
                  <a:gd name="T66" fmla="*/ 2860 w 3007"/>
                  <a:gd name="T67" fmla="*/ 844 h 2085"/>
                  <a:gd name="T68" fmla="*/ 2670 w 3007"/>
                  <a:gd name="T69" fmla="*/ 806 h 2085"/>
                  <a:gd name="T70" fmla="*/ 2458 w 3007"/>
                  <a:gd name="T71" fmla="*/ 757 h 2085"/>
                  <a:gd name="T72" fmla="*/ 2138 w 3007"/>
                  <a:gd name="T73" fmla="*/ 670 h 2085"/>
                  <a:gd name="T74" fmla="*/ 1959 w 3007"/>
                  <a:gd name="T75" fmla="*/ 604 h 2085"/>
                  <a:gd name="T76" fmla="*/ 1824 w 3007"/>
                  <a:gd name="T77" fmla="*/ 534 h 2085"/>
                  <a:gd name="T78" fmla="*/ 1769 w 3007"/>
                  <a:gd name="T79" fmla="*/ 474 h 2085"/>
                  <a:gd name="T80" fmla="*/ 1753 w 3007"/>
                  <a:gd name="T81" fmla="*/ 436 h 2085"/>
                  <a:gd name="T82" fmla="*/ 1780 w 3007"/>
                  <a:gd name="T83" fmla="*/ 381 h 2085"/>
                  <a:gd name="T84" fmla="*/ 1862 w 3007"/>
                  <a:gd name="T85" fmla="*/ 316 h 2085"/>
                  <a:gd name="T86" fmla="*/ 1986 w 3007"/>
                  <a:gd name="T87" fmla="*/ 267 h 2085"/>
                  <a:gd name="T88" fmla="*/ 2149 w 3007"/>
                  <a:gd name="T89" fmla="*/ 229 h 2085"/>
                  <a:gd name="T90" fmla="*/ 2431 w 3007"/>
                  <a:gd name="T91" fmla="*/ 180 h 2085"/>
                  <a:gd name="T92" fmla="*/ 2827 w 3007"/>
                  <a:gd name="T93" fmla="*/ 125 h 2085"/>
                  <a:gd name="T94" fmla="*/ 3007 w 3007"/>
                  <a:gd name="T95" fmla="*/ 87 h 2085"/>
                  <a:gd name="T96" fmla="*/ 2909 w 3007"/>
                  <a:gd name="T97" fmla="*/ 22 h 2085"/>
                  <a:gd name="T98" fmla="*/ 2676 w 3007"/>
                  <a:gd name="T99" fmla="*/ 66 h 2085"/>
                  <a:gd name="T100" fmla="*/ 2285 w 3007"/>
                  <a:gd name="T101" fmla="*/ 120 h 2085"/>
                  <a:gd name="T102" fmla="*/ 2030 w 3007"/>
                  <a:gd name="T103" fmla="*/ 158 h 2085"/>
                  <a:gd name="T104" fmla="*/ 1791 w 3007"/>
                  <a:gd name="T105" fmla="*/ 202 h 2085"/>
                  <a:gd name="T106" fmla="*/ 1601 w 3007"/>
                  <a:gd name="T107" fmla="*/ 261 h 2085"/>
                  <a:gd name="T108" fmla="*/ 1471 w 3007"/>
                  <a:gd name="T109" fmla="*/ 338 h 2085"/>
                  <a:gd name="T110" fmla="*/ 1438 w 3007"/>
                  <a:gd name="T111" fmla="*/ 387 h 2085"/>
                  <a:gd name="T112" fmla="*/ 1427 w 3007"/>
                  <a:gd name="T113" fmla="*/ 441 h 20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24" name="Freeform 8"/>
              <p:cNvSpPr/>
              <p:nvPr/>
            </p:nvSpPr>
            <p:spPr bwMode="hidden">
              <a:xfrm>
                <a:off x="4501" y="2317"/>
                <a:ext cx="1248" cy="539"/>
              </a:xfrm>
              <a:custGeom>
                <a:avLst/>
                <a:gdLst>
                  <a:gd name="T0" fmla="*/ 0 w 1248"/>
                  <a:gd name="T1" fmla="*/ 332 h 539"/>
                  <a:gd name="T2" fmla="*/ 0 w 1248"/>
                  <a:gd name="T3" fmla="*/ 360 h 539"/>
                  <a:gd name="T4" fmla="*/ 5 w 1248"/>
                  <a:gd name="T5" fmla="*/ 387 h 539"/>
                  <a:gd name="T6" fmla="*/ 27 w 1248"/>
                  <a:gd name="T7" fmla="*/ 414 h 539"/>
                  <a:gd name="T8" fmla="*/ 54 w 1248"/>
                  <a:gd name="T9" fmla="*/ 436 h 539"/>
                  <a:gd name="T10" fmla="*/ 92 w 1248"/>
                  <a:gd name="T11" fmla="*/ 463 h 539"/>
                  <a:gd name="T12" fmla="*/ 141 w 1248"/>
                  <a:gd name="T13" fmla="*/ 490 h 539"/>
                  <a:gd name="T14" fmla="*/ 195 w 1248"/>
                  <a:gd name="T15" fmla="*/ 512 h 539"/>
                  <a:gd name="T16" fmla="*/ 255 w 1248"/>
                  <a:gd name="T17" fmla="*/ 539 h 539"/>
                  <a:gd name="T18" fmla="*/ 212 w 1248"/>
                  <a:gd name="T19" fmla="*/ 517 h 539"/>
                  <a:gd name="T20" fmla="*/ 179 w 1248"/>
                  <a:gd name="T21" fmla="*/ 490 h 539"/>
                  <a:gd name="T22" fmla="*/ 157 w 1248"/>
                  <a:gd name="T23" fmla="*/ 468 h 539"/>
                  <a:gd name="T24" fmla="*/ 141 w 1248"/>
                  <a:gd name="T25" fmla="*/ 447 h 539"/>
                  <a:gd name="T26" fmla="*/ 136 w 1248"/>
                  <a:gd name="T27" fmla="*/ 425 h 539"/>
                  <a:gd name="T28" fmla="*/ 136 w 1248"/>
                  <a:gd name="T29" fmla="*/ 403 h 539"/>
                  <a:gd name="T30" fmla="*/ 141 w 1248"/>
                  <a:gd name="T31" fmla="*/ 381 h 539"/>
                  <a:gd name="T32" fmla="*/ 157 w 1248"/>
                  <a:gd name="T33" fmla="*/ 365 h 539"/>
                  <a:gd name="T34" fmla="*/ 179 w 1248"/>
                  <a:gd name="T35" fmla="*/ 343 h 539"/>
                  <a:gd name="T36" fmla="*/ 201 w 1248"/>
                  <a:gd name="T37" fmla="*/ 327 h 539"/>
                  <a:gd name="T38" fmla="*/ 266 w 1248"/>
                  <a:gd name="T39" fmla="*/ 294 h 539"/>
                  <a:gd name="T40" fmla="*/ 353 w 1248"/>
                  <a:gd name="T41" fmla="*/ 262 h 539"/>
                  <a:gd name="T42" fmla="*/ 445 w 1248"/>
                  <a:gd name="T43" fmla="*/ 234 h 539"/>
                  <a:gd name="T44" fmla="*/ 554 w 1248"/>
                  <a:gd name="T45" fmla="*/ 213 h 539"/>
                  <a:gd name="T46" fmla="*/ 662 w 1248"/>
                  <a:gd name="T47" fmla="*/ 191 h 539"/>
                  <a:gd name="T48" fmla="*/ 890 w 1248"/>
                  <a:gd name="T49" fmla="*/ 153 h 539"/>
                  <a:gd name="T50" fmla="*/ 993 w 1248"/>
                  <a:gd name="T51" fmla="*/ 136 h 539"/>
                  <a:gd name="T52" fmla="*/ 1091 w 1248"/>
                  <a:gd name="T53" fmla="*/ 120 h 539"/>
                  <a:gd name="T54" fmla="*/ 1178 w 1248"/>
                  <a:gd name="T55" fmla="*/ 115 h 539"/>
                  <a:gd name="T56" fmla="*/ 1248 w 1248"/>
                  <a:gd name="T57" fmla="*/ 104 h 539"/>
                  <a:gd name="T58" fmla="*/ 1248 w 1248"/>
                  <a:gd name="T59" fmla="*/ 0 h 539"/>
                  <a:gd name="T60" fmla="*/ 1161 w 1248"/>
                  <a:gd name="T61" fmla="*/ 22 h 539"/>
                  <a:gd name="T62" fmla="*/ 1069 w 1248"/>
                  <a:gd name="T63" fmla="*/ 38 h 539"/>
                  <a:gd name="T64" fmla="*/ 874 w 1248"/>
                  <a:gd name="T65" fmla="*/ 71 h 539"/>
                  <a:gd name="T66" fmla="*/ 673 w 1248"/>
                  <a:gd name="T67" fmla="*/ 93 h 539"/>
                  <a:gd name="T68" fmla="*/ 483 w 1248"/>
                  <a:gd name="T69" fmla="*/ 126 h 539"/>
                  <a:gd name="T70" fmla="*/ 391 w 1248"/>
                  <a:gd name="T71" fmla="*/ 142 h 539"/>
                  <a:gd name="T72" fmla="*/ 309 w 1248"/>
                  <a:gd name="T73" fmla="*/ 158 h 539"/>
                  <a:gd name="T74" fmla="*/ 228 w 1248"/>
                  <a:gd name="T75" fmla="*/ 180 h 539"/>
                  <a:gd name="T76" fmla="*/ 163 w 1248"/>
                  <a:gd name="T77" fmla="*/ 202 h 539"/>
                  <a:gd name="T78" fmla="*/ 103 w 1248"/>
                  <a:gd name="T79" fmla="*/ 229 h 539"/>
                  <a:gd name="T80" fmla="*/ 54 w 1248"/>
                  <a:gd name="T81" fmla="*/ 256 h 539"/>
                  <a:gd name="T82" fmla="*/ 22 w 1248"/>
                  <a:gd name="T83" fmla="*/ 294 h 539"/>
                  <a:gd name="T84" fmla="*/ 0 w 1248"/>
                  <a:gd name="T85" fmla="*/ 332 h 539"/>
                  <a:gd name="T86" fmla="*/ 0 w 1248"/>
                  <a:gd name="T87" fmla="*/ 332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grpSp>
        <p:sp>
          <p:nvSpPr>
            <p:cNvPr id="18" name="Freeform 9"/>
            <p:cNvSpPr/>
            <p:nvPr/>
          </p:nvSpPr>
          <p:spPr bwMode="hidden">
            <a:xfrm>
              <a:off x="3322" y="1341"/>
              <a:ext cx="1825" cy="1537"/>
            </a:xfrm>
            <a:custGeom>
              <a:avLst/>
              <a:gdLst>
                <a:gd name="T0" fmla="*/ 982 w 2296"/>
                <a:gd name="T1" fmla="*/ 1061 h 1469"/>
                <a:gd name="T2" fmla="*/ 1357 w 2296"/>
                <a:gd name="T3" fmla="*/ 1012 h 1469"/>
                <a:gd name="T4" fmla="*/ 1666 w 2296"/>
                <a:gd name="T5" fmla="*/ 957 h 1469"/>
                <a:gd name="T6" fmla="*/ 1916 w 2296"/>
                <a:gd name="T7" fmla="*/ 897 h 1469"/>
                <a:gd name="T8" fmla="*/ 2100 w 2296"/>
                <a:gd name="T9" fmla="*/ 832 h 1469"/>
                <a:gd name="T10" fmla="*/ 2220 w 2296"/>
                <a:gd name="T11" fmla="*/ 756 h 1469"/>
                <a:gd name="T12" fmla="*/ 2285 w 2296"/>
                <a:gd name="T13" fmla="*/ 669 h 1469"/>
                <a:gd name="T14" fmla="*/ 2290 w 2296"/>
                <a:gd name="T15" fmla="*/ 560 h 1469"/>
                <a:gd name="T16" fmla="*/ 2241 w 2296"/>
                <a:gd name="T17" fmla="*/ 457 h 1469"/>
                <a:gd name="T18" fmla="*/ 2144 w 2296"/>
                <a:gd name="T19" fmla="*/ 364 h 1469"/>
                <a:gd name="T20" fmla="*/ 2008 w 2296"/>
                <a:gd name="T21" fmla="*/ 277 h 1469"/>
                <a:gd name="T22" fmla="*/ 1769 w 2296"/>
                <a:gd name="T23" fmla="*/ 157 h 1469"/>
                <a:gd name="T24" fmla="*/ 1612 w 2296"/>
                <a:gd name="T25" fmla="*/ 92 h 1469"/>
                <a:gd name="T26" fmla="*/ 1476 w 2296"/>
                <a:gd name="T27" fmla="*/ 43 h 1469"/>
                <a:gd name="T28" fmla="*/ 1384 w 2296"/>
                <a:gd name="T29" fmla="*/ 10 h 1469"/>
                <a:gd name="T30" fmla="*/ 1346 w 2296"/>
                <a:gd name="T31" fmla="*/ 0 h 1469"/>
                <a:gd name="T32" fmla="*/ 1655 w 2296"/>
                <a:gd name="T33" fmla="*/ 119 h 1469"/>
                <a:gd name="T34" fmla="*/ 1948 w 2296"/>
                <a:gd name="T35" fmla="*/ 255 h 1469"/>
                <a:gd name="T36" fmla="*/ 2068 w 2296"/>
                <a:gd name="T37" fmla="*/ 326 h 1469"/>
                <a:gd name="T38" fmla="*/ 2171 w 2296"/>
                <a:gd name="T39" fmla="*/ 402 h 1469"/>
                <a:gd name="T40" fmla="*/ 2236 w 2296"/>
                <a:gd name="T41" fmla="*/ 478 h 1469"/>
                <a:gd name="T42" fmla="*/ 2263 w 2296"/>
                <a:gd name="T43" fmla="*/ 560 h 1469"/>
                <a:gd name="T44" fmla="*/ 2241 w 2296"/>
                <a:gd name="T45" fmla="*/ 636 h 1469"/>
                <a:gd name="T46" fmla="*/ 2171 w 2296"/>
                <a:gd name="T47" fmla="*/ 702 h 1469"/>
                <a:gd name="T48" fmla="*/ 2062 w 2296"/>
                <a:gd name="T49" fmla="*/ 756 h 1469"/>
                <a:gd name="T50" fmla="*/ 1921 w 2296"/>
                <a:gd name="T51" fmla="*/ 800 h 1469"/>
                <a:gd name="T52" fmla="*/ 1748 w 2296"/>
                <a:gd name="T53" fmla="*/ 843 h 1469"/>
                <a:gd name="T54" fmla="*/ 1351 w 2296"/>
                <a:gd name="T55" fmla="*/ 908 h 1469"/>
                <a:gd name="T56" fmla="*/ 923 w 2296"/>
                <a:gd name="T57" fmla="*/ 968 h 1469"/>
                <a:gd name="T58" fmla="*/ 521 w 2296"/>
                <a:gd name="T59" fmla="*/ 1028 h 1469"/>
                <a:gd name="T60" fmla="*/ 353 w 2296"/>
                <a:gd name="T61" fmla="*/ 1066 h 1469"/>
                <a:gd name="T62" fmla="*/ 206 w 2296"/>
                <a:gd name="T63" fmla="*/ 1104 h 1469"/>
                <a:gd name="T64" fmla="*/ 92 w 2296"/>
                <a:gd name="T65" fmla="*/ 1148 h 1469"/>
                <a:gd name="T66" fmla="*/ 22 w 2296"/>
                <a:gd name="T67" fmla="*/ 1202 h 1469"/>
                <a:gd name="T68" fmla="*/ 0 w 2296"/>
                <a:gd name="T69" fmla="*/ 1262 h 1469"/>
                <a:gd name="T70" fmla="*/ 27 w 2296"/>
                <a:gd name="T71" fmla="*/ 1327 h 1469"/>
                <a:gd name="T72" fmla="*/ 98 w 2296"/>
                <a:gd name="T73" fmla="*/ 1382 h 1469"/>
                <a:gd name="T74" fmla="*/ 196 w 2296"/>
                <a:gd name="T75" fmla="*/ 1425 h 1469"/>
                <a:gd name="T76" fmla="*/ 326 w 2296"/>
                <a:gd name="T77" fmla="*/ 1469 h 1469"/>
                <a:gd name="T78" fmla="*/ 217 w 2296"/>
                <a:gd name="T79" fmla="*/ 1414 h 1469"/>
                <a:gd name="T80" fmla="*/ 147 w 2296"/>
                <a:gd name="T81" fmla="*/ 1360 h 1469"/>
                <a:gd name="T82" fmla="*/ 120 w 2296"/>
                <a:gd name="T83" fmla="*/ 1306 h 1469"/>
                <a:gd name="T84" fmla="*/ 141 w 2296"/>
                <a:gd name="T85" fmla="*/ 1257 h 1469"/>
                <a:gd name="T86" fmla="*/ 212 w 2296"/>
                <a:gd name="T87" fmla="*/ 1208 h 1469"/>
                <a:gd name="T88" fmla="*/ 342 w 2296"/>
                <a:gd name="T89" fmla="*/ 1164 h 1469"/>
                <a:gd name="T90" fmla="*/ 527 w 2296"/>
                <a:gd name="T91" fmla="*/ 1121 h 1469"/>
                <a:gd name="T92" fmla="*/ 771 w 2296"/>
                <a:gd name="T93" fmla="*/ 1088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9" name="Freeform 10"/>
            <p:cNvSpPr/>
            <p:nvPr/>
          </p:nvSpPr>
          <p:spPr bwMode="hidden">
            <a:xfrm>
              <a:off x="0" y="0"/>
              <a:ext cx="5758" cy="1776"/>
            </a:xfrm>
            <a:custGeom>
              <a:avLst/>
              <a:gdLst>
                <a:gd name="T0" fmla="*/ 0 w 5740"/>
                <a:gd name="T1" fmla="*/ 0 h 1906"/>
                <a:gd name="T2" fmla="*/ 0 w 5740"/>
                <a:gd name="T3" fmla="*/ 1906 h 1906"/>
                <a:gd name="T4" fmla="*/ 5740 w 5740"/>
                <a:gd name="T5" fmla="*/ 1906 h 1906"/>
                <a:gd name="T6" fmla="*/ 5740 w 5740"/>
                <a:gd name="T7" fmla="*/ 0 h 1906"/>
                <a:gd name="T8" fmla="*/ 0 w 5740"/>
                <a:gd name="T9" fmla="*/ 0 h 1906"/>
                <a:gd name="T10" fmla="*/ 0 w 5740"/>
                <a:gd name="T11" fmla="*/ 0 h 1906"/>
              </a:gdLst>
              <a:ahLst/>
              <a:cxnLst>
                <a:cxn ang="0">
                  <a:pos x="T0" y="T1"/>
                </a:cxn>
                <a:cxn ang="0">
                  <a:pos x="T2" y="T3"/>
                </a:cxn>
                <a:cxn ang="0">
                  <a:pos x="T4" y="T5"/>
                </a:cxn>
                <a:cxn ang="0">
                  <a:pos x="T6" y="T7"/>
                </a:cxn>
                <a:cxn ang="0">
                  <a:pos x="T8" y="T9"/>
                </a:cxn>
                <a:cxn ang="0">
                  <a:pos x="T10" y="T11"/>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grpSp>
      <p:sp>
        <p:nvSpPr>
          <p:cNvPr id="172043" name="Rectangle 11"/>
          <p:cNvSpPr>
            <a:spLocks noGrp="1" noChangeArrowheads="1"/>
          </p:cNvSpPr>
          <p:nvPr>
            <p:ph type="ctrTitle" sz="quarter"/>
          </p:nvPr>
        </p:nvSpPr>
        <p:spPr>
          <a:xfrm>
            <a:off x="685800" y="1736725"/>
            <a:ext cx="7772400" cy="1920875"/>
          </a:xfrm>
        </p:spPr>
        <p:txBody>
          <a:bodyPr/>
          <a:lstStyle>
            <a:lvl1pPr>
              <a:defRPr sz="6000"/>
            </a:lvl1pPr>
          </a:lstStyle>
          <a:p>
            <a:pPr lvl="0"/>
            <a:r>
              <a:rPr lang="zh-CN" altLang="en-US" noProof="0"/>
              <a:t>单击此处编辑母版标题样式</a:t>
            </a:r>
          </a:p>
        </p:txBody>
      </p:sp>
      <p:sp>
        <p:nvSpPr>
          <p:cNvPr id="172044" name="Rectangle 12"/>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charset="0"/>
              <a:buNone/>
              <a:defRPr/>
            </a:lvl1pPr>
          </a:lstStyle>
          <a:p>
            <a:pPr lvl="0"/>
            <a:r>
              <a:rPr lang="zh-CN" altLang="en-US" noProof="0"/>
              <a:t>单击此处编辑母版副标题样式</a:t>
            </a:r>
          </a:p>
        </p:txBody>
      </p:sp>
      <p:sp>
        <p:nvSpPr>
          <p:cNvPr id="25" name="Rectangle 13"/>
          <p:cNvSpPr>
            <a:spLocks noGrp="1" noChangeArrowheads="1"/>
          </p:cNvSpPr>
          <p:nvPr>
            <p:ph type="dt" sz="quarter" idx="2"/>
          </p:nvPr>
        </p:nvSpPr>
        <p:spPr bwMode="auto">
          <a:xfrm>
            <a:off x="457200" y="6248400"/>
            <a:ext cx="2133600" cy="47625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26" name="Rectangle 14"/>
          <p:cNvSpPr>
            <a:spLocks noGrp="1" noChangeArrowheads="1"/>
          </p:cNvSpPr>
          <p:nvPr>
            <p:ph type="ftr" sz="quarter" idx="3"/>
          </p:nvPr>
        </p:nvSpPr>
        <p:spPr bwMode="auto">
          <a:xfrm>
            <a:off x="3124200" y="6251575"/>
            <a:ext cx="2895600" cy="476250"/>
          </a:xfrm>
          <a:prstGeom prst="rect">
            <a:avLst/>
          </a:prstGeom>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27" name="Rectangle 15"/>
          <p:cNvSpPr>
            <a:spLocks noGrp="1" noChangeArrowheads="1"/>
          </p:cNvSpPr>
          <p:nvPr>
            <p:ph type="sldNum" sz="quarter" idx="4"/>
          </p:nvPr>
        </p:nvSpPr>
        <p:spPr bwMode="auto">
          <a:xfrm>
            <a:off x="6553200" y="6254750"/>
            <a:ext cx="2133600" cy="476250"/>
          </a:xfrm>
          <a:prstGeom prst="rect">
            <a:avLst/>
          </a:prstGeom>
        </p:spPr>
        <p:txBody>
          <a:bodyPr vert="horz" wrap="square" lIns="91440" tIns="45720" rIns="91440" bIns="45720" numCol="1" anchor="b" anchorCtr="0" compatLnSpc="1"/>
          <a:lstStyle/>
          <a:p>
            <a:pPr algn="r">
              <a:buNone/>
            </a:pPr>
            <a:fld id="{9A0DB2DC-4C9A-4742-B13C-FB6460FD3503}" type="slidenum">
              <a:rPr lang="en-US" altLang="zh-CN" baseline="0" dirty="0">
                <a:latin typeface="Arial" panose="020B0604020202090204" pitchFamily="34" charset="0"/>
              </a:rPr>
              <a:pPr algn="r">
                <a:buNone/>
              </a:pPr>
              <a:t>‹#›</a:t>
            </a:fld>
            <a:endParaRPr lang="en-US" altLang="zh-CN" baseline="0" dirty="0">
              <a:latin typeface="Arial" panose="020B060402020209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baseline="0" dirty="0"/>
              <a:pPr lvl="0" eaLnBrk="1" hangingPunct="1">
                <a:buNone/>
              </a:pPr>
              <a:t>‹#›</a:t>
            </a:fld>
            <a:endParaRPr lang="en-US" altLang="zh-CN" baseline="0" dirty="0">
              <a:latin typeface="Garamond"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baseline="0" dirty="0"/>
              <a:pPr lvl="0" eaLnBrk="1" hangingPunct="1">
                <a:buNone/>
              </a:pPr>
              <a:t>‹#›</a:t>
            </a:fld>
            <a:endParaRPr lang="en-US" altLang="zh-CN" baseline="0" dirty="0">
              <a:latin typeface="Garamond"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baseline="0" dirty="0"/>
              <a:pPr lvl="0" eaLnBrk="1" hangingPunct="1">
                <a:buNone/>
              </a:pPr>
              <a:t>‹#›</a:t>
            </a:fld>
            <a:endParaRPr lang="en-US" altLang="zh-CN" baseline="0" dirty="0">
              <a:latin typeface="Garamond" pitchFamily="18" charset="0"/>
            </a:endParaRPr>
          </a:p>
        </p:txBody>
      </p:sp>
      <p:sp>
        <p:nvSpPr>
          <p:cNvPr id="7" name="页脚占位符 6"/>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baseline="0" dirty="0"/>
              <a:pPr lvl="0" eaLnBrk="1" hangingPunct="1">
                <a:buNone/>
              </a:pPr>
              <a:t>‹#›</a:t>
            </a:fld>
            <a:endParaRPr lang="en-US" altLang="zh-CN" baseline="0" dirty="0">
              <a:latin typeface="Garamond" pitchFamily="18" charset="0"/>
            </a:endParaRPr>
          </a:p>
        </p:txBody>
      </p:sp>
      <p:sp>
        <p:nvSpPr>
          <p:cNvPr id="9" name="页脚占位符 8"/>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baseline="0" dirty="0"/>
              <a:pPr lvl="0" eaLnBrk="1" hangingPunct="1">
                <a:buNone/>
              </a:pPr>
              <a:t>‹#›</a:t>
            </a:fld>
            <a:endParaRPr lang="en-US" altLang="zh-CN" baseline="0" dirty="0">
              <a:latin typeface="Garamond" pitchFamily="18" charset="0"/>
            </a:endParaRPr>
          </a:p>
        </p:txBody>
      </p:sp>
      <p:sp>
        <p:nvSpPr>
          <p:cNvPr id="5" name="页脚占位符 4"/>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3" name="灯片编号占位符 2"/>
          <p:cNvSpPr>
            <a:spLocks noGrp="1"/>
          </p:cNvSpPr>
          <p:nvPr>
            <p:ph type="sldNum" sz="quarter" idx="11"/>
          </p:nvPr>
        </p:nvSpPr>
        <p:spPr/>
        <p:txBody>
          <a:bodyPr/>
          <a:lstStyle/>
          <a:p>
            <a:pPr lvl="0" eaLnBrk="1" hangingPunct="1">
              <a:buNone/>
            </a:pPr>
            <a:fld id="{9A0DB2DC-4C9A-4742-B13C-FB6460FD3503}" type="slidenum">
              <a:rPr lang="en-US" altLang="zh-CN" baseline="0" dirty="0"/>
              <a:pPr lvl="0" eaLnBrk="1" hangingPunct="1">
                <a:buNone/>
              </a:pPr>
              <a:t>‹#›</a:t>
            </a:fld>
            <a:endParaRPr lang="en-US" altLang="zh-CN" baseline="0" dirty="0">
              <a:latin typeface="Garamond" pitchFamily="18" charset="0"/>
            </a:endParaRPr>
          </a:p>
        </p:txBody>
      </p:sp>
      <p:sp>
        <p:nvSpPr>
          <p:cNvPr id="4" name="页脚占位符 3"/>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baseline="0" dirty="0"/>
              <a:pPr lvl="0" eaLnBrk="1" hangingPunct="1">
                <a:buNone/>
              </a:pPr>
              <a:t>‹#›</a:t>
            </a:fld>
            <a:endParaRPr lang="en-US" altLang="zh-CN" baseline="0" dirty="0">
              <a:latin typeface="Garamond" pitchFamily="18" charset="0"/>
            </a:endParaRPr>
          </a:p>
        </p:txBody>
      </p:sp>
      <p:sp>
        <p:nvSpPr>
          <p:cNvPr id="7" name="页脚占位符 6"/>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baseline="0" dirty="0"/>
              <a:pPr lvl="0" eaLnBrk="1" hangingPunct="1">
                <a:buNone/>
              </a:pPr>
              <a:t>‹#›</a:t>
            </a:fld>
            <a:endParaRPr lang="en-US" altLang="zh-CN" baseline="0" dirty="0">
              <a:latin typeface="Garamond" pitchFamily="18" charset="0"/>
            </a:endParaRPr>
          </a:p>
        </p:txBody>
      </p:sp>
      <p:sp>
        <p:nvSpPr>
          <p:cNvPr id="7" name="页脚占位符 6"/>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本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baseline="0" dirty="0"/>
              <a:pPr lvl="0" eaLnBrk="1" hangingPunct="1">
                <a:buNone/>
              </a:pPr>
              <a:t>‹#›</a:t>
            </a:fld>
            <a:endParaRPr lang="en-US" altLang="zh-CN" baseline="0" dirty="0">
              <a:latin typeface="Garamond"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本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baseline="0" dirty="0"/>
              <a:pPr lvl="0" eaLnBrk="1" hangingPunct="1">
                <a:buNone/>
              </a:pPr>
              <a:t>‹#›</a:t>
            </a:fld>
            <a:endParaRPr lang="en-US" altLang="zh-CN" baseline="0" dirty="0">
              <a:latin typeface="Garamond"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和剪贴画">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剪贴画占位符 3"/>
          <p:cNvSpPr>
            <a:spLocks noGrp="1"/>
          </p:cNvSpPr>
          <p:nvPr>
            <p:ph type="clipArt" sz="half" idx="2"/>
          </p:nvPr>
        </p:nvSpPr>
        <p:spPr>
          <a:xfrm>
            <a:off x="4648200" y="1600200"/>
            <a:ext cx="4038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baseline="0" dirty="0"/>
              <a:pPr lvl="0" eaLnBrk="1" hangingPunct="1">
                <a:buNone/>
              </a:pPr>
              <a:t>‹#›</a:t>
            </a:fld>
            <a:endParaRPr lang="en-US" altLang="zh-CN" baseline="0" dirty="0">
              <a:latin typeface="Garamond" pitchFamily="18" charset="0"/>
            </a:endParaRPr>
          </a:p>
        </p:txBody>
      </p:sp>
      <p:sp>
        <p:nvSpPr>
          <p:cNvPr id="7" name="页脚占位符 6"/>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baseline="0" dirty="0"/>
              <a:pPr lvl="0" eaLnBrk="1" hangingPunct="1">
                <a:buNone/>
              </a:pPr>
              <a:t>‹#›</a:t>
            </a:fld>
            <a:endParaRPr lang="en-US" altLang="zh-CN" baseline="0" dirty="0">
              <a:latin typeface="Garamond" pitchFamily="18" charset="0"/>
            </a:endParaRPr>
          </a:p>
        </p:txBody>
      </p:sp>
      <p:sp>
        <p:nvSpPr>
          <p:cNvPr id="7" name="页脚占位符 6"/>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01625" y="228600"/>
            <a:ext cx="8540750" cy="1143000"/>
          </a:xfrm>
        </p:spPr>
        <p:txBody>
          <a:bodyPr/>
          <a:lstStyle/>
          <a:p>
            <a:r>
              <a:rPr lang="zh-CN" altLang="en-US"/>
              <a:t>单击此处编辑母版标题样式</a:t>
            </a:r>
          </a:p>
        </p:txBody>
      </p:sp>
      <p:sp>
        <p:nvSpPr>
          <p:cNvPr id="3" name="表格占位符 2"/>
          <p:cNvSpPr>
            <a:spLocks noGrp="1"/>
          </p:cNvSpPr>
          <p:nvPr>
            <p:ph type="tbl" idx="1"/>
          </p:nvPr>
        </p:nvSpPr>
        <p:spPr>
          <a:xfrm>
            <a:off x="301625" y="1600200"/>
            <a:ext cx="8540750" cy="44989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endPar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16" name="日期占位符 3"/>
          <p:cNvSpPr>
            <a:spLocks noGrp="1"/>
          </p:cNvSpPr>
          <p:nvPr>
            <p:ph type="dt" sz="half" idx="2"/>
          </p:nvPr>
        </p:nvSpPr>
        <p:spPr bwMode="auto">
          <a:xfrm>
            <a:off x="301625" y="6245225"/>
            <a:ext cx="2289175" cy="47625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17" name="页脚占位符 4"/>
          <p:cNvSpPr>
            <a:spLocks noGrp="1"/>
          </p:cNvSpPr>
          <p:nvPr>
            <p:ph type="ftr" sz="quarter" idx="3"/>
          </p:nvPr>
        </p:nvSpPr>
        <p:spPr bwMode="auto">
          <a:xfrm>
            <a:off x="3124200" y="6245225"/>
            <a:ext cx="2895600" cy="476250"/>
          </a:xfrm>
          <a:prstGeom prst="rect">
            <a:avLst/>
          </a:prstGeom>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18" name="幻灯片编号占位符 5"/>
          <p:cNvSpPr>
            <a:spLocks noGrp="1"/>
          </p:cNvSpPr>
          <p:nvPr>
            <p:ph type="sldNum" sz="quarter" idx="4"/>
          </p:nvPr>
        </p:nvSpPr>
        <p:spPr bwMode="auto">
          <a:xfrm>
            <a:off x="6553200" y="6245225"/>
            <a:ext cx="2289175" cy="476250"/>
          </a:xfrm>
          <a:prstGeom prst="rect">
            <a:avLst/>
          </a:prstGeom>
        </p:spPr>
        <p:txBody>
          <a:bodyPr vert="horz" wrap="square" lIns="91440" tIns="45720" rIns="91440" bIns="45720" numCol="1" anchor="b" anchorCtr="0" compatLnSpc="1"/>
          <a:lstStyle/>
          <a:p>
            <a:pPr algn="r">
              <a:buNone/>
            </a:pPr>
            <a:fld id="{9A0DB2DC-4C9A-4742-B13C-FB6460FD3503}" type="slidenum">
              <a:rPr lang="en-US" altLang="zh-CN" baseline="0" dirty="0">
                <a:latin typeface="Arial" panose="020B0604020202090204" pitchFamily="34" charset="0"/>
              </a:rPr>
              <a:pPr algn="r">
                <a:buNone/>
              </a:pPr>
              <a:t>‹#›</a:t>
            </a:fld>
            <a:endParaRPr lang="en-US" altLang="zh-CN" baseline="0" dirty="0">
              <a:latin typeface="Arial" panose="020B060402020209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010" name="Rectangle 2"/>
          <p:cNvSpPr>
            <a:spLocks noGrp="1" noChangeArrowheads="1"/>
          </p:cNvSpPr>
          <p:nvPr>
            <p:ph type="dt" sz="half" idx="2"/>
          </p:nvPr>
        </p:nvSpPr>
        <p:spPr bwMode="auto">
          <a:xfrm>
            <a:off x="457200" y="6251575"/>
            <a:ext cx="2133600" cy="476250"/>
          </a:xfrm>
          <a:prstGeom prst="rect">
            <a:avLst/>
          </a:prstGeom>
          <a:noFill/>
          <a:ln>
            <a:noFill/>
          </a:ln>
          <a:effectLst/>
        </p:spPr>
        <p:txBody>
          <a:bodyPr vert="horz" wrap="square" lIns="91440" tIns="45720" rIns="91440" bIns="45720" numCol="1" anchor="b" anchorCtr="0" compatLnSpc="1"/>
          <a:lstStyle>
            <a:lvl1pPr>
              <a:defRPr sz="1200" baseline="0">
                <a:effectLst/>
                <a:latin typeface="Arial" panose="020B0604020202090204" pitchFamily="34" charset="0"/>
                <a:ea typeface="宋体"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171011" name="Rectangle 3"/>
          <p:cNvSpPr>
            <a:spLocks noGrp="1" noChangeArrowheads="1"/>
          </p:cNvSpPr>
          <p:nvPr>
            <p:ph type="sldNum" sz="quarter" idx="4"/>
          </p:nvPr>
        </p:nvSpPr>
        <p:spPr bwMode="auto">
          <a:xfrm>
            <a:off x="6553200" y="6248400"/>
            <a:ext cx="2133600" cy="476250"/>
          </a:xfrm>
          <a:prstGeom prst="rect">
            <a:avLst/>
          </a:prstGeom>
          <a:noFill/>
          <a:ln>
            <a:noFill/>
          </a:ln>
          <a:effectLst/>
        </p:spPr>
        <p:txBody>
          <a:bodyPr vert="horz" wrap="square" lIns="91440" tIns="45720" rIns="91440" bIns="45720" numCol="1" anchor="b" anchorCtr="0" compatLnSpc="1"/>
          <a:lstStyle>
            <a:lvl1pPr algn="r">
              <a:defRPr sz="1200">
                <a:latin typeface="Arial" panose="020B0604020202090204" pitchFamily="34" charset="0"/>
              </a:defRPr>
            </a:lvl1pPr>
          </a:lstStyle>
          <a:p>
            <a:pPr lvl="0" eaLnBrk="1" hangingPunct="1">
              <a:buNone/>
            </a:pPr>
            <a:fld id="{9A0DB2DC-4C9A-4742-B13C-FB6460FD3503}" type="slidenum">
              <a:rPr lang="en-US" altLang="zh-CN" baseline="0" dirty="0"/>
              <a:pPr lvl="0" eaLnBrk="1" hangingPunct="1">
                <a:buNone/>
              </a:pPr>
              <a:t>‹#›</a:t>
            </a:fld>
            <a:endParaRPr lang="en-US" altLang="zh-CN" baseline="0" dirty="0">
              <a:latin typeface="Garamond" pitchFamily="18" charset="0"/>
            </a:endParaRPr>
          </a:p>
        </p:txBody>
      </p:sp>
      <p:grpSp>
        <p:nvGrpSpPr>
          <p:cNvPr id="5124" name="Group 4"/>
          <p:cNvGrpSpPr/>
          <p:nvPr/>
        </p:nvGrpSpPr>
        <p:grpSpPr>
          <a:xfrm>
            <a:off x="0" y="0"/>
            <a:ext cx="9140825" cy="6850063"/>
            <a:chOff x="0" y="0"/>
            <a:chExt cx="5758" cy="4315"/>
          </a:xfrm>
        </p:grpSpPr>
        <p:grpSp>
          <p:nvGrpSpPr>
            <p:cNvPr id="5128" name="Group 5"/>
            <p:cNvGrpSpPr/>
            <p:nvPr userDrawn="1"/>
          </p:nvGrpSpPr>
          <p:grpSpPr>
            <a:xfrm>
              <a:off x="1728" y="2230"/>
              <a:ext cx="4027" cy="2085"/>
              <a:chOff x="1728" y="2230"/>
              <a:chExt cx="4027" cy="2085"/>
            </a:xfrm>
          </p:grpSpPr>
          <p:sp>
            <p:nvSpPr>
              <p:cNvPr id="171014" name="Freeform 6"/>
              <p:cNvSpPr/>
              <p:nvPr/>
            </p:nvSpPr>
            <p:spPr bwMode="hidden">
              <a:xfrm>
                <a:off x="1728" y="2644"/>
                <a:ext cx="2882" cy="1671"/>
              </a:xfrm>
              <a:custGeom>
                <a:avLst/>
                <a:gdLst>
                  <a:gd name="T0" fmla="*/ 2740 w 2882"/>
                  <a:gd name="T1" fmla="*/ 528 h 1671"/>
                  <a:gd name="T2" fmla="*/ 2632 w 2882"/>
                  <a:gd name="T3" fmla="*/ 484 h 1671"/>
                  <a:gd name="T4" fmla="*/ 2480 w 2882"/>
                  <a:gd name="T5" fmla="*/ 424 h 1671"/>
                  <a:gd name="T6" fmla="*/ 2203 w 2882"/>
                  <a:gd name="T7" fmla="*/ 343 h 1671"/>
                  <a:gd name="T8" fmla="*/ 1970 w 2882"/>
                  <a:gd name="T9" fmla="*/ 277 h 1671"/>
                  <a:gd name="T10" fmla="*/ 1807 w 2882"/>
                  <a:gd name="T11" fmla="*/ 212 h 1671"/>
                  <a:gd name="T12" fmla="*/ 1693 w 2882"/>
                  <a:gd name="T13" fmla="*/ 152 h 1671"/>
                  <a:gd name="T14" fmla="*/ 1628 w 2882"/>
                  <a:gd name="T15" fmla="*/ 103 h 1671"/>
                  <a:gd name="T16" fmla="*/ 1590 w 2882"/>
                  <a:gd name="T17" fmla="*/ 60 h 1671"/>
                  <a:gd name="T18" fmla="*/ 1579 w 2882"/>
                  <a:gd name="T19" fmla="*/ 27 h 1671"/>
                  <a:gd name="T20" fmla="*/ 1585 w 2882"/>
                  <a:gd name="T21" fmla="*/ 0 h 1671"/>
                  <a:gd name="T22" fmla="*/ 1557 w 2882"/>
                  <a:gd name="T23" fmla="*/ 49 h 1671"/>
                  <a:gd name="T24" fmla="*/ 1568 w 2882"/>
                  <a:gd name="T25" fmla="*/ 98 h 1671"/>
                  <a:gd name="T26" fmla="*/ 1617 w 2882"/>
                  <a:gd name="T27" fmla="*/ 141 h 1671"/>
                  <a:gd name="T28" fmla="*/ 1688 w 2882"/>
                  <a:gd name="T29" fmla="*/ 185 h 1671"/>
                  <a:gd name="T30" fmla="*/ 1791 w 2882"/>
                  <a:gd name="T31" fmla="*/ 228 h 1671"/>
                  <a:gd name="T32" fmla="*/ 2040 w 2882"/>
                  <a:gd name="T33" fmla="*/ 310 h 1671"/>
                  <a:gd name="T34" fmla="*/ 2285 w 2882"/>
                  <a:gd name="T35" fmla="*/ 381 h 1671"/>
                  <a:gd name="T36" fmla="*/ 2464 w 2882"/>
                  <a:gd name="T37" fmla="*/ 435 h 1671"/>
                  <a:gd name="T38" fmla="*/ 2605 w 2882"/>
                  <a:gd name="T39" fmla="*/ 484 h 1671"/>
                  <a:gd name="T40" fmla="*/ 2708 w 2882"/>
                  <a:gd name="T41" fmla="*/ 528 h 1671"/>
                  <a:gd name="T42" fmla="*/ 2768 w 2882"/>
                  <a:gd name="T43" fmla="*/ 560 h 1671"/>
                  <a:gd name="T44" fmla="*/ 2795 w 2882"/>
                  <a:gd name="T45" fmla="*/ 593 h 1671"/>
                  <a:gd name="T46" fmla="*/ 2795 w 2882"/>
                  <a:gd name="T47" fmla="*/ 642 h 1671"/>
                  <a:gd name="T48" fmla="*/ 2762 w 2882"/>
                  <a:gd name="T49" fmla="*/ 691 h 1671"/>
                  <a:gd name="T50" fmla="*/ 2692 w 2882"/>
                  <a:gd name="T51" fmla="*/ 735 h 1671"/>
                  <a:gd name="T52" fmla="*/ 2589 w 2882"/>
                  <a:gd name="T53" fmla="*/ 778 h 1671"/>
                  <a:gd name="T54" fmla="*/ 2458 w 2882"/>
                  <a:gd name="T55" fmla="*/ 822 h 1671"/>
                  <a:gd name="T56" fmla="*/ 2301 w 2882"/>
                  <a:gd name="T57" fmla="*/ 865 h 1671"/>
                  <a:gd name="T58" fmla="*/ 2030 w 2882"/>
                  <a:gd name="T59" fmla="*/ 930 h 1671"/>
                  <a:gd name="T60" fmla="*/ 1606 w 2882"/>
                  <a:gd name="T61" fmla="*/ 1034 h 1671"/>
                  <a:gd name="T62" fmla="*/ 1145 w 2882"/>
                  <a:gd name="T63" fmla="*/ 1164 h 1671"/>
                  <a:gd name="T64" fmla="*/ 673 w 2882"/>
                  <a:gd name="T65" fmla="*/ 1328 h 1671"/>
                  <a:gd name="T66" fmla="*/ 217 w 2882"/>
                  <a:gd name="T67" fmla="*/ 1545 h 1671"/>
                  <a:gd name="T68" fmla="*/ 353 w 2882"/>
                  <a:gd name="T69" fmla="*/ 1671 h 1671"/>
                  <a:gd name="T70" fmla="*/ 754 w 2882"/>
                  <a:gd name="T71" fmla="*/ 1469 h 1671"/>
                  <a:gd name="T72" fmla="*/ 1145 w 2882"/>
                  <a:gd name="T73" fmla="*/ 1311 h 1671"/>
                  <a:gd name="T74" fmla="*/ 1519 w 2882"/>
                  <a:gd name="T75" fmla="*/ 1186 h 1671"/>
                  <a:gd name="T76" fmla="*/ 1861 w 2882"/>
                  <a:gd name="T77" fmla="*/ 1083 h 1671"/>
                  <a:gd name="T78" fmla="*/ 2165 w 2882"/>
                  <a:gd name="T79" fmla="*/ 1007 h 1671"/>
                  <a:gd name="T80" fmla="*/ 2426 w 2882"/>
                  <a:gd name="T81" fmla="*/ 947 h 1671"/>
                  <a:gd name="T82" fmla="*/ 2626 w 2882"/>
                  <a:gd name="T83" fmla="*/ 892 h 1671"/>
                  <a:gd name="T84" fmla="*/ 2762 w 2882"/>
                  <a:gd name="T85" fmla="*/ 838 h 1671"/>
                  <a:gd name="T86" fmla="*/ 2827 w 2882"/>
                  <a:gd name="T87" fmla="*/ 794 h 1671"/>
                  <a:gd name="T88" fmla="*/ 2865 w 2882"/>
                  <a:gd name="T89" fmla="*/ 745 h 1671"/>
                  <a:gd name="T90" fmla="*/ 2882 w 2882"/>
                  <a:gd name="T91" fmla="*/ 702 h 1671"/>
                  <a:gd name="T92" fmla="*/ 2854 w 2882"/>
                  <a:gd name="T93" fmla="*/ 620 h 1671"/>
                  <a:gd name="T94" fmla="*/ 2800 w 2882"/>
                  <a:gd name="T95" fmla="*/ 560 h 1671"/>
                  <a:gd name="T96" fmla="*/ 2773 w 2882"/>
                  <a:gd name="T97" fmla="*/ 544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71015" name="Freeform 7"/>
              <p:cNvSpPr/>
              <p:nvPr/>
            </p:nvSpPr>
            <p:spPr bwMode="hidden">
              <a:xfrm>
                <a:off x="4170" y="2671"/>
                <a:ext cx="1259" cy="811"/>
              </a:xfrm>
              <a:custGeom>
                <a:avLst/>
                <a:gdLst>
                  <a:gd name="T0" fmla="*/ 1259 w 1259"/>
                  <a:gd name="T1" fmla="*/ 615 h 811"/>
                  <a:gd name="T2" fmla="*/ 1248 w 1259"/>
                  <a:gd name="T3" fmla="*/ 588 h 811"/>
                  <a:gd name="T4" fmla="*/ 1237 w 1259"/>
                  <a:gd name="T5" fmla="*/ 566 h 811"/>
                  <a:gd name="T6" fmla="*/ 1216 w 1259"/>
                  <a:gd name="T7" fmla="*/ 539 h 811"/>
                  <a:gd name="T8" fmla="*/ 1188 w 1259"/>
                  <a:gd name="T9" fmla="*/ 517 h 811"/>
                  <a:gd name="T10" fmla="*/ 1123 w 1259"/>
                  <a:gd name="T11" fmla="*/ 479 h 811"/>
                  <a:gd name="T12" fmla="*/ 1042 w 1259"/>
                  <a:gd name="T13" fmla="*/ 441 h 811"/>
                  <a:gd name="T14" fmla="*/ 944 w 1259"/>
                  <a:gd name="T15" fmla="*/ 408 h 811"/>
                  <a:gd name="T16" fmla="*/ 841 w 1259"/>
                  <a:gd name="T17" fmla="*/ 381 h 811"/>
                  <a:gd name="T18" fmla="*/ 727 w 1259"/>
                  <a:gd name="T19" fmla="*/ 348 h 811"/>
                  <a:gd name="T20" fmla="*/ 613 w 1259"/>
                  <a:gd name="T21" fmla="*/ 321 h 811"/>
                  <a:gd name="T22" fmla="*/ 499 w 1259"/>
                  <a:gd name="T23" fmla="*/ 294 h 811"/>
                  <a:gd name="T24" fmla="*/ 391 w 1259"/>
                  <a:gd name="T25" fmla="*/ 261 h 811"/>
                  <a:gd name="T26" fmla="*/ 288 w 1259"/>
                  <a:gd name="T27" fmla="*/ 229 h 811"/>
                  <a:gd name="T28" fmla="*/ 195 w 1259"/>
                  <a:gd name="T29" fmla="*/ 196 h 811"/>
                  <a:gd name="T30" fmla="*/ 119 w 1259"/>
                  <a:gd name="T31" fmla="*/ 152 h 811"/>
                  <a:gd name="T32" fmla="*/ 54 w 1259"/>
                  <a:gd name="T33" fmla="*/ 109 h 811"/>
                  <a:gd name="T34" fmla="*/ 33 w 1259"/>
                  <a:gd name="T35" fmla="*/ 87 h 811"/>
                  <a:gd name="T36" fmla="*/ 16 w 1259"/>
                  <a:gd name="T37" fmla="*/ 60 h 811"/>
                  <a:gd name="T38" fmla="*/ 5 w 1259"/>
                  <a:gd name="T39" fmla="*/ 33 h 811"/>
                  <a:gd name="T40" fmla="*/ 0 w 1259"/>
                  <a:gd name="T41" fmla="*/ 0 h 811"/>
                  <a:gd name="T42" fmla="*/ 0 w 1259"/>
                  <a:gd name="T43" fmla="*/ 6 h 811"/>
                  <a:gd name="T44" fmla="*/ 0 w 1259"/>
                  <a:gd name="T45" fmla="*/ 11 h 811"/>
                  <a:gd name="T46" fmla="*/ 0 w 1259"/>
                  <a:gd name="T47" fmla="*/ 38 h 811"/>
                  <a:gd name="T48" fmla="*/ 5 w 1259"/>
                  <a:gd name="T49" fmla="*/ 60 h 811"/>
                  <a:gd name="T50" fmla="*/ 16 w 1259"/>
                  <a:gd name="T51" fmla="*/ 87 h 811"/>
                  <a:gd name="T52" fmla="*/ 33 w 1259"/>
                  <a:gd name="T53" fmla="*/ 114 h 811"/>
                  <a:gd name="T54" fmla="*/ 54 w 1259"/>
                  <a:gd name="T55" fmla="*/ 142 h 811"/>
                  <a:gd name="T56" fmla="*/ 87 w 1259"/>
                  <a:gd name="T57" fmla="*/ 174 h 811"/>
                  <a:gd name="T58" fmla="*/ 125 w 1259"/>
                  <a:gd name="T59" fmla="*/ 207 h 811"/>
                  <a:gd name="T60" fmla="*/ 179 w 1259"/>
                  <a:gd name="T61" fmla="*/ 240 h 811"/>
                  <a:gd name="T62" fmla="*/ 244 w 1259"/>
                  <a:gd name="T63" fmla="*/ 278 h 811"/>
                  <a:gd name="T64" fmla="*/ 326 w 1259"/>
                  <a:gd name="T65" fmla="*/ 310 h 811"/>
                  <a:gd name="T66" fmla="*/ 418 w 1259"/>
                  <a:gd name="T67" fmla="*/ 348 h 811"/>
                  <a:gd name="T68" fmla="*/ 526 w 1259"/>
                  <a:gd name="T69" fmla="*/ 381 h 811"/>
                  <a:gd name="T70" fmla="*/ 657 w 1259"/>
                  <a:gd name="T71" fmla="*/ 414 h 811"/>
                  <a:gd name="T72" fmla="*/ 749 w 1259"/>
                  <a:gd name="T73" fmla="*/ 435 h 811"/>
                  <a:gd name="T74" fmla="*/ 830 w 1259"/>
                  <a:gd name="T75" fmla="*/ 463 h 811"/>
                  <a:gd name="T76" fmla="*/ 901 w 1259"/>
                  <a:gd name="T77" fmla="*/ 490 h 811"/>
                  <a:gd name="T78" fmla="*/ 966 w 1259"/>
                  <a:gd name="T79" fmla="*/ 512 h 811"/>
                  <a:gd name="T80" fmla="*/ 1015 w 1259"/>
                  <a:gd name="T81" fmla="*/ 539 h 811"/>
                  <a:gd name="T82" fmla="*/ 1053 w 1259"/>
                  <a:gd name="T83" fmla="*/ 566 h 811"/>
                  <a:gd name="T84" fmla="*/ 1080 w 1259"/>
                  <a:gd name="T85" fmla="*/ 593 h 811"/>
                  <a:gd name="T86" fmla="*/ 1102 w 1259"/>
                  <a:gd name="T87" fmla="*/ 620 h 811"/>
                  <a:gd name="T88" fmla="*/ 1112 w 1259"/>
                  <a:gd name="T89" fmla="*/ 648 h 811"/>
                  <a:gd name="T90" fmla="*/ 1118 w 1259"/>
                  <a:gd name="T91" fmla="*/ 675 h 811"/>
                  <a:gd name="T92" fmla="*/ 1112 w 1259"/>
                  <a:gd name="T93" fmla="*/ 697 h 811"/>
                  <a:gd name="T94" fmla="*/ 1096 w 1259"/>
                  <a:gd name="T95" fmla="*/ 724 h 811"/>
                  <a:gd name="T96" fmla="*/ 1080 w 1259"/>
                  <a:gd name="T97" fmla="*/ 746 h 811"/>
                  <a:gd name="T98" fmla="*/ 1053 w 1259"/>
                  <a:gd name="T99" fmla="*/ 767 h 811"/>
                  <a:gd name="T100" fmla="*/ 1015 w 1259"/>
                  <a:gd name="T101" fmla="*/ 789 h 811"/>
                  <a:gd name="T102" fmla="*/ 977 w 1259"/>
                  <a:gd name="T103" fmla="*/ 811 h 811"/>
                  <a:gd name="T104" fmla="*/ 1047 w 1259"/>
                  <a:gd name="T105" fmla="*/ 789 h 811"/>
                  <a:gd name="T106" fmla="*/ 1107 w 1259"/>
                  <a:gd name="T107" fmla="*/ 767 h 811"/>
                  <a:gd name="T108" fmla="*/ 1156 w 1259"/>
                  <a:gd name="T109" fmla="*/ 746 h 811"/>
                  <a:gd name="T110" fmla="*/ 1199 w 1259"/>
                  <a:gd name="T111" fmla="*/ 724 h 811"/>
                  <a:gd name="T112" fmla="*/ 1226 w 1259"/>
                  <a:gd name="T113" fmla="*/ 702 h 811"/>
                  <a:gd name="T114" fmla="*/ 1248 w 1259"/>
                  <a:gd name="T115" fmla="*/ 675 h 811"/>
                  <a:gd name="T116" fmla="*/ 1259 w 1259"/>
                  <a:gd name="T117" fmla="*/ 648 h 811"/>
                  <a:gd name="T118" fmla="*/ 1259 w 1259"/>
                  <a:gd name="T119" fmla="*/ 615 h 811"/>
                  <a:gd name="T120" fmla="*/ 1259 w 1259"/>
                  <a:gd name="T121" fmla="*/ 615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71016" name="Freeform 8"/>
              <p:cNvSpPr/>
              <p:nvPr/>
            </p:nvSpPr>
            <p:spPr bwMode="hidden">
              <a:xfrm>
                <a:off x="2900" y="3346"/>
                <a:ext cx="2849" cy="969"/>
              </a:xfrm>
              <a:custGeom>
                <a:avLst/>
                <a:gdLst>
                  <a:gd name="T0" fmla="*/ 92 w 2849"/>
                  <a:gd name="T1" fmla="*/ 958 h 969"/>
                  <a:gd name="T2" fmla="*/ 0 w 2849"/>
                  <a:gd name="T3" fmla="*/ 969 h 969"/>
                  <a:gd name="T4" fmla="*/ 391 w 2849"/>
                  <a:gd name="T5" fmla="*/ 969 h 969"/>
                  <a:gd name="T6" fmla="*/ 434 w 2849"/>
                  <a:gd name="T7" fmla="*/ 947 h 969"/>
                  <a:gd name="T8" fmla="*/ 483 w 2849"/>
                  <a:gd name="T9" fmla="*/ 914 h 969"/>
                  <a:gd name="T10" fmla="*/ 554 w 2849"/>
                  <a:gd name="T11" fmla="*/ 876 h 969"/>
                  <a:gd name="T12" fmla="*/ 635 w 2849"/>
                  <a:gd name="T13" fmla="*/ 838 h 969"/>
                  <a:gd name="T14" fmla="*/ 727 w 2849"/>
                  <a:gd name="T15" fmla="*/ 794 h 969"/>
                  <a:gd name="T16" fmla="*/ 836 w 2849"/>
                  <a:gd name="T17" fmla="*/ 745 h 969"/>
                  <a:gd name="T18" fmla="*/ 961 w 2849"/>
                  <a:gd name="T19" fmla="*/ 696 h 969"/>
                  <a:gd name="T20" fmla="*/ 1102 w 2849"/>
                  <a:gd name="T21" fmla="*/ 642 h 969"/>
                  <a:gd name="T22" fmla="*/ 1259 w 2849"/>
                  <a:gd name="T23" fmla="*/ 582 h 969"/>
                  <a:gd name="T24" fmla="*/ 1433 w 2849"/>
                  <a:gd name="T25" fmla="*/ 522 h 969"/>
                  <a:gd name="T26" fmla="*/ 1623 w 2849"/>
                  <a:gd name="T27" fmla="*/ 462 h 969"/>
                  <a:gd name="T28" fmla="*/ 1829 w 2849"/>
                  <a:gd name="T29" fmla="*/ 403 h 969"/>
                  <a:gd name="T30" fmla="*/ 2057 w 2849"/>
                  <a:gd name="T31" fmla="*/ 343 h 969"/>
                  <a:gd name="T32" fmla="*/ 2301 w 2849"/>
                  <a:gd name="T33" fmla="*/ 283 h 969"/>
                  <a:gd name="T34" fmla="*/ 2567 w 2849"/>
                  <a:gd name="T35" fmla="*/ 223 h 969"/>
                  <a:gd name="T36" fmla="*/ 2849 w 2849"/>
                  <a:gd name="T37" fmla="*/ 163 h 969"/>
                  <a:gd name="T38" fmla="*/ 2849 w 2849"/>
                  <a:gd name="T39" fmla="*/ 0 h 969"/>
                  <a:gd name="T40" fmla="*/ 2817 w 2849"/>
                  <a:gd name="T41" fmla="*/ 16 h 969"/>
                  <a:gd name="T42" fmla="*/ 2773 w 2849"/>
                  <a:gd name="T43" fmla="*/ 33 h 969"/>
                  <a:gd name="T44" fmla="*/ 2719 w 2849"/>
                  <a:gd name="T45" fmla="*/ 54 h 969"/>
                  <a:gd name="T46" fmla="*/ 2648 w 2849"/>
                  <a:gd name="T47" fmla="*/ 76 h 969"/>
                  <a:gd name="T48" fmla="*/ 2572 w 2849"/>
                  <a:gd name="T49" fmla="*/ 98 h 969"/>
                  <a:gd name="T50" fmla="*/ 2491 w 2849"/>
                  <a:gd name="T51" fmla="*/ 120 h 969"/>
                  <a:gd name="T52" fmla="*/ 2399 w 2849"/>
                  <a:gd name="T53" fmla="*/ 147 h 969"/>
                  <a:gd name="T54" fmla="*/ 2301 w 2849"/>
                  <a:gd name="T55" fmla="*/ 169 h 969"/>
                  <a:gd name="T56" fmla="*/ 2095 w 2849"/>
                  <a:gd name="T57" fmla="*/ 223 h 969"/>
                  <a:gd name="T58" fmla="*/ 1889 w 2849"/>
                  <a:gd name="T59" fmla="*/ 277 h 969"/>
                  <a:gd name="T60" fmla="*/ 1688 w 2849"/>
                  <a:gd name="T61" fmla="*/ 326 h 969"/>
                  <a:gd name="T62" fmla="*/ 1590 w 2849"/>
                  <a:gd name="T63" fmla="*/ 354 h 969"/>
                  <a:gd name="T64" fmla="*/ 1503 w 2849"/>
                  <a:gd name="T65" fmla="*/ 381 h 969"/>
                  <a:gd name="T66" fmla="*/ 1107 w 2849"/>
                  <a:gd name="T67" fmla="*/ 506 h 969"/>
                  <a:gd name="T68" fmla="*/ 912 w 2849"/>
                  <a:gd name="T69" fmla="*/ 577 h 969"/>
                  <a:gd name="T70" fmla="*/ 727 w 2849"/>
                  <a:gd name="T71" fmla="*/ 647 h 969"/>
                  <a:gd name="T72" fmla="*/ 548 w 2849"/>
                  <a:gd name="T73" fmla="*/ 718 h 969"/>
                  <a:gd name="T74" fmla="*/ 380 w 2849"/>
                  <a:gd name="T75" fmla="*/ 794 h 969"/>
                  <a:gd name="T76" fmla="*/ 228 w 2849"/>
                  <a:gd name="T77" fmla="*/ 876 h 969"/>
                  <a:gd name="T78" fmla="*/ 92 w 2849"/>
                  <a:gd name="T79" fmla="*/ 958 h 969"/>
                  <a:gd name="T80" fmla="*/ 92 w 2849"/>
                  <a:gd name="T81" fmla="*/ 958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71017" name="Freeform 9"/>
              <p:cNvSpPr/>
              <p:nvPr/>
            </p:nvSpPr>
            <p:spPr bwMode="hidden">
              <a:xfrm>
                <a:off x="2748" y="2230"/>
                <a:ext cx="3007" cy="2085"/>
              </a:xfrm>
              <a:custGeom>
                <a:avLst/>
                <a:gdLst>
                  <a:gd name="T0" fmla="*/ 1433 w 3007"/>
                  <a:gd name="T1" fmla="*/ 474 h 2085"/>
                  <a:gd name="T2" fmla="*/ 1460 w 3007"/>
                  <a:gd name="T3" fmla="*/ 528 h 2085"/>
                  <a:gd name="T4" fmla="*/ 1541 w 3007"/>
                  <a:gd name="T5" fmla="*/ 593 h 2085"/>
                  <a:gd name="T6" fmla="*/ 1715 w 3007"/>
                  <a:gd name="T7" fmla="*/ 670 h 2085"/>
                  <a:gd name="T8" fmla="*/ 1927 w 3007"/>
                  <a:gd name="T9" fmla="*/ 735 h 2085"/>
                  <a:gd name="T10" fmla="*/ 2155 w 3007"/>
                  <a:gd name="T11" fmla="*/ 789 h 2085"/>
                  <a:gd name="T12" fmla="*/ 2372 w 3007"/>
                  <a:gd name="T13" fmla="*/ 849 h 2085"/>
                  <a:gd name="T14" fmla="*/ 2551 w 3007"/>
                  <a:gd name="T15" fmla="*/ 920 h 2085"/>
                  <a:gd name="T16" fmla="*/ 2638 w 3007"/>
                  <a:gd name="T17" fmla="*/ 980 h 2085"/>
                  <a:gd name="T18" fmla="*/ 2676 w 3007"/>
                  <a:gd name="T19" fmla="*/ 1029 h 2085"/>
                  <a:gd name="T20" fmla="*/ 2681 w 3007"/>
                  <a:gd name="T21" fmla="*/ 1083 h 2085"/>
                  <a:gd name="T22" fmla="*/ 2665 w 3007"/>
                  <a:gd name="T23" fmla="*/ 1127 h 2085"/>
                  <a:gd name="T24" fmla="*/ 2616 w 3007"/>
                  <a:gd name="T25" fmla="*/ 1170 h 2085"/>
                  <a:gd name="T26" fmla="*/ 2545 w 3007"/>
                  <a:gd name="T27" fmla="*/ 1208 h 2085"/>
                  <a:gd name="T28" fmla="*/ 2448 w 3007"/>
                  <a:gd name="T29" fmla="*/ 1241 h 2085"/>
                  <a:gd name="T30" fmla="*/ 2328 w 3007"/>
                  <a:gd name="T31" fmla="*/ 1274 h 2085"/>
                  <a:gd name="T32" fmla="*/ 2106 w 3007"/>
                  <a:gd name="T33" fmla="*/ 1328 h 2085"/>
                  <a:gd name="T34" fmla="*/ 1742 w 3007"/>
                  <a:gd name="T35" fmla="*/ 1421 h 2085"/>
                  <a:gd name="T36" fmla="*/ 1308 w 3007"/>
                  <a:gd name="T37" fmla="*/ 1540 h 2085"/>
                  <a:gd name="T38" fmla="*/ 820 w 3007"/>
                  <a:gd name="T39" fmla="*/ 1709 h 2085"/>
                  <a:gd name="T40" fmla="*/ 282 w 3007"/>
                  <a:gd name="T41" fmla="*/ 1943 h 2085"/>
                  <a:gd name="T42" fmla="*/ 152 w 3007"/>
                  <a:gd name="T43" fmla="*/ 2085 h 2085"/>
                  <a:gd name="T44" fmla="*/ 386 w 3007"/>
                  <a:gd name="T45" fmla="*/ 1992 h 2085"/>
                  <a:gd name="T46" fmla="*/ 700 w 3007"/>
                  <a:gd name="T47" fmla="*/ 1834 h 2085"/>
                  <a:gd name="T48" fmla="*/ 1064 w 3007"/>
                  <a:gd name="T49" fmla="*/ 1693 h 2085"/>
                  <a:gd name="T50" fmla="*/ 1661 w 3007"/>
                  <a:gd name="T51" fmla="*/ 1497 h 2085"/>
                  <a:gd name="T52" fmla="*/ 1845 w 3007"/>
                  <a:gd name="T53" fmla="*/ 1442 h 2085"/>
                  <a:gd name="T54" fmla="*/ 2252 w 3007"/>
                  <a:gd name="T55" fmla="*/ 1339 h 2085"/>
                  <a:gd name="T56" fmla="*/ 2551 w 3007"/>
                  <a:gd name="T57" fmla="*/ 1263 h 2085"/>
                  <a:gd name="T58" fmla="*/ 2730 w 3007"/>
                  <a:gd name="T59" fmla="*/ 1214 h 2085"/>
                  <a:gd name="T60" fmla="*/ 2876 w 3007"/>
                  <a:gd name="T61" fmla="*/ 1170 h 2085"/>
                  <a:gd name="T62" fmla="*/ 2974 w 3007"/>
                  <a:gd name="T63" fmla="*/ 1132 h 2085"/>
                  <a:gd name="T64" fmla="*/ 3007 w 3007"/>
                  <a:gd name="T65" fmla="*/ 871 h 2085"/>
                  <a:gd name="T66" fmla="*/ 2860 w 3007"/>
                  <a:gd name="T67" fmla="*/ 844 h 2085"/>
                  <a:gd name="T68" fmla="*/ 2670 w 3007"/>
                  <a:gd name="T69" fmla="*/ 806 h 2085"/>
                  <a:gd name="T70" fmla="*/ 2458 w 3007"/>
                  <a:gd name="T71" fmla="*/ 757 h 2085"/>
                  <a:gd name="T72" fmla="*/ 2138 w 3007"/>
                  <a:gd name="T73" fmla="*/ 670 h 2085"/>
                  <a:gd name="T74" fmla="*/ 1959 w 3007"/>
                  <a:gd name="T75" fmla="*/ 604 h 2085"/>
                  <a:gd name="T76" fmla="*/ 1824 w 3007"/>
                  <a:gd name="T77" fmla="*/ 534 h 2085"/>
                  <a:gd name="T78" fmla="*/ 1769 w 3007"/>
                  <a:gd name="T79" fmla="*/ 474 h 2085"/>
                  <a:gd name="T80" fmla="*/ 1753 w 3007"/>
                  <a:gd name="T81" fmla="*/ 436 h 2085"/>
                  <a:gd name="T82" fmla="*/ 1780 w 3007"/>
                  <a:gd name="T83" fmla="*/ 381 h 2085"/>
                  <a:gd name="T84" fmla="*/ 1862 w 3007"/>
                  <a:gd name="T85" fmla="*/ 316 h 2085"/>
                  <a:gd name="T86" fmla="*/ 1986 w 3007"/>
                  <a:gd name="T87" fmla="*/ 267 h 2085"/>
                  <a:gd name="T88" fmla="*/ 2149 w 3007"/>
                  <a:gd name="T89" fmla="*/ 229 h 2085"/>
                  <a:gd name="T90" fmla="*/ 2431 w 3007"/>
                  <a:gd name="T91" fmla="*/ 180 h 2085"/>
                  <a:gd name="T92" fmla="*/ 2827 w 3007"/>
                  <a:gd name="T93" fmla="*/ 125 h 2085"/>
                  <a:gd name="T94" fmla="*/ 3007 w 3007"/>
                  <a:gd name="T95" fmla="*/ 87 h 2085"/>
                  <a:gd name="T96" fmla="*/ 2909 w 3007"/>
                  <a:gd name="T97" fmla="*/ 22 h 2085"/>
                  <a:gd name="T98" fmla="*/ 2676 w 3007"/>
                  <a:gd name="T99" fmla="*/ 66 h 2085"/>
                  <a:gd name="T100" fmla="*/ 2285 w 3007"/>
                  <a:gd name="T101" fmla="*/ 120 h 2085"/>
                  <a:gd name="T102" fmla="*/ 2030 w 3007"/>
                  <a:gd name="T103" fmla="*/ 158 h 2085"/>
                  <a:gd name="T104" fmla="*/ 1791 w 3007"/>
                  <a:gd name="T105" fmla="*/ 202 h 2085"/>
                  <a:gd name="T106" fmla="*/ 1601 w 3007"/>
                  <a:gd name="T107" fmla="*/ 261 h 2085"/>
                  <a:gd name="T108" fmla="*/ 1471 w 3007"/>
                  <a:gd name="T109" fmla="*/ 338 h 2085"/>
                  <a:gd name="T110" fmla="*/ 1438 w 3007"/>
                  <a:gd name="T111" fmla="*/ 387 h 2085"/>
                  <a:gd name="T112" fmla="*/ 1427 w 3007"/>
                  <a:gd name="T113" fmla="*/ 441 h 20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71018" name="Freeform 10"/>
              <p:cNvSpPr/>
              <p:nvPr/>
            </p:nvSpPr>
            <p:spPr bwMode="hidden">
              <a:xfrm>
                <a:off x="4501" y="2317"/>
                <a:ext cx="1248" cy="539"/>
              </a:xfrm>
              <a:custGeom>
                <a:avLst/>
                <a:gdLst>
                  <a:gd name="T0" fmla="*/ 0 w 1248"/>
                  <a:gd name="T1" fmla="*/ 332 h 539"/>
                  <a:gd name="T2" fmla="*/ 0 w 1248"/>
                  <a:gd name="T3" fmla="*/ 360 h 539"/>
                  <a:gd name="T4" fmla="*/ 5 w 1248"/>
                  <a:gd name="T5" fmla="*/ 387 h 539"/>
                  <a:gd name="T6" fmla="*/ 27 w 1248"/>
                  <a:gd name="T7" fmla="*/ 414 h 539"/>
                  <a:gd name="T8" fmla="*/ 54 w 1248"/>
                  <a:gd name="T9" fmla="*/ 436 h 539"/>
                  <a:gd name="T10" fmla="*/ 92 w 1248"/>
                  <a:gd name="T11" fmla="*/ 463 h 539"/>
                  <a:gd name="T12" fmla="*/ 141 w 1248"/>
                  <a:gd name="T13" fmla="*/ 490 h 539"/>
                  <a:gd name="T14" fmla="*/ 195 w 1248"/>
                  <a:gd name="T15" fmla="*/ 512 h 539"/>
                  <a:gd name="T16" fmla="*/ 255 w 1248"/>
                  <a:gd name="T17" fmla="*/ 539 h 539"/>
                  <a:gd name="T18" fmla="*/ 212 w 1248"/>
                  <a:gd name="T19" fmla="*/ 517 h 539"/>
                  <a:gd name="T20" fmla="*/ 179 w 1248"/>
                  <a:gd name="T21" fmla="*/ 490 h 539"/>
                  <a:gd name="T22" fmla="*/ 157 w 1248"/>
                  <a:gd name="T23" fmla="*/ 468 h 539"/>
                  <a:gd name="T24" fmla="*/ 141 w 1248"/>
                  <a:gd name="T25" fmla="*/ 447 h 539"/>
                  <a:gd name="T26" fmla="*/ 136 w 1248"/>
                  <a:gd name="T27" fmla="*/ 425 h 539"/>
                  <a:gd name="T28" fmla="*/ 136 w 1248"/>
                  <a:gd name="T29" fmla="*/ 403 h 539"/>
                  <a:gd name="T30" fmla="*/ 141 w 1248"/>
                  <a:gd name="T31" fmla="*/ 381 h 539"/>
                  <a:gd name="T32" fmla="*/ 157 w 1248"/>
                  <a:gd name="T33" fmla="*/ 365 h 539"/>
                  <a:gd name="T34" fmla="*/ 179 w 1248"/>
                  <a:gd name="T35" fmla="*/ 343 h 539"/>
                  <a:gd name="T36" fmla="*/ 201 w 1248"/>
                  <a:gd name="T37" fmla="*/ 327 h 539"/>
                  <a:gd name="T38" fmla="*/ 266 w 1248"/>
                  <a:gd name="T39" fmla="*/ 294 h 539"/>
                  <a:gd name="T40" fmla="*/ 353 w 1248"/>
                  <a:gd name="T41" fmla="*/ 262 h 539"/>
                  <a:gd name="T42" fmla="*/ 445 w 1248"/>
                  <a:gd name="T43" fmla="*/ 234 h 539"/>
                  <a:gd name="T44" fmla="*/ 554 w 1248"/>
                  <a:gd name="T45" fmla="*/ 213 h 539"/>
                  <a:gd name="T46" fmla="*/ 662 w 1248"/>
                  <a:gd name="T47" fmla="*/ 191 h 539"/>
                  <a:gd name="T48" fmla="*/ 890 w 1248"/>
                  <a:gd name="T49" fmla="*/ 153 h 539"/>
                  <a:gd name="T50" fmla="*/ 993 w 1248"/>
                  <a:gd name="T51" fmla="*/ 136 h 539"/>
                  <a:gd name="T52" fmla="*/ 1091 w 1248"/>
                  <a:gd name="T53" fmla="*/ 120 h 539"/>
                  <a:gd name="T54" fmla="*/ 1178 w 1248"/>
                  <a:gd name="T55" fmla="*/ 115 h 539"/>
                  <a:gd name="T56" fmla="*/ 1248 w 1248"/>
                  <a:gd name="T57" fmla="*/ 104 h 539"/>
                  <a:gd name="T58" fmla="*/ 1248 w 1248"/>
                  <a:gd name="T59" fmla="*/ 0 h 539"/>
                  <a:gd name="T60" fmla="*/ 1161 w 1248"/>
                  <a:gd name="T61" fmla="*/ 22 h 539"/>
                  <a:gd name="T62" fmla="*/ 1069 w 1248"/>
                  <a:gd name="T63" fmla="*/ 38 h 539"/>
                  <a:gd name="T64" fmla="*/ 874 w 1248"/>
                  <a:gd name="T65" fmla="*/ 71 h 539"/>
                  <a:gd name="T66" fmla="*/ 673 w 1248"/>
                  <a:gd name="T67" fmla="*/ 93 h 539"/>
                  <a:gd name="T68" fmla="*/ 483 w 1248"/>
                  <a:gd name="T69" fmla="*/ 126 h 539"/>
                  <a:gd name="T70" fmla="*/ 391 w 1248"/>
                  <a:gd name="T71" fmla="*/ 142 h 539"/>
                  <a:gd name="T72" fmla="*/ 309 w 1248"/>
                  <a:gd name="T73" fmla="*/ 158 h 539"/>
                  <a:gd name="T74" fmla="*/ 228 w 1248"/>
                  <a:gd name="T75" fmla="*/ 180 h 539"/>
                  <a:gd name="T76" fmla="*/ 163 w 1248"/>
                  <a:gd name="T77" fmla="*/ 202 h 539"/>
                  <a:gd name="T78" fmla="*/ 103 w 1248"/>
                  <a:gd name="T79" fmla="*/ 229 h 539"/>
                  <a:gd name="T80" fmla="*/ 54 w 1248"/>
                  <a:gd name="T81" fmla="*/ 256 h 539"/>
                  <a:gd name="T82" fmla="*/ 22 w 1248"/>
                  <a:gd name="T83" fmla="*/ 294 h 539"/>
                  <a:gd name="T84" fmla="*/ 0 w 1248"/>
                  <a:gd name="T85" fmla="*/ 332 h 539"/>
                  <a:gd name="T86" fmla="*/ 0 w 1248"/>
                  <a:gd name="T87" fmla="*/ 332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grpSp>
        <p:sp>
          <p:nvSpPr>
            <p:cNvPr id="171019" name="Freeform 11"/>
            <p:cNvSpPr/>
            <p:nvPr/>
          </p:nvSpPr>
          <p:spPr bwMode="hidden">
            <a:xfrm>
              <a:off x="3322" y="1341"/>
              <a:ext cx="1825" cy="1537"/>
            </a:xfrm>
            <a:custGeom>
              <a:avLst/>
              <a:gdLst>
                <a:gd name="T0" fmla="*/ 982 w 2296"/>
                <a:gd name="T1" fmla="*/ 1061 h 1469"/>
                <a:gd name="T2" fmla="*/ 1357 w 2296"/>
                <a:gd name="T3" fmla="*/ 1012 h 1469"/>
                <a:gd name="T4" fmla="*/ 1666 w 2296"/>
                <a:gd name="T5" fmla="*/ 957 h 1469"/>
                <a:gd name="T6" fmla="*/ 1916 w 2296"/>
                <a:gd name="T7" fmla="*/ 897 h 1469"/>
                <a:gd name="T8" fmla="*/ 2100 w 2296"/>
                <a:gd name="T9" fmla="*/ 832 h 1469"/>
                <a:gd name="T10" fmla="*/ 2220 w 2296"/>
                <a:gd name="T11" fmla="*/ 756 h 1469"/>
                <a:gd name="T12" fmla="*/ 2285 w 2296"/>
                <a:gd name="T13" fmla="*/ 669 h 1469"/>
                <a:gd name="T14" fmla="*/ 2290 w 2296"/>
                <a:gd name="T15" fmla="*/ 560 h 1469"/>
                <a:gd name="T16" fmla="*/ 2241 w 2296"/>
                <a:gd name="T17" fmla="*/ 457 h 1469"/>
                <a:gd name="T18" fmla="*/ 2144 w 2296"/>
                <a:gd name="T19" fmla="*/ 364 h 1469"/>
                <a:gd name="T20" fmla="*/ 2008 w 2296"/>
                <a:gd name="T21" fmla="*/ 277 h 1469"/>
                <a:gd name="T22" fmla="*/ 1769 w 2296"/>
                <a:gd name="T23" fmla="*/ 157 h 1469"/>
                <a:gd name="T24" fmla="*/ 1612 w 2296"/>
                <a:gd name="T25" fmla="*/ 92 h 1469"/>
                <a:gd name="T26" fmla="*/ 1476 w 2296"/>
                <a:gd name="T27" fmla="*/ 43 h 1469"/>
                <a:gd name="T28" fmla="*/ 1384 w 2296"/>
                <a:gd name="T29" fmla="*/ 10 h 1469"/>
                <a:gd name="T30" fmla="*/ 1346 w 2296"/>
                <a:gd name="T31" fmla="*/ 0 h 1469"/>
                <a:gd name="T32" fmla="*/ 1655 w 2296"/>
                <a:gd name="T33" fmla="*/ 119 h 1469"/>
                <a:gd name="T34" fmla="*/ 1948 w 2296"/>
                <a:gd name="T35" fmla="*/ 255 h 1469"/>
                <a:gd name="T36" fmla="*/ 2068 w 2296"/>
                <a:gd name="T37" fmla="*/ 326 h 1469"/>
                <a:gd name="T38" fmla="*/ 2171 w 2296"/>
                <a:gd name="T39" fmla="*/ 402 h 1469"/>
                <a:gd name="T40" fmla="*/ 2236 w 2296"/>
                <a:gd name="T41" fmla="*/ 478 h 1469"/>
                <a:gd name="T42" fmla="*/ 2263 w 2296"/>
                <a:gd name="T43" fmla="*/ 560 h 1469"/>
                <a:gd name="T44" fmla="*/ 2241 w 2296"/>
                <a:gd name="T45" fmla="*/ 636 h 1469"/>
                <a:gd name="T46" fmla="*/ 2171 w 2296"/>
                <a:gd name="T47" fmla="*/ 702 h 1469"/>
                <a:gd name="T48" fmla="*/ 2062 w 2296"/>
                <a:gd name="T49" fmla="*/ 756 h 1469"/>
                <a:gd name="T50" fmla="*/ 1921 w 2296"/>
                <a:gd name="T51" fmla="*/ 800 h 1469"/>
                <a:gd name="T52" fmla="*/ 1748 w 2296"/>
                <a:gd name="T53" fmla="*/ 843 h 1469"/>
                <a:gd name="T54" fmla="*/ 1351 w 2296"/>
                <a:gd name="T55" fmla="*/ 908 h 1469"/>
                <a:gd name="T56" fmla="*/ 923 w 2296"/>
                <a:gd name="T57" fmla="*/ 968 h 1469"/>
                <a:gd name="T58" fmla="*/ 521 w 2296"/>
                <a:gd name="T59" fmla="*/ 1028 h 1469"/>
                <a:gd name="T60" fmla="*/ 353 w 2296"/>
                <a:gd name="T61" fmla="*/ 1066 h 1469"/>
                <a:gd name="T62" fmla="*/ 206 w 2296"/>
                <a:gd name="T63" fmla="*/ 1104 h 1469"/>
                <a:gd name="T64" fmla="*/ 92 w 2296"/>
                <a:gd name="T65" fmla="*/ 1148 h 1469"/>
                <a:gd name="T66" fmla="*/ 22 w 2296"/>
                <a:gd name="T67" fmla="*/ 1202 h 1469"/>
                <a:gd name="T68" fmla="*/ 0 w 2296"/>
                <a:gd name="T69" fmla="*/ 1262 h 1469"/>
                <a:gd name="T70" fmla="*/ 27 w 2296"/>
                <a:gd name="T71" fmla="*/ 1327 h 1469"/>
                <a:gd name="T72" fmla="*/ 98 w 2296"/>
                <a:gd name="T73" fmla="*/ 1382 h 1469"/>
                <a:gd name="T74" fmla="*/ 196 w 2296"/>
                <a:gd name="T75" fmla="*/ 1425 h 1469"/>
                <a:gd name="T76" fmla="*/ 326 w 2296"/>
                <a:gd name="T77" fmla="*/ 1469 h 1469"/>
                <a:gd name="T78" fmla="*/ 217 w 2296"/>
                <a:gd name="T79" fmla="*/ 1414 h 1469"/>
                <a:gd name="T80" fmla="*/ 147 w 2296"/>
                <a:gd name="T81" fmla="*/ 1360 h 1469"/>
                <a:gd name="T82" fmla="*/ 120 w 2296"/>
                <a:gd name="T83" fmla="*/ 1306 h 1469"/>
                <a:gd name="T84" fmla="*/ 141 w 2296"/>
                <a:gd name="T85" fmla="*/ 1257 h 1469"/>
                <a:gd name="T86" fmla="*/ 212 w 2296"/>
                <a:gd name="T87" fmla="*/ 1208 h 1469"/>
                <a:gd name="T88" fmla="*/ 342 w 2296"/>
                <a:gd name="T89" fmla="*/ 1164 h 1469"/>
                <a:gd name="T90" fmla="*/ 527 w 2296"/>
                <a:gd name="T91" fmla="*/ 1121 h 1469"/>
                <a:gd name="T92" fmla="*/ 771 w 2296"/>
                <a:gd name="T93" fmla="*/ 1088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71020" name="Freeform 12"/>
            <p:cNvSpPr/>
            <p:nvPr/>
          </p:nvSpPr>
          <p:spPr bwMode="hidden">
            <a:xfrm>
              <a:off x="0" y="0"/>
              <a:ext cx="5758" cy="1776"/>
            </a:xfrm>
            <a:custGeom>
              <a:avLst/>
              <a:gdLst>
                <a:gd name="T0" fmla="*/ 0 w 5740"/>
                <a:gd name="T1" fmla="*/ 0 h 1906"/>
                <a:gd name="T2" fmla="*/ 0 w 5740"/>
                <a:gd name="T3" fmla="*/ 1906 h 1906"/>
                <a:gd name="T4" fmla="*/ 5740 w 5740"/>
                <a:gd name="T5" fmla="*/ 1906 h 1906"/>
                <a:gd name="T6" fmla="*/ 5740 w 5740"/>
                <a:gd name="T7" fmla="*/ 0 h 1906"/>
                <a:gd name="T8" fmla="*/ 0 w 5740"/>
                <a:gd name="T9" fmla="*/ 0 h 1906"/>
                <a:gd name="T10" fmla="*/ 0 w 5740"/>
                <a:gd name="T11" fmla="*/ 0 h 1906"/>
              </a:gdLst>
              <a:ahLst/>
              <a:cxnLst>
                <a:cxn ang="0">
                  <a:pos x="T0" y="T1"/>
                </a:cxn>
                <a:cxn ang="0">
                  <a:pos x="T2" y="T3"/>
                </a:cxn>
                <a:cxn ang="0">
                  <a:pos x="T4" y="T5"/>
                </a:cxn>
                <a:cxn ang="0">
                  <a:pos x="T6" y="T7"/>
                </a:cxn>
                <a:cxn ang="0">
                  <a:pos x="T8" y="T9"/>
                </a:cxn>
                <a:cxn ang="0">
                  <a:pos x="T10" y="T11"/>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grpSp>
      <p:sp>
        <p:nvSpPr>
          <p:cNvPr id="171021" name="Rectangle 13"/>
          <p:cNvSpPr>
            <a:spLocks noGrp="1" noRot="1" noChangeArrowheads="1"/>
          </p:cNvSpPr>
          <p:nvPr>
            <p:ph type="title"/>
          </p:nvPr>
        </p:nvSpPr>
        <p:spPr bwMode="auto">
          <a:xfrm>
            <a:off x="457200" y="274638"/>
            <a:ext cx="8229600" cy="1143000"/>
          </a:xfrm>
          <a:prstGeom prst="rect">
            <a:avLst/>
          </a:prstGeom>
          <a:noFill/>
          <a:ln>
            <a:noFill/>
          </a:ln>
          <a:effectLst/>
        </p:spPr>
        <p:txBody>
          <a:bodyPr vert="horz" wrap="square" lIns="91440" tIns="45720" rIns="91440" bIns="45720" numCol="1" anchor="ctr" anchorCtr="0" compatLnSpc="1"/>
          <a:lstStyle/>
          <a:p>
            <a:pPr lvl="0"/>
            <a:r>
              <a:rPr lang="zh-CN" altLang="en-US"/>
              <a:t>单击此处编辑母版标题样式</a:t>
            </a:r>
          </a:p>
        </p:txBody>
      </p:sp>
      <p:sp>
        <p:nvSpPr>
          <p:cNvPr id="171022" name="Rectangle 14"/>
          <p:cNvSpPr>
            <a:spLocks noGrp="1" noChangeArrowheads="1"/>
          </p:cNvSpPr>
          <p:nvPr>
            <p:ph type="ftr" sz="quarter" idx="3"/>
          </p:nvPr>
        </p:nvSpPr>
        <p:spPr bwMode="auto">
          <a:xfrm>
            <a:off x="3124200" y="6248400"/>
            <a:ext cx="2895600" cy="476250"/>
          </a:xfrm>
          <a:prstGeom prst="rect">
            <a:avLst/>
          </a:prstGeom>
          <a:noFill/>
          <a:ln>
            <a:noFill/>
          </a:ln>
          <a:effectLst/>
        </p:spPr>
        <p:txBody>
          <a:bodyPr vert="horz" wrap="square" lIns="91440" tIns="45720" rIns="91440" bIns="45720" numCol="1" anchor="b" anchorCtr="0" compatLnSpc="1"/>
          <a:lstStyle>
            <a:lvl1pPr algn="ctr">
              <a:defRPr sz="1200" baseline="0">
                <a:effectLst/>
                <a:latin typeface="Arial" panose="020B0604020202090204" pitchFamily="34" charset="0"/>
                <a:ea typeface="宋体" charset="0"/>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90204" pitchFamily="34" charset="0"/>
              <a:ea typeface="宋体" charset="0"/>
              <a:cs typeface="+mn-cs"/>
            </a:endParaRPr>
          </a:p>
        </p:txBody>
      </p:sp>
      <p:sp>
        <p:nvSpPr>
          <p:cNvPr id="171023" name="Rectangle 15"/>
          <p:cNvSpPr>
            <a:spLocks noGrp="1" noChangeArrowheads="1"/>
          </p:cNvSpPr>
          <p:nvPr>
            <p:ph type="body" idx="1"/>
          </p:nvPr>
        </p:nvSpPr>
        <p:spPr bwMode="auto">
          <a:xfrm>
            <a:off x="457200" y="1600200"/>
            <a:ext cx="8229600" cy="4525963"/>
          </a:xfrm>
          <a:prstGeom prst="rect">
            <a:avLst/>
          </a:prstGeom>
          <a:noFill/>
          <a:ln>
            <a:noFill/>
          </a:ln>
          <a:effectLst/>
        </p:spPr>
        <p:txBody>
          <a:bodyPr vert="horz" wrap="square" lIns="91440" tIns="45720" rIns="91440" bIns="45720" numCol="1" anchor="t" anchorCtr="0" compatLnSpc="1"/>
          <a:lstStyle/>
          <a:p>
            <a:pPr lvl="0"/>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ea typeface="宋体" charset="0"/>
          <a:cs typeface="宋体" charset="0"/>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ea typeface="宋体" charset="0"/>
          <a:cs typeface="宋体" charset="0"/>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ea typeface="宋体" charset="0"/>
          <a:cs typeface="宋体" charset="0"/>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itchFamily="18" charset="0"/>
          <a:ea typeface="宋体" charset="0"/>
          <a:cs typeface="宋体"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ea typeface="宋体" charset="0"/>
          <a:cs typeface="宋体"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ea typeface="宋体" charset="0"/>
          <a:cs typeface="宋体"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ea typeface="宋体" charset="0"/>
          <a:cs typeface="宋体"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ea typeface="宋体" charset="0"/>
          <a:cs typeface="宋体" charset="0"/>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n"/>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70000"/>
        <a:buFont typeface="Wingdings" panose="05000000000000000000" pitchFamily="2" charset="2"/>
        <a:buChar char="n"/>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n"/>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SzPct val="70000"/>
        <a:buFont typeface="Wingdings" panose="05000000000000000000" charset="0"/>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charset="0"/>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charset="0"/>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charset="0"/>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baike.baidu.com/subview/8279040/8203551.htm"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epubs.siam.org/sam-bin/dbq/toclist/SICOMP"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gif"/><Relationship Id="rId1" Type="http://schemas.openxmlformats.org/officeDocument/2006/relationships/slideLayout" Target="../slideLayouts/slideLayout12.xml"/><Relationship Id="rId4" Type="http://schemas.openxmlformats.org/officeDocument/2006/relationships/image" Target="../media/image13.gif"/></Relationships>
</file>

<file path=ppt/slides/_rels/slide33.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gif"/><Relationship Id="rId1" Type="http://schemas.openxmlformats.org/officeDocument/2006/relationships/slideLayout" Target="../slideLayouts/slideLayout12.xml"/><Relationship Id="rId5" Type="http://schemas.openxmlformats.org/officeDocument/2006/relationships/image" Target="../media/image14.wmf"/><Relationship Id="rId4" Type="http://schemas.openxmlformats.org/officeDocument/2006/relationships/image" Target="../media/image13.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ctrTitle" sz="quarter"/>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7200" b="1" i="0" u="none" strike="noStrike" kern="0" cap="none" spc="0" normalizeH="0" baseline="0" noProof="0" dirty="0">
                <a:ln>
                  <a:noFill/>
                </a:ln>
                <a:solidFill>
                  <a:srgbClr val="C00000"/>
                </a:solidFill>
                <a:effectLst>
                  <a:outerShdw blurRad="38100" dist="38100" dir="2700000" algn="tl">
                    <a:srgbClr val="000000"/>
                  </a:outerShdw>
                </a:effectLst>
                <a:uLnTx/>
                <a:uFillTx/>
                <a:latin typeface="+mj-lt"/>
                <a:ea typeface="华文彩云" pitchFamily="2" charset="-122"/>
                <a:cs typeface="+mj-cs"/>
              </a:rPr>
              <a:t>浅谈组合数学</a:t>
            </a:r>
            <a:br>
              <a:rPr kumimoji="0" lang="en-US" altLang="zh-CN" sz="60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br>
            <a:endParaRPr kumimoji="0" lang="en-US" altLang="zh-CN" sz="60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48131" name="Rectangle 3"/>
          <p:cNvSpPr>
            <a:spLocks noGrp="1" noChangeArrowheads="1"/>
          </p:cNvSpPr>
          <p:nvPr>
            <p:ph type="subTitle" sz="quarter" idx="1"/>
          </p:nvPr>
        </p:nvSpPr>
        <p:spPr>
          <a:xfrm>
            <a:off x="1371600" y="3429000"/>
            <a:ext cx="6400800" cy="3095625"/>
          </a:xfrm>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楷体_GB2312" pitchFamily="49" charset="-122"/>
                <a:ea typeface="楷体_GB2312" pitchFamily="49" charset="-122"/>
                <a:cs typeface="+mn-cs"/>
              </a:rPr>
              <a:t>数学与统计学院</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楷体_GB2312" pitchFamily="49" charset="-122"/>
              <a:ea typeface="楷体_GB2312" pitchFamily="49" charset="-122"/>
              <a:cs typeface="+mn-cs"/>
            </a:endParaRPr>
          </a:p>
          <a:p>
            <a:pPr marL="0" marR="0" lvl="0" algn="ctr" defTabSz="914400" rtl="0" eaLnBrk="1" fontAlgn="base" latinLnBrk="0" hangingPunct="1">
              <a:lnSpc>
                <a:spcPct val="100000"/>
              </a:lnSpc>
              <a:spcBef>
                <a:spcPct val="20000"/>
              </a:spcBef>
              <a:buClr>
                <a:schemeClr val="hlink"/>
              </a:buClr>
              <a:buSzPct val="70000"/>
              <a:buFont typeface="Wingdings" panose="05000000000000000000" pitchFamily="2" charset="2"/>
              <a:buNone/>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楷体_GB2312" pitchFamily="49" charset="-122"/>
                <a:ea typeface="楷体_GB2312" pitchFamily="49" charset="-122"/>
                <a:cs typeface="+mn-cs"/>
              </a:rPr>
              <a:t>周岳</a:t>
            </a:r>
          </a:p>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a:p>
            <a:pPr marL="0" marR="0" lvl="0" algn="ctr" defTabSz="914400" rtl="0" eaLnBrk="1" fontAlgn="base" latinLnBrk="0" hangingPunct="1">
              <a:lnSpc>
                <a:spcPct val="100000"/>
              </a:lnSpc>
              <a:spcBef>
                <a:spcPct val="20000"/>
              </a:spcBef>
              <a:buClr>
                <a:schemeClr val="hlink"/>
              </a:buClr>
              <a:buSzPct val="70000"/>
              <a:buFont typeface="Wingdings" panose="05000000000000000000" pitchFamily="2" charset="2"/>
              <a:buNone/>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楷体_GB2312" pitchFamily="49" charset="-122"/>
                <a:ea typeface="楷体_GB2312" pitchFamily="49" charset="-122"/>
                <a:cs typeface="+mn-cs"/>
              </a:rPr>
              <a:t> 2024年7月</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995" y="3068638"/>
            <a:ext cx="8229600" cy="1143000"/>
          </a:xfrm>
        </p:spPr>
        <p:txBody>
          <a:bodyPr/>
          <a:lstStyle/>
          <a:p>
            <a:r>
              <a:rPr lang="zh-CN" altLang="en-US">
                <a:sym typeface="+mn-ea"/>
              </a:rPr>
              <a:t>什么是数学？</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组合数学概述</a:t>
            </a:r>
          </a:p>
        </p:txBody>
      </p:sp>
      <p:sp>
        <p:nvSpPr>
          <p:cNvPr id="4915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现代数学可以分为两大类：一类是研究连续对象的，如分析、方程等；另一类就是研究离散对象的组合数学。</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 </a:t>
            </a: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计算机出现以后，由于离散对象的处理是计算机科学的核心，研究离散对象的组合数学得到迅猛发展</a:t>
            </a:r>
            <a:r>
              <a:rPr kumimoji="0" lang="zh-CN" altLang="en-US" sz="3200" b="0" i="0" u="none" strike="noStrike" kern="0" cap="none" spc="0" normalizeH="0" baseline="0" noProof="0">
                <a:ln>
                  <a:noFill/>
                </a:ln>
                <a:solidFill>
                  <a:srgbClr val="000000"/>
                </a:solidFill>
                <a:effectLst>
                  <a:outerShdw blurRad="38100" dist="38100" dir="2700000" algn="tl">
                    <a:srgbClr val="FFFFFF"/>
                  </a:outerShdw>
                </a:effectLst>
                <a:uLnTx/>
                <a:uFillTx/>
                <a:latin typeface="宋体" pitchFamily="2" charset="-122"/>
                <a:ea typeface="+mn-ea"/>
                <a:cs typeface="+mn-cs"/>
              </a:rPr>
              <a:t>。</a:t>
            </a:r>
            <a:endParaRPr kumimoji="0" lang="en-US" altLang="zh-CN" sz="3200" b="0" i="0" u="none" strike="noStrike" kern="0" cap="none" spc="0" normalizeH="0" baseline="0" noProof="0">
              <a:ln>
                <a:noFill/>
              </a:ln>
              <a:solidFill>
                <a:srgbClr val="000000"/>
              </a:solidFill>
              <a:effectLst>
                <a:outerShdw blurRad="38100" dist="38100" dir="2700000" algn="tl">
                  <a:srgbClr val="FFFFFF"/>
                </a:outerShdw>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en-US" sz="3200" b="0" i="0" u="none" strike="noStrike" kern="0" cap="none" spc="0" normalizeH="0" baseline="0" noProof="0">
              <a:ln>
                <a:noFill/>
              </a:ln>
              <a:solidFill>
                <a:srgbClr val="000000"/>
              </a:solidFill>
              <a:effectLst>
                <a:outerShdw blurRad="38100" dist="38100" dir="2700000" algn="tl">
                  <a:srgbClr val="FFFFFF"/>
                </a:outerShdw>
              </a:effectLst>
              <a:uLnTx/>
              <a:uFillTx/>
              <a:latin typeface="宋体" pitchFamily="2" charset="-122"/>
              <a:ea typeface="+mn-ea"/>
              <a:cs typeface="+mn-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组合数学概述</a:t>
            </a:r>
          </a:p>
        </p:txBody>
      </p:sp>
      <p:sp>
        <p:nvSpPr>
          <p:cNvPr id="5017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吴文俊</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院士指出，每个时代都有它特殊的要求，使得数学出现一个新的面貌，产生一些新的数学分支，组合数学这个新的分支也是在时代的要求下产生的。</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吴文俊</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院士又指出，信息技术很可能会给数学本身带来一场根本性的变革，而组合数学则将显示出它的重要作用。</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  </a:t>
            </a: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Gian-Carlo Rota</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教授曾提出要向中国领导人呼吁，组合数学是计算机软件产业的基础，中国最终一定能成为一个软件大国，但是要实现这个目标的一个突破点就是发展组合数学。</a:t>
            </a:r>
            <a:r>
              <a:rPr kumimoji="0" lang="en-US" altLang="zh-CN" sz="2800" b="0" i="0" u="none" strike="noStrike" kern="0" cap="none" spc="0" normalizeH="0" baseline="0" noProof="0">
                <a:ln>
                  <a:noFill/>
                </a:ln>
                <a:solidFill>
                  <a:srgbClr val="000000"/>
                </a:solidFill>
                <a:effectLst>
                  <a:outerShdw blurRad="38100" dist="38100" dir="2700000" algn="tl">
                    <a:srgbClr val="FFFFFF"/>
                  </a:outerShdw>
                </a:effectLst>
                <a:uLnTx/>
                <a:uFillTx/>
                <a:latin typeface="宋体" pitchFamily="2" charset="-122"/>
                <a:ea typeface="+mn-ea"/>
                <a:cs typeface="+mn-cs"/>
              </a:rPr>
              <a:t> </a:t>
            </a: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None/>
              <a:defRPr/>
            </a:pPr>
            <a:endPar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组合数学的历史</a:t>
            </a:r>
          </a:p>
        </p:txBody>
      </p:sp>
      <p:sp>
        <p:nvSpPr>
          <p:cNvPr id="53251" name="Rectangle 3"/>
          <p:cNvSpPr>
            <a:spLocks noGrp="1" noChangeArrowheads="1"/>
          </p:cNvSpPr>
          <p:nvPr>
            <p:ph sz="half"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传说在公元前</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23</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世纪大禹治水的时候，在黄河支流洛水中，浮现出一个大乌龟，甲上背有</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9</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种花点的图案，人们将图案中的花点数了一下，竞惊奇地发现</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9</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种花点数正巧是</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9</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这</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9</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个数，各数位置的排列也相当奇妙，横的</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3</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行、纵的</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3</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列以及两对角线上各自的数字之和都为</a:t>
            </a: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15</a:t>
            </a:r>
            <a:r>
              <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p>
        </p:txBody>
      </p:sp>
      <p:grpSp>
        <p:nvGrpSpPr>
          <p:cNvPr id="2" name="Group 5"/>
          <p:cNvGrpSpPr/>
          <p:nvPr/>
        </p:nvGrpSpPr>
        <p:grpSpPr>
          <a:xfrm>
            <a:off x="5003800" y="1773238"/>
            <a:ext cx="3313113" cy="2592387"/>
            <a:chOff x="556" y="432"/>
            <a:chExt cx="2632" cy="2276"/>
          </a:xfrm>
        </p:grpSpPr>
        <p:sp>
          <p:nvSpPr>
            <p:cNvPr id="53254" name="AutoShape 6"/>
            <p:cNvSpPr>
              <a:spLocks noChangeArrowheads="1"/>
            </p:cNvSpPr>
            <p:nvPr/>
          </p:nvSpPr>
          <p:spPr bwMode="auto">
            <a:xfrm>
              <a:off x="576" y="479"/>
              <a:ext cx="768" cy="432"/>
            </a:xfrm>
            <a:prstGeom prst="diamond">
              <a:avLst/>
            </a:prstGeom>
            <a:noFill/>
            <a:ln w="57150">
              <a:solidFill>
                <a:schemeClr val="accent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55" name="Oval 7"/>
            <p:cNvSpPr>
              <a:spLocks noChangeArrowheads="1"/>
            </p:cNvSpPr>
            <p:nvPr/>
          </p:nvSpPr>
          <p:spPr bwMode="auto">
            <a:xfrm>
              <a:off x="1296" y="672"/>
              <a:ext cx="68" cy="68"/>
            </a:xfrm>
            <a:prstGeom prst="ellipse">
              <a:avLst/>
            </a:prstGeom>
            <a:solidFill>
              <a:schemeClr val="accent1"/>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56" name="Oval 8"/>
            <p:cNvSpPr>
              <a:spLocks noChangeArrowheads="1"/>
            </p:cNvSpPr>
            <p:nvPr/>
          </p:nvSpPr>
          <p:spPr bwMode="auto">
            <a:xfrm>
              <a:off x="939" y="864"/>
              <a:ext cx="68" cy="68"/>
            </a:xfrm>
            <a:prstGeom prst="ellipse">
              <a:avLst/>
            </a:prstGeom>
            <a:solidFill>
              <a:schemeClr val="accent1"/>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grpSp>
          <p:nvGrpSpPr>
            <p:cNvPr id="11273" name="Group 9"/>
            <p:cNvGrpSpPr/>
            <p:nvPr/>
          </p:nvGrpSpPr>
          <p:grpSpPr>
            <a:xfrm>
              <a:off x="1488" y="672"/>
              <a:ext cx="1056" cy="68"/>
              <a:chOff x="1536" y="672"/>
              <a:chExt cx="1056" cy="68"/>
            </a:xfrm>
          </p:grpSpPr>
          <p:sp>
            <p:nvSpPr>
              <p:cNvPr id="53258" name="Oval 10"/>
              <p:cNvSpPr>
                <a:spLocks noChangeArrowheads="1"/>
              </p:cNvSpPr>
              <p:nvPr/>
            </p:nvSpPr>
            <p:spPr bwMode="auto">
              <a:xfrm>
                <a:off x="1536" y="672"/>
                <a:ext cx="68" cy="68"/>
              </a:xfrm>
              <a:prstGeom prst="ellipse">
                <a:avLst/>
              </a:prstGeom>
              <a:solidFill>
                <a:srgbClr val="993366"/>
              </a:solidFill>
              <a:ln w="2857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59" name="Oval 11"/>
              <p:cNvSpPr>
                <a:spLocks noChangeArrowheads="1"/>
              </p:cNvSpPr>
              <p:nvPr/>
            </p:nvSpPr>
            <p:spPr bwMode="auto">
              <a:xfrm>
                <a:off x="1680" y="672"/>
                <a:ext cx="68" cy="68"/>
              </a:xfrm>
              <a:prstGeom prst="ellipse">
                <a:avLst/>
              </a:prstGeom>
              <a:solidFill>
                <a:srgbClr val="993366"/>
              </a:solidFill>
              <a:ln w="19050">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60" name="Oval 12"/>
              <p:cNvSpPr>
                <a:spLocks noChangeArrowheads="1"/>
              </p:cNvSpPr>
              <p:nvPr/>
            </p:nvSpPr>
            <p:spPr bwMode="auto">
              <a:xfrm>
                <a:off x="1803" y="672"/>
                <a:ext cx="68" cy="68"/>
              </a:xfrm>
              <a:prstGeom prst="ellipse">
                <a:avLst/>
              </a:prstGeom>
              <a:solidFill>
                <a:srgbClr val="993366"/>
              </a:solidFill>
              <a:ln w="19050">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61" name="Oval 13"/>
              <p:cNvSpPr>
                <a:spLocks noChangeArrowheads="1"/>
              </p:cNvSpPr>
              <p:nvPr/>
            </p:nvSpPr>
            <p:spPr bwMode="auto">
              <a:xfrm>
                <a:off x="1919" y="672"/>
                <a:ext cx="67" cy="68"/>
              </a:xfrm>
              <a:prstGeom prst="ellipse">
                <a:avLst/>
              </a:prstGeom>
              <a:solidFill>
                <a:srgbClr val="993366"/>
              </a:solidFill>
              <a:ln w="19050">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62" name="Oval 14"/>
              <p:cNvSpPr>
                <a:spLocks noChangeArrowheads="1"/>
              </p:cNvSpPr>
              <p:nvPr/>
            </p:nvSpPr>
            <p:spPr bwMode="auto">
              <a:xfrm>
                <a:off x="2044" y="672"/>
                <a:ext cx="68" cy="68"/>
              </a:xfrm>
              <a:prstGeom prst="ellipse">
                <a:avLst/>
              </a:prstGeom>
              <a:solidFill>
                <a:srgbClr val="993366"/>
              </a:solidFill>
              <a:ln w="19050">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63" name="Oval 15"/>
              <p:cNvSpPr>
                <a:spLocks noChangeArrowheads="1"/>
              </p:cNvSpPr>
              <p:nvPr/>
            </p:nvSpPr>
            <p:spPr bwMode="auto">
              <a:xfrm>
                <a:off x="2160" y="672"/>
                <a:ext cx="67" cy="68"/>
              </a:xfrm>
              <a:prstGeom prst="ellipse">
                <a:avLst/>
              </a:prstGeom>
              <a:solidFill>
                <a:srgbClr val="993366"/>
              </a:solidFill>
              <a:ln w="19050">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64" name="Oval 16"/>
              <p:cNvSpPr>
                <a:spLocks noChangeArrowheads="1"/>
              </p:cNvSpPr>
              <p:nvPr/>
            </p:nvSpPr>
            <p:spPr bwMode="auto">
              <a:xfrm>
                <a:off x="2284" y="672"/>
                <a:ext cx="68" cy="68"/>
              </a:xfrm>
              <a:prstGeom prst="ellipse">
                <a:avLst/>
              </a:prstGeom>
              <a:solidFill>
                <a:srgbClr val="993366"/>
              </a:solidFill>
              <a:ln w="19050">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65" name="Oval 17"/>
              <p:cNvSpPr>
                <a:spLocks noChangeArrowheads="1"/>
              </p:cNvSpPr>
              <p:nvPr/>
            </p:nvSpPr>
            <p:spPr bwMode="auto">
              <a:xfrm>
                <a:off x="2400" y="672"/>
                <a:ext cx="68" cy="68"/>
              </a:xfrm>
              <a:prstGeom prst="ellipse">
                <a:avLst/>
              </a:prstGeom>
              <a:solidFill>
                <a:srgbClr val="993366"/>
              </a:solidFill>
              <a:ln w="19050">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66" name="Oval 18"/>
              <p:cNvSpPr>
                <a:spLocks noChangeArrowheads="1"/>
              </p:cNvSpPr>
              <p:nvPr/>
            </p:nvSpPr>
            <p:spPr bwMode="auto">
              <a:xfrm>
                <a:off x="2522" y="672"/>
                <a:ext cx="67" cy="68"/>
              </a:xfrm>
              <a:prstGeom prst="ellipse">
                <a:avLst/>
              </a:prstGeom>
              <a:solidFill>
                <a:srgbClr val="993366"/>
              </a:solidFill>
              <a:ln w="19050">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grpSp>
        <p:sp>
          <p:nvSpPr>
            <p:cNvPr id="53267" name="Oval 19"/>
            <p:cNvSpPr>
              <a:spLocks noChangeArrowheads="1"/>
            </p:cNvSpPr>
            <p:nvPr/>
          </p:nvSpPr>
          <p:spPr bwMode="auto">
            <a:xfrm>
              <a:off x="2716" y="864"/>
              <a:ext cx="68" cy="68"/>
            </a:xfrm>
            <a:prstGeom prst="ellipse">
              <a:avLst/>
            </a:prstGeom>
            <a:solidFill>
              <a:srgbClr val="CC99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68" name="Oval 20"/>
            <p:cNvSpPr>
              <a:spLocks noChangeArrowheads="1"/>
            </p:cNvSpPr>
            <p:nvPr/>
          </p:nvSpPr>
          <p:spPr bwMode="auto">
            <a:xfrm>
              <a:off x="3024" y="528"/>
              <a:ext cx="68" cy="68"/>
            </a:xfrm>
            <a:prstGeom prst="ellipse">
              <a:avLst/>
            </a:prstGeom>
            <a:solidFill>
              <a:srgbClr val="CC99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69" name="Oval 21"/>
            <p:cNvSpPr>
              <a:spLocks noChangeArrowheads="1"/>
            </p:cNvSpPr>
            <p:nvPr/>
          </p:nvSpPr>
          <p:spPr bwMode="auto">
            <a:xfrm>
              <a:off x="2928" y="960"/>
              <a:ext cx="68" cy="68"/>
            </a:xfrm>
            <a:prstGeom prst="ellipse">
              <a:avLst/>
            </a:prstGeom>
            <a:solidFill>
              <a:srgbClr val="00CC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70" name="Oval 22"/>
            <p:cNvSpPr>
              <a:spLocks noChangeArrowheads="1"/>
            </p:cNvSpPr>
            <p:nvPr/>
          </p:nvSpPr>
          <p:spPr bwMode="auto">
            <a:xfrm>
              <a:off x="2928" y="1104"/>
              <a:ext cx="68" cy="68"/>
            </a:xfrm>
            <a:prstGeom prst="ellipse">
              <a:avLst/>
            </a:prstGeom>
            <a:solidFill>
              <a:srgbClr val="00CC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71" name="Oval 23"/>
            <p:cNvSpPr>
              <a:spLocks noChangeArrowheads="1"/>
            </p:cNvSpPr>
            <p:nvPr/>
          </p:nvSpPr>
          <p:spPr bwMode="auto">
            <a:xfrm>
              <a:off x="2928" y="1247"/>
              <a:ext cx="68" cy="68"/>
            </a:xfrm>
            <a:prstGeom prst="ellipse">
              <a:avLst/>
            </a:prstGeom>
            <a:solidFill>
              <a:srgbClr val="00CC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72" name="Oval 24"/>
            <p:cNvSpPr>
              <a:spLocks noChangeArrowheads="1"/>
            </p:cNvSpPr>
            <p:nvPr/>
          </p:nvSpPr>
          <p:spPr bwMode="auto">
            <a:xfrm>
              <a:off x="2928" y="1392"/>
              <a:ext cx="68" cy="68"/>
            </a:xfrm>
            <a:prstGeom prst="ellipse">
              <a:avLst/>
            </a:prstGeom>
            <a:solidFill>
              <a:srgbClr val="00CC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73" name="Oval 25"/>
            <p:cNvSpPr>
              <a:spLocks noChangeArrowheads="1"/>
            </p:cNvSpPr>
            <p:nvPr/>
          </p:nvSpPr>
          <p:spPr bwMode="auto">
            <a:xfrm>
              <a:off x="2928" y="1536"/>
              <a:ext cx="68" cy="68"/>
            </a:xfrm>
            <a:prstGeom prst="ellipse">
              <a:avLst/>
            </a:prstGeom>
            <a:solidFill>
              <a:srgbClr val="00CC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74" name="Oval 26"/>
            <p:cNvSpPr>
              <a:spLocks noChangeArrowheads="1"/>
            </p:cNvSpPr>
            <p:nvPr/>
          </p:nvSpPr>
          <p:spPr bwMode="auto">
            <a:xfrm>
              <a:off x="2928" y="1679"/>
              <a:ext cx="68" cy="67"/>
            </a:xfrm>
            <a:prstGeom prst="ellipse">
              <a:avLst/>
            </a:prstGeom>
            <a:solidFill>
              <a:srgbClr val="00CC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75" name="Oval 27"/>
            <p:cNvSpPr>
              <a:spLocks noChangeArrowheads="1"/>
            </p:cNvSpPr>
            <p:nvPr/>
          </p:nvSpPr>
          <p:spPr bwMode="auto">
            <a:xfrm>
              <a:off x="2928" y="1824"/>
              <a:ext cx="68" cy="68"/>
            </a:xfrm>
            <a:prstGeom prst="ellipse">
              <a:avLst/>
            </a:prstGeom>
            <a:solidFill>
              <a:srgbClr val="00CC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76" name="Oval 28"/>
            <p:cNvSpPr>
              <a:spLocks noChangeArrowheads="1"/>
            </p:cNvSpPr>
            <p:nvPr/>
          </p:nvSpPr>
          <p:spPr bwMode="auto">
            <a:xfrm>
              <a:off x="912" y="1200"/>
              <a:ext cx="68" cy="68"/>
            </a:xfrm>
            <a:prstGeom prst="ellipse">
              <a:avLst/>
            </a:prstGeom>
            <a:solidFill>
              <a:srgbClr val="00FF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77" name="Oval 29"/>
            <p:cNvSpPr>
              <a:spLocks noChangeArrowheads="1"/>
            </p:cNvSpPr>
            <p:nvPr/>
          </p:nvSpPr>
          <p:spPr bwMode="auto">
            <a:xfrm>
              <a:off x="912" y="1440"/>
              <a:ext cx="68" cy="68"/>
            </a:xfrm>
            <a:prstGeom prst="ellipse">
              <a:avLst/>
            </a:prstGeom>
            <a:solidFill>
              <a:srgbClr val="00FF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78" name="Oval 30"/>
            <p:cNvSpPr>
              <a:spLocks noChangeArrowheads="1"/>
            </p:cNvSpPr>
            <p:nvPr/>
          </p:nvSpPr>
          <p:spPr bwMode="auto">
            <a:xfrm>
              <a:off x="912" y="1679"/>
              <a:ext cx="68" cy="67"/>
            </a:xfrm>
            <a:prstGeom prst="ellipse">
              <a:avLst/>
            </a:prstGeom>
            <a:solidFill>
              <a:srgbClr val="00FF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79" name="Oval 31"/>
            <p:cNvSpPr>
              <a:spLocks noChangeArrowheads="1"/>
            </p:cNvSpPr>
            <p:nvPr/>
          </p:nvSpPr>
          <p:spPr bwMode="auto">
            <a:xfrm>
              <a:off x="1873" y="2353"/>
              <a:ext cx="67" cy="67"/>
            </a:xfrm>
            <a:prstGeom prst="ellipse">
              <a:avLst/>
            </a:prstGeom>
            <a:solidFill>
              <a:srgbClr val="FF66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80" name="Oval 32"/>
            <p:cNvSpPr>
              <a:spLocks noChangeArrowheads="1"/>
            </p:cNvSpPr>
            <p:nvPr/>
          </p:nvSpPr>
          <p:spPr bwMode="auto">
            <a:xfrm>
              <a:off x="2400" y="2160"/>
              <a:ext cx="68" cy="68"/>
            </a:xfrm>
            <a:prstGeom prst="ellipse">
              <a:avLst/>
            </a:prstGeom>
            <a:solidFill>
              <a:srgbClr val="0033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81" name="Oval 33"/>
            <p:cNvSpPr>
              <a:spLocks noChangeArrowheads="1"/>
            </p:cNvSpPr>
            <p:nvPr/>
          </p:nvSpPr>
          <p:spPr bwMode="auto">
            <a:xfrm>
              <a:off x="2639" y="1921"/>
              <a:ext cx="68" cy="67"/>
            </a:xfrm>
            <a:prstGeom prst="ellipse">
              <a:avLst/>
            </a:prstGeom>
            <a:solidFill>
              <a:srgbClr val="0033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82" name="Oval 34"/>
            <p:cNvSpPr>
              <a:spLocks noChangeArrowheads="1"/>
            </p:cNvSpPr>
            <p:nvPr/>
          </p:nvSpPr>
          <p:spPr bwMode="auto">
            <a:xfrm>
              <a:off x="2639" y="2400"/>
              <a:ext cx="68" cy="68"/>
            </a:xfrm>
            <a:prstGeom prst="ellipse">
              <a:avLst/>
            </a:prstGeom>
            <a:solidFill>
              <a:srgbClr val="0033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83" name="Oval 35"/>
            <p:cNvSpPr>
              <a:spLocks noChangeArrowheads="1"/>
            </p:cNvSpPr>
            <p:nvPr/>
          </p:nvSpPr>
          <p:spPr bwMode="auto">
            <a:xfrm>
              <a:off x="2880" y="2160"/>
              <a:ext cx="68" cy="68"/>
            </a:xfrm>
            <a:prstGeom prst="ellipse">
              <a:avLst/>
            </a:prstGeom>
            <a:solidFill>
              <a:srgbClr val="0033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84" name="Oval 36"/>
            <p:cNvSpPr>
              <a:spLocks noChangeArrowheads="1"/>
            </p:cNvSpPr>
            <p:nvPr/>
          </p:nvSpPr>
          <p:spPr bwMode="auto">
            <a:xfrm>
              <a:off x="2880" y="2640"/>
              <a:ext cx="68" cy="68"/>
            </a:xfrm>
            <a:prstGeom prst="ellipse">
              <a:avLst/>
            </a:prstGeom>
            <a:solidFill>
              <a:srgbClr val="0033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85" name="Oval 37"/>
            <p:cNvSpPr>
              <a:spLocks noChangeArrowheads="1"/>
            </p:cNvSpPr>
            <p:nvPr/>
          </p:nvSpPr>
          <p:spPr bwMode="auto">
            <a:xfrm>
              <a:off x="3120" y="2400"/>
              <a:ext cx="68" cy="68"/>
            </a:xfrm>
            <a:prstGeom prst="ellipse">
              <a:avLst/>
            </a:prstGeom>
            <a:solidFill>
              <a:srgbClr val="0033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86" name="Oval 38"/>
            <p:cNvSpPr>
              <a:spLocks noChangeArrowheads="1"/>
            </p:cNvSpPr>
            <p:nvPr/>
          </p:nvSpPr>
          <p:spPr bwMode="auto">
            <a:xfrm>
              <a:off x="1873" y="1440"/>
              <a:ext cx="67" cy="68"/>
            </a:xfrm>
            <a:prstGeom prst="ellipse">
              <a:avLst/>
            </a:prstGeom>
            <a:solidFill>
              <a:srgbClr val="00FF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87" name="Oval 39"/>
            <p:cNvSpPr>
              <a:spLocks noChangeArrowheads="1"/>
            </p:cNvSpPr>
            <p:nvPr/>
          </p:nvSpPr>
          <p:spPr bwMode="auto">
            <a:xfrm>
              <a:off x="1873" y="1776"/>
              <a:ext cx="67" cy="68"/>
            </a:xfrm>
            <a:prstGeom prst="ellipse">
              <a:avLst/>
            </a:prstGeom>
            <a:solidFill>
              <a:srgbClr val="00FF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88" name="Oval 40"/>
            <p:cNvSpPr>
              <a:spLocks noChangeArrowheads="1"/>
            </p:cNvSpPr>
            <p:nvPr/>
          </p:nvSpPr>
          <p:spPr bwMode="auto">
            <a:xfrm>
              <a:off x="1536" y="1440"/>
              <a:ext cx="68" cy="68"/>
            </a:xfrm>
            <a:prstGeom prst="ellipse">
              <a:avLst/>
            </a:prstGeom>
            <a:solidFill>
              <a:srgbClr val="00FF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89" name="Oval 41"/>
            <p:cNvSpPr>
              <a:spLocks noChangeArrowheads="1"/>
            </p:cNvSpPr>
            <p:nvPr/>
          </p:nvSpPr>
          <p:spPr bwMode="auto">
            <a:xfrm>
              <a:off x="1873" y="1104"/>
              <a:ext cx="67" cy="68"/>
            </a:xfrm>
            <a:prstGeom prst="ellipse">
              <a:avLst/>
            </a:prstGeom>
            <a:solidFill>
              <a:srgbClr val="00FF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90" name="Oval 42"/>
            <p:cNvSpPr>
              <a:spLocks noChangeArrowheads="1"/>
            </p:cNvSpPr>
            <p:nvPr/>
          </p:nvSpPr>
          <p:spPr bwMode="auto">
            <a:xfrm>
              <a:off x="2208" y="1440"/>
              <a:ext cx="68" cy="68"/>
            </a:xfrm>
            <a:prstGeom prst="ellipse">
              <a:avLst/>
            </a:prstGeom>
            <a:solidFill>
              <a:srgbClr val="00FF00"/>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91" name="Oval 43"/>
            <p:cNvSpPr>
              <a:spLocks noChangeArrowheads="1"/>
            </p:cNvSpPr>
            <p:nvPr/>
          </p:nvSpPr>
          <p:spPr bwMode="auto">
            <a:xfrm>
              <a:off x="556" y="652"/>
              <a:ext cx="68" cy="68"/>
            </a:xfrm>
            <a:prstGeom prst="ellipse">
              <a:avLst/>
            </a:prstGeom>
            <a:solidFill>
              <a:schemeClr val="accent1"/>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92" name="Oval 44"/>
            <p:cNvSpPr>
              <a:spLocks noChangeArrowheads="1"/>
            </p:cNvSpPr>
            <p:nvPr/>
          </p:nvSpPr>
          <p:spPr bwMode="auto">
            <a:xfrm>
              <a:off x="939" y="432"/>
              <a:ext cx="68" cy="68"/>
            </a:xfrm>
            <a:prstGeom prst="ellipse">
              <a:avLst/>
            </a:prstGeom>
            <a:solidFill>
              <a:schemeClr val="accent1"/>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93" name="Line 45"/>
            <p:cNvSpPr>
              <a:spLocks noChangeShapeType="1"/>
            </p:cNvSpPr>
            <p:nvPr/>
          </p:nvSpPr>
          <p:spPr bwMode="auto">
            <a:xfrm flipH="1">
              <a:off x="2928" y="2447"/>
              <a:ext cx="192" cy="191"/>
            </a:xfrm>
            <a:prstGeom prst="line">
              <a:avLst/>
            </a:prstGeom>
            <a:noFill/>
            <a:ln w="50800">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94" name="Line 46"/>
            <p:cNvSpPr>
              <a:spLocks noChangeShapeType="1"/>
            </p:cNvSpPr>
            <p:nvPr/>
          </p:nvSpPr>
          <p:spPr bwMode="auto">
            <a:xfrm flipV="1">
              <a:off x="2689" y="2208"/>
              <a:ext cx="241" cy="240"/>
            </a:xfrm>
            <a:prstGeom prst="line">
              <a:avLst/>
            </a:prstGeom>
            <a:noFill/>
            <a:ln w="50800">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95" name="Line 47"/>
            <p:cNvSpPr>
              <a:spLocks noChangeShapeType="1"/>
            </p:cNvSpPr>
            <p:nvPr/>
          </p:nvSpPr>
          <p:spPr bwMode="auto">
            <a:xfrm flipV="1">
              <a:off x="2448" y="1968"/>
              <a:ext cx="241" cy="240"/>
            </a:xfrm>
            <a:prstGeom prst="line">
              <a:avLst/>
            </a:prstGeom>
            <a:noFill/>
            <a:ln w="50800">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96" name="Line 48"/>
            <p:cNvSpPr>
              <a:spLocks noChangeShapeType="1"/>
            </p:cNvSpPr>
            <p:nvPr/>
          </p:nvSpPr>
          <p:spPr bwMode="auto">
            <a:xfrm rot="225998">
              <a:off x="2448" y="2208"/>
              <a:ext cx="480" cy="432"/>
            </a:xfrm>
            <a:prstGeom prst="line">
              <a:avLst/>
            </a:prstGeom>
            <a:noFill/>
            <a:ln w="50800">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97" name="Line 49"/>
            <p:cNvSpPr>
              <a:spLocks noChangeShapeType="1"/>
            </p:cNvSpPr>
            <p:nvPr/>
          </p:nvSpPr>
          <p:spPr bwMode="auto">
            <a:xfrm>
              <a:off x="2689" y="1968"/>
              <a:ext cx="479" cy="479"/>
            </a:xfrm>
            <a:prstGeom prst="line">
              <a:avLst/>
            </a:prstGeom>
            <a:noFill/>
            <a:ln w="50800">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98" name="Line 50"/>
            <p:cNvSpPr>
              <a:spLocks noChangeShapeType="1"/>
            </p:cNvSpPr>
            <p:nvPr/>
          </p:nvSpPr>
          <p:spPr bwMode="auto">
            <a:xfrm flipH="1">
              <a:off x="2737" y="576"/>
              <a:ext cx="335" cy="336"/>
            </a:xfrm>
            <a:prstGeom prst="line">
              <a:avLst/>
            </a:prstGeom>
            <a:noFill/>
            <a:ln w="50800">
              <a:solidFill>
                <a:srgbClr val="CC99FF"/>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299" name="Line 51"/>
            <p:cNvSpPr>
              <a:spLocks noChangeShapeType="1"/>
            </p:cNvSpPr>
            <p:nvPr/>
          </p:nvSpPr>
          <p:spPr bwMode="auto">
            <a:xfrm>
              <a:off x="816" y="2447"/>
              <a:ext cx="0" cy="0"/>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grpSp>
          <p:nvGrpSpPr>
            <p:cNvPr id="11307" name="Group 52"/>
            <p:cNvGrpSpPr/>
            <p:nvPr/>
          </p:nvGrpSpPr>
          <p:grpSpPr>
            <a:xfrm>
              <a:off x="604" y="1968"/>
              <a:ext cx="740" cy="692"/>
              <a:chOff x="768" y="2016"/>
              <a:chExt cx="740" cy="692"/>
            </a:xfrm>
          </p:grpSpPr>
          <p:grpSp>
            <p:nvGrpSpPr>
              <p:cNvPr id="11310" name="Group 53"/>
              <p:cNvGrpSpPr/>
              <p:nvPr/>
            </p:nvGrpSpPr>
            <p:grpSpPr>
              <a:xfrm>
                <a:off x="768" y="2016"/>
                <a:ext cx="740" cy="692"/>
                <a:chOff x="768" y="2016"/>
                <a:chExt cx="740" cy="692"/>
              </a:xfrm>
            </p:grpSpPr>
            <p:sp>
              <p:nvSpPr>
                <p:cNvPr id="53302" name="Oval 54"/>
                <p:cNvSpPr>
                  <a:spLocks noChangeArrowheads="1"/>
                </p:cNvSpPr>
                <p:nvPr/>
              </p:nvSpPr>
              <p:spPr bwMode="auto">
                <a:xfrm>
                  <a:off x="768" y="2448"/>
                  <a:ext cx="68" cy="68"/>
                </a:xfrm>
                <a:prstGeom prst="ellipse">
                  <a:avLst/>
                </a:prstGeom>
                <a:solidFill>
                  <a:srgbClr val="FF00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303" name="Oval 55"/>
                <p:cNvSpPr>
                  <a:spLocks noChangeArrowheads="1"/>
                </p:cNvSpPr>
                <p:nvPr/>
              </p:nvSpPr>
              <p:spPr bwMode="auto">
                <a:xfrm>
                  <a:off x="1055" y="2159"/>
                  <a:ext cx="68" cy="68"/>
                </a:xfrm>
                <a:prstGeom prst="ellipse">
                  <a:avLst/>
                </a:prstGeom>
                <a:solidFill>
                  <a:srgbClr val="FF00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304" name="Oval 56"/>
                <p:cNvSpPr>
                  <a:spLocks noChangeArrowheads="1"/>
                </p:cNvSpPr>
                <p:nvPr/>
              </p:nvSpPr>
              <p:spPr bwMode="auto">
                <a:xfrm>
                  <a:off x="912" y="2304"/>
                  <a:ext cx="68" cy="68"/>
                </a:xfrm>
                <a:prstGeom prst="ellipse">
                  <a:avLst/>
                </a:prstGeom>
                <a:solidFill>
                  <a:srgbClr val="FF00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305" name="Oval 57"/>
                <p:cNvSpPr>
                  <a:spLocks noChangeArrowheads="1"/>
                </p:cNvSpPr>
                <p:nvPr/>
              </p:nvSpPr>
              <p:spPr bwMode="auto">
                <a:xfrm>
                  <a:off x="1200" y="2016"/>
                  <a:ext cx="68" cy="68"/>
                </a:xfrm>
                <a:prstGeom prst="ellipse">
                  <a:avLst/>
                </a:prstGeom>
                <a:solidFill>
                  <a:srgbClr val="FF00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306" name="Oval 58"/>
                <p:cNvSpPr>
                  <a:spLocks noChangeArrowheads="1"/>
                </p:cNvSpPr>
                <p:nvPr/>
              </p:nvSpPr>
              <p:spPr bwMode="auto">
                <a:xfrm>
                  <a:off x="1008" y="2640"/>
                  <a:ext cx="68" cy="68"/>
                </a:xfrm>
                <a:prstGeom prst="ellipse">
                  <a:avLst/>
                </a:prstGeom>
                <a:solidFill>
                  <a:srgbClr val="FF00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307" name="Oval 59"/>
                <p:cNvSpPr>
                  <a:spLocks noChangeArrowheads="1"/>
                </p:cNvSpPr>
                <p:nvPr/>
              </p:nvSpPr>
              <p:spPr bwMode="auto">
                <a:xfrm>
                  <a:off x="1153" y="2497"/>
                  <a:ext cx="68" cy="68"/>
                </a:xfrm>
                <a:prstGeom prst="ellipse">
                  <a:avLst/>
                </a:prstGeom>
                <a:solidFill>
                  <a:srgbClr val="FF00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308" name="Oval 60"/>
                <p:cNvSpPr>
                  <a:spLocks noChangeArrowheads="1"/>
                </p:cNvSpPr>
                <p:nvPr/>
              </p:nvSpPr>
              <p:spPr bwMode="auto">
                <a:xfrm>
                  <a:off x="1296" y="2352"/>
                  <a:ext cx="68" cy="68"/>
                </a:xfrm>
                <a:prstGeom prst="ellipse">
                  <a:avLst/>
                </a:prstGeom>
                <a:solidFill>
                  <a:srgbClr val="FF00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309" name="Oval 61"/>
                <p:cNvSpPr>
                  <a:spLocks noChangeArrowheads="1"/>
                </p:cNvSpPr>
                <p:nvPr/>
              </p:nvSpPr>
              <p:spPr bwMode="auto">
                <a:xfrm>
                  <a:off x="1440" y="2208"/>
                  <a:ext cx="68" cy="68"/>
                </a:xfrm>
                <a:prstGeom prst="ellipse">
                  <a:avLst/>
                </a:prstGeom>
                <a:solidFill>
                  <a:srgbClr val="FF00FF"/>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grpSp>
          <p:grpSp>
            <p:nvGrpSpPr>
              <p:cNvPr id="11311" name="Group 62"/>
              <p:cNvGrpSpPr/>
              <p:nvPr/>
            </p:nvGrpSpPr>
            <p:grpSpPr>
              <a:xfrm rot="62263">
                <a:off x="816" y="2064"/>
                <a:ext cx="672" cy="624"/>
                <a:chOff x="816" y="2064"/>
                <a:chExt cx="672" cy="624"/>
              </a:xfrm>
            </p:grpSpPr>
            <p:sp>
              <p:nvSpPr>
                <p:cNvPr id="53311" name="Line 63"/>
                <p:cNvSpPr>
                  <a:spLocks noChangeShapeType="1"/>
                </p:cNvSpPr>
                <p:nvPr/>
              </p:nvSpPr>
              <p:spPr bwMode="auto">
                <a:xfrm>
                  <a:off x="1095" y="2201"/>
                  <a:ext cx="241" cy="192"/>
                </a:xfrm>
                <a:prstGeom prst="line">
                  <a:avLst/>
                </a:prstGeom>
                <a:noFill/>
                <a:ln w="38100">
                  <a:solidFill>
                    <a:srgbClr val="FF00FF"/>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312" name="Line 64"/>
                <p:cNvSpPr>
                  <a:spLocks noChangeShapeType="1"/>
                </p:cNvSpPr>
                <p:nvPr/>
              </p:nvSpPr>
              <p:spPr bwMode="auto">
                <a:xfrm>
                  <a:off x="958" y="2341"/>
                  <a:ext cx="242" cy="199"/>
                </a:xfrm>
                <a:prstGeom prst="line">
                  <a:avLst/>
                </a:prstGeom>
                <a:noFill/>
                <a:ln w="38100">
                  <a:solidFill>
                    <a:srgbClr val="FF00FF"/>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313" name="Line 65"/>
                <p:cNvSpPr>
                  <a:spLocks noChangeShapeType="1"/>
                </p:cNvSpPr>
                <p:nvPr/>
              </p:nvSpPr>
              <p:spPr bwMode="auto">
                <a:xfrm>
                  <a:off x="816" y="2496"/>
                  <a:ext cx="240" cy="192"/>
                </a:xfrm>
                <a:prstGeom prst="line">
                  <a:avLst/>
                </a:prstGeom>
                <a:noFill/>
                <a:ln w="38100">
                  <a:solidFill>
                    <a:srgbClr val="FF00FF"/>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314" name="Line 66"/>
                <p:cNvSpPr>
                  <a:spLocks noChangeShapeType="1"/>
                </p:cNvSpPr>
                <p:nvPr/>
              </p:nvSpPr>
              <p:spPr bwMode="auto">
                <a:xfrm>
                  <a:off x="1239" y="2062"/>
                  <a:ext cx="242" cy="192"/>
                </a:xfrm>
                <a:prstGeom prst="line">
                  <a:avLst/>
                </a:prstGeom>
                <a:noFill/>
                <a:ln w="38100">
                  <a:solidFill>
                    <a:srgbClr val="FF00FF"/>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315" name="Line 67"/>
                <p:cNvSpPr>
                  <a:spLocks noChangeShapeType="1"/>
                </p:cNvSpPr>
                <p:nvPr/>
              </p:nvSpPr>
              <p:spPr bwMode="auto">
                <a:xfrm flipH="1">
                  <a:off x="813" y="2062"/>
                  <a:ext cx="435" cy="436"/>
                </a:xfrm>
                <a:prstGeom prst="line">
                  <a:avLst/>
                </a:prstGeom>
                <a:noFill/>
                <a:ln w="38100">
                  <a:solidFill>
                    <a:srgbClr val="FF00FF"/>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316" name="Line 68"/>
                <p:cNvSpPr>
                  <a:spLocks noChangeShapeType="1"/>
                </p:cNvSpPr>
                <p:nvPr/>
              </p:nvSpPr>
              <p:spPr bwMode="auto">
                <a:xfrm flipH="1">
                  <a:off x="1049" y="2245"/>
                  <a:ext cx="435" cy="443"/>
                </a:xfrm>
                <a:prstGeom prst="line">
                  <a:avLst/>
                </a:prstGeom>
                <a:noFill/>
                <a:ln w="38100">
                  <a:solidFill>
                    <a:srgbClr val="FF00FF"/>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grpSp>
        </p:grpSp>
        <p:sp>
          <p:nvSpPr>
            <p:cNvPr id="53317" name="Line 69"/>
            <p:cNvSpPr>
              <a:spLocks noChangeShapeType="1"/>
            </p:cNvSpPr>
            <p:nvPr/>
          </p:nvSpPr>
          <p:spPr bwMode="auto">
            <a:xfrm>
              <a:off x="1921" y="1153"/>
              <a:ext cx="0" cy="672"/>
            </a:xfrm>
            <a:prstGeom prst="line">
              <a:avLst/>
            </a:prstGeom>
            <a:noFill/>
            <a:ln w="31750">
              <a:solidFill>
                <a:schemeClr val="accent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53318" name="Line 70"/>
            <p:cNvSpPr>
              <a:spLocks noChangeShapeType="1"/>
            </p:cNvSpPr>
            <p:nvPr/>
          </p:nvSpPr>
          <p:spPr bwMode="auto">
            <a:xfrm>
              <a:off x="1584" y="1488"/>
              <a:ext cx="672" cy="0"/>
            </a:xfrm>
            <a:prstGeom prst="line">
              <a:avLst/>
            </a:prstGeom>
            <a:noFill/>
            <a:ln w="31750">
              <a:solidFill>
                <a:schemeClr val="accent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grpSp>
      <p:sp>
        <p:nvSpPr>
          <p:cNvPr id="11269" name="Text Box 71"/>
          <p:cNvSpPr txBox="1"/>
          <p:nvPr/>
        </p:nvSpPr>
        <p:spPr>
          <a:xfrm>
            <a:off x="5738813" y="4941888"/>
            <a:ext cx="3405187" cy="366712"/>
          </a:xfrm>
          <a:prstGeom prst="rect">
            <a:avLst/>
          </a:prstGeom>
          <a:noFill/>
          <a:ln w="9525">
            <a:noFill/>
          </a:ln>
        </p:spPr>
        <p:txBody>
          <a:bodyPr>
            <a:spAutoFit/>
          </a:bodyPr>
          <a:lstStyle/>
          <a:p>
            <a:r>
              <a:rPr lang="zh-CN" altLang="en-US" sz="1800" baseline="0" dirty="0">
                <a:latin typeface="Garamond" pitchFamily="18" charset="0"/>
              </a:rPr>
              <a:t>上图为三阶洛书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幻方问题</a:t>
            </a:r>
          </a:p>
        </p:txBody>
      </p:sp>
      <p:sp>
        <p:nvSpPr>
          <p:cNvPr id="91139" name="Rectangle 3"/>
          <p:cNvSpPr>
            <a:spLocks noGrp="1" noChangeArrowheads="1"/>
          </p:cNvSpPr>
          <p:nvPr>
            <p:ph idx="1"/>
          </p:nvPr>
        </p:nvSpPr>
        <p:spPr>
          <a:xfrm>
            <a:off x="755650" y="1412875"/>
            <a:ext cx="7524750" cy="35575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组合数学中有许多象幻方这样精巧的结构。</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1977</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年美国旅行者</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号、</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2</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号宇宙飞船就带上了幻方以作为人类智慧的信号。</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grpSp>
        <p:nvGrpSpPr>
          <p:cNvPr id="1029" name="Group 4"/>
          <p:cNvGrpSpPr/>
          <p:nvPr/>
        </p:nvGrpSpPr>
        <p:grpSpPr>
          <a:xfrm>
            <a:off x="1042988" y="3716338"/>
            <a:ext cx="2682875" cy="2665412"/>
            <a:chOff x="3744" y="288"/>
            <a:chExt cx="1690" cy="2016"/>
          </a:xfrm>
        </p:grpSpPr>
        <p:sp>
          <p:nvSpPr>
            <p:cNvPr id="1034" name="Text Box 5"/>
            <p:cNvSpPr txBox="1"/>
            <p:nvPr/>
          </p:nvSpPr>
          <p:spPr>
            <a:xfrm>
              <a:off x="5088" y="816"/>
              <a:ext cx="346" cy="1200"/>
            </a:xfrm>
            <a:prstGeom prst="rect">
              <a:avLst/>
            </a:prstGeom>
            <a:noFill/>
            <a:ln w="9525">
              <a:noFill/>
            </a:ln>
          </p:spPr>
          <p:txBody>
            <a:bodyPr vert="eaVert">
              <a:spAutoFit/>
            </a:bodyPr>
            <a:lstStyle/>
            <a:p>
              <a:pPr>
                <a:spcBef>
                  <a:spcPct val="50000"/>
                </a:spcBef>
              </a:pPr>
              <a:endParaRPr lang="zh-CN" altLang="en-US" sz="2400" baseline="0" dirty="0">
                <a:latin typeface="Times New Roman" panose="02020603050405020304" pitchFamily="18" charset="0"/>
              </a:endParaRPr>
            </a:p>
          </p:txBody>
        </p:sp>
        <p:grpSp>
          <p:nvGrpSpPr>
            <p:cNvPr id="1035" name="Group 6"/>
            <p:cNvGrpSpPr/>
            <p:nvPr/>
          </p:nvGrpSpPr>
          <p:grpSpPr>
            <a:xfrm>
              <a:off x="3744" y="288"/>
              <a:ext cx="1546" cy="2016"/>
              <a:chOff x="3744" y="288"/>
              <a:chExt cx="1546" cy="2016"/>
            </a:xfrm>
          </p:grpSpPr>
          <p:sp>
            <p:nvSpPr>
              <p:cNvPr id="1036" name="Text Box 7"/>
              <p:cNvSpPr txBox="1"/>
              <p:nvPr/>
            </p:nvSpPr>
            <p:spPr>
              <a:xfrm>
                <a:off x="4944" y="862"/>
                <a:ext cx="346" cy="1442"/>
              </a:xfrm>
              <a:prstGeom prst="rect">
                <a:avLst/>
              </a:prstGeom>
              <a:noFill/>
              <a:ln w="9525">
                <a:noFill/>
              </a:ln>
            </p:spPr>
            <p:txBody>
              <a:bodyPr vert="eaVert">
                <a:spAutoFit/>
              </a:bodyPr>
              <a:lstStyle/>
              <a:p>
                <a:pPr>
                  <a:spcBef>
                    <a:spcPct val="50000"/>
                  </a:spcBef>
                </a:pPr>
                <a:r>
                  <a:rPr lang="zh-CN" altLang="en-US" sz="2400" baseline="0" dirty="0">
                    <a:latin typeface="华文隶书" pitchFamily="2" charset="-122"/>
                    <a:ea typeface="华文隶书" pitchFamily="2" charset="-122"/>
                  </a:rPr>
                  <a:t>神</a:t>
                </a:r>
                <a:r>
                  <a:rPr lang="en-US" altLang="zh-CN" sz="2400" baseline="0" dirty="0">
                    <a:latin typeface="华文隶书" pitchFamily="2" charset="-122"/>
                    <a:ea typeface="华文隶书" pitchFamily="2" charset="-122"/>
                  </a:rPr>
                  <a:t> </a:t>
                </a:r>
                <a:r>
                  <a:rPr lang="zh-CN" altLang="en-US" sz="2400" baseline="0" dirty="0">
                    <a:latin typeface="华文隶书" pitchFamily="2" charset="-122"/>
                    <a:ea typeface="华文隶书" pitchFamily="2" charset="-122"/>
                  </a:rPr>
                  <a:t>农</a:t>
                </a:r>
                <a:r>
                  <a:rPr lang="en-US" altLang="zh-CN" sz="2400" baseline="0" dirty="0">
                    <a:latin typeface="华文隶书" pitchFamily="2" charset="-122"/>
                    <a:ea typeface="华文隶书" pitchFamily="2" charset="-122"/>
                  </a:rPr>
                  <a:t> </a:t>
                </a:r>
                <a:r>
                  <a:rPr lang="zh-CN" altLang="en-US" sz="2400" baseline="0" dirty="0">
                    <a:latin typeface="华文隶书" pitchFamily="2" charset="-122"/>
                    <a:ea typeface="华文隶书" pitchFamily="2" charset="-122"/>
                  </a:rPr>
                  <a:t>幻</a:t>
                </a:r>
                <a:r>
                  <a:rPr lang="en-US" altLang="zh-CN" sz="2400" baseline="0" dirty="0">
                    <a:latin typeface="华文隶书" pitchFamily="2" charset="-122"/>
                    <a:ea typeface="华文隶书" pitchFamily="2" charset="-122"/>
                  </a:rPr>
                  <a:t> </a:t>
                </a:r>
                <a:r>
                  <a:rPr lang="zh-CN" altLang="en-US" sz="2400" baseline="0" dirty="0">
                    <a:latin typeface="华文隶书" pitchFamily="2" charset="-122"/>
                    <a:ea typeface="华文隶书" pitchFamily="2" charset="-122"/>
                  </a:rPr>
                  <a:t>方</a:t>
                </a:r>
              </a:p>
            </p:txBody>
          </p:sp>
          <p:graphicFrame>
            <p:nvGraphicFramePr>
              <p:cNvPr id="1026" name="Object 8"/>
              <p:cNvGraphicFramePr>
                <a:graphicFrameLocks/>
              </p:cNvGraphicFramePr>
              <p:nvPr/>
            </p:nvGraphicFramePr>
            <p:xfrm>
              <a:off x="3744" y="720"/>
              <a:ext cx="1116" cy="1344"/>
            </p:xfrm>
            <a:graphic>
              <a:graphicData uri="http://schemas.openxmlformats.org/presentationml/2006/ole">
                <mc:AlternateContent xmlns:mc="http://schemas.openxmlformats.org/markup-compatibility/2006">
                  <mc:Choice xmlns:v="urn:schemas-microsoft-com:vml" Requires="v">
                    <p:oleObj r:id="rId2" imgW="558558" imgH="672808" progId="Equation.DSMT4">
                      <p:embed/>
                    </p:oleObj>
                  </mc:Choice>
                  <mc:Fallback>
                    <p:oleObj r:id="rId2" imgW="558558" imgH="672808" progId="Equation.DSMT4">
                      <p:embed/>
                      <p:pic>
                        <p:nvPicPr>
                          <p:cNvPr id="0" name="Picture 4" descr="image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4" y="720"/>
                            <a:ext cx="1116" cy="1344"/>
                          </a:xfrm>
                          <a:prstGeom prst="rect">
                            <a:avLst/>
                          </a:prstGeom>
                          <a:solidFill>
                            <a:srgbClr val="0099CC">
                              <a:alpha val="50194"/>
                            </a:srgbClr>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37" name="Text Box 9"/>
              <p:cNvSpPr txBox="1"/>
              <p:nvPr/>
            </p:nvSpPr>
            <p:spPr>
              <a:xfrm>
                <a:off x="3984" y="288"/>
                <a:ext cx="1248" cy="346"/>
              </a:xfrm>
              <a:prstGeom prst="rect">
                <a:avLst/>
              </a:prstGeom>
              <a:noFill/>
              <a:ln w="9525">
                <a:noFill/>
              </a:ln>
            </p:spPr>
            <p:txBody>
              <a:bodyPr>
                <a:spAutoFit/>
              </a:bodyPr>
              <a:lstStyle/>
              <a:p>
                <a:pPr>
                  <a:spcBef>
                    <a:spcPct val="50000"/>
                  </a:spcBef>
                </a:pPr>
                <a:r>
                  <a:rPr lang="en-US" altLang="zh-CN" sz="2400" b="1" baseline="0" dirty="0">
                    <a:latin typeface="Times New Roman" panose="02020603050405020304" pitchFamily="18" charset="0"/>
                  </a:rPr>
                  <a:t>2200BC</a:t>
                </a:r>
                <a:endParaRPr lang="en-US" altLang="zh-CN" sz="2400" b="1" baseline="0" dirty="0">
                  <a:latin typeface="Times New Roman" panose="02020603050405020304" pitchFamily="18" charset="0"/>
                  <a:ea typeface="隶书" pitchFamily="49" charset="-122"/>
                </a:endParaRPr>
              </a:p>
            </p:txBody>
          </p:sp>
        </p:grpSp>
      </p:grpSp>
      <p:grpSp>
        <p:nvGrpSpPr>
          <p:cNvPr id="1030" name="Group 10"/>
          <p:cNvGrpSpPr/>
          <p:nvPr/>
        </p:nvGrpSpPr>
        <p:grpSpPr>
          <a:xfrm>
            <a:off x="5364163" y="3789363"/>
            <a:ext cx="2438400" cy="2497137"/>
            <a:chOff x="3648" y="2304"/>
            <a:chExt cx="1536" cy="2118"/>
          </a:xfrm>
        </p:grpSpPr>
        <p:sp>
          <p:nvSpPr>
            <p:cNvPr id="1032" name="Text Box 11"/>
            <p:cNvSpPr txBox="1"/>
            <p:nvPr/>
          </p:nvSpPr>
          <p:spPr>
            <a:xfrm>
              <a:off x="3648" y="2641"/>
              <a:ext cx="1536" cy="1781"/>
            </a:xfrm>
            <a:prstGeom prst="rect">
              <a:avLst/>
            </a:prstGeom>
            <a:solidFill>
              <a:srgbClr val="FF6600"/>
            </a:solidFill>
            <a:ln w="9525">
              <a:noFill/>
            </a:ln>
          </p:spPr>
          <p:txBody>
            <a:bodyPr>
              <a:spAutoFit/>
            </a:bodyPr>
            <a:lstStyle/>
            <a:p>
              <a:pPr>
                <a:spcBef>
                  <a:spcPct val="50000"/>
                </a:spcBef>
              </a:pPr>
              <a:r>
                <a:rPr lang="en-US" altLang="zh-CN" sz="2400" baseline="0" dirty="0">
                  <a:solidFill>
                    <a:srgbClr val="FF00FF"/>
                  </a:solidFill>
                  <a:latin typeface="Times New Roman" panose="02020603050405020304" pitchFamily="18" charset="0"/>
                </a:rPr>
                <a:t>  </a:t>
              </a:r>
              <a:r>
                <a:rPr lang="en-US" altLang="zh-CN" sz="2400" b="1" baseline="0" dirty="0">
                  <a:latin typeface="Times New Roman" panose="02020603050405020304" pitchFamily="18" charset="0"/>
                </a:rPr>
                <a:t>1     15    14     4</a:t>
              </a:r>
            </a:p>
            <a:p>
              <a:pPr>
                <a:spcBef>
                  <a:spcPct val="50000"/>
                </a:spcBef>
              </a:pPr>
              <a:r>
                <a:rPr lang="en-US" altLang="zh-CN" sz="2400" b="1" baseline="0" dirty="0">
                  <a:latin typeface="Times New Roman" panose="02020603050405020304" pitchFamily="18" charset="0"/>
                </a:rPr>
                <a:t>12       6      7     9</a:t>
              </a:r>
            </a:p>
            <a:p>
              <a:pPr>
                <a:spcBef>
                  <a:spcPct val="50000"/>
                </a:spcBef>
              </a:pPr>
              <a:r>
                <a:rPr lang="en-US" altLang="zh-CN" sz="2400" b="1" baseline="0" dirty="0">
                  <a:latin typeface="Times New Roman" panose="02020603050405020304" pitchFamily="18" charset="0"/>
                </a:rPr>
                <a:t>  8     10    11     5</a:t>
              </a:r>
            </a:p>
            <a:p>
              <a:pPr>
                <a:spcBef>
                  <a:spcPct val="50000"/>
                </a:spcBef>
              </a:pPr>
              <a:r>
                <a:rPr lang="en-US" altLang="zh-CN" sz="2400" b="1" baseline="0" dirty="0">
                  <a:latin typeface="Times New Roman" panose="02020603050405020304" pitchFamily="18" charset="0"/>
                </a:rPr>
                <a:t>13       3      2   16</a:t>
              </a:r>
              <a:r>
                <a:rPr lang="en-US" altLang="zh-CN" sz="2400" baseline="0" dirty="0">
                  <a:solidFill>
                    <a:srgbClr val="FF00FF"/>
                  </a:solidFill>
                  <a:latin typeface="Times New Roman" panose="02020603050405020304" pitchFamily="18" charset="0"/>
                </a:rPr>
                <a:t> </a:t>
              </a:r>
            </a:p>
          </p:txBody>
        </p:sp>
        <p:sp>
          <p:nvSpPr>
            <p:cNvPr id="1033" name="Text Box 12"/>
            <p:cNvSpPr txBox="1"/>
            <p:nvPr/>
          </p:nvSpPr>
          <p:spPr>
            <a:xfrm>
              <a:off x="4080" y="2304"/>
              <a:ext cx="768" cy="388"/>
            </a:xfrm>
            <a:prstGeom prst="rect">
              <a:avLst/>
            </a:prstGeom>
            <a:noFill/>
            <a:ln w="9525">
              <a:noFill/>
            </a:ln>
          </p:spPr>
          <p:txBody>
            <a:bodyPr>
              <a:spAutoFit/>
            </a:bodyPr>
            <a:lstStyle/>
            <a:p>
              <a:pPr>
                <a:spcBef>
                  <a:spcPct val="50000"/>
                </a:spcBef>
              </a:pPr>
              <a:r>
                <a:rPr lang="en-US" altLang="zh-CN" sz="2400" baseline="0" dirty="0">
                  <a:latin typeface="Times New Roman" panose="02020603050405020304" pitchFamily="18" charset="0"/>
                  <a:ea typeface="隶书" pitchFamily="49" charset="-122"/>
                </a:rPr>
                <a:t>15</a:t>
              </a:r>
              <a:r>
                <a:rPr lang="zh-CN" altLang="en-US" sz="2400" baseline="0" dirty="0">
                  <a:latin typeface="Times New Roman" panose="02020603050405020304" pitchFamily="18" charset="0"/>
                  <a:ea typeface="隶书" pitchFamily="49" charset="-122"/>
                </a:rPr>
                <a:t>世纪</a:t>
              </a:r>
            </a:p>
          </p:txBody>
        </p:sp>
      </p:grpSp>
      <p:sp>
        <p:nvSpPr>
          <p:cNvPr id="1031" name="Text Box 13"/>
          <p:cNvSpPr txBox="1"/>
          <p:nvPr/>
        </p:nvSpPr>
        <p:spPr>
          <a:xfrm>
            <a:off x="8126413" y="4365625"/>
            <a:ext cx="549275" cy="1943100"/>
          </a:xfrm>
          <a:prstGeom prst="rect">
            <a:avLst/>
          </a:prstGeom>
          <a:noFill/>
          <a:ln w="9525">
            <a:noFill/>
          </a:ln>
        </p:spPr>
        <p:txBody>
          <a:bodyPr vert="eaVert">
            <a:spAutoFit/>
          </a:bodyPr>
          <a:lstStyle/>
          <a:p>
            <a:pPr>
              <a:spcBef>
                <a:spcPct val="50000"/>
              </a:spcBef>
            </a:pPr>
            <a:r>
              <a:rPr lang="zh-CN" altLang="en-US" sz="2400" baseline="0" dirty="0">
                <a:latin typeface="Garamond" pitchFamily="18" charset="0"/>
              </a:rPr>
              <a:t>４</a:t>
            </a:r>
            <a:r>
              <a:rPr lang="en-US" altLang="zh-CN" sz="2400" baseline="0" dirty="0">
                <a:latin typeface="Garamond" pitchFamily="18" charset="0"/>
              </a:rPr>
              <a:t> </a:t>
            </a:r>
            <a:r>
              <a:rPr lang="zh-CN" altLang="en-US" sz="2400" baseline="0" dirty="0">
                <a:latin typeface="Garamond" pitchFamily="18" charset="0"/>
              </a:rPr>
              <a:t>阶</a:t>
            </a:r>
            <a:r>
              <a:rPr lang="en-US" altLang="zh-CN" sz="2400" baseline="0" dirty="0">
                <a:latin typeface="Garamond" pitchFamily="18" charset="0"/>
              </a:rPr>
              <a:t> </a:t>
            </a:r>
            <a:r>
              <a:rPr lang="zh-CN" altLang="en-US" sz="2400" baseline="0" dirty="0">
                <a:latin typeface="Garamond" pitchFamily="18" charset="0"/>
              </a:rPr>
              <a:t>幻</a:t>
            </a:r>
            <a:r>
              <a:rPr lang="en-US" altLang="zh-CN" sz="2400" baseline="0" dirty="0">
                <a:latin typeface="Garamond" pitchFamily="18" charset="0"/>
              </a:rPr>
              <a:t> </a:t>
            </a:r>
            <a:r>
              <a:rPr lang="zh-CN" altLang="en-US" sz="2400" baseline="0" dirty="0">
                <a:latin typeface="Garamond" pitchFamily="18" charset="0"/>
              </a:rPr>
              <a:t>方</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贾宪三角</a:t>
            </a:r>
          </a:p>
        </p:txBody>
      </p:sp>
      <p:sp>
        <p:nvSpPr>
          <p:cNvPr id="21507" name="Rectangle 3"/>
          <p:cNvSpPr>
            <a:spLocks noGrp="1" noChangeArrowheads="1"/>
          </p:cNvSpPr>
          <p:nvPr>
            <p:ph sz="half"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中国最早的组合数学理论可追溯到宋朝时期的</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贾宪三角</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后来被杨辉引用</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所以普遍称之为</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杨辉三角</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这在西方是</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1654</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年由帕斯卡提出，但比中国晚了</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400</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多年。</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16388" name="Text Box 8"/>
          <p:cNvSpPr txBox="1"/>
          <p:nvPr/>
        </p:nvSpPr>
        <p:spPr>
          <a:xfrm>
            <a:off x="5435600" y="2133600"/>
            <a:ext cx="2879725" cy="2843213"/>
          </a:xfrm>
          <a:prstGeom prst="rect">
            <a:avLst/>
          </a:prstGeom>
          <a:noFill/>
          <a:ln w="9525">
            <a:noFill/>
          </a:ln>
        </p:spPr>
        <p:txBody>
          <a:bodyPr>
            <a:spAutoFit/>
          </a:bodyPr>
          <a:lstStyle/>
          <a:p>
            <a:pPr>
              <a:spcBef>
                <a:spcPct val="50000"/>
              </a:spcBef>
            </a:pPr>
            <a:r>
              <a:rPr lang="en-US" altLang="zh-CN" sz="1800" baseline="0" dirty="0">
                <a:latin typeface="Garamond" pitchFamily="18" charset="0"/>
              </a:rPr>
              <a:t>1</a:t>
            </a:r>
          </a:p>
          <a:p>
            <a:pPr>
              <a:spcBef>
                <a:spcPct val="50000"/>
              </a:spcBef>
            </a:pPr>
            <a:r>
              <a:rPr lang="en-US" altLang="zh-CN" sz="1800" baseline="0" dirty="0">
                <a:latin typeface="Garamond" pitchFamily="18" charset="0"/>
              </a:rPr>
              <a:t>1</a:t>
            </a:r>
            <a:r>
              <a:rPr lang="zh-CN" altLang="en-US" sz="1800" baseline="0" dirty="0">
                <a:latin typeface="Garamond" pitchFamily="18" charset="0"/>
              </a:rPr>
              <a:t>，</a:t>
            </a:r>
            <a:r>
              <a:rPr lang="en-US" altLang="zh-CN" sz="1800" baseline="0" dirty="0">
                <a:latin typeface="Garamond" pitchFamily="18" charset="0"/>
              </a:rPr>
              <a:t>1</a:t>
            </a:r>
          </a:p>
          <a:p>
            <a:pPr>
              <a:spcBef>
                <a:spcPct val="50000"/>
              </a:spcBef>
            </a:pPr>
            <a:r>
              <a:rPr lang="en-US" altLang="zh-CN" sz="1800" baseline="0" dirty="0">
                <a:latin typeface="Garamond" pitchFamily="18" charset="0"/>
              </a:rPr>
              <a:t>1</a:t>
            </a:r>
            <a:r>
              <a:rPr lang="zh-CN" altLang="en-US" sz="1800" baseline="0" dirty="0">
                <a:latin typeface="Garamond" pitchFamily="18" charset="0"/>
              </a:rPr>
              <a:t>，</a:t>
            </a:r>
            <a:r>
              <a:rPr lang="en-US" altLang="zh-CN" sz="1800" baseline="0" dirty="0">
                <a:latin typeface="Garamond" pitchFamily="18" charset="0"/>
              </a:rPr>
              <a:t>2</a:t>
            </a:r>
            <a:r>
              <a:rPr lang="zh-CN" altLang="en-US" sz="1800" baseline="0" dirty="0">
                <a:latin typeface="Garamond" pitchFamily="18" charset="0"/>
              </a:rPr>
              <a:t>，</a:t>
            </a:r>
            <a:r>
              <a:rPr lang="en-US" altLang="zh-CN" sz="1800" baseline="0" dirty="0">
                <a:latin typeface="Garamond" pitchFamily="18" charset="0"/>
              </a:rPr>
              <a:t>1</a:t>
            </a:r>
          </a:p>
          <a:p>
            <a:pPr>
              <a:spcBef>
                <a:spcPct val="50000"/>
              </a:spcBef>
            </a:pPr>
            <a:r>
              <a:rPr lang="en-US" altLang="zh-CN" sz="1800" baseline="0" dirty="0">
                <a:latin typeface="Garamond" pitchFamily="18" charset="0"/>
              </a:rPr>
              <a:t>1</a:t>
            </a:r>
            <a:r>
              <a:rPr lang="zh-CN" altLang="en-US" sz="1800" baseline="0" dirty="0">
                <a:latin typeface="Garamond" pitchFamily="18" charset="0"/>
              </a:rPr>
              <a:t>，</a:t>
            </a:r>
            <a:r>
              <a:rPr lang="en-US" altLang="zh-CN" sz="1800" baseline="0" dirty="0">
                <a:latin typeface="Garamond" pitchFamily="18" charset="0"/>
              </a:rPr>
              <a:t>3</a:t>
            </a:r>
            <a:r>
              <a:rPr lang="zh-CN" altLang="en-US" sz="1800" baseline="0" dirty="0">
                <a:latin typeface="Garamond" pitchFamily="18" charset="0"/>
              </a:rPr>
              <a:t>，</a:t>
            </a:r>
            <a:r>
              <a:rPr lang="en-US" altLang="zh-CN" sz="1800" baseline="0" dirty="0">
                <a:latin typeface="Garamond" pitchFamily="18" charset="0"/>
              </a:rPr>
              <a:t>3</a:t>
            </a:r>
            <a:r>
              <a:rPr lang="zh-CN" altLang="en-US" sz="1800" baseline="0" dirty="0">
                <a:latin typeface="Garamond" pitchFamily="18" charset="0"/>
              </a:rPr>
              <a:t>，</a:t>
            </a:r>
            <a:r>
              <a:rPr lang="en-US" altLang="zh-CN" sz="1800" baseline="0" dirty="0">
                <a:latin typeface="Garamond" pitchFamily="18" charset="0"/>
              </a:rPr>
              <a:t>1</a:t>
            </a:r>
          </a:p>
          <a:p>
            <a:pPr>
              <a:spcBef>
                <a:spcPct val="50000"/>
              </a:spcBef>
            </a:pPr>
            <a:r>
              <a:rPr lang="en-US" altLang="zh-CN" sz="1800" baseline="0" dirty="0">
                <a:latin typeface="Garamond" pitchFamily="18" charset="0"/>
              </a:rPr>
              <a:t>1</a:t>
            </a:r>
            <a:r>
              <a:rPr lang="zh-CN" altLang="en-US" sz="1800" baseline="0" dirty="0">
                <a:latin typeface="Garamond" pitchFamily="18" charset="0"/>
              </a:rPr>
              <a:t>，</a:t>
            </a:r>
            <a:r>
              <a:rPr lang="en-US" altLang="zh-CN" sz="1800" baseline="0" dirty="0">
                <a:latin typeface="Garamond" pitchFamily="18" charset="0"/>
              </a:rPr>
              <a:t>4</a:t>
            </a:r>
            <a:r>
              <a:rPr lang="zh-CN" altLang="en-US" sz="1800" baseline="0" dirty="0">
                <a:latin typeface="Garamond" pitchFamily="18" charset="0"/>
              </a:rPr>
              <a:t>，</a:t>
            </a:r>
            <a:r>
              <a:rPr lang="en-US" altLang="zh-CN" sz="1800" baseline="0" dirty="0">
                <a:latin typeface="Garamond" pitchFamily="18" charset="0"/>
              </a:rPr>
              <a:t>6</a:t>
            </a:r>
            <a:r>
              <a:rPr lang="zh-CN" altLang="en-US" sz="1800" baseline="0" dirty="0">
                <a:latin typeface="Garamond" pitchFamily="18" charset="0"/>
              </a:rPr>
              <a:t>，</a:t>
            </a:r>
            <a:r>
              <a:rPr lang="en-US" altLang="zh-CN" sz="1800" baseline="0" dirty="0">
                <a:latin typeface="Garamond" pitchFamily="18" charset="0"/>
              </a:rPr>
              <a:t>4</a:t>
            </a:r>
            <a:r>
              <a:rPr lang="zh-CN" altLang="en-US" sz="1800" baseline="0" dirty="0">
                <a:latin typeface="Garamond" pitchFamily="18" charset="0"/>
              </a:rPr>
              <a:t>，</a:t>
            </a:r>
            <a:r>
              <a:rPr lang="en-US" altLang="zh-CN" sz="1800" baseline="0" dirty="0">
                <a:latin typeface="Garamond" pitchFamily="18" charset="0"/>
              </a:rPr>
              <a:t>1</a:t>
            </a:r>
          </a:p>
          <a:p>
            <a:pPr>
              <a:spcBef>
                <a:spcPct val="50000"/>
              </a:spcBef>
            </a:pPr>
            <a:r>
              <a:rPr lang="en-US" altLang="zh-CN" sz="1800" baseline="0" dirty="0">
                <a:latin typeface="Garamond" pitchFamily="18" charset="0"/>
              </a:rPr>
              <a:t>1</a:t>
            </a:r>
            <a:r>
              <a:rPr lang="zh-CN" altLang="en-US" sz="1800" baseline="0" dirty="0">
                <a:latin typeface="Garamond" pitchFamily="18" charset="0"/>
              </a:rPr>
              <a:t>，</a:t>
            </a:r>
            <a:r>
              <a:rPr lang="en-US" altLang="zh-CN" sz="1800" baseline="0" dirty="0">
                <a:latin typeface="Garamond" pitchFamily="18" charset="0"/>
              </a:rPr>
              <a:t>5</a:t>
            </a:r>
            <a:r>
              <a:rPr lang="zh-CN" altLang="en-US" sz="1800" baseline="0" dirty="0">
                <a:latin typeface="Garamond" pitchFamily="18" charset="0"/>
              </a:rPr>
              <a:t>，</a:t>
            </a:r>
            <a:r>
              <a:rPr lang="en-US" altLang="zh-CN" sz="1800" baseline="0" dirty="0">
                <a:latin typeface="Garamond" pitchFamily="18" charset="0"/>
              </a:rPr>
              <a:t>10</a:t>
            </a:r>
            <a:r>
              <a:rPr lang="zh-CN" altLang="en-US" sz="1800" baseline="0" dirty="0">
                <a:latin typeface="Garamond" pitchFamily="18" charset="0"/>
              </a:rPr>
              <a:t>，</a:t>
            </a:r>
            <a:r>
              <a:rPr lang="en-US" altLang="zh-CN" sz="1800" baseline="0" dirty="0">
                <a:latin typeface="Garamond" pitchFamily="18" charset="0"/>
              </a:rPr>
              <a:t>10</a:t>
            </a:r>
            <a:r>
              <a:rPr lang="zh-CN" altLang="en-US" sz="1800" baseline="0" dirty="0">
                <a:latin typeface="Garamond" pitchFamily="18" charset="0"/>
              </a:rPr>
              <a:t>，</a:t>
            </a:r>
            <a:r>
              <a:rPr lang="en-US" altLang="zh-CN" sz="1800" baseline="0" dirty="0">
                <a:latin typeface="Garamond" pitchFamily="18" charset="0"/>
              </a:rPr>
              <a:t>5</a:t>
            </a:r>
            <a:r>
              <a:rPr lang="zh-CN" altLang="en-US" sz="1800" baseline="0" dirty="0">
                <a:latin typeface="Garamond" pitchFamily="18" charset="0"/>
              </a:rPr>
              <a:t>，</a:t>
            </a:r>
            <a:r>
              <a:rPr lang="en-US" altLang="zh-CN" sz="1800" baseline="0" dirty="0">
                <a:latin typeface="Garamond" pitchFamily="18" charset="0"/>
              </a:rPr>
              <a:t>1</a:t>
            </a:r>
          </a:p>
          <a:p>
            <a:pPr>
              <a:spcBef>
                <a:spcPct val="50000"/>
              </a:spcBef>
            </a:pPr>
            <a:r>
              <a:rPr lang="en-US" altLang="zh-CN" sz="1800" baseline="0" dirty="0">
                <a:latin typeface="Garamond" pitchFamily="18" charset="0"/>
              </a:rPr>
              <a:t>1</a:t>
            </a:r>
            <a:r>
              <a:rPr lang="zh-CN" altLang="en-US" sz="1800" baseline="0" dirty="0">
                <a:latin typeface="Garamond" pitchFamily="18" charset="0"/>
              </a:rPr>
              <a:t>，</a:t>
            </a:r>
            <a:r>
              <a:rPr lang="en-US" altLang="zh-CN" sz="1800" baseline="0" dirty="0">
                <a:latin typeface="Garamond" pitchFamily="18" charset="0"/>
              </a:rPr>
              <a:t>6</a:t>
            </a:r>
            <a:r>
              <a:rPr lang="zh-CN" altLang="en-US" sz="1800" baseline="0" dirty="0">
                <a:latin typeface="Garamond" pitchFamily="18" charset="0"/>
              </a:rPr>
              <a:t>，</a:t>
            </a:r>
            <a:r>
              <a:rPr lang="en-US" altLang="zh-CN" sz="1800" baseline="0" dirty="0">
                <a:latin typeface="Garamond" pitchFamily="18" charset="0"/>
              </a:rPr>
              <a:t>15</a:t>
            </a:r>
            <a:r>
              <a:rPr lang="zh-CN" altLang="en-US" sz="1800" baseline="0" dirty="0">
                <a:latin typeface="Garamond" pitchFamily="18" charset="0"/>
              </a:rPr>
              <a:t>，</a:t>
            </a:r>
            <a:r>
              <a:rPr lang="en-US" altLang="zh-CN" sz="1800" baseline="0" dirty="0">
                <a:latin typeface="Garamond" pitchFamily="18" charset="0"/>
              </a:rPr>
              <a:t>20</a:t>
            </a:r>
            <a:r>
              <a:rPr lang="zh-CN" altLang="en-US" sz="1800" baseline="0" dirty="0">
                <a:latin typeface="Garamond" pitchFamily="18" charset="0"/>
              </a:rPr>
              <a:t>，</a:t>
            </a:r>
            <a:r>
              <a:rPr lang="en-US" altLang="zh-CN" sz="1800" baseline="0" dirty="0">
                <a:latin typeface="Garamond" pitchFamily="18" charset="0"/>
              </a:rPr>
              <a:t>15</a:t>
            </a:r>
            <a:r>
              <a:rPr lang="zh-CN" altLang="en-US" sz="1800" baseline="0" dirty="0">
                <a:latin typeface="Garamond" pitchFamily="18" charset="0"/>
              </a:rPr>
              <a:t>，</a:t>
            </a:r>
            <a:r>
              <a:rPr lang="en-US" altLang="zh-CN" sz="1800" baseline="0" dirty="0">
                <a:latin typeface="Garamond" pitchFamily="18" charset="0"/>
              </a:rPr>
              <a:t>6</a:t>
            </a:r>
            <a:r>
              <a:rPr lang="zh-CN" altLang="en-US" sz="1800" baseline="0" dirty="0">
                <a:latin typeface="Garamond" pitchFamily="18" charset="0"/>
              </a:rPr>
              <a:t>，</a:t>
            </a:r>
            <a:r>
              <a:rPr lang="en-US" altLang="zh-CN" sz="1800" baseline="0" dirty="0">
                <a:latin typeface="Garamond" pitchFamily="18" charset="0"/>
              </a:rPr>
              <a:t>1</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rrowheads="1"/>
          </p:cNvSpPr>
          <p:nvPr>
            <p:ph type="title"/>
          </p:nvPr>
        </p:nvSpPr>
        <p:spPr>
          <a:xfrm>
            <a:off x="468313" y="260350"/>
            <a:ext cx="8229600"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rPr>
              <a:t>七桥问题</a:t>
            </a:r>
          </a:p>
        </p:txBody>
      </p:sp>
      <p:sp>
        <p:nvSpPr>
          <p:cNvPr id="19459" name="Rectangle 3"/>
          <p:cNvSpPr>
            <a:spLocks noGrp="1" noChangeArrowheads="1"/>
          </p:cNvSpPr>
          <p:nvPr>
            <p:ph idx="1"/>
          </p:nvPr>
        </p:nvSpPr>
        <p:spPr>
          <a:xfrm>
            <a:off x="539750" y="1412875"/>
            <a:ext cx="7467600" cy="1944688"/>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近代图论的历史可追溯到</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18</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世纪的</a:t>
            </a:r>
            <a:r>
              <a:rPr kumimoji="0" lang="zh-CN" altLang="en-US" sz="3200" b="0" i="0" u="none" strike="noStrike" kern="0" cap="none" spc="0" normalizeH="0" baseline="0" noProof="0">
                <a:ln>
                  <a:noFill/>
                </a:ln>
                <a:solidFill>
                  <a:srgbClr val="FF3300"/>
                </a:solidFill>
                <a:effectLst>
                  <a:outerShdw blurRad="38100" dist="38100" dir="2700000" algn="tl">
                    <a:srgbClr val="000000"/>
                  </a:outerShdw>
                </a:effectLst>
                <a:uLnTx/>
                <a:uFillTx/>
                <a:latin typeface="+mn-lt"/>
                <a:ea typeface="+mn-ea"/>
                <a:cs typeface="+mn-cs"/>
              </a:rPr>
              <a:t>七桥问题</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穿过</a:t>
            </a:r>
            <a:r>
              <a:rPr kumimoji="0" lang="en-US" altLang="zh-CN" sz="32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Königsberg</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城的七座桥，要求每座桥通过一次且仅通过一次。</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en-US" altLang="zh-CN" sz="32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Euler</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证明了不可能存在这样的路线。</a:t>
            </a:r>
          </a:p>
        </p:txBody>
      </p:sp>
      <p:sp>
        <p:nvSpPr>
          <p:cNvPr id="19471" name="弧 15"/>
          <p:cNvSpPr/>
          <p:nvPr/>
        </p:nvSpPr>
        <p:spPr bwMode="auto">
          <a:xfrm flipH="1" flipV="1">
            <a:off x="611188" y="4365625"/>
            <a:ext cx="990600" cy="609600"/>
          </a:xfrm>
          <a:custGeom>
            <a:avLst/>
            <a:gdLst>
              <a:gd name="T0" fmla="*/ 21184 w 22072"/>
              <a:gd name="T1" fmla="*/ 0 h 43200"/>
              <a:gd name="T2" fmla="*/ 0 w 22072"/>
              <a:gd name="T3" fmla="*/ 609529 h 43200"/>
              <a:gd name="T4" fmla="*/ 21184 w 22072"/>
              <a:gd name="T5" fmla="*/ 304800 h 43200"/>
              <a:gd name="T6" fmla="*/ 0 60000 65536"/>
              <a:gd name="T7" fmla="*/ 0 60000 65536"/>
              <a:gd name="T8" fmla="*/ 0 60000 65536"/>
            </a:gdLst>
            <a:ahLst/>
            <a:cxnLst>
              <a:cxn ang="T6">
                <a:pos x="T0" y="T1"/>
              </a:cxn>
              <a:cxn ang="T7">
                <a:pos x="T2" y="T3"/>
              </a:cxn>
              <a:cxn ang="T8">
                <a:pos x="T4" y="T5"/>
              </a:cxn>
            </a:cxnLst>
            <a:rect l="0" t="0" r="r" b="b"/>
            <a:pathLst>
              <a:path w="22072" h="43200" fill="none" extrusionOk="0">
                <a:moveTo>
                  <a:pt x="472" y="-1"/>
                </a:moveTo>
                <a:cubicBezTo>
                  <a:pt x="12401" y="0"/>
                  <a:pt x="22072" y="9670"/>
                  <a:pt x="22072" y="21600"/>
                </a:cubicBezTo>
                <a:cubicBezTo>
                  <a:pt x="22072" y="33529"/>
                  <a:pt x="12401" y="43200"/>
                  <a:pt x="472" y="43200"/>
                </a:cubicBezTo>
                <a:cubicBezTo>
                  <a:pt x="314" y="43199"/>
                  <a:pt x="157" y="43198"/>
                  <a:pt x="0" y="43194"/>
                </a:cubicBezTo>
              </a:path>
              <a:path w="22072" h="43200" stroke="0" extrusionOk="0">
                <a:moveTo>
                  <a:pt x="472" y="-1"/>
                </a:moveTo>
                <a:cubicBezTo>
                  <a:pt x="12401" y="0"/>
                  <a:pt x="22072" y="9670"/>
                  <a:pt x="22072" y="21600"/>
                </a:cubicBezTo>
                <a:cubicBezTo>
                  <a:pt x="22072" y="33529"/>
                  <a:pt x="12401" y="43200"/>
                  <a:pt x="472" y="43200"/>
                </a:cubicBezTo>
                <a:cubicBezTo>
                  <a:pt x="314" y="43199"/>
                  <a:pt x="157" y="43198"/>
                  <a:pt x="0" y="43194"/>
                </a:cubicBezTo>
                <a:lnTo>
                  <a:pt x="472" y="21600"/>
                </a:lnTo>
                <a:lnTo>
                  <a:pt x="472"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472" name="弧 16"/>
          <p:cNvSpPr/>
          <p:nvPr/>
        </p:nvSpPr>
        <p:spPr bwMode="auto">
          <a:xfrm>
            <a:off x="1835150" y="4365625"/>
            <a:ext cx="533400" cy="228600"/>
          </a:xfrm>
          <a:custGeom>
            <a:avLst/>
            <a:gdLst>
              <a:gd name="T0" fmla="*/ 0 w 21600"/>
              <a:gd name="T1" fmla="*/ 0 h 21600"/>
              <a:gd name="T2" fmla="*/ 533400 w 21600"/>
              <a:gd name="T3" fmla="*/ 228600 h 21600"/>
              <a:gd name="T4" fmla="*/ 0 w 21600"/>
              <a:gd name="T5" fmla="*/ 2286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473" name="弧 17"/>
          <p:cNvSpPr/>
          <p:nvPr/>
        </p:nvSpPr>
        <p:spPr bwMode="auto">
          <a:xfrm flipV="1">
            <a:off x="1835150" y="4797425"/>
            <a:ext cx="609600" cy="152400"/>
          </a:xfrm>
          <a:custGeom>
            <a:avLst/>
            <a:gdLst>
              <a:gd name="T0" fmla="*/ 0 w 21600"/>
              <a:gd name="T1" fmla="*/ 0 h 21600"/>
              <a:gd name="T2" fmla="*/ 609600 w 21600"/>
              <a:gd name="T3" fmla="*/ 152400 h 21600"/>
              <a:gd name="T4" fmla="*/ 0 w 21600"/>
              <a:gd name="T5" fmla="*/ 1524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474" name="弧 18"/>
          <p:cNvSpPr/>
          <p:nvPr/>
        </p:nvSpPr>
        <p:spPr bwMode="auto">
          <a:xfrm flipH="1">
            <a:off x="3563938" y="4292600"/>
            <a:ext cx="638175" cy="381000"/>
          </a:xfrm>
          <a:custGeom>
            <a:avLst/>
            <a:gdLst>
              <a:gd name="T0" fmla="*/ 0 w 18092"/>
              <a:gd name="T1" fmla="*/ 0 h 21600"/>
              <a:gd name="T2" fmla="*/ 638175 w 18092"/>
              <a:gd name="T3" fmla="*/ 172861 h 21600"/>
              <a:gd name="T4" fmla="*/ 0 w 18092"/>
              <a:gd name="T5" fmla="*/ 381000 h 21600"/>
              <a:gd name="T6" fmla="*/ 0 60000 65536"/>
              <a:gd name="T7" fmla="*/ 0 60000 65536"/>
              <a:gd name="T8" fmla="*/ 0 60000 65536"/>
            </a:gdLst>
            <a:ahLst/>
            <a:cxnLst>
              <a:cxn ang="T6">
                <a:pos x="T0" y="T1"/>
              </a:cxn>
              <a:cxn ang="T7">
                <a:pos x="T2" y="T3"/>
              </a:cxn>
              <a:cxn ang="T8">
                <a:pos x="T4" y="T5"/>
              </a:cxn>
            </a:cxnLst>
            <a:rect l="0" t="0" r="r" b="b"/>
            <a:pathLst>
              <a:path w="18092" h="21600" fill="none" extrusionOk="0">
                <a:moveTo>
                  <a:pt x="0" y="-1"/>
                </a:moveTo>
                <a:cubicBezTo>
                  <a:pt x="7299" y="-1"/>
                  <a:pt x="14104" y="3686"/>
                  <a:pt x="18091" y="9800"/>
                </a:cubicBezTo>
              </a:path>
              <a:path w="18092" h="21600" stroke="0" extrusionOk="0">
                <a:moveTo>
                  <a:pt x="0" y="-1"/>
                </a:moveTo>
                <a:cubicBezTo>
                  <a:pt x="7299" y="-1"/>
                  <a:pt x="14104" y="3686"/>
                  <a:pt x="18091" y="98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475" name="弧 19"/>
          <p:cNvSpPr/>
          <p:nvPr/>
        </p:nvSpPr>
        <p:spPr bwMode="auto">
          <a:xfrm flipV="1">
            <a:off x="3563938" y="4508500"/>
            <a:ext cx="700088" cy="381000"/>
          </a:xfrm>
          <a:custGeom>
            <a:avLst/>
            <a:gdLst>
              <a:gd name="T0" fmla="*/ 0 w 22046"/>
              <a:gd name="T1" fmla="*/ 163142 h 21600"/>
              <a:gd name="T2" fmla="*/ 700087 w 22046"/>
              <a:gd name="T3" fmla="*/ 7726 h 21600"/>
              <a:gd name="T4" fmla="*/ 562712 w 22046"/>
              <a:gd name="T5" fmla="*/ 381000 h 21600"/>
              <a:gd name="T6" fmla="*/ 0 60000 65536"/>
              <a:gd name="T7" fmla="*/ 0 60000 65536"/>
              <a:gd name="T8" fmla="*/ 0 60000 65536"/>
            </a:gdLst>
            <a:ahLst/>
            <a:cxnLst>
              <a:cxn ang="T6">
                <a:pos x="T0" y="T1"/>
              </a:cxn>
              <a:cxn ang="T7">
                <a:pos x="T2" y="T3"/>
              </a:cxn>
              <a:cxn ang="T8">
                <a:pos x="T4" y="T5"/>
              </a:cxn>
            </a:cxnLst>
            <a:rect l="0" t="0" r="r" b="b"/>
            <a:pathLst>
              <a:path w="22046" h="21600" fill="none" extrusionOk="0">
                <a:moveTo>
                  <a:pt x="-1" y="9248"/>
                </a:moveTo>
                <a:cubicBezTo>
                  <a:pt x="4038" y="3453"/>
                  <a:pt x="10656" y="-1"/>
                  <a:pt x="17720" y="-1"/>
                </a:cubicBezTo>
                <a:cubicBezTo>
                  <a:pt x="19173" y="-1"/>
                  <a:pt x="20622" y="146"/>
                  <a:pt x="22046" y="437"/>
                </a:cubicBezTo>
              </a:path>
              <a:path w="22046" h="21600" stroke="0" extrusionOk="0">
                <a:moveTo>
                  <a:pt x="-1" y="9248"/>
                </a:moveTo>
                <a:cubicBezTo>
                  <a:pt x="4038" y="3453"/>
                  <a:pt x="10656" y="-1"/>
                  <a:pt x="17720" y="-1"/>
                </a:cubicBezTo>
                <a:cubicBezTo>
                  <a:pt x="19173" y="-1"/>
                  <a:pt x="20622" y="146"/>
                  <a:pt x="22046" y="437"/>
                </a:cubicBezTo>
                <a:lnTo>
                  <a:pt x="17720" y="21600"/>
                </a:lnTo>
                <a:lnTo>
                  <a:pt x="-1" y="9248"/>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478" name="弧 22"/>
          <p:cNvSpPr/>
          <p:nvPr/>
        </p:nvSpPr>
        <p:spPr bwMode="auto">
          <a:xfrm>
            <a:off x="4572000" y="4221163"/>
            <a:ext cx="396875" cy="76200"/>
          </a:xfrm>
          <a:custGeom>
            <a:avLst/>
            <a:gdLst>
              <a:gd name="T0" fmla="*/ 0 w 16068"/>
              <a:gd name="T1" fmla="*/ 0 h 21600"/>
              <a:gd name="T2" fmla="*/ 396875 w 16068"/>
              <a:gd name="T3" fmla="*/ 25277 h 21600"/>
              <a:gd name="T4" fmla="*/ 0 w 16068"/>
              <a:gd name="T5" fmla="*/ 76200 h 21600"/>
              <a:gd name="T6" fmla="*/ 0 60000 65536"/>
              <a:gd name="T7" fmla="*/ 0 60000 65536"/>
              <a:gd name="T8" fmla="*/ 0 60000 65536"/>
            </a:gdLst>
            <a:ahLst/>
            <a:cxnLst>
              <a:cxn ang="T6">
                <a:pos x="T0" y="T1"/>
              </a:cxn>
              <a:cxn ang="T7">
                <a:pos x="T2" y="T3"/>
              </a:cxn>
              <a:cxn ang="T8">
                <a:pos x="T4" y="T5"/>
              </a:cxn>
            </a:cxnLst>
            <a:rect l="0" t="0" r="r" b="b"/>
            <a:pathLst>
              <a:path w="16068" h="21600" fill="none" extrusionOk="0">
                <a:moveTo>
                  <a:pt x="0" y="-1"/>
                </a:moveTo>
                <a:cubicBezTo>
                  <a:pt x="6130" y="-1"/>
                  <a:pt x="11971" y="2604"/>
                  <a:pt x="16068" y="7164"/>
                </a:cubicBezTo>
              </a:path>
              <a:path w="16068" h="21600" stroke="0" extrusionOk="0">
                <a:moveTo>
                  <a:pt x="0" y="-1"/>
                </a:moveTo>
                <a:cubicBezTo>
                  <a:pt x="6130" y="-1"/>
                  <a:pt x="11971" y="2604"/>
                  <a:pt x="16068" y="7164"/>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479" name="弧 23"/>
          <p:cNvSpPr/>
          <p:nvPr/>
        </p:nvSpPr>
        <p:spPr bwMode="auto">
          <a:xfrm flipV="1">
            <a:off x="4572000" y="4797425"/>
            <a:ext cx="609600" cy="76200"/>
          </a:xfrm>
          <a:custGeom>
            <a:avLst/>
            <a:gdLst>
              <a:gd name="T0" fmla="*/ 0 w 21600"/>
              <a:gd name="T1" fmla="*/ 0 h 21600"/>
              <a:gd name="T2" fmla="*/ 609600 w 21600"/>
              <a:gd name="T3" fmla="*/ 76200 h 21600"/>
              <a:gd name="T4" fmla="*/ 0 w 21600"/>
              <a:gd name="T5" fmla="*/ 762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480" name="弧 24"/>
          <p:cNvSpPr/>
          <p:nvPr/>
        </p:nvSpPr>
        <p:spPr bwMode="auto">
          <a:xfrm flipV="1">
            <a:off x="1858963" y="3644900"/>
            <a:ext cx="2259013" cy="152400"/>
          </a:xfrm>
          <a:custGeom>
            <a:avLst/>
            <a:gdLst>
              <a:gd name="T0" fmla="*/ 0 w 22082"/>
              <a:gd name="T1" fmla="*/ 35 h 21600"/>
              <a:gd name="T2" fmla="*/ 2259012 w 22082"/>
              <a:gd name="T3" fmla="*/ 152400 h 21600"/>
              <a:gd name="T4" fmla="*/ 49309 w 22082"/>
              <a:gd name="T5" fmla="*/ 152400 h 21600"/>
              <a:gd name="T6" fmla="*/ 0 60000 65536"/>
              <a:gd name="T7" fmla="*/ 0 60000 65536"/>
              <a:gd name="T8" fmla="*/ 0 60000 65536"/>
            </a:gdLst>
            <a:ahLst/>
            <a:cxnLst>
              <a:cxn ang="T6">
                <a:pos x="T0" y="T1"/>
              </a:cxn>
              <a:cxn ang="T7">
                <a:pos x="T2" y="T3"/>
              </a:cxn>
              <a:cxn ang="T8">
                <a:pos x="T4" y="T5"/>
              </a:cxn>
            </a:cxnLst>
            <a:rect l="0" t="0" r="r" b="b"/>
            <a:pathLst>
              <a:path w="22082" h="21600" fill="none" extrusionOk="0">
                <a:moveTo>
                  <a:pt x="0" y="5"/>
                </a:moveTo>
                <a:cubicBezTo>
                  <a:pt x="160" y="1"/>
                  <a:pt x="321" y="-1"/>
                  <a:pt x="482" y="-1"/>
                </a:cubicBezTo>
                <a:cubicBezTo>
                  <a:pt x="12411" y="-1"/>
                  <a:pt x="22082" y="9670"/>
                  <a:pt x="22082" y="21600"/>
                </a:cubicBezTo>
              </a:path>
              <a:path w="22082" h="21600" stroke="0" extrusionOk="0">
                <a:moveTo>
                  <a:pt x="0" y="5"/>
                </a:moveTo>
                <a:cubicBezTo>
                  <a:pt x="160" y="1"/>
                  <a:pt x="321" y="-1"/>
                  <a:pt x="482" y="-1"/>
                </a:cubicBezTo>
                <a:cubicBezTo>
                  <a:pt x="12411" y="-1"/>
                  <a:pt x="22082" y="9670"/>
                  <a:pt x="22082" y="21600"/>
                </a:cubicBezTo>
                <a:lnTo>
                  <a:pt x="482" y="21600"/>
                </a:lnTo>
                <a:lnTo>
                  <a:pt x="0" y="5"/>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481" name="弧 25"/>
          <p:cNvSpPr/>
          <p:nvPr/>
        </p:nvSpPr>
        <p:spPr bwMode="auto">
          <a:xfrm flipV="1">
            <a:off x="1692275" y="5516563"/>
            <a:ext cx="2362200" cy="76200"/>
          </a:xfrm>
          <a:custGeom>
            <a:avLst/>
            <a:gdLst>
              <a:gd name="T0" fmla="*/ 0 w 21600"/>
              <a:gd name="T1" fmla="*/ 0 h 21600"/>
              <a:gd name="T2" fmla="*/ 2362200 w 21600"/>
              <a:gd name="T3" fmla="*/ 76200 h 21600"/>
              <a:gd name="T4" fmla="*/ 0 w 21600"/>
              <a:gd name="T5" fmla="*/ 762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cxnSp>
        <p:nvCxnSpPr>
          <p:cNvPr id="17421" name="AutoShape 29"/>
          <p:cNvCxnSpPr/>
          <p:nvPr/>
        </p:nvCxnSpPr>
        <p:spPr>
          <a:xfrm flipH="1">
            <a:off x="1619250" y="4868863"/>
            <a:ext cx="215900" cy="868362"/>
          </a:xfrm>
          <a:prstGeom prst="straightConnector1">
            <a:avLst/>
          </a:prstGeom>
          <a:ln w="38100" cap="flat" cmpd="sng">
            <a:solidFill>
              <a:schemeClr val="tx1"/>
            </a:solidFill>
            <a:prstDash val="solid"/>
            <a:headEnd type="none" w="med" len="med"/>
            <a:tailEnd type="none" w="med" len="med"/>
          </a:ln>
        </p:spPr>
      </p:cxnSp>
      <p:cxnSp>
        <p:nvCxnSpPr>
          <p:cNvPr id="17422" name="AutoShape 30"/>
          <p:cNvCxnSpPr/>
          <p:nvPr/>
        </p:nvCxnSpPr>
        <p:spPr>
          <a:xfrm>
            <a:off x="4140200" y="3573463"/>
            <a:ext cx="73025" cy="863600"/>
          </a:xfrm>
          <a:prstGeom prst="straightConnector1">
            <a:avLst/>
          </a:prstGeom>
          <a:ln w="38100" cap="flat" cmpd="sng">
            <a:solidFill>
              <a:schemeClr val="tx1"/>
            </a:solidFill>
            <a:prstDash val="solid"/>
            <a:headEnd type="none" w="med" len="med"/>
            <a:tailEnd type="none" w="med" len="med"/>
          </a:ln>
        </p:spPr>
      </p:cxnSp>
      <p:cxnSp>
        <p:nvCxnSpPr>
          <p:cNvPr id="17423" name="AutoShape 31"/>
          <p:cNvCxnSpPr/>
          <p:nvPr/>
        </p:nvCxnSpPr>
        <p:spPr>
          <a:xfrm flipH="1">
            <a:off x="3995738" y="4797425"/>
            <a:ext cx="301625" cy="863600"/>
          </a:xfrm>
          <a:prstGeom prst="straightConnector1">
            <a:avLst/>
          </a:prstGeom>
          <a:ln w="38100" cap="flat" cmpd="sng">
            <a:solidFill>
              <a:schemeClr val="tx1"/>
            </a:solidFill>
            <a:prstDash val="solid"/>
            <a:headEnd type="none" w="med" len="med"/>
            <a:tailEnd type="none" w="med" len="med"/>
          </a:ln>
        </p:spPr>
      </p:cxnSp>
      <p:sp>
        <p:nvSpPr>
          <p:cNvPr id="19488" name="弧 32"/>
          <p:cNvSpPr/>
          <p:nvPr/>
        </p:nvSpPr>
        <p:spPr bwMode="auto">
          <a:xfrm>
            <a:off x="4500563" y="3644900"/>
            <a:ext cx="892175" cy="152400"/>
          </a:xfrm>
          <a:custGeom>
            <a:avLst/>
            <a:gdLst>
              <a:gd name="T0" fmla="*/ 0 w 10550"/>
              <a:gd name="T1" fmla="*/ 0 h 21600"/>
              <a:gd name="T2" fmla="*/ 892175 w 10550"/>
              <a:gd name="T3" fmla="*/ 19417 h 21600"/>
              <a:gd name="T4" fmla="*/ 0 w 10550"/>
              <a:gd name="T5" fmla="*/ 152400 h 21600"/>
              <a:gd name="T6" fmla="*/ 0 60000 65536"/>
              <a:gd name="T7" fmla="*/ 0 60000 65536"/>
              <a:gd name="T8" fmla="*/ 0 60000 65536"/>
            </a:gdLst>
            <a:ahLst/>
            <a:cxnLst>
              <a:cxn ang="T6">
                <a:pos x="T0" y="T1"/>
              </a:cxn>
              <a:cxn ang="T7">
                <a:pos x="T2" y="T3"/>
              </a:cxn>
              <a:cxn ang="T8">
                <a:pos x="T4" y="T5"/>
              </a:cxn>
            </a:cxnLst>
            <a:rect l="0" t="0" r="r" b="b"/>
            <a:pathLst>
              <a:path w="10550" h="21600" fill="none" extrusionOk="0">
                <a:moveTo>
                  <a:pt x="0" y="-1"/>
                </a:moveTo>
                <a:cubicBezTo>
                  <a:pt x="3694" y="-1"/>
                  <a:pt x="7326" y="947"/>
                  <a:pt x="10550" y="2751"/>
                </a:cubicBezTo>
              </a:path>
              <a:path w="10550" h="21600" stroke="0" extrusionOk="0">
                <a:moveTo>
                  <a:pt x="0" y="-1"/>
                </a:moveTo>
                <a:cubicBezTo>
                  <a:pt x="3694" y="-1"/>
                  <a:pt x="7326" y="947"/>
                  <a:pt x="10550" y="2751"/>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cxnSp>
        <p:nvCxnSpPr>
          <p:cNvPr id="17425" name="AutoShape 33"/>
          <p:cNvCxnSpPr/>
          <p:nvPr/>
        </p:nvCxnSpPr>
        <p:spPr>
          <a:xfrm>
            <a:off x="4500563" y="3500438"/>
            <a:ext cx="71437" cy="863600"/>
          </a:xfrm>
          <a:prstGeom prst="straightConnector1">
            <a:avLst/>
          </a:prstGeom>
          <a:ln w="38100" cap="flat" cmpd="sng">
            <a:solidFill>
              <a:schemeClr val="tx1"/>
            </a:solidFill>
            <a:prstDash val="solid"/>
            <a:headEnd type="none" w="med" len="med"/>
            <a:tailEnd type="none" w="med" len="med"/>
          </a:ln>
        </p:spPr>
      </p:cxnSp>
      <p:cxnSp>
        <p:nvCxnSpPr>
          <p:cNvPr id="17426" name="AutoShape 35"/>
          <p:cNvCxnSpPr/>
          <p:nvPr/>
        </p:nvCxnSpPr>
        <p:spPr>
          <a:xfrm flipH="1">
            <a:off x="4859338" y="3500438"/>
            <a:ext cx="611187" cy="889000"/>
          </a:xfrm>
          <a:prstGeom prst="straightConnector1">
            <a:avLst/>
          </a:prstGeom>
          <a:ln w="38100" cap="flat" cmpd="sng">
            <a:solidFill>
              <a:schemeClr val="tx1"/>
            </a:solidFill>
            <a:prstDash val="solid"/>
            <a:headEnd type="none" w="med" len="med"/>
            <a:tailEnd type="none" w="med" len="med"/>
          </a:ln>
        </p:spPr>
      </p:cxnSp>
      <p:sp>
        <p:nvSpPr>
          <p:cNvPr id="19492" name="弧 36"/>
          <p:cNvSpPr/>
          <p:nvPr/>
        </p:nvSpPr>
        <p:spPr bwMode="auto">
          <a:xfrm flipV="1">
            <a:off x="5724525" y="3573463"/>
            <a:ext cx="2209800" cy="76200"/>
          </a:xfrm>
          <a:custGeom>
            <a:avLst/>
            <a:gdLst>
              <a:gd name="T0" fmla="*/ 0 w 21600"/>
              <a:gd name="T1" fmla="*/ 0 h 21600"/>
              <a:gd name="T2" fmla="*/ 2209800 w 21600"/>
              <a:gd name="T3" fmla="*/ 76200 h 21600"/>
              <a:gd name="T4" fmla="*/ 0 w 21600"/>
              <a:gd name="T5" fmla="*/ 762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493" name="弧 37"/>
          <p:cNvSpPr/>
          <p:nvPr/>
        </p:nvSpPr>
        <p:spPr bwMode="auto">
          <a:xfrm flipV="1">
            <a:off x="4427538" y="5516563"/>
            <a:ext cx="1295400" cy="76200"/>
          </a:xfrm>
          <a:custGeom>
            <a:avLst/>
            <a:gdLst>
              <a:gd name="T0" fmla="*/ 0 w 21600"/>
              <a:gd name="T1" fmla="*/ 0 h 21600"/>
              <a:gd name="T2" fmla="*/ 1295400 w 21600"/>
              <a:gd name="T3" fmla="*/ 76200 h 21600"/>
              <a:gd name="T4" fmla="*/ 0 w 21600"/>
              <a:gd name="T5" fmla="*/ 762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cxnSp>
        <p:nvCxnSpPr>
          <p:cNvPr id="17429" name="AutoShape 38"/>
          <p:cNvCxnSpPr/>
          <p:nvPr/>
        </p:nvCxnSpPr>
        <p:spPr>
          <a:xfrm>
            <a:off x="5076825" y="4652963"/>
            <a:ext cx="830263" cy="1079500"/>
          </a:xfrm>
          <a:prstGeom prst="straightConnector1">
            <a:avLst/>
          </a:prstGeom>
          <a:ln w="38100" cap="flat" cmpd="sng">
            <a:solidFill>
              <a:schemeClr val="tx1"/>
            </a:solidFill>
            <a:prstDash val="solid"/>
            <a:headEnd type="none" w="med" len="med"/>
            <a:tailEnd type="none" w="med" len="med"/>
          </a:ln>
        </p:spPr>
      </p:cxnSp>
      <p:sp>
        <p:nvSpPr>
          <p:cNvPr id="19495" name="弧 39"/>
          <p:cNvSpPr/>
          <p:nvPr/>
        </p:nvSpPr>
        <p:spPr bwMode="auto">
          <a:xfrm flipV="1">
            <a:off x="6084888" y="5445125"/>
            <a:ext cx="1905000" cy="76200"/>
          </a:xfrm>
          <a:custGeom>
            <a:avLst/>
            <a:gdLst>
              <a:gd name="T0" fmla="*/ 0 w 21600"/>
              <a:gd name="T1" fmla="*/ 0 h 21600"/>
              <a:gd name="T2" fmla="*/ 1905000 w 21600"/>
              <a:gd name="T3" fmla="*/ 76200 h 21600"/>
              <a:gd name="T4" fmla="*/ 0 w 21600"/>
              <a:gd name="T5" fmla="*/ 762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496" name="弧 40"/>
          <p:cNvSpPr/>
          <p:nvPr/>
        </p:nvSpPr>
        <p:spPr bwMode="auto">
          <a:xfrm>
            <a:off x="5292725" y="4292600"/>
            <a:ext cx="457200" cy="431800"/>
          </a:xfrm>
          <a:custGeom>
            <a:avLst/>
            <a:gdLst>
              <a:gd name="T0" fmla="*/ 0 w 21600"/>
              <a:gd name="T1" fmla="*/ 0 h 40907"/>
              <a:gd name="T2" fmla="*/ 204999 w 21600"/>
              <a:gd name="T3" fmla="*/ 431800 h 40907"/>
              <a:gd name="T4" fmla="*/ 0 w 21600"/>
              <a:gd name="T5" fmla="*/ 228002 h 40907"/>
              <a:gd name="T6" fmla="*/ 0 60000 65536"/>
              <a:gd name="T7" fmla="*/ 0 60000 65536"/>
              <a:gd name="T8" fmla="*/ 0 60000 65536"/>
            </a:gdLst>
            <a:ahLst/>
            <a:cxnLst>
              <a:cxn ang="T6">
                <a:pos x="T0" y="T1"/>
              </a:cxn>
              <a:cxn ang="T7">
                <a:pos x="T2" y="T3"/>
              </a:cxn>
              <a:cxn ang="T8">
                <a:pos x="T4" y="T5"/>
              </a:cxn>
            </a:cxnLst>
            <a:rect l="0" t="0" r="r" b="b"/>
            <a:pathLst>
              <a:path w="21600" h="40907" fill="none" extrusionOk="0">
                <a:moveTo>
                  <a:pt x="0" y="-1"/>
                </a:moveTo>
                <a:cubicBezTo>
                  <a:pt x="11929" y="0"/>
                  <a:pt x="21600" y="9670"/>
                  <a:pt x="21600" y="21600"/>
                </a:cubicBezTo>
                <a:cubicBezTo>
                  <a:pt x="21600" y="29771"/>
                  <a:pt x="16988" y="37243"/>
                  <a:pt x="9685" y="40907"/>
                </a:cubicBezTo>
              </a:path>
              <a:path w="21600" h="40907" stroke="0" extrusionOk="0">
                <a:moveTo>
                  <a:pt x="0" y="-1"/>
                </a:moveTo>
                <a:cubicBezTo>
                  <a:pt x="11929" y="0"/>
                  <a:pt x="21600" y="9670"/>
                  <a:pt x="21600" y="21600"/>
                </a:cubicBezTo>
                <a:cubicBezTo>
                  <a:pt x="21600" y="29771"/>
                  <a:pt x="16988" y="37243"/>
                  <a:pt x="9685" y="40907"/>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cxnSp>
        <p:nvCxnSpPr>
          <p:cNvPr id="17432" name="AutoShape 41"/>
          <p:cNvCxnSpPr/>
          <p:nvPr/>
        </p:nvCxnSpPr>
        <p:spPr>
          <a:xfrm>
            <a:off x="5364163" y="4581525"/>
            <a:ext cx="803275" cy="1081088"/>
          </a:xfrm>
          <a:prstGeom prst="straightConnector1">
            <a:avLst/>
          </a:prstGeom>
          <a:ln w="38100" cap="flat" cmpd="sng">
            <a:solidFill>
              <a:schemeClr val="tx1"/>
            </a:solidFill>
            <a:prstDash val="solid"/>
            <a:headEnd type="none" w="med" len="med"/>
            <a:tailEnd type="none" w="med" len="med"/>
          </a:ln>
        </p:spPr>
      </p:cxnSp>
      <p:cxnSp>
        <p:nvCxnSpPr>
          <p:cNvPr id="17433" name="AutoShape 42"/>
          <p:cNvCxnSpPr/>
          <p:nvPr/>
        </p:nvCxnSpPr>
        <p:spPr>
          <a:xfrm flipH="1">
            <a:off x="5219700" y="3573463"/>
            <a:ext cx="574675" cy="863600"/>
          </a:xfrm>
          <a:prstGeom prst="straightConnector1">
            <a:avLst/>
          </a:prstGeom>
          <a:ln w="38100" cap="flat" cmpd="sng">
            <a:solidFill>
              <a:schemeClr val="tx1"/>
            </a:solidFill>
            <a:prstDash val="solid"/>
            <a:headEnd type="none" w="med" len="med"/>
            <a:tailEnd type="none" w="med" len="med"/>
          </a:ln>
        </p:spPr>
      </p:cxnSp>
      <p:sp>
        <p:nvSpPr>
          <p:cNvPr id="19505" name="弧 49"/>
          <p:cNvSpPr/>
          <p:nvPr/>
        </p:nvSpPr>
        <p:spPr bwMode="auto">
          <a:xfrm flipH="1">
            <a:off x="250825" y="5589588"/>
            <a:ext cx="1225550" cy="71438"/>
          </a:xfrm>
          <a:custGeom>
            <a:avLst/>
            <a:gdLst>
              <a:gd name="T0" fmla="*/ 0 w 21600"/>
              <a:gd name="T1" fmla="*/ 0 h 21600"/>
              <a:gd name="T2" fmla="*/ 1225550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06" name="弧 50"/>
          <p:cNvSpPr/>
          <p:nvPr/>
        </p:nvSpPr>
        <p:spPr bwMode="auto">
          <a:xfrm flipH="1">
            <a:off x="395288" y="3789363"/>
            <a:ext cx="1223963" cy="71438"/>
          </a:xfrm>
          <a:custGeom>
            <a:avLst/>
            <a:gdLst>
              <a:gd name="T0" fmla="*/ 0 w 21600"/>
              <a:gd name="T1" fmla="*/ 0 h 21600"/>
              <a:gd name="T2" fmla="*/ 1223962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cxnSp>
        <p:nvCxnSpPr>
          <p:cNvPr id="17436" name="AutoShape 52"/>
          <p:cNvCxnSpPr/>
          <p:nvPr/>
        </p:nvCxnSpPr>
        <p:spPr>
          <a:xfrm flipV="1">
            <a:off x="2195513" y="4508500"/>
            <a:ext cx="1511300" cy="130175"/>
          </a:xfrm>
          <a:prstGeom prst="straightConnector1">
            <a:avLst/>
          </a:prstGeom>
          <a:ln w="38100" cap="flat" cmpd="sng">
            <a:solidFill>
              <a:schemeClr val="tx1"/>
            </a:solidFill>
            <a:prstDash val="solid"/>
            <a:headEnd type="none" w="med" len="med"/>
            <a:tailEnd type="none" w="med" len="med"/>
          </a:ln>
        </p:spPr>
      </p:cxnSp>
      <p:cxnSp>
        <p:nvCxnSpPr>
          <p:cNvPr id="17437" name="AutoShape 53"/>
          <p:cNvCxnSpPr/>
          <p:nvPr/>
        </p:nvCxnSpPr>
        <p:spPr>
          <a:xfrm flipV="1">
            <a:off x="2268538" y="4724400"/>
            <a:ext cx="1439862" cy="71438"/>
          </a:xfrm>
          <a:prstGeom prst="straightConnector1">
            <a:avLst/>
          </a:prstGeom>
          <a:ln w="38100" cap="flat" cmpd="sng">
            <a:solidFill>
              <a:schemeClr val="tx1"/>
            </a:solidFill>
            <a:prstDash val="solid"/>
            <a:headEnd type="none" w="med" len="med"/>
            <a:tailEnd type="none" w="med" len="med"/>
          </a:ln>
        </p:spPr>
      </p:cxnSp>
      <p:sp>
        <p:nvSpPr>
          <p:cNvPr id="19512" name="弧 56"/>
          <p:cNvSpPr/>
          <p:nvPr/>
        </p:nvSpPr>
        <p:spPr bwMode="auto">
          <a:xfrm flipV="1">
            <a:off x="323850" y="4149725"/>
            <a:ext cx="431800" cy="71438"/>
          </a:xfrm>
          <a:custGeom>
            <a:avLst/>
            <a:gdLst>
              <a:gd name="T0" fmla="*/ 0 w 21600"/>
              <a:gd name="T1" fmla="*/ 0 h 21600"/>
              <a:gd name="T2" fmla="*/ 431800 w 21600"/>
              <a:gd name="T3" fmla="*/ 71438 h 21600"/>
              <a:gd name="T4" fmla="*/ 0 w 21600"/>
              <a:gd name="T5" fmla="*/ 7143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13" name="弧 57"/>
          <p:cNvSpPr/>
          <p:nvPr/>
        </p:nvSpPr>
        <p:spPr bwMode="auto">
          <a:xfrm>
            <a:off x="900113" y="4005263"/>
            <a:ext cx="431800" cy="71438"/>
          </a:xfrm>
          <a:custGeom>
            <a:avLst/>
            <a:gdLst>
              <a:gd name="T0" fmla="*/ 0 w 21600"/>
              <a:gd name="T1" fmla="*/ 0 h 21600"/>
              <a:gd name="T2" fmla="*/ 431800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14" name="弧 58"/>
          <p:cNvSpPr/>
          <p:nvPr/>
        </p:nvSpPr>
        <p:spPr bwMode="auto">
          <a:xfrm flipV="1">
            <a:off x="395288" y="4292600"/>
            <a:ext cx="504825" cy="215900"/>
          </a:xfrm>
          <a:custGeom>
            <a:avLst/>
            <a:gdLst>
              <a:gd name="T0" fmla="*/ 0 w 21600"/>
              <a:gd name="T1" fmla="*/ 0 h 21600"/>
              <a:gd name="T2" fmla="*/ 504825 w 21600"/>
              <a:gd name="T3" fmla="*/ 215900 h 21600"/>
              <a:gd name="T4" fmla="*/ 0 w 21600"/>
              <a:gd name="T5" fmla="*/ 2159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15" name="弧 59"/>
          <p:cNvSpPr/>
          <p:nvPr/>
        </p:nvSpPr>
        <p:spPr bwMode="auto">
          <a:xfrm>
            <a:off x="323850" y="5013325"/>
            <a:ext cx="503238" cy="71438"/>
          </a:xfrm>
          <a:custGeom>
            <a:avLst/>
            <a:gdLst>
              <a:gd name="T0" fmla="*/ 0 w 21600"/>
              <a:gd name="T1" fmla="*/ 0 h 21600"/>
              <a:gd name="T2" fmla="*/ 503238 w 21600"/>
              <a:gd name="T3" fmla="*/ 71438 h 21600"/>
              <a:gd name="T4" fmla="*/ 0 w 21600"/>
              <a:gd name="T5" fmla="*/ 7143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16" name="弧 60"/>
          <p:cNvSpPr/>
          <p:nvPr/>
        </p:nvSpPr>
        <p:spPr bwMode="auto">
          <a:xfrm>
            <a:off x="323850" y="5373688"/>
            <a:ext cx="576263" cy="71438"/>
          </a:xfrm>
          <a:custGeom>
            <a:avLst/>
            <a:gdLst>
              <a:gd name="T0" fmla="*/ 0 w 21600"/>
              <a:gd name="T1" fmla="*/ 0 h 21600"/>
              <a:gd name="T2" fmla="*/ 576263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17" name="弧 61"/>
          <p:cNvSpPr/>
          <p:nvPr/>
        </p:nvSpPr>
        <p:spPr bwMode="auto">
          <a:xfrm flipV="1">
            <a:off x="1042988" y="5157788"/>
            <a:ext cx="215900" cy="71438"/>
          </a:xfrm>
          <a:custGeom>
            <a:avLst/>
            <a:gdLst>
              <a:gd name="T0" fmla="*/ 0 w 21600"/>
              <a:gd name="T1" fmla="*/ 0 h 21600"/>
              <a:gd name="T2" fmla="*/ 215900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18" name="弧 62"/>
          <p:cNvSpPr/>
          <p:nvPr/>
        </p:nvSpPr>
        <p:spPr bwMode="auto">
          <a:xfrm>
            <a:off x="1187450" y="5445125"/>
            <a:ext cx="144463" cy="71438"/>
          </a:xfrm>
          <a:custGeom>
            <a:avLst/>
            <a:gdLst>
              <a:gd name="T0" fmla="*/ 0 w 21600"/>
              <a:gd name="T1" fmla="*/ 0 h 21600"/>
              <a:gd name="T2" fmla="*/ 144463 w 21600"/>
              <a:gd name="T3" fmla="*/ 71438 h 21600"/>
              <a:gd name="T4" fmla="*/ 0 w 21600"/>
              <a:gd name="T5" fmla="*/ 7143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19" name="弧 63"/>
          <p:cNvSpPr/>
          <p:nvPr/>
        </p:nvSpPr>
        <p:spPr bwMode="auto">
          <a:xfrm flipV="1">
            <a:off x="2051050" y="3933825"/>
            <a:ext cx="433388" cy="71438"/>
          </a:xfrm>
          <a:custGeom>
            <a:avLst/>
            <a:gdLst>
              <a:gd name="T0" fmla="*/ 0 w 21600"/>
              <a:gd name="T1" fmla="*/ 0 h 21600"/>
              <a:gd name="T2" fmla="*/ 433388 w 21600"/>
              <a:gd name="T3" fmla="*/ 71438 h 21600"/>
              <a:gd name="T4" fmla="*/ 0 w 21600"/>
              <a:gd name="T5" fmla="*/ 7143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20" name="弧 64"/>
          <p:cNvSpPr/>
          <p:nvPr/>
        </p:nvSpPr>
        <p:spPr bwMode="auto">
          <a:xfrm flipV="1">
            <a:off x="2555875" y="4292600"/>
            <a:ext cx="431800" cy="73025"/>
          </a:xfrm>
          <a:custGeom>
            <a:avLst/>
            <a:gdLst>
              <a:gd name="T0" fmla="*/ 0 w 21600"/>
              <a:gd name="T1" fmla="*/ 0 h 21600"/>
              <a:gd name="T2" fmla="*/ 431800 w 21600"/>
              <a:gd name="T3" fmla="*/ 73025 h 21600"/>
              <a:gd name="T4" fmla="*/ 0 w 21600"/>
              <a:gd name="T5" fmla="*/ 730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21" name="弧 65"/>
          <p:cNvSpPr/>
          <p:nvPr/>
        </p:nvSpPr>
        <p:spPr bwMode="auto">
          <a:xfrm>
            <a:off x="3132138" y="4005263"/>
            <a:ext cx="431800" cy="71438"/>
          </a:xfrm>
          <a:custGeom>
            <a:avLst/>
            <a:gdLst>
              <a:gd name="T0" fmla="*/ 0 w 21600"/>
              <a:gd name="T1" fmla="*/ 0 h 21600"/>
              <a:gd name="T2" fmla="*/ 431800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22" name="弧 66"/>
          <p:cNvSpPr/>
          <p:nvPr/>
        </p:nvSpPr>
        <p:spPr bwMode="auto">
          <a:xfrm flipV="1">
            <a:off x="3276600" y="4149725"/>
            <a:ext cx="574675" cy="71438"/>
          </a:xfrm>
          <a:custGeom>
            <a:avLst/>
            <a:gdLst>
              <a:gd name="T0" fmla="*/ 0 w 21600"/>
              <a:gd name="T1" fmla="*/ 0 h 21600"/>
              <a:gd name="T2" fmla="*/ 574675 w 21600"/>
              <a:gd name="T3" fmla="*/ 71438 h 21600"/>
              <a:gd name="T4" fmla="*/ 0 w 21600"/>
              <a:gd name="T5" fmla="*/ 7143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23" name="弧 67"/>
          <p:cNvSpPr/>
          <p:nvPr/>
        </p:nvSpPr>
        <p:spPr bwMode="auto">
          <a:xfrm flipV="1">
            <a:off x="2124075" y="5013325"/>
            <a:ext cx="647700" cy="71438"/>
          </a:xfrm>
          <a:custGeom>
            <a:avLst/>
            <a:gdLst>
              <a:gd name="T0" fmla="*/ 0 w 21600"/>
              <a:gd name="T1" fmla="*/ 0 h 21600"/>
              <a:gd name="T2" fmla="*/ 647700 w 21600"/>
              <a:gd name="T3" fmla="*/ 71438 h 21600"/>
              <a:gd name="T4" fmla="*/ 0 w 21600"/>
              <a:gd name="T5" fmla="*/ 7143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24" name="弧 68"/>
          <p:cNvSpPr/>
          <p:nvPr/>
        </p:nvSpPr>
        <p:spPr bwMode="auto">
          <a:xfrm>
            <a:off x="2124075" y="5373688"/>
            <a:ext cx="719138" cy="71438"/>
          </a:xfrm>
          <a:custGeom>
            <a:avLst/>
            <a:gdLst>
              <a:gd name="T0" fmla="*/ 0 w 21600"/>
              <a:gd name="T1" fmla="*/ 0 h 21600"/>
              <a:gd name="T2" fmla="*/ 719138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25" name="弧 69"/>
          <p:cNvSpPr/>
          <p:nvPr/>
        </p:nvSpPr>
        <p:spPr bwMode="auto">
          <a:xfrm flipV="1">
            <a:off x="3059113" y="4941888"/>
            <a:ext cx="576263" cy="71438"/>
          </a:xfrm>
          <a:custGeom>
            <a:avLst/>
            <a:gdLst>
              <a:gd name="T0" fmla="*/ 0 w 21600"/>
              <a:gd name="T1" fmla="*/ 0 h 21600"/>
              <a:gd name="T2" fmla="*/ 576262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26" name="弧 70"/>
          <p:cNvSpPr/>
          <p:nvPr/>
        </p:nvSpPr>
        <p:spPr bwMode="auto">
          <a:xfrm>
            <a:off x="3059113" y="5373688"/>
            <a:ext cx="649288" cy="71438"/>
          </a:xfrm>
          <a:custGeom>
            <a:avLst/>
            <a:gdLst>
              <a:gd name="T0" fmla="*/ 0 w 21600"/>
              <a:gd name="T1" fmla="*/ 0 h 21600"/>
              <a:gd name="T2" fmla="*/ 649287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27" name="弧 71"/>
          <p:cNvSpPr/>
          <p:nvPr/>
        </p:nvSpPr>
        <p:spPr bwMode="auto">
          <a:xfrm flipV="1">
            <a:off x="3708400" y="5084763"/>
            <a:ext cx="142875" cy="73025"/>
          </a:xfrm>
          <a:custGeom>
            <a:avLst/>
            <a:gdLst>
              <a:gd name="T0" fmla="*/ 0 w 21600"/>
              <a:gd name="T1" fmla="*/ 0 h 21600"/>
              <a:gd name="T2" fmla="*/ 142875 w 21600"/>
              <a:gd name="T3" fmla="*/ 73025 h 21600"/>
              <a:gd name="T4" fmla="*/ 0 w 21600"/>
              <a:gd name="T5" fmla="*/ 730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28" name="弧 72"/>
          <p:cNvSpPr/>
          <p:nvPr/>
        </p:nvSpPr>
        <p:spPr bwMode="auto">
          <a:xfrm flipV="1">
            <a:off x="2700338" y="5157788"/>
            <a:ext cx="287338" cy="71438"/>
          </a:xfrm>
          <a:custGeom>
            <a:avLst/>
            <a:gdLst>
              <a:gd name="T0" fmla="*/ 0 w 21600"/>
              <a:gd name="T1" fmla="*/ 0 h 21600"/>
              <a:gd name="T2" fmla="*/ 287337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29" name="弧 73"/>
          <p:cNvSpPr/>
          <p:nvPr/>
        </p:nvSpPr>
        <p:spPr bwMode="auto">
          <a:xfrm flipV="1">
            <a:off x="2339975" y="4076700"/>
            <a:ext cx="215900" cy="73025"/>
          </a:xfrm>
          <a:custGeom>
            <a:avLst/>
            <a:gdLst>
              <a:gd name="T0" fmla="*/ 0 w 21600"/>
              <a:gd name="T1" fmla="*/ 0 h 21600"/>
              <a:gd name="T2" fmla="*/ 215900 w 21600"/>
              <a:gd name="T3" fmla="*/ 73025 h 21600"/>
              <a:gd name="T4" fmla="*/ 0 w 21600"/>
              <a:gd name="T5" fmla="*/ 730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30" name="弧 74"/>
          <p:cNvSpPr/>
          <p:nvPr/>
        </p:nvSpPr>
        <p:spPr bwMode="auto">
          <a:xfrm>
            <a:off x="4716463" y="3789363"/>
            <a:ext cx="287338" cy="71438"/>
          </a:xfrm>
          <a:custGeom>
            <a:avLst/>
            <a:gdLst>
              <a:gd name="T0" fmla="*/ 0 w 21600"/>
              <a:gd name="T1" fmla="*/ 0 h 21600"/>
              <a:gd name="T2" fmla="*/ 287337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31" name="弧 75"/>
          <p:cNvSpPr/>
          <p:nvPr/>
        </p:nvSpPr>
        <p:spPr bwMode="auto">
          <a:xfrm flipV="1">
            <a:off x="4787900" y="4005263"/>
            <a:ext cx="215900" cy="71438"/>
          </a:xfrm>
          <a:custGeom>
            <a:avLst/>
            <a:gdLst>
              <a:gd name="T0" fmla="*/ 0 w 21600"/>
              <a:gd name="T1" fmla="*/ 0 h 21600"/>
              <a:gd name="T2" fmla="*/ 215900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32" name="弧 76"/>
          <p:cNvSpPr/>
          <p:nvPr/>
        </p:nvSpPr>
        <p:spPr bwMode="auto">
          <a:xfrm flipV="1">
            <a:off x="4643438" y="5013325"/>
            <a:ext cx="288925" cy="71438"/>
          </a:xfrm>
          <a:custGeom>
            <a:avLst/>
            <a:gdLst>
              <a:gd name="T0" fmla="*/ 0 w 21600"/>
              <a:gd name="T1" fmla="*/ 0 h 21600"/>
              <a:gd name="T2" fmla="*/ 288925 w 21600"/>
              <a:gd name="T3" fmla="*/ 71438 h 21600"/>
              <a:gd name="T4" fmla="*/ 0 w 21600"/>
              <a:gd name="T5" fmla="*/ 7143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33" name="弧 77"/>
          <p:cNvSpPr/>
          <p:nvPr/>
        </p:nvSpPr>
        <p:spPr bwMode="auto">
          <a:xfrm>
            <a:off x="4716463" y="5300663"/>
            <a:ext cx="215900" cy="73025"/>
          </a:xfrm>
          <a:custGeom>
            <a:avLst/>
            <a:gdLst>
              <a:gd name="T0" fmla="*/ 0 w 21600"/>
              <a:gd name="T1" fmla="*/ 0 h 21600"/>
              <a:gd name="T2" fmla="*/ 215900 w 21600"/>
              <a:gd name="T3" fmla="*/ 73025 h 21600"/>
              <a:gd name="T4" fmla="*/ 0 w 21600"/>
              <a:gd name="T5" fmla="*/ 730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34" name="弧 78"/>
          <p:cNvSpPr/>
          <p:nvPr/>
        </p:nvSpPr>
        <p:spPr bwMode="auto">
          <a:xfrm flipV="1">
            <a:off x="5148263" y="5373688"/>
            <a:ext cx="144463" cy="71438"/>
          </a:xfrm>
          <a:custGeom>
            <a:avLst/>
            <a:gdLst>
              <a:gd name="T0" fmla="*/ 0 w 21600"/>
              <a:gd name="T1" fmla="*/ 0 h 21600"/>
              <a:gd name="T2" fmla="*/ 144462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35" name="弧 79"/>
          <p:cNvSpPr/>
          <p:nvPr/>
        </p:nvSpPr>
        <p:spPr bwMode="auto">
          <a:xfrm flipV="1">
            <a:off x="5076825" y="5084763"/>
            <a:ext cx="215900" cy="73025"/>
          </a:xfrm>
          <a:custGeom>
            <a:avLst/>
            <a:gdLst>
              <a:gd name="T0" fmla="*/ 0 w 21600"/>
              <a:gd name="T1" fmla="*/ 0 h 21600"/>
              <a:gd name="T2" fmla="*/ 215900 w 21600"/>
              <a:gd name="T3" fmla="*/ 73025 h 21600"/>
              <a:gd name="T4" fmla="*/ 0 w 21600"/>
              <a:gd name="T5" fmla="*/ 730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36" name="弧 80"/>
          <p:cNvSpPr/>
          <p:nvPr/>
        </p:nvSpPr>
        <p:spPr bwMode="auto">
          <a:xfrm>
            <a:off x="5795963" y="3860800"/>
            <a:ext cx="720725" cy="73025"/>
          </a:xfrm>
          <a:custGeom>
            <a:avLst/>
            <a:gdLst>
              <a:gd name="T0" fmla="*/ 0 w 21600"/>
              <a:gd name="T1" fmla="*/ 0 h 21600"/>
              <a:gd name="T2" fmla="*/ 720725 w 21600"/>
              <a:gd name="T3" fmla="*/ 73025 h 21600"/>
              <a:gd name="T4" fmla="*/ 0 w 21600"/>
              <a:gd name="T5" fmla="*/ 730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37" name="弧 81"/>
          <p:cNvSpPr/>
          <p:nvPr/>
        </p:nvSpPr>
        <p:spPr bwMode="auto">
          <a:xfrm>
            <a:off x="5940425" y="4221163"/>
            <a:ext cx="576263" cy="71438"/>
          </a:xfrm>
          <a:custGeom>
            <a:avLst/>
            <a:gdLst>
              <a:gd name="T0" fmla="*/ 0 w 21600"/>
              <a:gd name="T1" fmla="*/ 0 h 21600"/>
              <a:gd name="T2" fmla="*/ 576263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38" name="弧 82"/>
          <p:cNvSpPr/>
          <p:nvPr/>
        </p:nvSpPr>
        <p:spPr bwMode="auto">
          <a:xfrm flipV="1">
            <a:off x="6227763" y="4005263"/>
            <a:ext cx="360363" cy="71438"/>
          </a:xfrm>
          <a:custGeom>
            <a:avLst/>
            <a:gdLst>
              <a:gd name="T0" fmla="*/ 0 w 21600"/>
              <a:gd name="T1" fmla="*/ 0 h 21600"/>
              <a:gd name="T2" fmla="*/ 360362 w 21600"/>
              <a:gd name="T3" fmla="*/ 71437 h 21600"/>
              <a:gd name="T4" fmla="*/ 0 w 21600"/>
              <a:gd name="T5" fmla="*/ 7143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39" name="弧 83"/>
          <p:cNvSpPr/>
          <p:nvPr/>
        </p:nvSpPr>
        <p:spPr bwMode="auto">
          <a:xfrm>
            <a:off x="6011863" y="4797425"/>
            <a:ext cx="647700" cy="71438"/>
          </a:xfrm>
          <a:custGeom>
            <a:avLst/>
            <a:gdLst>
              <a:gd name="T0" fmla="*/ 0 w 21600"/>
              <a:gd name="T1" fmla="*/ 0 h 21600"/>
              <a:gd name="T2" fmla="*/ 647700 w 21600"/>
              <a:gd name="T3" fmla="*/ 71438 h 21600"/>
              <a:gd name="T4" fmla="*/ 0 w 21600"/>
              <a:gd name="T5" fmla="*/ 7143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40" name="弧 84"/>
          <p:cNvSpPr/>
          <p:nvPr/>
        </p:nvSpPr>
        <p:spPr bwMode="auto">
          <a:xfrm>
            <a:off x="6084888" y="5229225"/>
            <a:ext cx="503238" cy="71438"/>
          </a:xfrm>
          <a:custGeom>
            <a:avLst/>
            <a:gdLst>
              <a:gd name="T0" fmla="*/ 0 w 21600"/>
              <a:gd name="T1" fmla="*/ 0 h 21600"/>
              <a:gd name="T2" fmla="*/ 503237 w 21600"/>
              <a:gd name="T3" fmla="*/ 71438 h 21600"/>
              <a:gd name="T4" fmla="*/ 0 w 21600"/>
              <a:gd name="T5" fmla="*/ 7143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41" name="弧 85"/>
          <p:cNvSpPr/>
          <p:nvPr/>
        </p:nvSpPr>
        <p:spPr bwMode="auto">
          <a:xfrm flipV="1">
            <a:off x="6516688" y="5013325"/>
            <a:ext cx="360363" cy="71438"/>
          </a:xfrm>
          <a:custGeom>
            <a:avLst/>
            <a:gdLst>
              <a:gd name="T0" fmla="*/ 0 w 21600"/>
              <a:gd name="T1" fmla="*/ 0 h 21600"/>
              <a:gd name="T2" fmla="*/ 360362 w 21600"/>
              <a:gd name="T3" fmla="*/ 71438 h 21600"/>
              <a:gd name="T4" fmla="*/ 0 w 21600"/>
              <a:gd name="T5" fmla="*/ 7143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42" name="弧 86"/>
          <p:cNvSpPr/>
          <p:nvPr/>
        </p:nvSpPr>
        <p:spPr bwMode="auto">
          <a:xfrm flipV="1">
            <a:off x="6948488" y="5229225"/>
            <a:ext cx="360363" cy="71438"/>
          </a:xfrm>
          <a:custGeom>
            <a:avLst/>
            <a:gdLst>
              <a:gd name="T0" fmla="*/ 0 w 21600"/>
              <a:gd name="T1" fmla="*/ 0 h 21600"/>
              <a:gd name="T2" fmla="*/ 360362 w 21600"/>
              <a:gd name="T3" fmla="*/ 71438 h 21600"/>
              <a:gd name="T4" fmla="*/ 0 w 21600"/>
              <a:gd name="T5" fmla="*/ 7143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43" name="弧 87"/>
          <p:cNvSpPr/>
          <p:nvPr/>
        </p:nvSpPr>
        <p:spPr bwMode="auto">
          <a:xfrm flipV="1">
            <a:off x="6659563" y="4508500"/>
            <a:ext cx="576263" cy="73025"/>
          </a:xfrm>
          <a:custGeom>
            <a:avLst/>
            <a:gdLst>
              <a:gd name="T0" fmla="*/ 0 w 21600"/>
              <a:gd name="T1" fmla="*/ 0 h 21600"/>
              <a:gd name="T2" fmla="*/ 576262 w 21600"/>
              <a:gd name="T3" fmla="*/ 73025 h 21600"/>
              <a:gd name="T4" fmla="*/ 0 w 21600"/>
              <a:gd name="T5" fmla="*/ 730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44" name="弧 88"/>
          <p:cNvSpPr/>
          <p:nvPr/>
        </p:nvSpPr>
        <p:spPr bwMode="auto">
          <a:xfrm>
            <a:off x="6948488" y="3933825"/>
            <a:ext cx="576263" cy="71438"/>
          </a:xfrm>
          <a:custGeom>
            <a:avLst/>
            <a:gdLst>
              <a:gd name="T0" fmla="*/ 0 w 21600"/>
              <a:gd name="T1" fmla="*/ 0 h 21600"/>
              <a:gd name="T2" fmla="*/ 576262 w 21600"/>
              <a:gd name="T3" fmla="*/ 71438 h 21600"/>
              <a:gd name="T4" fmla="*/ 0 w 21600"/>
              <a:gd name="T5" fmla="*/ 7143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45" name="弧 89"/>
          <p:cNvSpPr/>
          <p:nvPr/>
        </p:nvSpPr>
        <p:spPr bwMode="auto">
          <a:xfrm>
            <a:off x="7451725" y="4365625"/>
            <a:ext cx="360363" cy="71438"/>
          </a:xfrm>
          <a:custGeom>
            <a:avLst/>
            <a:gdLst>
              <a:gd name="T0" fmla="*/ 0 w 21600"/>
              <a:gd name="T1" fmla="*/ 0 h 21600"/>
              <a:gd name="T2" fmla="*/ 360363 w 21600"/>
              <a:gd name="T3" fmla="*/ 71438 h 21600"/>
              <a:gd name="T4" fmla="*/ 0 w 21600"/>
              <a:gd name="T5" fmla="*/ 7143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9546" name="弧 90"/>
          <p:cNvSpPr/>
          <p:nvPr/>
        </p:nvSpPr>
        <p:spPr bwMode="auto">
          <a:xfrm>
            <a:off x="7380288" y="4868863"/>
            <a:ext cx="504825" cy="73025"/>
          </a:xfrm>
          <a:custGeom>
            <a:avLst/>
            <a:gdLst>
              <a:gd name="T0" fmla="*/ 0 w 21600"/>
              <a:gd name="T1" fmla="*/ 0 h 21600"/>
              <a:gd name="T2" fmla="*/ 504825 w 21600"/>
              <a:gd name="T3" fmla="*/ 73025 h 21600"/>
              <a:gd name="T4" fmla="*/ 0 w 21600"/>
              <a:gd name="T5" fmla="*/ 730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cxnSp>
        <p:nvCxnSpPr>
          <p:cNvPr id="17473" name="AutoShape 91"/>
          <p:cNvCxnSpPr/>
          <p:nvPr/>
        </p:nvCxnSpPr>
        <p:spPr>
          <a:xfrm flipV="1">
            <a:off x="1403350" y="4797425"/>
            <a:ext cx="176213" cy="974725"/>
          </a:xfrm>
          <a:prstGeom prst="straightConnector1">
            <a:avLst/>
          </a:prstGeom>
          <a:ln w="38100" cap="flat" cmpd="sng">
            <a:solidFill>
              <a:schemeClr val="tx1"/>
            </a:solidFill>
            <a:prstDash val="solid"/>
            <a:headEnd type="none" w="med" len="med"/>
            <a:tailEnd type="none" w="med" len="med"/>
          </a:ln>
        </p:spPr>
      </p:cxnSp>
      <p:cxnSp>
        <p:nvCxnSpPr>
          <p:cNvPr id="17474" name="AutoShape 94"/>
          <p:cNvCxnSpPr>
            <a:stCxn id="19479" idx="2"/>
          </p:cNvCxnSpPr>
          <p:nvPr/>
        </p:nvCxnSpPr>
        <p:spPr>
          <a:xfrm flipH="1">
            <a:off x="4356100" y="4797425"/>
            <a:ext cx="215900" cy="939800"/>
          </a:xfrm>
          <a:prstGeom prst="straightConnector1">
            <a:avLst/>
          </a:prstGeom>
          <a:ln w="38100" cap="flat" cmpd="sng">
            <a:solidFill>
              <a:schemeClr val="tx1"/>
            </a:solidFill>
            <a:prstDash val="solid"/>
            <a:headEnd type="none" w="med" len="med"/>
            <a:tailEnd type="none" w="med" len="med"/>
          </a:ln>
        </p:spPr>
      </p:cxnSp>
      <p:cxnSp>
        <p:nvCxnSpPr>
          <p:cNvPr id="17475" name="AutoShape 6"/>
          <p:cNvCxnSpPr/>
          <p:nvPr/>
        </p:nvCxnSpPr>
        <p:spPr>
          <a:xfrm>
            <a:off x="1547813" y="5084763"/>
            <a:ext cx="287337" cy="0"/>
          </a:xfrm>
          <a:prstGeom prst="straightConnector1">
            <a:avLst/>
          </a:prstGeom>
          <a:ln w="9525" cap="flat" cmpd="sng">
            <a:solidFill>
              <a:schemeClr val="tx1"/>
            </a:solidFill>
            <a:prstDash val="solid"/>
            <a:headEnd type="none" w="med" len="med"/>
            <a:tailEnd type="none" w="med" len="med"/>
          </a:ln>
        </p:spPr>
      </p:cxnSp>
      <p:cxnSp>
        <p:nvCxnSpPr>
          <p:cNvPr id="17476" name="AutoShape 7"/>
          <p:cNvCxnSpPr/>
          <p:nvPr/>
        </p:nvCxnSpPr>
        <p:spPr>
          <a:xfrm>
            <a:off x="1476375" y="5300663"/>
            <a:ext cx="215900" cy="0"/>
          </a:xfrm>
          <a:prstGeom prst="straightConnector1">
            <a:avLst/>
          </a:prstGeom>
          <a:ln w="9525" cap="flat" cmpd="sng">
            <a:solidFill>
              <a:schemeClr val="tx1"/>
            </a:solidFill>
            <a:prstDash val="solid"/>
            <a:headEnd type="none" w="med" len="med"/>
            <a:tailEnd type="none" w="med" len="med"/>
          </a:ln>
        </p:spPr>
      </p:cxnSp>
      <p:cxnSp>
        <p:nvCxnSpPr>
          <p:cNvPr id="17477" name="AutoShape 8"/>
          <p:cNvCxnSpPr/>
          <p:nvPr/>
        </p:nvCxnSpPr>
        <p:spPr>
          <a:xfrm>
            <a:off x="1476375" y="5445125"/>
            <a:ext cx="215900" cy="0"/>
          </a:xfrm>
          <a:prstGeom prst="straightConnector1">
            <a:avLst/>
          </a:prstGeom>
          <a:ln w="9525" cap="flat" cmpd="sng">
            <a:solidFill>
              <a:schemeClr val="tx1"/>
            </a:solidFill>
            <a:prstDash val="solid"/>
            <a:headEnd type="none" w="med" len="med"/>
            <a:tailEnd type="none" w="med" len="med"/>
          </a:ln>
        </p:spPr>
      </p:cxnSp>
      <p:cxnSp>
        <p:nvCxnSpPr>
          <p:cNvPr id="17478" name="AutoShape 9"/>
          <p:cNvCxnSpPr/>
          <p:nvPr/>
        </p:nvCxnSpPr>
        <p:spPr>
          <a:xfrm>
            <a:off x="2555875" y="4581525"/>
            <a:ext cx="71438" cy="215900"/>
          </a:xfrm>
          <a:prstGeom prst="straightConnector1">
            <a:avLst/>
          </a:prstGeom>
          <a:ln w="9525" cap="flat" cmpd="sng">
            <a:solidFill>
              <a:schemeClr val="tx1"/>
            </a:solidFill>
            <a:prstDash val="solid"/>
            <a:headEnd type="none" w="med" len="med"/>
            <a:tailEnd type="none" w="med" len="med"/>
          </a:ln>
        </p:spPr>
      </p:cxnSp>
      <p:cxnSp>
        <p:nvCxnSpPr>
          <p:cNvPr id="17479" name="AutoShape 10"/>
          <p:cNvCxnSpPr/>
          <p:nvPr/>
        </p:nvCxnSpPr>
        <p:spPr>
          <a:xfrm>
            <a:off x="2700338" y="4581525"/>
            <a:ext cx="71437" cy="215900"/>
          </a:xfrm>
          <a:prstGeom prst="straightConnector1">
            <a:avLst/>
          </a:prstGeom>
          <a:ln w="9525" cap="flat" cmpd="sng">
            <a:solidFill>
              <a:schemeClr val="tx1"/>
            </a:solidFill>
            <a:prstDash val="solid"/>
            <a:headEnd type="none" w="med" len="med"/>
            <a:tailEnd type="none" w="med" len="med"/>
          </a:ln>
        </p:spPr>
      </p:cxnSp>
      <p:cxnSp>
        <p:nvCxnSpPr>
          <p:cNvPr id="17480" name="AutoShape 11"/>
          <p:cNvCxnSpPr/>
          <p:nvPr/>
        </p:nvCxnSpPr>
        <p:spPr>
          <a:xfrm>
            <a:off x="2843213" y="4581525"/>
            <a:ext cx="73025" cy="215900"/>
          </a:xfrm>
          <a:prstGeom prst="straightConnector1">
            <a:avLst/>
          </a:prstGeom>
          <a:ln w="9525" cap="flat" cmpd="sng">
            <a:solidFill>
              <a:schemeClr val="tx1"/>
            </a:solidFill>
            <a:prstDash val="solid"/>
            <a:headEnd type="none" w="med" len="med"/>
            <a:tailEnd type="none" w="med" len="med"/>
          </a:ln>
        </p:spPr>
      </p:cxnSp>
      <p:cxnSp>
        <p:nvCxnSpPr>
          <p:cNvPr id="17481" name="AutoShape 12"/>
          <p:cNvCxnSpPr/>
          <p:nvPr/>
        </p:nvCxnSpPr>
        <p:spPr>
          <a:xfrm>
            <a:off x="2987675" y="4581525"/>
            <a:ext cx="71438" cy="142875"/>
          </a:xfrm>
          <a:prstGeom prst="straightConnector1">
            <a:avLst/>
          </a:prstGeom>
          <a:ln w="9525" cap="flat" cmpd="sng">
            <a:solidFill>
              <a:schemeClr val="tx1"/>
            </a:solidFill>
            <a:prstDash val="solid"/>
            <a:headEnd type="none" w="med" len="med"/>
            <a:tailEnd type="none" w="med" len="med"/>
          </a:ln>
        </p:spPr>
      </p:cxnSp>
      <p:cxnSp>
        <p:nvCxnSpPr>
          <p:cNvPr id="17482" name="AutoShape 13"/>
          <p:cNvCxnSpPr/>
          <p:nvPr/>
        </p:nvCxnSpPr>
        <p:spPr>
          <a:xfrm>
            <a:off x="3132138" y="4508500"/>
            <a:ext cx="71437" cy="215900"/>
          </a:xfrm>
          <a:prstGeom prst="straightConnector1">
            <a:avLst/>
          </a:prstGeom>
          <a:ln w="9525" cap="flat" cmpd="sng">
            <a:solidFill>
              <a:schemeClr val="tx1"/>
            </a:solidFill>
            <a:prstDash val="solid"/>
            <a:headEnd type="none" w="med" len="med"/>
            <a:tailEnd type="none" w="med" len="med"/>
          </a:ln>
        </p:spPr>
      </p:cxnSp>
      <p:cxnSp>
        <p:nvCxnSpPr>
          <p:cNvPr id="17483" name="AutoShape 14"/>
          <p:cNvCxnSpPr/>
          <p:nvPr/>
        </p:nvCxnSpPr>
        <p:spPr>
          <a:xfrm>
            <a:off x="3276600" y="4508500"/>
            <a:ext cx="71438" cy="215900"/>
          </a:xfrm>
          <a:prstGeom prst="straightConnector1">
            <a:avLst/>
          </a:prstGeom>
          <a:ln w="9525" cap="flat" cmpd="sng">
            <a:solidFill>
              <a:schemeClr val="tx1"/>
            </a:solidFill>
            <a:prstDash val="solid"/>
            <a:headEnd type="none" w="med" len="med"/>
            <a:tailEnd type="none" w="med" len="med"/>
          </a:ln>
        </p:spPr>
      </p:cxnSp>
      <p:cxnSp>
        <p:nvCxnSpPr>
          <p:cNvPr id="17484" name="AutoShape 15"/>
          <p:cNvCxnSpPr/>
          <p:nvPr/>
        </p:nvCxnSpPr>
        <p:spPr>
          <a:xfrm flipV="1">
            <a:off x="4211638" y="4076700"/>
            <a:ext cx="360362" cy="73025"/>
          </a:xfrm>
          <a:prstGeom prst="straightConnector1">
            <a:avLst/>
          </a:prstGeom>
          <a:ln w="9525" cap="flat" cmpd="sng">
            <a:solidFill>
              <a:schemeClr val="tx1"/>
            </a:solidFill>
            <a:prstDash val="solid"/>
            <a:headEnd type="none" w="med" len="med"/>
            <a:tailEnd type="none" w="med" len="med"/>
          </a:ln>
        </p:spPr>
      </p:cxnSp>
      <p:cxnSp>
        <p:nvCxnSpPr>
          <p:cNvPr id="17485" name="AutoShape 16"/>
          <p:cNvCxnSpPr/>
          <p:nvPr/>
        </p:nvCxnSpPr>
        <p:spPr>
          <a:xfrm flipV="1">
            <a:off x="4140200" y="3860800"/>
            <a:ext cx="360363" cy="73025"/>
          </a:xfrm>
          <a:prstGeom prst="straightConnector1">
            <a:avLst/>
          </a:prstGeom>
          <a:ln w="9525" cap="flat" cmpd="sng">
            <a:solidFill>
              <a:schemeClr val="tx1"/>
            </a:solidFill>
            <a:prstDash val="solid"/>
            <a:headEnd type="none" w="med" len="med"/>
            <a:tailEnd type="none" w="med" len="med"/>
          </a:ln>
        </p:spPr>
      </p:cxnSp>
      <p:cxnSp>
        <p:nvCxnSpPr>
          <p:cNvPr id="17486" name="AutoShape 18"/>
          <p:cNvCxnSpPr/>
          <p:nvPr/>
        </p:nvCxnSpPr>
        <p:spPr>
          <a:xfrm>
            <a:off x="4211638" y="5013325"/>
            <a:ext cx="360362" cy="0"/>
          </a:xfrm>
          <a:prstGeom prst="straightConnector1">
            <a:avLst/>
          </a:prstGeom>
          <a:ln w="9525" cap="flat" cmpd="sng">
            <a:solidFill>
              <a:schemeClr val="tx1"/>
            </a:solidFill>
            <a:prstDash val="solid"/>
            <a:headEnd type="none" w="med" len="med"/>
            <a:tailEnd type="none" w="med" len="med"/>
          </a:ln>
        </p:spPr>
      </p:cxnSp>
      <p:cxnSp>
        <p:nvCxnSpPr>
          <p:cNvPr id="17487" name="AutoShape 19"/>
          <p:cNvCxnSpPr/>
          <p:nvPr/>
        </p:nvCxnSpPr>
        <p:spPr>
          <a:xfrm>
            <a:off x="4140200" y="5157788"/>
            <a:ext cx="360363" cy="0"/>
          </a:xfrm>
          <a:prstGeom prst="straightConnector1">
            <a:avLst/>
          </a:prstGeom>
          <a:ln w="9525" cap="flat" cmpd="sng">
            <a:solidFill>
              <a:schemeClr val="tx1"/>
            </a:solidFill>
            <a:prstDash val="solid"/>
            <a:headEnd type="none" w="med" len="med"/>
            <a:tailEnd type="none" w="med" len="med"/>
          </a:ln>
        </p:spPr>
      </p:cxnSp>
      <p:cxnSp>
        <p:nvCxnSpPr>
          <p:cNvPr id="17488" name="AutoShape 21"/>
          <p:cNvCxnSpPr/>
          <p:nvPr/>
        </p:nvCxnSpPr>
        <p:spPr>
          <a:xfrm>
            <a:off x="4140200" y="5300663"/>
            <a:ext cx="360363" cy="0"/>
          </a:xfrm>
          <a:prstGeom prst="straightConnector1">
            <a:avLst/>
          </a:prstGeom>
          <a:ln w="9525" cap="flat" cmpd="sng">
            <a:solidFill>
              <a:schemeClr val="tx1"/>
            </a:solidFill>
            <a:prstDash val="solid"/>
            <a:headEnd type="none" w="med" len="med"/>
            <a:tailEnd type="none" w="med" len="med"/>
          </a:ln>
        </p:spPr>
      </p:cxnSp>
      <p:cxnSp>
        <p:nvCxnSpPr>
          <p:cNvPr id="17489" name="AutoShape 22"/>
          <p:cNvCxnSpPr/>
          <p:nvPr/>
        </p:nvCxnSpPr>
        <p:spPr>
          <a:xfrm>
            <a:off x="5148263" y="4076700"/>
            <a:ext cx="287337" cy="0"/>
          </a:xfrm>
          <a:prstGeom prst="straightConnector1">
            <a:avLst/>
          </a:prstGeom>
          <a:ln w="9525" cap="flat" cmpd="sng">
            <a:solidFill>
              <a:schemeClr val="tx1"/>
            </a:solidFill>
            <a:prstDash val="solid"/>
            <a:headEnd type="none" w="med" len="med"/>
            <a:tailEnd type="none" w="med" len="med"/>
          </a:ln>
        </p:spPr>
      </p:cxnSp>
      <p:cxnSp>
        <p:nvCxnSpPr>
          <p:cNvPr id="17490" name="AutoShape 23"/>
          <p:cNvCxnSpPr/>
          <p:nvPr/>
        </p:nvCxnSpPr>
        <p:spPr>
          <a:xfrm>
            <a:off x="5219700" y="3860800"/>
            <a:ext cx="360363" cy="0"/>
          </a:xfrm>
          <a:prstGeom prst="straightConnector1">
            <a:avLst/>
          </a:prstGeom>
          <a:ln w="9525" cap="flat" cmpd="sng">
            <a:solidFill>
              <a:schemeClr val="tx1"/>
            </a:solidFill>
            <a:prstDash val="solid"/>
            <a:headEnd type="none" w="med" len="med"/>
            <a:tailEnd type="none" w="med" len="med"/>
          </a:ln>
        </p:spPr>
      </p:cxnSp>
      <p:cxnSp>
        <p:nvCxnSpPr>
          <p:cNvPr id="17491" name="AutoShape 24"/>
          <p:cNvCxnSpPr/>
          <p:nvPr/>
        </p:nvCxnSpPr>
        <p:spPr>
          <a:xfrm flipH="1">
            <a:off x="5292725" y="4868863"/>
            <a:ext cx="287338" cy="73025"/>
          </a:xfrm>
          <a:prstGeom prst="straightConnector1">
            <a:avLst/>
          </a:prstGeom>
          <a:ln w="9525" cap="flat" cmpd="sng">
            <a:solidFill>
              <a:schemeClr val="tx1"/>
            </a:solidFill>
            <a:prstDash val="solid"/>
            <a:headEnd type="none" w="med" len="med"/>
            <a:tailEnd type="none" w="med" len="med"/>
          </a:ln>
        </p:spPr>
      </p:cxnSp>
      <p:cxnSp>
        <p:nvCxnSpPr>
          <p:cNvPr id="17492" name="AutoShape 25"/>
          <p:cNvCxnSpPr/>
          <p:nvPr/>
        </p:nvCxnSpPr>
        <p:spPr>
          <a:xfrm flipV="1">
            <a:off x="5435600" y="5084763"/>
            <a:ext cx="288925" cy="73025"/>
          </a:xfrm>
          <a:prstGeom prst="straightConnector1">
            <a:avLst/>
          </a:prstGeom>
          <a:ln w="9525" cap="flat" cmpd="sng">
            <a:solidFill>
              <a:schemeClr val="tx1"/>
            </a:solidFill>
            <a:prstDash val="solid"/>
            <a:headEnd type="none" w="med" len="med"/>
            <a:tailEnd type="none" w="med" len="med"/>
          </a:ln>
        </p:spPr>
      </p:cxnSp>
      <p:cxnSp>
        <p:nvCxnSpPr>
          <p:cNvPr id="17493" name="AutoShape 26"/>
          <p:cNvCxnSpPr/>
          <p:nvPr/>
        </p:nvCxnSpPr>
        <p:spPr>
          <a:xfrm flipV="1">
            <a:off x="5580063" y="5229225"/>
            <a:ext cx="287337" cy="71438"/>
          </a:xfrm>
          <a:prstGeom prst="straightConnector1">
            <a:avLst/>
          </a:prstGeom>
          <a:ln w="9525" cap="flat" cmpd="sng">
            <a:solidFill>
              <a:schemeClr val="tx1"/>
            </a:solidFill>
            <a:prstDash val="solid"/>
            <a:headEnd type="none" w="med" len="med"/>
            <a:tailEnd type="none" w="med" len="med"/>
          </a:ln>
        </p:spPr>
      </p:cxnSp>
      <p:cxnSp>
        <p:nvCxnSpPr>
          <p:cNvPr id="17494" name="AutoShape 27"/>
          <p:cNvCxnSpPr/>
          <p:nvPr/>
        </p:nvCxnSpPr>
        <p:spPr>
          <a:xfrm flipV="1">
            <a:off x="5651500" y="5373688"/>
            <a:ext cx="288925" cy="71437"/>
          </a:xfrm>
          <a:prstGeom prst="straightConnector1">
            <a:avLst/>
          </a:prstGeom>
          <a:ln w="9525" cap="flat" cmpd="sng">
            <a:solidFill>
              <a:schemeClr val="tx1"/>
            </a:solidFill>
            <a:prstDash val="solid"/>
            <a:headEnd type="none" w="med" len="med"/>
            <a:tailEnd type="none" w="med" len="med"/>
          </a:ln>
        </p:spPr>
      </p:cxnSp>
      <p:cxnSp>
        <p:nvCxnSpPr>
          <p:cNvPr id="17495" name="AutoShape 38"/>
          <p:cNvCxnSpPr/>
          <p:nvPr/>
        </p:nvCxnSpPr>
        <p:spPr>
          <a:xfrm flipH="1">
            <a:off x="1619250" y="3644900"/>
            <a:ext cx="19050" cy="863600"/>
          </a:xfrm>
          <a:prstGeom prst="straightConnector1">
            <a:avLst/>
          </a:prstGeom>
          <a:ln w="38100" cap="flat" cmpd="sng">
            <a:solidFill>
              <a:schemeClr val="tx1"/>
            </a:solidFill>
            <a:prstDash val="solid"/>
            <a:headEnd type="none" w="med" len="med"/>
            <a:tailEnd type="none" w="med" len="med"/>
          </a:ln>
        </p:spPr>
      </p:cxnSp>
      <p:cxnSp>
        <p:nvCxnSpPr>
          <p:cNvPr id="17496" name="AutoShape 39"/>
          <p:cNvCxnSpPr>
            <a:endCxn id="19472" idx="2"/>
          </p:cNvCxnSpPr>
          <p:nvPr/>
        </p:nvCxnSpPr>
        <p:spPr>
          <a:xfrm>
            <a:off x="1835150" y="3644900"/>
            <a:ext cx="0" cy="949325"/>
          </a:xfrm>
          <a:prstGeom prst="straightConnector1">
            <a:avLst/>
          </a:prstGeom>
          <a:ln w="38100" cap="flat" cmpd="sng">
            <a:solidFill>
              <a:schemeClr val="tx1"/>
            </a:solidFill>
            <a:prstDash val="solid"/>
            <a:headEnd type="none" w="med" len="med"/>
            <a:tailEnd type="none" w="med" len="med"/>
          </a:ln>
        </p:spPr>
      </p:cxnSp>
      <p:cxnSp>
        <p:nvCxnSpPr>
          <p:cNvPr id="17497" name="AutoShape 40"/>
          <p:cNvCxnSpPr/>
          <p:nvPr/>
        </p:nvCxnSpPr>
        <p:spPr>
          <a:xfrm>
            <a:off x="1619250" y="4221163"/>
            <a:ext cx="215900" cy="0"/>
          </a:xfrm>
          <a:prstGeom prst="straightConnector1">
            <a:avLst/>
          </a:prstGeom>
          <a:ln w="9525" cap="flat" cmpd="sng">
            <a:solidFill>
              <a:schemeClr val="tx1"/>
            </a:solidFill>
            <a:prstDash val="solid"/>
            <a:headEnd type="none" w="med" len="med"/>
            <a:tailEnd type="none" w="med" len="med"/>
          </a:ln>
        </p:spPr>
      </p:cxnSp>
      <p:cxnSp>
        <p:nvCxnSpPr>
          <p:cNvPr id="17498" name="AutoShape 42"/>
          <p:cNvCxnSpPr/>
          <p:nvPr/>
        </p:nvCxnSpPr>
        <p:spPr>
          <a:xfrm>
            <a:off x="1619250" y="4005263"/>
            <a:ext cx="215900" cy="0"/>
          </a:xfrm>
          <a:prstGeom prst="straightConnector1">
            <a:avLst/>
          </a:prstGeom>
          <a:ln w="9525" cap="flat" cmpd="sng">
            <a:solidFill>
              <a:schemeClr val="tx1"/>
            </a:solidFill>
            <a:prstDash val="solid"/>
            <a:headEnd type="none" w="med" len="med"/>
            <a:tailEnd type="none" w="med" len="med"/>
          </a:ln>
        </p:spPr>
      </p:cxn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rrowheads="1"/>
          </p:cNvSpPr>
          <p:nvPr>
            <p:ph type="title"/>
          </p:nvPr>
        </p:nvSpPr>
        <p:spPr>
          <a:xfrm>
            <a:off x="468313" y="476250"/>
            <a:ext cx="8229600"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Euler </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定理</a:t>
            </a:r>
          </a:p>
        </p:txBody>
      </p:sp>
      <p:sp>
        <p:nvSpPr>
          <p:cNvPr id="122883" name="Rectangle 3"/>
          <p:cNvSpPr>
            <a:spLocks noGrp="1" noChangeArrowheads="1"/>
          </p:cNvSpPr>
          <p:nvPr>
            <p:ph idx="1"/>
          </p:nvPr>
        </p:nvSpPr>
        <p:spPr>
          <a:xfrm>
            <a:off x="179388" y="1484313"/>
            <a:ext cx="8229600" cy="208915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如果一个图包含一条经过每条边恰好一次的闭途径，则称这个图为</a:t>
            </a: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欧拉图</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70000"/>
              <a:buFont typeface="Wingdings" panose="05000000000000000000" pitchFamily="2" charset="2"/>
              <a:buChar char="n"/>
              <a:defRPr/>
            </a:pP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对任意的非空连通图，若它是</a:t>
            </a: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欧拉的</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当且仅当它没有奇度点。</a:t>
            </a:r>
          </a:p>
        </p:txBody>
      </p:sp>
      <p:sp>
        <p:nvSpPr>
          <p:cNvPr id="122900" name="Oval 20"/>
          <p:cNvSpPr>
            <a:spLocks noChangeArrowheads="1"/>
          </p:cNvSpPr>
          <p:nvPr/>
        </p:nvSpPr>
        <p:spPr bwMode="auto">
          <a:xfrm>
            <a:off x="4643438" y="3500438"/>
            <a:ext cx="142875" cy="144463"/>
          </a:xfrm>
          <a:prstGeom prst="ellipse">
            <a:avLst/>
          </a:prstGeom>
          <a:solidFill>
            <a:schemeClr val="accent2"/>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22901" name="Oval 21"/>
          <p:cNvSpPr>
            <a:spLocks noChangeArrowheads="1"/>
          </p:cNvSpPr>
          <p:nvPr/>
        </p:nvSpPr>
        <p:spPr bwMode="auto">
          <a:xfrm>
            <a:off x="4645025" y="5661025"/>
            <a:ext cx="142875" cy="144463"/>
          </a:xfrm>
          <a:prstGeom prst="ellipse">
            <a:avLst/>
          </a:prstGeom>
          <a:solidFill>
            <a:schemeClr val="accent2"/>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22902" name="Oval 22"/>
          <p:cNvSpPr>
            <a:spLocks noChangeArrowheads="1"/>
          </p:cNvSpPr>
          <p:nvPr/>
        </p:nvSpPr>
        <p:spPr bwMode="auto">
          <a:xfrm>
            <a:off x="6300788" y="4724400"/>
            <a:ext cx="142875" cy="144463"/>
          </a:xfrm>
          <a:prstGeom prst="ellipse">
            <a:avLst/>
          </a:prstGeom>
          <a:solidFill>
            <a:schemeClr val="accent2"/>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22903" name="Oval 23"/>
          <p:cNvSpPr>
            <a:spLocks noChangeArrowheads="1"/>
          </p:cNvSpPr>
          <p:nvPr/>
        </p:nvSpPr>
        <p:spPr bwMode="auto">
          <a:xfrm>
            <a:off x="3060700" y="4652963"/>
            <a:ext cx="142875" cy="144463"/>
          </a:xfrm>
          <a:prstGeom prst="ellipse">
            <a:avLst/>
          </a:prstGeom>
          <a:solidFill>
            <a:schemeClr val="accent2"/>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cxnSp>
        <p:nvCxnSpPr>
          <p:cNvPr id="18440" name="AutoShape 24"/>
          <p:cNvCxnSpPr>
            <a:stCxn id="122903" idx="2"/>
            <a:endCxn id="122900" idx="1"/>
          </p:cNvCxnSpPr>
          <p:nvPr/>
        </p:nvCxnSpPr>
        <p:spPr>
          <a:xfrm flipV="1">
            <a:off x="3060700" y="3521075"/>
            <a:ext cx="1603375" cy="1204913"/>
          </a:xfrm>
          <a:prstGeom prst="straightConnector1">
            <a:avLst/>
          </a:prstGeom>
          <a:ln w="9525" cap="flat" cmpd="sng">
            <a:solidFill>
              <a:schemeClr val="tx1"/>
            </a:solidFill>
            <a:prstDash val="solid"/>
            <a:headEnd type="none" w="med" len="med"/>
            <a:tailEnd type="none" w="med" len="med"/>
          </a:ln>
        </p:spPr>
      </p:cxnSp>
      <p:cxnSp>
        <p:nvCxnSpPr>
          <p:cNvPr id="18441" name="AutoShape 25"/>
          <p:cNvCxnSpPr>
            <a:stCxn id="122903" idx="7"/>
            <a:endCxn id="122901" idx="4"/>
          </p:cNvCxnSpPr>
          <p:nvPr/>
        </p:nvCxnSpPr>
        <p:spPr>
          <a:xfrm>
            <a:off x="3182938" y="4673600"/>
            <a:ext cx="1533525" cy="1131888"/>
          </a:xfrm>
          <a:prstGeom prst="straightConnector1">
            <a:avLst/>
          </a:prstGeom>
          <a:ln w="9525" cap="flat" cmpd="sng">
            <a:solidFill>
              <a:schemeClr val="tx1"/>
            </a:solidFill>
            <a:prstDash val="solid"/>
            <a:headEnd type="none" w="med" len="med"/>
            <a:tailEnd type="none" w="med" len="med"/>
          </a:ln>
        </p:spPr>
      </p:cxnSp>
      <p:cxnSp>
        <p:nvCxnSpPr>
          <p:cNvPr id="18442" name="AutoShape 26"/>
          <p:cNvCxnSpPr/>
          <p:nvPr/>
        </p:nvCxnSpPr>
        <p:spPr>
          <a:xfrm>
            <a:off x="3132138" y="4724400"/>
            <a:ext cx="3219450" cy="50800"/>
          </a:xfrm>
          <a:prstGeom prst="straightConnector1">
            <a:avLst/>
          </a:prstGeom>
          <a:ln w="9525" cap="flat" cmpd="sng">
            <a:solidFill>
              <a:schemeClr val="tx1"/>
            </a:solidFill>
            <a:prstDash val="solid"/>
            <a:headEnd type="none" w="med" len="med"/>
            <a:tailEnd type="none" w="med" len="med"/>
          </a:ln>
        </p:spPr>
      </p:cxnSp>
      <p:cxnSp>
        <p:nvCxnSpPr>
          <p:cNvPr id="18443" name="AutoShape 31"/>
          <p:cNvCxnSpPr>
            <a:stCxn id="122901" idx="6"/>
            <a:endCxn id="122902" idx="5"/>
          </p:cNvCxnSpPr>
          <p:nvPr/>
        </p:nvCxnSpPr>
        <p:spPr>
          <a:xfrm flipV="1">
            <a:off x="4787900" y="4848225"/>
            <a:ext cx="1635125" cy="885825"/>
          </a:xfrm>
          <a:prstGeom prst="curvedConnector2">
            <a:avLst/>
          </a:prstGeom>
          <a:ln w="9525" cap="flat" cmpd="sng">
            <a:solidFill>
              <a:schemeClr val="tx1"/>
            </a:solidFill>
            <a:prstDash val="solid"/>
            <a:headEnd type="none" w="med" len="med"/>
            <a:tailEnd type="none" w="med" len="med"/>
          </a:ln>
        </p:spPr>
      </p:cxnSp>
      <p:cxnSp>
        <p:nvCxnSpPr>
          <p:cNvPr id="18444" name="AutoShape 33"/>
          <p:cNvCxnSpPr>
            <a:stCxn id="122901" idx="1"/>
            <a:endCxn id="122902" idx="2"/>
          </p:cNvCxnSpPr>
          <p:nvPr/>
        </p:nvCxnSpPr>
        <p:spPr>
          <a:xfrm rot="-5400000">
            <a:off x="5040313" y="4421188"/>
            <a:ext cx="884237" cy="1635125"/>
          </a:xfrm>
          <a:prstGeom prst="curvedConnector2">
            <a:avLst/>
          </a:prstGeom>
          <a:ln w="9525" cap="flat" cmpd="sng">
            <a:solidFill>
              <a:schemeClr val="tx1"/>
            </a:solidFill>
            <a:prstDash val="solid"/>
            <a:headEnd type="none" w="med" len="med"/>
            <a:tailEnd type="none" w="med" len="med"/>
          </a:ln>
        </p:spPr>
      </p:cxnSp>
      <p:cxnSp>
        <p:nvCxnSpPr>
          <p:cNvPr id="18445" name="AutoShape 36"/>
          <p:cNvCxnSpPr/>
          <p:nvPr/>
        </p:nvCxnSpPr>
        <p:spPr>
          <a:xfrm rot="-5400000" flipH="1">
            <a:off x="4948238" y="3413125"/>
            <a:ext cx="1100137" cy="1563688"/>
          </a:xfrm>
          <a:prstGeom prst="curvedConnector2">
            <a:avLst/>
          </a:prstGeom>
          <a:ln w="9525" cap="flat" cmpd="sng">
            <a:solidFill>
              <a:schemeClr val="tx1"/>
            </a:solidFill>
            <a:prstDash val="solid"/>
            <a:headEnd type="none" w="med" len="med"/>
            <a:tailEnd type="none" w="med" len="med"/>
          </a:ln>
        </p:spPr>
      </p:cxnSp>
      <p:cxnSp>
        <p:nvCxnSpPr>
          <p:cNvPr id="18446" name="AutoShape 38"/>
          <p:cNvCxnSpPr>
            <a:stCxn id="122902" idx="7"/>
            <a:endCxn id="122900" idx="6"/>
          </p:cNvCxnSpPr>
          <p:nvPr/>
        </p:nvCxnSpPr>
        <p:spPr>
          <a:xfrm rot="5400000" flipH="1">
            <a:off x="5018088" y="3340100"/>
            <a:ext cx="1171575" cy="1636713"/>
          </a:xfrm>
          <a:prstGeom prst="curvedConnector2">
            <a:avLst/>
          </a:prstGeom>
          <a:ln w="9525" cap="flat" cmpd="sng">
            <a:solidFill>
              <a:schemeClr val="tx1"/>
            </a:solidFill>
            <a:prstDash val="solid"/>
            <a:headEnd type="none" w="med" len="med"/>
            <a:tailEnd type="none" w="med" len="med"/>
          </a:ln>
        </p:spPr>
      </p:cxnSp>
      <p:sp>
        <p:nvSpPr>
          <p:cNvPr id="122919" name="Text Box 39"/>
          <p:cNvSpPr txBox="1">
            <a:spLocks noChangeArrowheads="1"/>
          </p:cNvSpPr>
          <p:nvPr/>
        </p:nvSpPr>
        <p:spPr bwMode="auto">
          <a:xfrm>
            <a:off x="3203575" y="6021388"/>
            <a:ext cx="3024188" cy="396875"/>
          </a:xfrm>
          <a:prstGeom prst="rect">
            <a:avLst/>
          </a:prstGeom>
          <a:noFill/>
          <a:ln>
            <a:noFill/>
          </a:ln>
          <a:effectLst/>
        </p:spPr>
        <p:txBody>
          <a:bodyPr>
            <a:spAutoFit/>
          </a:bodyPr>
          <a:lstStyle/>
          <a:p>
            <a:pPr marR="0" defTabSz="914400">
              <a:spcBef>
                <a:spcPct val="50000"/>
              </a:spcBef>
              <a:buClrTx/>
              <a:buSzTx/>
              <a:buFontTx/>
              <a:buNone/>
              <a:defRPr/>
            </a:pPr>
            <a:r>
              <a:rPr kumimoji="0" lang="en-US" altLang="zh-CN" sz="2000" kern="1200" cap="none" spc="0" normalizeH="0" baseline="0" noProof="0">
                <a:effectLst>
                  <a:outerShdw blurRad="38100" dist="38100" dir="2700000" algn="tl">
                    <a:srgbClr val="000000"/>
                  </a:outerShdw>
                </a:effectLst>
                <a:latin typeface="Garamond" pitchFamily="18" charset="0"/>
                <a:ea typeface="宋体" pitchFamily="2" charset="-122"/>
                <a:cs typeface="+mn-cs"/>
              </a:rPr>
              <a:t>Königsberg</a:t>
            </a:r>
            <a:r>
              <a:rPr kumimoji="0" lang="zh-CN" altLang="en-US" sz="2000" kern="1200" cap="none" spc="0" normalizeH="0" baseline="0" noProof="0">
                <a:effectLst>
                  <a:outerShdw blurRad="38100" dist="38100" dir="2700000" algn="tl">
                    <a:srgbClr val="000000"/>
                  </a:outerShdw>
                </a:effectLst>
                <a:latin typeface="Garamond" pitchFamily="18" charset="0"/>
                <a:ea typeface="宋体" pitchFamily="2" charset="-122"/>
                <a:cs typeface="+mn-cs"/>
              </a:rPr>
              <a:t>桥对应的图</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8066" name="Rectangle 2"/>
              <p:cNvSpPr>
                <a:spLocks noGrp="1" noRot="1" noChangeArrowheads="1"/>
              </p:cNvSpPr>
              <p:nvPr>
                <p:ph type="title"/>
              </p:nvPr>
            </p:nvSpPr>
            <p:spPr>
              <a:xfrm>
                <a:off x="251520" y="1628800"/>
                <a:ext cx="8892480" cy="504056"/>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0000FF"/>
                    </a:solidFill>
                    <a:effectLst>
                      <a:outerShdw blurRad="38100" dist="38100" dir="2700000" algn="tl">
                        <a:srgbClr val="000000"/>
                      </a:outerShdw>
                    </a:effectLst>
                    <a:uLnTx/>
                    <a:uFillTx/>
                    <a:latin typeface="+mj-lt"/>
                    <a:ea typeface="+mj-ea"/>
                    <a:cs typeface="+mj-cs"/>
                  </a:rPr>
                  <a:t>         36 </a:t>
                </a:r>
                <a:r>
                  <a:rPr kumimoji="0" lang="zh-CN" altLang="en-US" sz="4000" b="1" i="0" u="none" strike="noStrike" kern="0" cap="none" spc="0" normalizeH="0" baseline="0" noProof="0" dirty="0">
                    <a:ln>
                      <a:noFill/>
                    </a:ln>
                    <a:solidFill>
                      <a:srgbClr val="0000FF"/>
                    </a:solidFill>
                    <a:effectLst>
                      <a:outerShdw blurRad="38100" dist="38100" dir="2700000" algn="tl">
                        <a:srgbClr val="000000"/>
                      </a:outerShdw>
                    </a:effectLst>
                    <a:uLnTx/>
                    <a:uFillTx/>
                    <a:latin typeface="+mj-lt"/>
                    <a:ea typeface="+mj-ea"/>
                    <a:cs typeface="+mj-cs"/>
                  </a:rPr>
                  <a:t>军官问题</a:t>
                </a:r>
                <a:r>
                  <a:rPr kumimoji="0" lang="en-US" altLang="zh-CN" sz="4400" b="1" i="0" u="none" strike="noStrike" kern="0" cap="none" spc="0" normalizeH="0" baseline="0" noProof="0" dirty="0">
                    <a:ln>
                      <a:noFill/>
                    </a:ln>
                    <a:solidFill>
                      <a:srgbClr val="0000FF"/>
                    </a:solidFill>
                    <a:effectLst>
                      <a:outerShdw blurRad="38100" dist="38100" dir="2700000" algn="tl">
                        <a:srgbClr val="000000"/>
                      </a:outerShdw>
                    </a:effectLst>
                    <a:uLnTx/>
                    <a:uFillTx/>
                    <a:latin typeface="+mj-lt"/>
                    <a:ea typeface="+mj-ea"/>
                    <a:cs typeface="+mj-cs"/>
                  </a:rPr>
                  <a:t> </a:t>
                </a:r>
                <a:r>
                  <a:rPr kumimoji="0" lang="en-US" altLang="zh-CN" sz="4000" b="1" i="0" u="none" strike="noStrike" kern="0" cap="none" spc="0" normalizeH="0" baseline="0" noProof="0" dirty="0">
                    <a:ln>
                      <a:noFill/>
                    </a:ln>
                    <a:solidFill>
                      <a:schemeClr val="tx1"/>
                    </a:solidFill>
                    <a:effectLst>
                      <a:outerShdw blurRad="38100" dist="38100" dir="2700000" algn="tl">
                        <a:srgbClr val="000000"/>
                      </a:outerShdw>
                    </a:effectLst>
                    <a:uLnTx/>
                    <a:uFillTx/>
                    <a:latin typeface="+mj-lt"/>
                    <a:ea typeface="+mj-ea"/>
                    <a:cs typeface="+mj-cs"/>
                  </a:rPr>
                  <a:t>(</a:t>
                </a:r>
                <a:r>
                  <a:rPr kumimoji="0" lang="zh-CN" altLang="en-US" sz="4000" b="1" i="0" u="none" strike="noStrike" kern="0" cap="none" spc="0" normalizeH="0" baseline="0" noProof="0" dirty="0">
                    <a:ln>
                      <a:noFill/>
                    </a:ln>
                    <a:solidFill>
                      <a:schemeClr val="hlink"/>
                    </a:solidFill>
                    <a:effectLst>
                      <a:outerShdw blurRad="38100" dist="38100" dir="2700000" algn="tl">
                        <a:srgbClr val="000000"/>
                      </a:outerShdw>
                    </a:effectLst>
                    <a:uLnTx/>
                    <a:uFillTx/>
                    <a:latin typeface="Monotype Corsiva" pitchFamily="66" charset="0"/>
                    <a:ea typeface="+mj-ea"/>
                    <a:cs typeface="+mj-cs"/>
                  </a:rPr>
                  <a:t>欧拉</a:t>
                </a:r>
                <a:r>
                  <a:rPr kumimoji="0" lang="en-US" altLang="zh-CN" sz="4000" b="1" i="0" u="none" strike="noStrike" kern="0" cap="none" spc="0" normalizeH="0" baseline="0" noProof="0" dirty="0">
                    <a:ln>
                      <a:noFill/>
                    </a:ln>
                    <a:solidFill>
                      <a:schemeClr val="tx1"/>
                    </a:solidFill>
                    <a:effectLst>
                      <a:outerShdw blurRad="38100" dist="38100" dir="2700000" algn="tl">
                        <a:srgbClr val="000000"/>
                      </a:outerShdw>
                    </a:effectLst>
                    <a:uLnTx/>
                    <a:uFillTx/>
                    <a:latin typeface="+mj-lt"/>
                    <a:ea typeface="+mj-ea"/>
                    <a:cs typeface="+mj-cs"/>
                  </a:rPr>
                  <a:t> 1779)</a:t>
                </a:r>
                <a:br>
                  <a:rPr kumimoji="0" lang="en-US" altLang="zh-CN" sz="4000" b="1" i="0" u="none" strike="noStrike" kern="0" cap="none" spc="0" normalizeH="0" baseline="0" noProof="0" dirty="0">
                    <a:ln>
                      <a:noFill/>
                    </a:ln>
                    <a:solidFill>
                      <a:schemeClr val="tx1"/>
                    </a:solidFill>
                    <a:effectLst>
                      <a:outerShdw blurRad="38100" dist="38100" dir="2700000" algn="tl">
                        <a:srgbClr val="000000"/>
                      </a:outerShdw>
                    </a:effectLst>
                    <a:uLnTx/>
                    <a:uFillTx/>
                    <a:latin typeface="+mj-lt"/>
                    <a:ea typeface="+mj-ea"/>
                    <a:cs typeface="+mj-cs"/>
                  </a:rPr>
                </a:br>
                <a:r>
                  <a:rPr kumimoji="0" lang="en-US" altLang="zh-CN"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  </a:t>
                </a:r>
                <a:r>
                  <a:rPr kumimoji="0" lang="en-US" altLang="zh-CN" sz="3200" b="1" i="0" u="sng" strike="noStrike" kern="0" cap="none" spc="0" normalizeH="0" baseline="0" noProof="0" dirty="0">
                    <a:ln>
                      <a:noFill/>
                    </a:ln>
                    <a:solidFill>
                      <a:schemeClr val="hlink"/>
                    </a:solidFill>
                    <a:effectLst>
                      <a:outerShdw blurRad="38100" dist="38100" dir="2700000" algn="tl">
                        <a:srgbClr val="000000"/>
                      </a:outerShdw>
                    </a:effectLst>
                    <a:uLnTx/>
                    <a:uFillTx/>
                    <a:latin typeface="+mj-lt"/>
                    <a:ea typeface="隶书" pitchFamily="49" charset="-122"/>
                    <a:cs typeface="+mj-cs"/>
                  </a:rPr>
                  <a:t>The Great </a:t>
                </a:r>
                <a:r>
                  <a:rPr kumimoji="0" lang="en-US" altLang="zh-CN" sz="3200" b="1" i="0" u="sng" strike="noStrike" kern="0" cap="none" spc="0" normalizeH="0" baseline="0" noProof="0" dirty="0">
                    <a:ln>
                      <a:noFill/>
                    </a:ln>
                    <a:solidFill>
                      <a:schemeClr val="hlink"/>
                    </a:solidFill>
                    <a:effectLst>
                      <a:outerShdw blurRad="38100" dist="38100" dir="2700000" algn="tl">
                        <a:srgbClr val="000000"/>
                      </a:outerShdw>
                    </a:effectLst>
                    <a:uLnTx/>
                    <a:uFillTx/>
                    <a:latin typeface="+mj-lt"/>
                    <a:ea typeface="+mj-ea"/>
                    <a:cs typeface="+mj-cs"/>
                  </a:rPr>
                  <a:t>Frederic</a:t>
                </a:r>
                <a:r>
                  <a:rPr kumimoji="0" lang="zh-CN" altLang="en-US" sz="3200" b="1" i="0" u="sng"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隶书" pitchFamily="49" charset="-122"/>
                    <a:cs typeface="+mj-cs"/>
                  </a:rPr>
                  <a:t>的阅兵难题</a:t>
                </a:r>
                <a:r>
                  <a:rPr kumimoji="0" lang="en-US" altLang="zh-CN" sz="32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隶书" pitchFamily="49" charset="-122"/>
                    <a:cs typeface="+mj-cs"/>
                  </a:rPr>
                  <a:t>-------</a:t>
                </a:r>
                <a:r>
                  <a:rPr kumimoji="0" lang="zh-CN" altLang="en-US" sz="3200" b="1" i="0" u="sng" strike="noStrike" kern="0" cap="none" spc="0" normalizeH="0" baseline="0" noProof="0" dirty="0">
                    <a:ln>
                      <a:noFill/>
                    </a:ln>
                    <a:solidFill>
                      <a:schemeClr val="tx1"/>
                    </a:solidFill>
                    <a:effectLst>
                      <a:outerShdw blurRad="38100" dist="38100" dir="2700000" algn="tl">
                        <a:srgbClr val="000000"/>
                      </a:outerShdw>
                    </a:effectLst>
                    <a:uLnTx/>
                    <a:uFillTx/>
                    <a:latin typeface="+mj-lt"/>
                    <a:ea typeface="隶书" pitchFamily="49" charset="-122"/>
                    <a:cs typeface="+mj-cs"/>
                  </a:rPr>
                  <a:t>欧拉的困惑</a:t>
                </a:r>
                <a:r>
                  <a:rPr kumimoji="0" lang="en-US" altLang="zh-CN"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   </a:t>
                </a:r>
                <a:br>
                  <a:rPr lang="en-US" altLang="zh-CN" dirty="0"/>
                </a:br>
                <a:r>
                  <a:rPr kumimoji="0" lang="zh-CN" altLang="en-US" sz="36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onotype Corsiva" pitchFamily="66" charset="0"/>
                    <a:ea typeface="+mj-ea"/>
                    <a:cs typeface="+mj-cs"/>
                  </a:rPr>
                  <a:t>拉丁方阵</a:t>
                </a:r>
                <a:r>
                  <a:rPr kumimoji="0" lang="en-US" altLang="zh-CN" sz="36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a:t>
                </a:r>
                <a:r>
                  <a:rPr lang="en-US" altLang="zh-CN" sz="3600" dirty="0"/>
                  <a:t>    </a:t>
                </a:r>
                <a:br>
                  <a:rPr lang="en-US" altLang="zh-CN" sz="3600" dirty="0"/>
                </a:br>
                <a:r>
                  <a:rPr lang="en-US" altLang="zh-CN" sz="3600" dirty="0"/>
                  <a:t>    </a:t>
                </a:r>
                <a14:m>
                  <m:oMath xmlns:m="http://schemas.openxmlformats.org/officeDocument/2006/math">
                    <m:d>
                      <m:dPr>
                        <m:ctrlPr>
                          <a:rPr kumimoji="0" lang="en-US" altLang="zh-CN" sz="3600" b="1" i="1" u="none" strike="noStrike" kern="0" cap="none" spc="0" normalizeH="0" baseline="0" noProof="0" smtClean="0">
                            <a:ln>
                              <a:noFill/>
                            </a:ln>
                            <a:solidFill>
                              <a:schemeClr val="tx2"/>
                            </a:solidFill>
                            <a:effectLst>
                              <a:outerShdw blurRad="38100" dist="38100" dir="2700000" algn="tl">
                                <a:srgbClr val="000000"/>
                              </a:outerShdw>
                            </a:effectLst>
                            <a:uLnTx/>
                            <a:uFillTx/>
                            <a:latin typeface="Cambria Math" panose="02040503050406030204" pitchFamily="18" charset="0"/>
                            <a:ea typeface="+mj-ea"/>
                            <a:cs typeface="+mj-cs"/>
                          </a:rPr>
                        </m:ctrlPr>
                      </m:dPr>
                      <m:e>
                        <m:m>
                          <m:mPr>
                            <m:mcs>
                              <m:mc>
                                <m:mcPr>
                                  <m:count m:val="2"/>
                                  <m:mcJc m:val="center"/>
                                </m:mcPr>
                              </m:mc>
                            </m:mcs>
                            <m:ctrlPr>
                              <a:rPr kumimoji="0" lang="en-US" altLang="zh-CN" sz="3600" b="1" i="1" u="none" strike="noStrike" kern="0" cap="none" spc="0" normalizeH="0" baseline="0" noProof="0" smtClean="0">
                                <a:ln>
                                  <a:noFill/>
                                </a:ln>
                                <a:solidFill>
                                  <a:schemeClr val="tx2"/>
                                </a:solidFill>
                                <a:effectLst>
                                  <a:outerShdw blurRad="38100" dist="38100" dir="2700000" algn="tl">
                                    <a:srgbClr val="000000"/>
                                  </a:outerShdw>
                                </a:effectLst>
                                <a:uLnTx/>
                                <a:uFillTx/>
                                <a:latin typeface="Cambria Math" panose="02040503050406030204" pitchFamily="18" charset="0"/>
                                <a:ea typeface="+mj-ea"/>
                                <a:cs typeface="+mj-cs"/>
                              </a:rPr>
                            </m:ctrlPr>
                          </m:mPr>
                          <m:mr>
                            <m:e>
                              <m:r>
                                <m:rPr>
                                  <m:brk m:alnAt="7"/>
                                </m:rPr>
                                <a:rPr kumimoji="0" lang="en-US" altLang="zh-CN" sz="3600" b="1" i="1" u="none" strike="noStrike" kern="0" cap="none" spc="0" normalizeH="0" baseline="0" noProof="0" smtClean="0">
                                  <a:ln>
                                    <a:noFill/>
                                  </a:ln>
                                  <a:solidFill>
                                    <a:schemeClr val="tx2"/>
                                  </a:solidFill>
                                  <a:effectLst>
                                    <a:outerShdw blurRad="38100" dist="38100" dir="2700000" algn="tl">
                                      <a:srgbClr val="000000"/>
                                    </a:outerShdw>
                                  </a:effectLst>
                                  <a:uLnTx/>
                                  <a:uFillTx/>
                                  <a:latin typeface="Cambria Math"/>
                                  <a:ea typeface="+mj-ea"/>
                                  <a:cs typeface="+mj-cs"/>
                                </a:rPr>
                                <m:t>𝟏</m:t>
                              </m:r>
                            </m:e>
                            <m:e>
                              <m:r>
                                <a:rPr kumimoji="0" lang="en-US" altLang="zh-CN" sz="3600" b="1" i="1" u="none" strike="noStrike" kern="0" cap="none" spc="0" normalizeH="0" baseline="0" noProof="0" smtClean="0">
                                  <a:ln>
                                    <a:noFill/>
                                  </a:ln>
                                  <a:solidFill>
                                    <a:schemeClr val="tx2"/>
                                  </a:solidFill>
                                  <a:effectLst>
                                    <a:outerShdw blurRad="38100" dist="38100" dir="2700000" algn="tl">
                                      <a:srgbClr val="000000"/>
                                    </a:outerShdw>
                                  </a:effectLst>
                                  <a:uLnTx/>
                                  <a:uFillTx/>
                                  <a:latin typeface="Cambria Math"/>
                                  <a:ea typeface="+mj-ea"/>
                                  <a:cs typeface="+mj-cs"/>
                                </a:rPr>
                                <m:t>𝟐</m:t>
                              </m:r>
                            </m:e>
                          </m:mr>
                          <m:mr>
                            <m:e>
                              <m:r>
                                <a:rPr kumimoji="0" lang="en-US" altLang="zh-CN" sz="3600" b="1" i="1" u="none" strike="noStrike" kern="0" cap="none" spc="0" normalizeH="0" baseline="0" noProof="0" smtClean="0">
                                  <a:ln>
                                    <a:noFill/>
                                  </a:ln>
                                  <a:solidFill>
                                    <a:schemeClr val="tx2"/>
                                  </a:solidFill>
                                  <a:effectLst>
                                    <a:outerShdw blurRad="38100" dist="38100" dir="2700000" algn="tl">
                                      <a:srgbClr val="000000"/>
                                    </a:outerShdw>
                                  </a:effectLst>
                                  <a:uLnTx/>
                                  <a:uFillTx/>
                                  <a:latin typeface="Cambria Math"/>
                                  <a:ea typeface="+mj-ea"/>
                                  <a:cs typeface="+mj-cs"/>
                                </a:rPr>
                                <m:t>𝟐</m:t>
                              </m:r>
                            </m:e>
                            <m:e>
                              <m:r>
                                <a:rPr kumimoji="0" lang="en-US" altLang="zh-CN" sz="3600" b="1" i="1" u="none" strike="noStrike" kern="0" cap="none" spc="0" normalizeH="0" baseline="0" noProof="0" smtClean="0">
                                  <a:ln>
                                    <a:noFill/>
                                  </a:ln>
                                  <a:solidFill>
                                    <a:schemeClr val="tx2"/>
                                  </a:solidFill>
                                  <a:effectLst>
                                    <a:outerShdw blurRad="38100" dist="38100" dir="2700000" algn="tl">
                                      <a:srgbClr val="000000"/>
                                    </a:outerShdw>
                                  </a:effectLst>
                                  <a:uLnTx/>
                                  <a:uFillTx/>
                                  <a:latin typeface="Cambria Math"/>
                                  <a:ea typeface="+mj-ea"/>
                                  <a:cs typeface="+mj-cs"/>
                                </a:rPr>
                                <m:t>𝟏</m:t>
                              </m:r>
                            </m:e>
                          </m:mr>
                        </m:m>
                      </m:e>
                    </m:d>
                  </m:oMath>
                </a14:m>
                <a:r>
                  <a:rPr kumimoji="0" lang="en-US" altLang="zh-CN" sz="36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    </a:t>
                </a:r>
                <a14:m>
                  <m:oMath xmlns:m="http://schemas.openxmlformats.org/officeDocument/2006/math">
                    <m:d>
                      <m:dPr>
                        <m:ctrlP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panose="02040503050406030204" pitchFamily="18" charset="0"/>
                            <a:ea typeface="+mj-ea"/>
                            <a:cs typeface="+mj-cs"/>
                          </a:rPr>
                        </m:ctrlPr>
                      </m:dPr>
                      <m:e>
                        <m:m>
                          <m:mPr>
                            <m:mcs>
                              <m:mc>
                                <m:mcPr>
                                  <m:count m:val="3"/>
                                  <m:mcJc m:val="center"/>
                                </m:mcPr>
                              </m:mc>
                            </m:mcs>
                            <m:ctrlP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panose="02040503050406030204" pitchFamily="18" charset="0"/>
                                <a:ea typeface="+mj-ea"/>
                                <a:cs typeface="+mj-cs"/>
                              </a:rPr>
                            </m:ctrlPr>
                          </m:mPr>
                          <m:mr>
                            <m:e>
                              <m:r>
                                <m:rPr>
                                  <m:brk m:alnAt="7"/>
                                </m:rP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𝟏</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𝟐</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𝟑</m:t>
                              </m:r>
                            </m:e>
                          </m:mr>
                          <m:mr>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𝟐</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𝟑</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𝟏</m:t>
                              </m:r>
                            </m:e>
                          </m:mr>
                          <m:mr>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𝟑</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𝟏</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𝟐</m:t>
                              </m:r>
                            </m:e>
                          </m:mr>
                        </m:m>
                      </m:e>
                    </m:d>
                  </m:oMath>
                </a14:m>
                <a:r>
                  <a:rPr kumimoji="0" lang="en-US" altLang="zh-CN" sz="36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    </a:t>
                </a:r>
                <a14:m>
                  <m:oMath xmlns:m="http://schemas.openxmlformats.org/officeDocument/2006/math">
                    <m:d>
                      <m:dPr>
                        <m:ctrlP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panose="02040503050406030204" pitchFamily="18" charset="0"/>
                            <a:ea typeface="+mj-ea"/>
                            <a:cs typeface="+mj-cs"/>
                          </a:rPr>
                        </m:ctrlPr>
                      </m:dPr>
                      <m:e>
                        <m:m>
                          <m:mPr>
                            <m:mcs>
                              <m:mc>
                                <m:mcPr>
                                  <m:count m:val="4"/>
                                  <m:mcJc m:val="center"/>
                                </m:mcPr>
                              </m:mc>
                            </m:mcs>
                            <m:ctrlP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panose="02040503050406030204" pitchFamily="18" charset="0"/>
                                <a:ea typeface="+mj-ea"/>
                                <a:cs typeface="+mj-cs"/>
                              </a:rPr>
                            </m:ctrlPr>
                          </m:mPr>
                          <m:mr>
                            <m:e>
                              <m:r>
                                <m:rPr>
                                  <m:brk m:alnAt="7"/>
                                </m:rP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𝟏</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𝟐</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𝟒</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𝟑</m:t>
                              </m:r>
                            </m:e>
                          </m:mr>
                          <m:mr>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𝟐</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𝟑</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𝟏</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𝟒</m:t>
                              </m:r>
                            </m:e>
                          </m:mr>
                          <m:mr>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𝟑</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𝟒</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𝟐</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𝟏</m:t>
                              </m:r>
                            </m:e>
                          </m:mr>
                          <m:mr>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𝟒</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𝟏</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𝟑</m:t>
                              </m:r>
                            </m:e>
                            <m:e>
                              <m:r>
                                <a:rPr kumimoji="0" lang="en-US" altLang="zh-CN" sz="3600" b="1" i="1"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Cambria Math"/>
                                  <a:ea typeface="+mj-ea"/>
                                  <a:cs typeface="+mj-cs"/>
                                </a:rPr>
                                <m:t>𝟐</m:t>
                              </m:r>
                            </m:e>
                          </m:mr>
                        </m:m>
                      </m:e>
                    </m:d>
                  </m:oMath>
                </a14:m>
                <a:endParaRPr kumimoji="0" lang="en-US" altLang="zh-CN" sz="36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mc:Choice>
        <mc:Fallback xmlns="">
          <p:sp>
            <p:nvSpPr>
              <p:cNvPr id="88066" name="Rectangle 2"/>
              <p:cNvSpPr>
                <a:spLocks noGrp="1" noRot="1" noChangeAspect="1" noMove="1" noResize="1" noEditPoints="1" noAdjustHandles="1" noChangeArrowheads="1" noChangeShapeType="1" noTextEdit="1"/>
              </p:cNvSpPr>
              <p:nvPr>
                <p:ph type="title"/>
              </p:nvPr>
            </p:nvSpPr>
            <p:spPr>
              <a:xfrm>
                <a:off x="251520" y="1628800"/>
                <a:ext cx="8892480" cy="504056"/>
              </a:xfrm>
              <a:blipFill rotWithShape="1">
                <a:blip r:embed="rId2"/>
                <a:stretch>
                  <a:fillRect l="-2125" t="-372289" r="-1097" b="-355422"/>
                </a:stretch>
              </a:blipFill>
            </p:spPr>
            <p:txBody>
              <a:bodyPr/>
              <a:lstStyle/>
              <a:p>
                <a:r>
                  <a:rPr lang="zh-CN" altLang="en-US">
                    <a:noFill/>
                  </a:rPr>
                  <a:t> </a:t>
                </a:r>
              </a:p>
            </p:txBody>
          </p:sp>
        </mc:Fallback>
      </mc:AlternateContent>
      <p:sp>
        <p:nvSpPr>
          <p:cNvPr id="88070" name="Text Box 6"/>
          <p:cNvSpPr txBox="1">
            <a:spLocks noChangeArrowheads="1"/>
          </p:cNvSpPr>
          <p:nvPr/>
        </p:nvSpPr>
        <p:spPr bwMode="auto">
          <a:xfrm>
            <a:off x="179512" y="4005064"/>
            <a:ext cx="6530032" cy="641350"/>
          </a:xfrm>
          <a:prstGeom prst="rect">
            <a:avLst/>
          </a:prstGeom>
          <a:noFill/>
          <a:ln>
            <a:noFill/>
          </a:ln>
          <a:effectLst/>
        </p:spPr>
        <p:txBody>
          <a:bodyPr wrap="square">
            <a:spAutoFit/>
          </a:bodyPr>
          <a:lstStyle/>
          <a:p>
            <a:pPr marR="0" defTabSz="914400">
              <a:spcBef>
                <a:spcPct val="50000"/>
              </a:spcBef>
              <a:buClrTx/>
              <a:buSzTx/>
              <a:buFontTx/>
              <a:buNone/>
              <a:defRPr/>
            </a:pPr>
            <a:r>
              <a:rPr kumimoji="0" lang="zh-CN" altLang="en-US" sz="3600" b="1" kern="1200" cap="none" spc="0" normalizeH="0" baseline="0" noProof="0" dirty="0">
                <a:solidFill>
                  <a:srgbClr val="FF0000"/>
                </a:solidFill>
                <a:effectLst>
                  <a:outerShdw blurRad="38100" dist="38100" dir="2700000" algn="tl">
                    <a:srgbClr val="000000"/>
                  </a:outerShdw>
                </a:effectLst>
                <a:latin typeface="Garamond" pitchFamily="18" charset="0"/>
                <a:ea typeface="宋体" pitchFamily="2" charset="-122"/>
                <a:cs typeface="+mn-cs"/>
              </a:rPr>
              <a:t>正交拉丁方阵</a:t>
            </a:r>
            <a:r>
              <a:rPr kumimoji="1" lang="en-US" altLang="zh-CN" sz="3600" kern="1200" cap="none" spc="0" normalizeH="0" baseline="0" noProof="0" dirty="0">
                <a:latin typeface="Times New Roman" panose="02020603050405020304" pitchFamily="18" charset="0"/>
                <a:ea typeface="宋体" pitchFamily="2" charset="-122"/>
                <a:cs typeface="+mn-cs"/>
              </a:rPr>
              <a:t>:</a:t>
            </a:r>
          </a:p>
        </p:txBody>
      </p:sp>
      <mc:AlternateContent xmlns:mc="http://schemas.openxmlformats.org/markup-compatibility/2006" xmlns:a14="http://schemas.microsoft.com/office/drawing/2010/main">
        <mc:Choice Requires="a14">
          <p:sp>
            <p:nvSpPr>
              <p:cNvPr id="7" name="矩形 6"/>
              <p:cNvSpPr/>
              <p:nvPr/>
            </p:nvSpPr>
            <p:spPr>
              <a:xfrm>
                <a:off x="467544" y="5032563"/>
                <a:ext cx="2304256" cy="1557349"/>
              </a:xfrm>
              <a:prstGeom prst="rect">
                <a:avLst/>
              </a:prstGeom>
            </p:spPr>
            <p:txBody>
              <a:bodyPr wrap="square">
                <a:spAutoFit/>
              </a:bodyPr>
              <a:lstStyle/>
              <a:p>
                <a14:m>
                  <m:oMath xmlns:m="http://schemas.openxmlformats.org/officeDocument/2006/math">
                    <m:d>
                      <m:dPr>
                        <m:ctrlPr>
                          <a:rPr lang="en-US" altLang="zh-CN" sz="3600" b="1" i="1" kern="0" baseline="0" smtClean="0">
                            <a:solidFill>
                              <a:srgbClr val="E5E5FF"/>
                            </a:solidFill>
                            <a:effectLst>
                              <a:outerShdw blurRad="38100" dist="38100" dir="2700000" algn="tl">
                                <a:srgbClr val="000000"/>
                              </a:outerShdw>
                            </a:effectLst>
                            <a:latin typeface="Cambria Math" panose="02040503050406030204" pitchFamily="18" charset="0"/>
                            <a:ea typeface="+mj-ea"/>
                            <a:cs typeface="+mj-cs"/>
                          </a:rPr>
                        </m:ctrlPr>
                      </m:dPr>
                      <m:e>
                        <m:m>
                          <m:mPr>
                            <m:mcs>
                              <m:mc>
                                <m:mcPr>
                                  <m:count m:val="3"/>
                                  <m:mcJc m:val="center"/>
                                </m:mcPr>
                              </m:mc>
                            </m:mcs>
                            <m:ctrlPr>
                              <a:rPr lang="en-US" altLang="zh-CN" sz="3600" b="1" i="1" kern="0" baseline="0">
                                <a:solidFill>
                                  <a:srgbClr val="E5E5FF"/>
                                </a:solidFill>
                                <a:effectLst>
                                  <a:outerShdw blurRad="38100" dist="38100" dir="2700000" algn="tl">
                                    <a:srgbClr val="000000"/>
                                  </a:outerShdw>
                                </a:effectLst>
                                <a:latin typeface="Cambria Math" panose="02040503050406030204" pitchFamily="18" charset="0"/>
                                <a:ea typeface="+mj-ea"/>
                                <a:cs typeface="+mj-cs"/>
                              </a:rPr>
                            </m:ctrlPr>
                          </m:mPr>
                          <m:mr>
                            <m:e>
                              <m:r>
                                <m:rPr>
                                  <m:brk m:alnAt="7"/>
                                </m:rPr>
                                <a:rPr lang="en-US" altLang="zh-CN" sz="3600" b="1" i="1" kern="0" baseline="0">
                                  <a:solidFill>
                                    <a:srgbClr val="E5E5FF"/>
                                  </a:solidFill>
                                  <a:effectLst>
                                    <a:outerShdw blurRad="38100" dist="38100" dir="2700000" algn="tl">
                                      <a:srgbClr val="000000"/>
                                    </a:outerShdw>
                                  </a:effectLst>
                                  <a:latin typeface="Cambria Math"/>
                                  <a:ea typeface="+mj-ea"/>
                                  <a:cs typeface="+mj-cs"/>
                                </a:rPr>
                                <m:t>𝟏</m:t>
                              </m:r>
                            </m:e>
                            <m:e>
                              <m:r>
                                <a:rPr lang="en-US" altLang="zh-CN" sz="3600" b="1" i="1" kern="0" baseline="0" smtClean="0">
                                  <a:solidFill>
                                    <a:srgbClr val="E5E5FF"/>
                                  </a:solidFill>
                                  <a:effectLst>
                                    <a:outerShdw blurRad="38100" dist="38100" dir="2700000" algn="tl">
                                      <a:srgbClr val="000000"/>
                                    </a:outerShdw>
                                  </a:effectLst>
                                  <a:latin typeface="Cambria Math"/>
                                  <a:ea typeface="+mj-ea"/>
                                  <a:cs typeface="+mj-cs"/>
                                </a:rPr>
                                <m:t>𝟐</m:t>
                              </m:r>
                            </m:e>
                            <m:e>
                              <m:r>
                                <a:rPr lang="en-US" altLang="zh-CN" sz="3600" b="1" i="1" kern="0" baseline="0" smtClean="0">
                                  <a:solidFill>
                                    <a:srgbClr val="E5E5FF"/>
                                  </a:solidFill>
                                  <a:effectLst>
                                    <a:outerShdw blurRad="38100" dist="38100" dir="2700000" algn="tl">
                                      <a:srgbClr val="000000"/>
                                    </a:outerShdw>
                                  </a:effectLst>
                                  <a:latin typeface="Cambria Math"/>
                                  <a:ea typeface="+mj-ea"/>
                                  <a:cs typeface="+mj-cs"/>
                                </a:rPr>
                                <m:t>𝟑</m:t>
                              </m:r>
                            </m:e>
                          </m:mr>
                          <m:mr>
                            <m:e>
                              <m:r>
                                <a:rPr lang="en-US" altLang="zh-CN" sz="3600" b="1" i="1" kern="0" baseline="0" smtClean="0">
                                  <a:solidFill>
                                    <a:srgbClr val="E5E5FF"/>
                                  </a:solidFill>
                                  <a:effectLst>
                                    <a:outerShdw blurRad="38100" dist="38100" dir="2700000" algn="tl">
                                      <a:srgbClr val="000000"/>
                                    </a:outerShdw>
                                  </a:effectLst>
                                  <a:latin typeface="Cambria Math"/>
                                  <a:ea typeface="+mj-ea"/>
                                  <a:cs typeface="+mj-cs"/>
                                </a:rPr>
                                <m:t>𝟑</m:t>
                              </m:r>
                            </m:e>
                            <m:e>
                              <m:r>
                                <a:rPr lang="en-US" altLang="zh-CN" sz="3600" b="1" i="1" kern="0" baseline="0" smtClean="0">
                                  <a:solidFill>
                                    <a:srgbClr val="E5E5FF"/>
                                  </a:solidFill>
                                  <a:effectLst>
                                    <a:outerShdw blurRad="38100" dist="38100" dir="2700000" algn="tl">
                                      <a:srgbClr val="000000"/>
                                    </a:outerShdw>
                                  </a:effectLst>
                                  <a:latin typeface="Cambria Math"/>
                                  <a:ea typeface="+mj-ea"/>
                                  <a:cs typeface="+mj-cs"/>
                                </a:rPr>
                                <m:t>𝟏</m:t>
                              </m:r>
                            </m:e>
                            <m:e>
                              <m:r>
                                <a:rPr lang="en-US" altLang="zh-CN" sz="3600" b="1" i="1" kern="0" baseline="0" smtClean="0">
                                  <a:solidFill>
                                    <a:srgbClr val="E5E5FF"/>
                                  </a:solidFill>
                                  <a:effectLst>
                                    <a:outerShdw blurRad="38100" dist="38100" dir="2700000" algn="tl">
                                      <a:srgbClr val="000000"/>
                                    </a:outerShdw>
                                  </a:effectLst>
                                  <a:latin typeface="Cambria Math"/>
                                  <a:ea typeface="+mj-ea"/>
                                  <a:cs typeface="+mj-cs"/>
                                </a:rPr>
                                <m:t>𝟐</m:t>
                              </m:r>
                            </m:e>
                          </m:mr>
                          <m:mr>
                            <m:e>
                              <m:r>
                                <a:rPr lang="en-US" altLang="zh-CN" sz="3600" b="1" i="1" kern="0" baseline="0" smtClean="0">
                                  <a:solidFill>
                                    <a:srgbClr val="E5E5FF"/>
                                  </a:solidFill>
                                  <a:effectLst>
                                    <a:outerShdw blurRad="38100" dist="38100" dir="2700000" algn="tl">
                                      <a:srgbClr val="000000"/>
                                    </a:outerShdw>
                                  </a:effectLst>
                                  <a:latin typeface="Cambria Math"/>
                                  <a:ea typeface="+mj-ea"/>
                                  <a:cs typeface="+mj-cs"/>
                                </a:rPr>
                                <m:t>𝟐</m:t>
                              </m:r>
                            </m:e>
                            <m:e>
                              <m:r>
                                <a:rPr lang="en-US" altLang="zh-CN" sz="3600" b="1" i="1" kern="0" baseline="0" smtClean="0">
                                  <a:solidFill>
                                    <a:srgbClr val="E5E5FF"/>
                                  </a:solidFill>
                                  <a:effectLst>
                                    <a:outerShdw blurRad="38100" dist="38100" dir="2700000" algn="tl">
                                      <a:srgbClr val="000000"/>
                                    </a:outerShdw>
                                  </a:effectLst>
                                  <a:latin typeface="Cambria Math"/>
                                  <a:ea typeface="+mj-ea"/>
                                  <a:cs typeface="+mj-cs"/>
                                </a:rPr>
                                <m:t>𝟑</m:t>
                              </m:r>
                            </m:e>
                            <m:e>
                              <m:r>
                                <a:rPr lang="en-US" altLang="zh-CN" sz="3600" b="1" i="1" kern="0" baseline="0" smtClean="0">
                                  <a:solidFill>
                                    <a:srgbClr val="E5E5FF"/>
                                  </a:solidFill>
                                  <a:effectLst>
                                    <a:outerShdw blurRad="38100" dist="38100" dir="2700000" algn="tl">
                                      <a:srgbClr val="000000"/>
                                    </a:outerShdw>
                                  </a:effectLst>
                                  <a:latin typeface="Cambria Math"/>
                                  <a:ea typeface="+mj-ea"/>
                                  <a:cs typeface="+mj-cs"/>
                                </a:rPr>
                                <m:t>𝟏</m:t>
                              </m:r>
                            </m:e>
                          </m:mr>
                        </m:m>
                      </m:e>
                    </m:d>
                  </m:oMath>
                </a14:m>
                <a:r>
                  <a:rPr lang="en-US" altLang="zh-CN" sz="3600" b="1" kern="0" baseline="0" dirty="0">
                    <a:solidFill>
                      <a:srgbClr val="E5E5FF"/>
                    </a:solidFill>
                    <a:effectLst>
                      <a:outerShdw blurRad="38100" dist="38100" dir="2700000" algn="tl">
                        <a:srgbClr val="000000"/>
                      </a:outerShdw>
                    </a:effectLst>
                    <a:latin typeface="Garamond"/>
                    <a:ea typeface="宋体"/>
                    <a:cs typeface="+mj-cs"/>
                  </a:rPr>
                  <a:t> </a:t>
                </a:r>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467544" y="5032563"/>
                <a:ext cx="2304256" cy="1557349"/>
              </a:xfrm>
              <a:prstGeom prst="rect">
                <a:avLst/>
              </a:prstGeom>
              <a:blipFill rotWithShape="1">
                <a:blip r:embed="rId3"/>
                <a:stretch>
                  <a:fillRect r="-4762" b="-7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2987824" y="5032563"/>
                <a:ext cx="2592287" cy="1557349"/>
              </a:xfrm>
              <a:prstGeom prst="rect">
                <a:avLst/>
              </a:prstGeom>
            </p:spPr>
            <p:txBody>
              <a:bodyPr wrap="square">
                <a:spAutoFit/>
              </a:bodyPr>
              <a:lstStyle/>
              <a:p>
                <a14:m>
                  <m:oMath xmlns:m="http://schemas.openxmlformats.org/officeDocument/2006/math">
                    <m:d>
                      <m:dPr>
                        <m:ctrlPr>
                          <a:rPr lang="en-US" altLang="zh-CN" sz="3600" b="1" i="1" kern="0" baseline="0" smtClean="0">
                            <a:solidFill>
                              <a:srgbClr val="E5E5FF"/>
                            </a:solidFill>
                            <a:effectLst>
                              <a:outerShdw blurRad="38100" dist="38100" dir="2700000" algn="tl">
                                <a:srgbClr val="000000"/>
                              </a:outerShdw>
                            </a:effectLst>
                            <a:latin typeface="Cambria Math" panose="02040503050406030204" pitchFamily="18" charset="0"/>
                          </a:rPr>
                        </m:ctrlPr>
                      </m:dPr>
                      <m:e>
                        <m:m>
                          <m:mPr>
                            <m:mcs>
                              <m:mc>
                                <m:mcPr>
                                  <m:count m:val="3"/>
                                  <m:mcJc m:val="center"/>
                                </m:mcPr>
                              </m:mc>
                            </m:mcs>
                            <m:ctrlPr>
                              <a:rPr lang="en-US" altLang="zh-CN" sz="3600" b="1" i="1" kern="0" baseline="0">
                                <a:solidFill>
                                  <a:srgbClr val="E5E5FF"/>
                                </a:solidFill>
                                <a:effectLst>
                                  <a:outerShdw blurRad="38100" dist="38100" dir="2700000" algn="tl">
                                    <a:srgbClr val="000000"/>
                                  </a:outerShdw>
                                </a:effectLst>
                                <a:latin typeface="Cambria Math" panose="02040503050406030204" pitchFamily="18" charset="0"/>
                              </a:rPr>
                            </m:ctrlPr>
                          </m:mPr>
                          <m:mr>
                            <m:e>
                              <m:r>
                                <m:rPr>
                                  <m:brk m:alnAt="7"/>
                                </m:rPr>
                                <a:rPr lang="en-US" altLang="zh-CN" sz="3600" b="1" i="1" kern="0" baseline="0">
                                  <a:solidFill>
                                    <a:srgbClr val="E5E5FF"/>
                                  </a:solidFill>
                                  <a:effectLst>
                                    <a:outerShdw blurRad="38100" dist="38100" dir="2700000" algn="tl">
                                      <a:srgbClr val="000000"/>
                                    </a:outerShdw>
                                  </a:effectLst>
                                  <a:latin typeface="Cambria Math"/>
                                </a:rPr>
                                <m:t>𝟏</m:t>
                              </m:r>
                            </m:e>
                            <m:e>
                              <m:r>
                                <a:rPr lang="en-US" altLang="zh-CN" sz="3600" b="1" i="1" kern="0" baseline="0">
                                  <a:solidFill>
                                    <a:srgbClr val="E5E5FF"/>
                                  </a:solidFill>
                                  <a:effectLst>
                                    <a:outerShdw blurRad="38100" dist="38100" dir="2700000" algn="tl">
                                      <a:srgbClr val="000000"/>
                                    </a:outerShdw>
                                  </a:effectLst>
                                  <a:latin typeface="Cambria Math"/>
                                </a:rPr>
                                <m:t>𝟐</m:t>
                              </m:r>
                            </m:e>
                            <m:e>
                              <m:r>
                                <a:rPr lang="en-US" altLang="zh-CN" sz="3600" b="1" i="1" kern="0" baseline="0">
                                  <a:solidFill>
                                    <a:srgbClr val="E5E5FF"/>
                                  </a:solidFill>
                                  <a:effectLst>
                                    <a:outerShdw blurRad="38100" dist="38100" dir="2700000" algn="tl">
                                      <a:srgbClr val="000000"/>
                                    </a:outerShdw>
                                  </a:effectLst>
                                  <a:latin typeface="Cambria Math"/>
                                </a:rPr>
                                <m:t>𝟑</m:t>
                              </m:r>
                            </m:e>
                          </m:mr>
                          <m:mr>
                            <m:e>
                              <m:r>
                                <a:rPr lang="en-US" altLang="zh-CN" sz="3600" b="1" i="1" kern="0" baseline="0" smtClean="0">
                                  <a:solidFill>
                                    <a:srgbClr val="E5E5FF"/>
                                  </a:solidFill>
                                  <a:effectLst>
                                    <a:outerShdw blurRad="38100" dist="38100" dir="2700000" algn="tl">
                                      <a:srgbClr val="000000"/>
                                    </a:outerShdw>
                                  </a:effectLst>
                                  <a:latin typeface="Cambria Math"/>
                                </a:rPr>
                                <m:t>𝟐</m:t>
                              </m:r>
                            </m:e>
                            <m:e>
                              <m:r>
                                <a:rPr lang="en-US" altLang="zh-CN" sz="3600" b="1" i="1" kern="0" baseline="0" smtClean="0">
                                  <a:solidFill>
                                    <a:srgbClr val="E5E5FF"/>
                                  </a:solidFill>
                                  <a:effectLst>
                                    <a:outerShdw blurRad="38100" dist="38100" dir="2700000" algn="tl">
                                      <a:srgbClr val="000000"/>
                                    </a:outerShdw>
                                  </a:effectLst>
                                  <a:latin typeface="Cambria Math"/>
                                </a:rPr>
                                <m:t>𝟑</m:t>
                              </m:r>
                            </m:e>
                            <m:e>
                              <m:r>
                                <a:rPr lang="en-US" altLang="zh-CN" sz="3600" b="1" i="1" kern="0" baseline="0" smtClean="0">
                                  <a:solidFill>
                                    <a:srgbClr val="E5E5FF"/>
                                  </a:solidFill>
                                  <a:effectLst>
                                    <a:outerShdw blurRad="38100" dist="38100" dir="2700000" algn="tl">
                                      <a:srgbClr val="000000"/>
                                    </a:outerShdw>
                                  </a:effectLst>
                                  <a:latin typeface="Cambria Math"/>
                                </a:rPr>
                                <m:t>𝟏</m:t>
                              </m:r>
                            </m:e>
                          </m:mr>
                          <m:mr>
                            <m:e>
                              <m:r>
                                <a:rPr lang="en-US" altLang="zh-CN" sz="3600" b="1" i="1" kern="0" baseline="0" smtClean="0">
                                  <a:solidFill>
                                    <a:srgbClr val="E5E5FF"/>
                                  </a:solidFill>
                                  <a:effectLst>
                                    <a:outerShdw blurRad="38100" dist="38100" dir="2700000" algn="tl">
                                      <a:srgbClr val="000000"/>
                                    </a:outerShdw>
                                  </a:effectLst>
                                  <a:latin typeface="Cambria Math"/>
                                </a:rPr>
                                <m:t>𝟑</m:t>
                              </m:r>
                            </m:e>
                            <m:e>
                              <m:r>
                                <a:rPr lang="en-US" altLang="zh-CN" sz="3600" b="1" i="1" kern="0" baseline="0" smtClean="0">
                                  <a:solidFill>
                                    <a:srgbClr val="E5E5FF"/>
                                  </a:solidFill>
                                  <a:effectLst>
                                    <a:outerShdw blurRad="38100" dist="38100" dir="2700000" algn="tl">
                                      <a:srgbClr val="000000"/>
                                    </a:outerShdw>
                                  </a:effectLst>
                                  <a:latin typeface="Cambria Math"/>
                                </a:rPr>
                                <m:t>𝟏</m:t>
                              </m:r>
                            </m:e>
                            <m:e>
                              <m:r>
                                <a:rPr lang="en-US" altLang="zh-CN" sz="3600" b="1" i="1" kern="0" baseline="0" smtClean="0">
                                  <a:solidFill>
                                    <a:srgbClr val="E5E5FF"/>
                                  </a:solidFill>
                                  <a:effectLst>
                                    <a:outerShdw blurRad="38100" dist="38100" dir="2700000" algn="tl">
                                      <a:srgbClr val="000000"/>
                                    </a:outerShdw>
                                  </a:effectLst>
                                  <a:latin typeface="Cambria Math"/>
                                </a:rPr>
                                <m:t>𝟐</m:t>
                              </m:r>
                            </m:e>
                          </m:mr>
                        </m:m>
                      </m:e>
                    </m:d>
                  </m:oMath>
                </a14:m>
                <a:r>
                  <a:rPr lang="en-US" altLang="zh-CN" b="1" kern="0" baseline="0" dirty="0">
                    <a:solidFill>
                      <a:srgbClr val="E5E5FF"/>
                    </a:solidFill>
                    <a:effectLst>
                      <a:outerShdw blurRad="38100" dist="38100" dir="2700000" algn="tl">
                        <a:srgbClr val="000000"/>
                      </a:outerShdw>
                    </a:effectLst>
                    <a:latin typeface="Garamond"/>
                    <a:ea typeface="宋体"/>
                  </a:rPr>
                  <a:t> </a:t>
                </a:r>
                <a:endParaRPr lang="zh-CN" altLang="en-US" dirty="0"/>
              </a:p>
            </p:txBody>
          </p:sp>
        </mc:Choice>
        <mc:Fallback xmlns="">
          <p:sp>
            <p:nvSpPr>
              <p:cNvPr id="10" name="矩形 9"/>
              <p:cNvSpPr>
                <a:spLocks noRot="1" noChangeAspect="1" noMove="1" noResize="1" noEditPoints="1" noAdjustHandles="1" noChangeArrowheads="1" noChangeShapeType="1" noTextEdit="1"/>
              </p:cNvSpPr>
              <p:nvPr/>
            </p:nvSpPr>
            <p:spPr>
              <a:xfrm>
                <a:off x="2987824" y="5032563"/>
                <a:ext cx="2592287" cy="1557349"/>
              </a:xfrm>
              <a:prstGeom prst="rect">
                <a:avLst/>
              </a:prstGeom>
              <a:blipFill rotWithShape="1">
                <a:blip r:embed="rId4"/>
                <a:stretch>
                  <a:fillRect b="-7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5580111" y="5032562"/>
                <a:ext cx="3024337" cy="1557349"/>
              </a:xfrm>
              <a:prstGeom prst="rect">
                <a:avLst/>
              </a:prstGeom>
            </p:spPr>
            <p:txBody>
              <a:bodyPr wrap="square">
                <a:spAutoFit/>
              </a:bodyPr>
              <a:lstStyle/>
              <a:p>
                <a14:m>
                  <m:oMath xmlns:m="http://schemas.openxmlformats.org/officeDocument/2006/math">
                    <m:d>
                      <m:dPr>
                        <m:ctrlPr>
                          <a:rPr lang="en-US" altLang="zh-CN" sz="3600" b="1" i="1" kern="0" baseline="0" smtClean="0">
                            <a:solidFill>
                              <a:srgbClr val="E5E5FF"/>
                            </a:solidFill>
                            <a:effectLst>
                              <a:outerShdw blurRad="38100" dist="38100" dir="2700000" algn="tl">
                                <a:srgbClr val="000000"/>
                              </a:outerShdw>
                            </a:effectLst>
                            <a:latin typeface="Cambria Math" panose="02040503050406030204" pitchFamily="18" charset="0"/>
                          </a:rPr>
                        </m:ctrlPr>
                      </m:dPr>
                      <m:e>
                        <m:m>
                          <m:mPr>
                            <m:mcs>
                              <m:mc>
                                <m:mcPr>
                                  <m:count m:val="3"/>
                                  <m:mcJc m:val="center"/>
                                </m:mcPr>
                              </m:mc>
                            </m:mcs>
                            <m:ctrlPr>
                              <a:rPr lang="en-US" altLang="zh-CN" sz="3600" b="1" i="1" kern="0" baseline="0">
                                <a:solidFill>
                                  <a:srgbClr val="E5E5FF"/>
                                </a:solidFill>
                                <a:effectLst>
                                  <a:outerShdw blurRad="38100" dist="38100" dir="2700000" algn="tl">
                                    <a:srgbClr val="000000"/>
                                  </a:outerShdw>
                                </a:effectLst>
                                <a:latin typeface="Cambria Math" panose="02040503050406030204" pitchFamily="18" charset="0"/>
                              </a:rPr>
                            </m:ctrlPr>
                          </m:mPr>
                          <m:mr>
                            <m:e>
                              <m:r>
                                <m:rPr>
                                  <m:brk m:alnAt="7"/>
                                </m:rPr>
                                <a:rPr lang="en-US" altLang="zh-CN" sz="3600" b="1" i="1" kern="0" baseline="0">
                                  <a:solidFill>
                                    <a:srgbClr val="E5E5FF"/>
                                  </a:solidFill>
                                  <a:effectLst>
                                    <a:outerShdw blurRad="38100" dist="38100" dir="2700000" algn="tl">
                                      <a:srgbClr val="000000"/>
                                    </a:outerShdw>
                                  </a:effectLst>
                                  <a:latin typeface="Cambria Math"/>
                                </a:rPr>
                                <m:t>𝟏</m:t>
                              </m:r>
                              <m:r>
                                <a:rPr lang="en-US" altLang="zh-CN" sz="3600" b="1" i="1" kern="0" baseline="0" smtClean="0">
                                  <a:solidFill>
                                    <a:srgbClr val="E5E5FF"/>
                                  </a:solidFill>
                                  <a:effectLst>
                                    <a:outerShdw blurRad="38100" dist="38100" dir="2700000" algn="tl">
                                      <a:srgbClr val="000000"/>
                                    </a:outerShdw>
                                  </a:effectLst>
                                  <a:latin typeface="Cambria Math"/>
                                </a:rPr>
                                <m:t>𝟏</m:t>
                              </m:r>
                            </m:e>
                            <m:e>
                              <m:r>
                                <a:rPr lang="en-US" altLang="zh-CN" sz="3600" b="1" i="1" kern="0" baseline="0" smtClean="0">
                                  <a:solidFill>
                                    <a:srgbClr val="E5E5FF"/>
                                  </a:solidFill>
                                  <a:effectLst>
                                    <a:outerShdw blurRad="38100" dist="38100" dir="2700000" algn="tl">
                                      <a:srgbClr val="000000"/>
                                    </a:outerShdw>
                                  </a:effectLst>
                                  <a:latin typeface="Cambria Math"/>
                                </a:rPr>
                                <m:t>𝟐𝟐</m:t>
                              </m:r>
                            </m:e>
                            <m:e>
                              <m:r>
                                <a:rPr lang="en-US" altLang="zh-CN" sz="3600" b="1" i="1" kern="0" baseline="0">
                                  <a:solidFill>
                                    <a:srgbClr val="E5E5FF"/>
                                  </a:solidFill>
                                  <a:effectLst>
                                    <a:outerShdw blurRad="38100" dist="38100" dir="2700000" algn="tl">
                                      <a:srgbClr val="000000"/>
                                    </a:outerShdw>
                                  </a:effectLst>
                                  <a:latin typeface="Cambria Math"/>
                                </a:rPr>
                                <m:t>𝟑</m:t>
                              </m:r>
                              <m:r>
                                <a:rPr lang="en-US" altLang="zh-CN" sz="3600" b="1" i="1" kern="0" baseline="0" smtClean="0">
                                  <a:solidFill>
                                    <a:srgbClr val="E5E5FF"/>
                                  </a:solidFill>
                                  <a:effectLst>
                                    <a:outerShdw blurRad="38100" dist="38100" dir="2700000" algn="tl">
                                      <a:srgbClr val="000000"/>
                                    </a:outerShdw>
                                  </a:effectLst>
                                  <a:latin typeface="Cambria Math"/>
                                </a:rPr>
                                <m:t>𝟑</m:t>
                              </m:r>
                            </m:e>
                          </m:mr>
                          <m:mr>
                            <m:e>
                              <m:r>
                                <a:rPr lang="en-US" altLang="zh-CN" sz="3600" b="1" i="1" kern="0" baseline="0">
                                  <a:solidFill>
                                    <a:srgbClr val="E5E5FF"/>
                                  </a:solidFill>
                                  <a:effectLst>
                                    <a:outerShdw blurRad="38100" dist="38100" dir="2700000" algn="tl">
                                      <a:srgbClr val="000000"/>
                                    </a:outerShdw>
                                  </a:effectLst>
                                  <a:latin typeface="Cambria Math"/>
                                </a:rPr>
                                <m:t>𝟑</m:t>
                              </m:r>
                              <m:r>
                                <a:rPr lang="en-US" altLang="zh-CN" sz="3600" b="1" i="1" kern="0" baseline="0" smtClean="0">
                                  <a:solidFill>
                                    <a:srgbClr val="E5E5FF"/>
                                  </a:solidFill>
                                  <a:effectLst>
                                    <a:outerShdw blurRad="38100" dist="38100" dir="2700000" algn="tl">
                                      <a:srgbClr val="000000"/>
                                    </a:outerShdw>
                                  </a:effectLst>
                                  <a:latin typeface="Cambria Math"/>
                                </a:rPr>
                                <m:t>𝟐</m:t>
                              </m:r>
                            </m:e>
                            <m:e>
                              <m:r>
                                <a:rPr lang="en-US" altLang="zh-CN" sz="3600" b="1" i="1" kern="0" baseline="0" smtClean="0">
                                  <a:solidFill>
                                    <a:srgbClr val="E5E5FF"/>
                                  </a:solidFill>
                                  <a:effectLst>
                                    <a:outerShdw blurRad="38100" dist="38100" dir="2700000" algn="tl">
                                      <a:srgbClr val="000000"/>
                                    </a:outerShdw>
                                  </a:effectLst>
                                  <a:latin typeface="Cambria Math"/>
                                </a:rPr>
                                <m:t>𝟏𝟑</m:t>
                              </m:r>
                            </m:e>
                            <m:e>
                              <m:r>
                                <a:rPr lang="en-US" altLang="zh-CN" sz="3600" b="1" i="1" kern="0" baseline="0">
                                  <a:solidFill>
                                    <a:srgbClr val="E5E5FF"/>
                                  </a:solidFill>
                                  <a:effectLst>
                                    <a:outerShdw blurRad="38100" dist="38100" dir="2700000" algn="tl">
                                      <a:srgbClr val="000000"/>
                                    </a:outerShdw>
                                  </a:effectLst>
                                  <a:latin typeface="Cambria Math"/>
                                </a:rPr>
                                <m:t>𝟐</m:t>
                              </m:r>
                              <m:r>
                                <a:rPr lang="en-US" altLang="zh-CN" sz="3600" b="1" i="1" kern="0" baseline="0" smtClean="0">
                                  <a:solidFill>
                                    <a:srgbClr val="E5E5FF"/>
                                  </a:solidFill>
                                  <a:effectLst>
                                    <a:outerShdw blurRad="38100" dist="38100" dir="2700000" algn="tl">
                                      <a:srgbClr val="000000"/>
                                    </a:outerShdw>
                                  </a:effectLst>
                                  <a:latin typeface="Cambria Math"/>
                                </a:rPr>
                                <m:t>𝟏</m:t>
                              </m:r>
                            </m:e>
                          </m:mr>
                          <m:mr>
                            <m:e>
                              <m:r>
                                <a:rPr lang="en-US" altLang="zh-CN" sz="3600" b="1" i="1" kern="0" baseline="0" smtClean="0">
                                  <a:solidFill>
                                    <a:srgbClr val="E5E5FF"/>
                                  </a:solidFill>
                                  <a:effectLst>
                                    <a:outerShdw blurRad="38100" dist="38100" dir="2700000" algn="tl">
                                      <a:srgbClr val="000000"/>
                                    </a:outerShdw>
                                  </a:effectLst>
                                  <a:latin typeface="Cambria Math"/>
                                </a:rPr>
                                <m:t>𝟐𝟑</m:t>
                              </m:r>
                            </m:e>
                            <m:e>
                              <m:r>
                                <a:rPr lang="en-US" altLang="zh-CN" sz="3600" b="1" i="1" kern="0" baseline="0" smtClean="0">
                                  <a:solidFill>
                                    <a:srgbClr val="E5E5FF"/>
                                  </a:solidFill>
                                  <a:effectLst>
                                    <a:outerShdw blurRad="38100" dist="38100" dir="2700000" algn="tl">
                                      <a:srgbClr val="000000"/>
                                    </a:outerShdw>
                                  </a:effectLst>
                                  <a:latin typeface="Cambria Math"/>
                                </a:rPr>
                                <m:t>𝟑𝟏</m:t>
                              </m:r>
                            </m:e>
                            <m:e>
                              <m:r>
                                <a:rPr lang="en-US" altLang="zh-CN" sz="3600" b="1" i="1" kern="0" baseline="0" smtClean="0">
                                  <a:solidFill>
                                    <a:srgbClr val="E5E5FF"/>
                                  </a:solidFill>
                                  <a:effectLst>
                                    <a:outerShdw blurRad="38100" dist="38100" dir="2700000" algn="tl">
                                      <a:srgbClr val="000000"/>
                                    </a:outerShdw>
                                  </a:effectLst>
                                  <a:latin typeface="Cambria Math"/>
                                </a:rPr>
                                <m:t>𝟏𝟑</m:t>
                              </m:r>
                            </m:e>
                          </m:mr>
                        </m:m>
                      </m:e>
                    </m:d>
                  </m:oMath>
                </a14:m>
                <a:r>
                  <a:rPr lang="en-US" altLang="zh-CN" b="1" kern="0" baseline="0" dirty="0">
                    <a:solidFill>
                      <a:srgbClr val="E5E5FF"/>
                    </a:solidFill>
                    <a:effectLst>
                      <a:outerShdw blurRad="38100" dist="38100" dir="2700000" algn="tl">
                        <a:srgbClr val="000000"/>
                      </a:outerShdw>
                    </a:effectLst>
                    <a:latin typeface="Garamond"/>
                    <a:ea typeface="宋体"/>
                  </a:rPr>
                  <a:t> </a:t>
                </a:r>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5580111" y="5032562"/>
                <a:ext cx="3024337" cy="1557349"/>
              </a:xfrm>
              <a:prstGeom prst="rect">
                <a:avLst/>
              </a:prstGeom>
              <a:blipFill rotWithShape="1">
                <a:blip r:embed="rId5"/>
                <a:stretch>
                  <a:fillRect r="-7056" b="-784"/>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Euler</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猜想</a:t>
            </a:r>
          </a:p>
        </p:txBody>
      </p:sp>
      <p:sp>
        <p:nvSpPr>
          <p:cNvPr id="138243" name="Rectangle 3"/>
          <p:cNvSpPr>
            <a:spLocks noGrp="1" noRot="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Euler(1779)</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：不存在</a:t>
            </a: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4t+2</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阶正交拉丁方？</a:t>
            </a:r>
            <a:endPar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Tarry(1900)</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：不存在</a:t>
            </a: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6</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阶正交拉丁方！</a:t>
            </a:r>
            <a:endPar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2" panose="05020102010507070707" pitchFamily="18" charset="2"/>
              <a:buNone/>
              <a:defRPr/>
            </a:pP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存在</a:t>
            </a: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10</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阶正交拉丁方！</a:t>
            </a:r>
            <a:endPar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Bose, Shrikhande</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和</a:t>
            </a: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Parker(1960)</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endPar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2" panose="05020102010507070707" pitchFamily="18" charset="2"/>
              <a:buNone/>
              <a:defRPr/>
            </a:pP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当</a:t>
            </a: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t&gt;2</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时，存在</a:t>
            </a: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4t+2</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阶正交拉丁方！</a:t>
            </a:r>
            <a:endPar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2" panose="05020102010507070707" pitchFamily="18" charset="2"/>
              <a:buNone/>
              <a:defRPr/>
            </a:pP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首次数学上了</a:t>
            </a: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The New York Times</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的头版！</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组合数学的应用</a:t>
            </a:r>
          </a:p>
        </p:txBody>
      </p:sp>
      <p:sp>
        <p:nvSpPr>
          <p:cNvPr id="5120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组合数学不仅在基础数学研究中具有极其重要的地位，在其它的学科如计算机科学、编码和密码学、物理、化学、生物等学科中，甚至在企业管理，交通规划，战争指挥，金融分析，城市物流等领域均有重要应用。</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组合数学的应用</a:t>
            </a:r>
          </a:p>
        </p:txBody>
      </p:sp>
      <p:sp>
        <p:nvSpPr>
          <p:cNvPr id="92163" name="Rectangle 3"/>
          <p:cNvSpPr>
            <a:spLocks noGrp="1" noChangeArrowheads="1"/>
          </p:cNvSpPr>
          <p:nvPr>
            <p:ph type="body" sz="half" idx="1"/>
          </p:nvPr>
        </p:nvSpPr>
        <p:spPr>
          <a:xfrm>
            <a:off x="755650" y="1773238"/>
            <a:ext cx="4711700" cy="4557713"/>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著名的组合数学家</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Thomas Tutte</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在组合数学界是泰斗级的大师。直到最近人们才知道，原来他对提前结束</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二战</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有着突出贡献。</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Tutte</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从德军的两条情报密码出发，用组合数学的方法，重建了敌人的密码机，确定了德军密码的内部结构，从而获得了极为重要的情报。</a:t>
            </a:r>
          </a:p>
        </p:txBody>
      </p:sp>
      <p:pic>
        <p:nvPicPr>
          <p:cNvPr id="21508" name="Picture 4" descr="tutte"/>
          <p:cNvPicPr>
            <a:picLocks noChangeAspect="1"/>
          </p:cNvPicPr>
          <p:nvPr/>
        </p:nvPicPr>
        <p:blipFill>
          <a:blip r:embed="rId2" cstate="print"/>
          <a:stretch>
            <a:fillRect/>
          </a:stretch>
        </p:blipFill>
        <p:spPr>
          <a:xfrm>
            <a:off x="5791200" y="1752600"/>
            <a:ext cx="2284413" cy="4419600"/>
          </a:xfrm>
          <a:prstGeom prst="rect">
            <a:avLst/>
          </a:prstGeom>
          <a:noFill/>
          <a:ln w="9525">
            <a:no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sz="half" idx="1"/>
          </p:nvPr>
        </p:nvSpPr>
        <p:spPr/>
        <p:txBody>
          <a:bodyPr/>
          <a:lstStyle/>
          <a:p>
            <a:endParaRPr lang="zh-CN" altLang="en-US" dirty="0"/>
          </a:p>
        </p:txBody>
      </p:sp>
      <p:sp>
        <p:nvSpPr>
          <p:cNvPr id="4" name="剪贴画占位符 3"/>
          <p:cNvSpPr>
            <a:spLocks noGrp="1"/>
          </p:cNvSpPr>
          <p:nvPr>
            <p:ph type="clipArt" sz="half" idx="2"/>
          </p:nvPr>
        </p:nvSpPr>
        <p:spPr/>
      </p:sp>
      <p:pic>
        <p:nvPicPr>
          <p:cNvPr id="55298" name="Picture 2" descr="C:\Users\de'l'l\Desktop\模仿游戏.webp.jpg"/>
          <p:cNvPicPr>
            <a:picLocks noChangeAspect="1" noChangeArrowheads="1"/>
          </p:cNvPicPr>
          <p:nvPr/>
        </p:nvPicPr>
        <p:blipFill>
          <a:blip r:embed="rId2" cstate="print"/>
          <a:srcRect/>
          <a:stretch>
            <a:fillRect/>
          </a:stretch>
        </p:blipFill>
        <p:spPr bwMode="auto">
          <a:xfrm>
            <a:off x="971600" y="2060848"/>
            <a:ext cx="7404445" cy="3896589"/>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组合数学的应用</a:t>
            </a:r>
          </a:p>
        </p:txBody>
      </p:sp>
      <p:sp>
        <p:nvSpPr>
          <p:cNvPr id="5222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在美国有一家公司用组合数学的方法来提高企业管理的效益，这家公司办得非常成功。</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在美国已有专门的公司用组合设计的方法开发软件，来解决工业界中的试验设计问题。</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德国一位著名组合数学家利用组合数学方法研究药物结构，为制药公司节省了大量的费用，引起了制药业的关注。</a:t>
            </a:r>
            <a:r>
              <a:rPr kumimoji="0" lang="en-US" altLang="zh-CN" sz="2800" b="0" i="0" u="none" strike="noStrike" kern="0" cap="none" spc="0" normalizeH="0" baseline="0" noProof="0">
                <a:ln>
                  <a:noFill/>
                </a:ln>
                <a:solidFill>
                  <a:srgbClr val="000000"/>
                </a:solidFill>
                <a:effectLst>
                  <a:outerShdw blurRad="38100" dist="38100" dir="2700000" algn="tl">
                    <a:srgbClr val="FFFFFF"/>
                  </a:outerShdw>
                </a:effectLst>
                <a:uLnTx/>
                <a:uFillTx/>
                <a:latin typeface="宋体" pitchFamily="2" charset="-122"/>
                <a:ea typeface="+mn-ea"/>
                <a:cs typeface="+mn-cs"/>
              </a:rPr>
              <a:t> </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四色问题</a:t>
            </a:r>
          </a:p>
        </p:txBody>
      </p:sp>
      <p:sp>
        <p:nvSpPr>
          <p:cNvPr id="96259" name="Rectangle 3"/>
          <p:cNvSpPr>
            <a:spLocks noGrp="1" noChangeArrowheads="1"/>
          </p:cNvSpPr>
          <p:nvPr>
            <p:ph type="body" sz="half" idx="1"/>
          </p:nvPr>
        </p:nvSpPr>
        <p:spPr>
          <a:xfrm>
            <a:off x="457200" y="1600200"/>
            <a:ext cx="8077200" cy="24161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在日常生活中我们常常可以遇到组合数学的问题。比如一个著名的世界难题</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四色猜想</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 </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：一张地图，用一种颜色对一个地区着色，那么一共只需要四种颜色就能保证每两个相邻的地区颜色不同。</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en-US" sz="2800" b="0" i="0" u="none" strike="noStrike" kern="0" cap="none" spc="0" normalizeH="0" baseline="0" noProof="0">
              <a:ln>
                <a:noFill/>
              </a:ln>
              <a:solidFill>
                <a:srgbClr val="000000"/>
              </a:solidFill>
              <a:effectLst>
                <a:outerShdw blurRad="38100" dist="38100" dir="2700000" algn="tl">
                  <a:srgbClr val="FFFFFF"/>
                </a:outerShdw>
              </a:effectLst>
              <a:uLnTx/>
              <a:uFillTx/>
              <a:latin typeface="+mn-lt"/>
              <a:ea typeface="+mn-ea"/>
              <a:cs typeface="+mn-cs"/>
            </a:endParaRPr>
          </a:p>
        </p:txBody>
      </p:sp>
      <p:pic>
        <p:nvPicPr>
          <p:cNvPr id="23556" name="Picture 4" descr="usa"/>
          <p:cNvPicPr>
            <a:picLocks noChangeAspect="1"/>
          </p:cNvPicPr>
          <p:nvPr/>
        </p:nvPicPr>
        <p:blipFill>
          <a:blip r:embed="rId2" cstate="print"/>
          <a:stretch>
            <a:fillRect/>
          </a:stretch>
        </p:blipFill>
        <p:spPr>
          <a:xfrm>
            <a:off x="2438400" y="3827463"/>
            <a:ext cx="5105400" cy="2776537"/>
          </a:xfrm>
          <a:prstGeom prst="rect">
            <a:avLst/>
          </a:prstGeom>
          <a:noFill/>
          <a:ln w="9525">
            <a:no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四色问题</a:t>
            </a:r>
          </a:p>
        </p:txBody>
      </p:sp>
      <p:sp>
        <p:nvSpPr>
          <p:cNvPr id="9728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en-US" altLang="zh-CN" sz="2800" b="0" i="0" u="none" strike="noStrike" kern="0" cap="none" spc="0" normalizeH="0" baseline="0" noProof="0">
                <a:ln>
                  <a:noFill/>
                </a:ln>
                <a:solidFill>
                  <a:srgbClr val="000000"/>
                </a:solidFill>
                <a:effectLst>
                  <a:outerShdw blurRad="38100" dist="38100" dir="2700000" algn="tl">
                    <a:srgbClr val="FFFFFF"/>
                  </a:outerShdw>
                </a:effectLst>
                <a:uLnTx/>
                <a:uFillTx/>
                <a:latin typeface="+mn-lt"/>
                <a:ea typeface="+mn-ea"/>
                <a:cs typeface="+mn-cs"/>
              </a:rPr>
              <a:t>   </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1852</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年，刚从伦敦大学毕业的</a:t>
            </a:r>
            <a:r>
              <a:rPr kumimoji="0" lang="en-US" altLang="zh-CN" sz="32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Francis Guthrie</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提出了四色猜想。</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1878</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年著名的英国数学家</a:t>
            </a:r>
            <a:r>
              <a:rPr kumimoji="0" lang="en-US" altLang="zh-CN" sz="32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Cayley</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向数学界征求解答。</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此后数学家</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 </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Heawood</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 </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花费了毕生的精力致力于四色研究，于</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1890</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年证明了五色定理（</a:t>
            </a:r>
            <a:r>
              <a:rPr kumimoji="0" lang="zh-CN" altLang="en-US" sz="2800" b="0" i="0" u="none" strike="noStrike" kern="0" cap="none" spc="0" normalizeH="0" baseline="0" noProof="0">
                <a:ln>
                  <a:noFill/>
                </a:ln>
                <a:solidFill>
                  <a:srgbClr val="FF0000"/>
                </a:solidFill>
                <a:effectLst>
                  <a:outerShdw blurRad="38100" dist="38100" dir="2700000" algn="tl">
                    <a:srgbClr val="000000"/>
                  </a:outerShdw>
                </a:effectLst>
                <a:uLnTx/>
                <a:uFillTx/>
                <a:latin typeface="黑体" pitchFamily="49" charset="-122"/>
                <a:ea typeface="黑体" pitchFamily="49" charset="-122"/>
                <a:cs typeface="+mn-cs"/>
              </a:rPr>
              <a:t>每个平面图都是</a:t>
            </a:r>
            <a:r>
              <a:rPr kumimoji="0" lang="en-US" altLang="zh-CN" sz="2800" b="0" i="0" u="none" strike="noStrike" kern="0" cap="none" spc="0" normalizeH="0" baseline="0" noProof="0">
                <a:ln>
                  <a:noFill/>
                </a:ln>
                <a:solidFill>
                  <a:srgbClr val="FF0000"/>
                </a:solidFill>
                <a:effectLst>
                  <a:outerShdw blurRad="38100" dist="38100" dir="2700000" algn="tl">
                    <a:srgbClr val="000000"/>
                  </a:outerShdw>
                </a:effectLst>
                <a:uLnTx/>
                <a:uFillTx/>
                <a:latin typeface="黑体" pitchFamily="49" charset="-122"/>
                <a:ea typeface="黑体" pitchFamily="49" charset="-122"/>
                <a:cs typeface="+mn-cs"/>
              </a:rPr>
              <a:t>5</a:t>
            </a:r>
            <a:r>
              <a:rPr kumimoji="0" lang="zh-CN" altLang="en-US" sz="2800" b="0" i="0" u="none" strike="noStrike" kern="0" cap="none" spc="0" normalizeH="0" baseline="0" noProof="0">
                <a:ln>
                  <a:noFill/>
                </a:ln>
                <a:solidFill>
                  <a:srgbClr val="FF0000"/>
                </a:solidFill>
                <a:effectLst>
                  <a:outerShdw blurRad="38100" dist="38100" dir="2700000" algn="tl">
                    <a:srgbClr val="000000"/>
                  </a:outerShdw>
                </a:effectLst>
                <a:uLnTx/>
                <a:uFillTx/>
                <a:latin typeface="黑体" pitchFamily="49" charset="-122"/>
                <a:ea typeface="黑体" pitchFamily="49" charset="-122"/>
                <a:cs typeface="+mn-cs"/>
              </a:rPr>
              <a:t>顶点可着色的</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直到</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1976</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年</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6</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月，美国数学家</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 </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K. Appel</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与</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 </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W. Haken</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，在</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3</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台不同的电子计算机上，用了</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1200</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小时，才终于完成了</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四色猜想</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的证明，从而使</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四色猜想</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成为了</a:t>
            </a:r>
            <a:r>
              <a:rPr kumimoji="0" lang="zh-CN" altLang="en-US" sz="2800" b="0" i="0" u="none" strike="noStrike" kern="0" cap="none" spc="0" normalizeH="0" baseline="0" noProof="0">
                <a:ln>
                  <a:noFill/>
                </a:ln>
                <a:solidFill>
                  <a:srgbClr val="FF3300"/>
                </a:solidFill>
                <a:effectLst>
                  <a:outerShdw blurRad="38100" dist="38100" dir="2700000" algn="tl">
                    <a:srgbClr val="000000"/>
                  </a:outerShdw>
                </a:effectLst>
                <a:uLnTx/>
                <a:uFillTx/>
                <a:latin typeface="宋体" pitchFamily="2" charset="-122"/>
                <a:ea typeface="+mn-ea"/>
                <a:cs typeface="+mn-cs"/>
              </a:rPr>
              <a:t>四色定理</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ea typeface="+mj-ea"/>
                <a:cs typeface="+mj-cs"/>
              </a:rPr>
              <a:t>相识问题</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a:t>
            </a:r>
          </a:p>
        </p:txBody>
      </p:sp>
      <p:sp>
        <p:nvSpPr>
          <p:cNvPr id="14336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1958</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年，美国的</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数学月刊</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上登载着这样一个有趣的问题：</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任何</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6</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个人的聚会，其中总会有</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3</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个人相互认识，或</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3</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个人相互不认识</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 </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用</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6</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个顶点表示</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6</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个人，用红色连线表示两者相识，用蓝色连线表示两者不相识。于是问题化为下述命题：</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143364" name="Rectangle 4"/>
          <p:cNvSpPr>
            <a:spLocks noChangeArrowheads="1"/>
          </p:cNvSpPr>
          <p:nvPr/>
        </p:nvSpPr>
        <p:spPr bwMode="auto">
          <a:xfrm>
            <a:off x="3600450" y="2476500"/>
            <a:ext cx="9144000" cy="0"/>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相识问题</a:t>
            </a:r>
          </a:p>
        </p:txBody>
      </p:sp>
      <p:sp>
        <p:nvSpPr>
          <p:cNvPr id="14438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对</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6</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个顶点的完全图</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K</a:t>
            </a:r>
            <a:r>
              <a:rPr kumimoji="0" lang="en-US" altLang="zh-CN" sz="3200" b="0" i="0" u="none" strike="noStrike" kern="0" cap="none" spc="0" normalizeH="0" baseline="-25000" noProof="0">
                <a:ln>
                  <a:noFill/>
                </a:ln>
                <a:solidFill>
                  <a:schemeClr val="tx1"/>
                </a:solidFill>
                <a:effectLst>
                  <a:outerShdw blurRad="38100" dist="38100" dir="2700000" algn="tl">
                    <a:srgbClr val="000000"/>
                  </a:outerShdw>
                </a:effectLst>
                <a:uLnTx/>
                <a:uFillTx/>
                <a:ea typeface="+mn-ea"/>
                <a:cs typeface="+mn-cs"/>
              </a:rPr>
              <a:t>6</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任意进行红、蓝两边着色，则图中一定存在一个同色三角形。</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144388" name="Oval 4"/>
          <p:cNvSpPr>
            <a:spLocks noChangeArrowheads="1"/>
          </p:cNvSpPr>
          <p:nvPr/>
        </p:nvSpPr>
        <p:spPr bwMode="auto">
          <a:xfrm>
            <a:off x="5867400" y="5859463"/>
            <a:ext cx="152400" cy="152400"/>
          </a:xfrm>
          <a:prstGeom prst="ellipse">
            <a:avLst/>
          </a:prstGeom>
          <a:solidFill>
            <a:srgbClr val="CADCC6"/>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44389" name="Oval 5"/>
          <p:cNvSpPr>
            <a:spLocks noChangeArrowheads="1"/>
          </p:cNvSpPr>
          <p:nvPr/>
        </p:nvSpPr>
        <p:spPr bwMode="auto">
          <a:xfrm>
            <a:off x="4191000" y="5859463"/>
            <a:ext cx="152400" cy="152400"/>
          </a:xfrm>
          <a:prstGeom prst="ellipse">
            <a:avLst/>
          </a:prstGeom>
          <a:solidFill>
            <a:srgbClr val="CADCC6"/>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44390" name="Oval 6"/>
          <p:cNvSpPr>
            <a:spLocks noChangeArrowheads="1"/>
          </p:cNvSpPr>
          <p:nvPr/>
        </p:nvSpPr>
        <p:spPr bwMode="auto">
          <a:xfrm>
            <a:off x="6400800" y="4716463"/>
            <a:ext cx="152400" cy="152400"/>
          </a:xfrm>
          <a:prstGeom prst="ellipse">
            <a:avLst/>
          </a:prstGeom>
          <a:solidFill>
            <a:srgbClr val="CADCC6"/>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44391" name="Oval 7"/>
          <p:cNvSpPr>
            <a:spLocks noChangeArrowheads="1"/>
          </p:cNvSpPr>
          <p:nvPr/>
        </p:nvSpPr>
        <p:spPr bwMode="auto">
          <a:xfrm>
            <a:off x="3352800" y="4945063"/>
            <a:ext cx="152400" cy="152400"/>
          </a:xfrm>
          <a:prstGeom prst="ellipse">
            <a:avLst/>
          </a:prstGeom>
          <a:solidFill>
            <a:srgbClr val="CADCC6"/>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44392" name="Oval 8"/>
          <p:cNvSpPr>
            <a:spLocks noChangeArrowheads="1"/>
          </p:cNvSpPr>
          <p:nvPr/>
        </p:nvSpPr>
        <p:spPr bwMode="auto">
          <a:xfrm>
            <a:off x="5638800" y="3497263"/>
            <a:ext cx="152400" cy="152400"/>
          </a:xfrm>
          <a:prstGeom prst="ellipse">
            <a:avLst/>
          </a:prstGeom>
          <a:solidFill>
            <a:srgbClr val="CADCC6"/>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44393" name="Oval 9"/>
          <p:cNvSpPr>
            <a:spLocks noChangeArrowheads="1"/>
          </p:cNvSpPr>
          <p:nvPr/>
        </p:nvSpPr>
        <p:spPr bwMode="auto">
          <a:xfrm>
            <a:off x="4038600" y="3497263"/>
            <a:ext cx="152400" cy="152400"/>
          </a:xfrm>
          <a:prstGeom prst="ellipse">
            <a:avLst/>
          </a:prstGeom>
          <a:solidFill>
            <a:srgbClr val="CADCC6"/>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cxnSp>
        <p:nvCxnSpPr>
          <p:cNvPr id="144394" name="AutoShape 10"/>
          <p:cNvCxnSpPr/>
          <p:nvPr/>
        </p:nvCxnSpPr>
        <p:spPr>
          <a:xfrm flipH="1">
            <a:off x="3429000" y="3573463"/>
            <a:ext cx="685800" cy="1447800"/>
          </a:xfrm>
          <a:prstGeom prst="straightConnector1">
            <a:avLst/>
          </a:prstGeom>
          <a:ln w="25400" cap="flat" cmpd="sng">
            <a:solidFill>
              <a:srgbClr val="FF3300"/>
            </a:solidFill>
            <a:prstDash val="solid"/>
            <a:headEnd type="none" w="med" len="med"/>
            <a:tailEnd type="none" w="med" len="med"/>
          </a:ln>
        </p:spPr>
      </p:cxnSp>
      <p:cxnSp>
        <p:nvCxnSpPr>
          <p:cNvPr id="144395" name="AutoShape 11"/>
          <p:cNvCxnSpPr>
            <a:stCxn id="144393" idx="6"/>
            <a:endCxn id="144392" idx="6"/>
          </p:cNvCxnSpPr>
          <p:nvPr/>
        </p:nvCxnSpPr>
        <p:spPr>
          <a:xfrm>
            <a:off x="4191000" y="3573463"/>
            <a:ext cx="1600200" cy="0"/>
          </a:xfrm>
          <a:prstGeom prst="straightConnector1">
            <a:avLst/>
          </a:prstGeom>
          <a:ln w="25400" cap="flat" cmpd="sng">
            <a:solidFill>
              <a:srgbClr val="FF3300"/>
            </a:solidFill>
            <a:prstDash val="solid"/>
            <a:headEnd type="none" w="med" len="med"/>
            <a:tailEnd type="none" w="med" len="med"/>
          </a:ln>
        </p:spPr>
      </p:cxnSp>
      <p:cxnSp>
        <p:nvCxnSpPr>
          <p:cNvPr id="26636" name="AutoShape 12"/>
          <p:cNvCxnSpPr>
            <a:stCxn id="144391" idx="5"/>
            <a:endCxn id="144389" idx="6"/>
          </p:cNvCxnSpPr>
          <p:nvPr/>
        </p:nvCxnSpPr>
        <p:spPr>
          <a:xfrm>
            <a:off x="3482975" y="5075238"/>
            <a:ext cx="860425" cy="860425"/>
          </a:xfrm>
          <a:prstGeom prst="straightConnector1">
            <a:avLst/>
          </a:prstGeom>
          <a:ln w="25400" cap="flat" cmpd="sng">
            <a:solidFill>
              <a:srgbClr val="66FF33"/>
            </a:solidFill>
            <a:prstDash val="solid"/>
            <a:headEnd type="none" w="med" len="med"/>
            <a:tailEnd type="none" w="med" len="med"/>
          </a:ln>
        </p:spPr>
      </p:cxnSp>
      <p:cxnSp>
        <p:nvCxnSpPr>
          <p:cNvPr id="26637" name="AutoShape 13"/>
          <p:cNvCxnSpPr>
            <a:stCxn id="144392" idx="5"/>
            <a:endCxn id="144390" idx="1"/>
          </p:cNvCxnSpPr>
          <p:nvPr/>
        </p:nvCxnSpPr>
        <p:spPr>
          <a:xfrm>
            <a:off x="5768975" y="3627438"/>
            <a:ext cx="654050" cy="1111250"/>
          </a:xfrm>
          <a:prstGeom prst="straightConnector1">
            <a:avLst/>
          </a:prstGeom>
          <a:ln w="25400" cap="flat" cmpd="sng">
            <a:solidFill>
              <a:srgbClr val="66FF33"/>
            </a:solidFill>
            <a:prstDash val="solid"/>
            <a:headEnd type="none" w="med" len="med"/>
            <a:tailEnd type="none" w="med" len="med"/>
          </a:ln>
        </p:spPr>
      </p:cxnSp>
      <p:cxnSp>
        <p:nvCxnSpPr>
          <p:cNvPr id="144398" name="AutoShape 14"/>
          <p:cNvCxnSpPr>
            <a:stCxn id="144390" idx="4"/>
            <a:endCxn id="144388" idx="4"/>
          </p:cNvCxnSpPr>
          <p:nvPr/>
        </p:nvCxnSpPr>
        <p:spPr>
          <a:xfrm flipH="1">
            <a:off x="5943600" y="4868863"/>
            <a:ext cx="533400" cy="1143000"/>
          </a:xfrm>
          <a:prstGeom prst="straightConnector1">
            <a:avLst/>
          </a:prstGeom>
          <a:ln w="25400" cap="flat" cmpd="sng">
            <a:solidFill>
              <a:srgbClr val="66FF33"/>
            </a:solidFill>
            <a:prstDash val="solid"/>
            <a:headEnd type="none" w="med" len="med"/>
            <a:tailEnd type="none" w="med" len="med"/>
          </a:ln>
        </p:spPr>
      </p:cxnSp>
      <p:cxnSp>
        <p:nvCxnSpPr>
          <p:cNvPr id="144399" name="AutoShape 15"/>
          <p:cNvCxnSpPr>
            <a:stCxn id="144389" idx="6"/>
            <a:endCxn id="144388" idx="6"/>
          </p:cNvCxnSpPr>
          <p:nvPr/>
        </p:nvCxnSpPr>
        <p:spPr>
          <a:xfrm>
            <a:off x="4343400" y="5935663"/>
            <a:ext cx="1676400" cy="0"/>
          </a:xfrm>
          <a:prstGeom prst="straightConnector1">
            <a:avLst/>
          </a:prstGeom>
          <a:ln w="25400" cap="flat" cmpd="sng">
            <a:solidFill>
              <a:srgbClr val="FF3300"/>
            </a:solidFill>
            <a:prstDash val="solid"/>
            <a:headEnd type="none" w="med" len="med"/>
            <a:tailEnd type="none" w="med" len="med"/>
          </a:ln>
        </p:spPr>
      </p:cxnSp>
      <p:cxnSp>
        <p:nvCxnSpPr>
          <p:cNvPr id="26640" name="AutoShape 16"/>
          <p:cNvCxnSpPr>
            <a:stCxn id="144393" idx="6"/>
            <a:endCxn id="144389" idx="6"/>
          </p:cNvCxnSpPr>
          <p:nvPr/>
        </p:nvCxnSpPr>
        <p:spPr>
          <a:xfrm>
            <a:off x="4191000" y="3573463"/>
            <a:ext cx="152400" cy="2362200"/>
          </a:xfrm>
          <a:prstGeom prst="straightConnector1">
            <a:avLst/>
          </a:prstGeom>
          <a:ln w="25400" cap="flat" cmpd="sng">
            <a:solidFill>
              <a:srgbClr val="FF3300"/>
            </a:solidFill>
            <a:prstDash val="solid"/>
            <a:headEnd type="none" w="med" len="med"/>
            <a:tailEnd type="none" w="med" len="med"/>
          </a:ln>
        </p:spPr>
      </p:cxnSp>
      <p:cxnSp>
        <p:nvCxnSpPr>
          <p:cNvPr id="26641" name="AutoShape 17"/>
          <p:cNvCxnSpPr>
            <a:stCxn id="144392" idx="6"/>
            <a:endCxn id="144388" idx="2"/>
          </p:cNvCxnSpPr>
          <p:nvPr/>
        </p:nvCxnSpPr>
        <p:spPr>
          <a:xfrm>
            <a:off x="5791200" y="3573463"/>
            <a:ext cx="76200" cy="2362200"/>
          </a:xfrm>
          <a:prstGeom prst="straightConnector1">
            <a:avLst/>
          </a:prstGeom>
          <a:ln w="25400" cap="flat" cmpd="sng">
            <a:solidFill>
              <a:srgbClr val="FF3300"/>
            </a:solidFill>
            <a:prstDash val="solid"/>
            <a:headEnd type="none" w="med" len="med"/>
            <a:tailEnd type="none" w="med" len="med"/>
          </a:ln>
        </p:spPr>
      </p:cxnSp>
      <p:cxnSp>
        <p:nvCxnSpPr>
          <p:cNvPr id="26642" name="AutoShape 18"/>
          <p:cNvCxnSpPr>
            <a:stCxn id="144391" idx="6"/>
            <a:endCxn id="144390" idx="4"/>
          </p:cNvCxnSpPr>
          <p:nvPr/>
        </p:nvCxnSpPr>
        <p:spPr>
          <a:xfrm flipV="1">
            <a:off x="3505200" y="4868863"/>
            <a:ext cx="2971800" cy="152400"/>
          </a:xfrm>
          <a:prstGeom prst="straightConnector1">
            <a:avLst/>
          </a:prstGeom>
          <a:ln w="25400" cap="flat" cmpd="sng">
            <a:solidFill>
              <a:srgbClr val="FF3300"/>
            </a:solidFill>
            <a:prstDash val="solid"/>
            <a:headEnd type="none" w="med" len="med"/>
            <a:tailEnd type="none" w="med" len="med"/>
          </a:ln>
        </p:spPr>
      </p:cxnSp>
      <p:cxnSp>
        <p:nvCxnSpPr>
          <p:cNvPr id="144403" name="AutoShape 19"/>
          <p:cNvCxnSpPr>
            <a:stCxn id="144392" idx="6"/>
            <a:endCxn id="144389" idx="6"/>
          </p:cNvCxnSpPr>
          <p:nvPr/>
        </p:nvCxnSpPr>
        <p:spPr>
          <a:xfrm flipH="1">
            <a:off x="4343400" y="3573463"/>
            <a:ext cx="1447800" cy="2362200"/>
          </a:xfrm>
          <a:prstGeom prst="straightConnector1">
            <a:avLst/>
          </a:prstGeom>
          <a:ln w="25400" cap="flat" cmpd="sng">
            <a:solidFill>
              <a:srgbClr val="66FF33"/>
            </a:solidFill>
            <a:prstDash val="solid"/>
            <a:headEnd type="none" w="med" len="med"/>
            <a:tailEnd type="none" w="med" len="med"/>
          </a:ln>
        </p:spPr>
      </p:cxnSp>
      <p:cxnSp>
        <p:nvCxnSpPr>
          <p:cNvPr id="26644" name="AutoShape 20"/>
          <p:cNvCxnSpPr>
            <a:stCxn id="144393" idx="1"/>
            <a:endCxn id="144388" idx="6"/>
          </p:cNvCxnSpPr>
          <p:nvPr/>
        </p:nvCxnSpPr>
        <p:spPr>
          <a:xfrm>
            <a:off x="4060825" y="3519488"/>
            <a:ext cx="1958975" cy="2416175"/>
          </a:xfrm>
          <a:prstGeom prst="straightConnector1">
            <a:avLst/>
          </a:prstGeom>
          <a:ln w="25400" cap="flat" cmpd="sng">
            <a:solidFill>
              <a:srgbClr val="66FF33"/>
            </a:solidFill>
            <a:prstDash val="solid"/>
            <a:headEnd type="none" w="med" len="med"/>
            <a:tailEnd type="none" w="med" len="med"/>
          </a:ln>
        </p:spPr>
      </p:cxnSp>
      <p:cxnSp>
        <p:nvCxnSpPr>
          <p:cNvPr id="144405" name="AutoShape 21"/>
          <p:cNvCxnSpPr>
            <a:stCxn id="144393" idx="5"/>
            <a:endCxn id="144390" idx="4"/>
          </p:cNvCxnSpPr>
          <p:nvPr/>
        </p:nvCxnSpPr>
        <p:spPr>
          <a:xfrm>
            <a:off x="4168775" y="3627438"/>
            <a:ext cx="2308225" cy="1241425"/>
          </a:xfrm>
          <a:prstGeom prst="straightConnector1">
            <a:avLst/>
          </a:prstGeom>
          <a:ln w="25400" cap="flat" cmpd="sng">
            <a:solidFill>
              <a:srgbClr val="66FF33"/>
            </a:solidFill>
            <a:prstDash val="solid"/>
            <a:headEnd type="none" w="med" len="med"/>
            <a:tailEnd type="none" w="med" len="med"/>
          </a:ln>
        </p:spPr>
      </p:cxnSp>
      <p:cxnSp>
        <p:nvCxnSpPr>
          <p:cNvPr id="26646" name="AutoShape 22"/>
          <p:cNvCxnSpPr>
            <a:stCxn id="144392" idx="5"/>
            <a:endCxn id="144391" idx="6"/>
          </p:cNvCxnSpPr>
          <p:nvPr/>
        </p:nvCxnSpPr>
        <p:spPr>
          <a:xfrm flipH="1">
            <a:off x="3505200" y="3627438"/>
            <a:ext cx="2263775" cy="1393825"/>
          </a:xfrm>
          <a:prstGeom prst="straightConnector1">
            <a:avLst/>
          </a:prstGeom>
          <a:ln w="25400" cap="flat" cmpd="sng">
            <a:solidFill>
              <a:srgbClr val="66FF33"/>
            </a:solidFill>
            <a:prstDash val="solid"/>
            <a:headEnd type="none" w="med" len="med"/>
            <a:tailEnd type="none" w="med" len="med"/>
          </a:ln>
        </p:spPr>
      </p:cxnSp>
      <p:cxnSp>
        <p:nvCxnSpPr>
          <p:cNvPr id="144407" name="AutoShape 23"/>
          <p:cNvCxnSpPr>
            <a:stCxn id="144389" idx="7"/>
            <a:endCxn id="144390" idx="4"/>
          </p:cNvCxnSpPr>
          <p:nvPr/>
        </p:nvCxnSpPr>
        <p:spPr>
          <a:xfrm flipV="1">
            <a:off x="4321175" y="4868863"/>
            <a:ext cx="2155825" cy="1012825"/>
          </a:xfrm>
          <a:prstGeom prst="straightConnector1">
            <a:avLst/>
          </a:prstGeom>
          <a:ln w="25400" cap="flat" cmpd="sng">
            <a:solidFill>
              <a:srgbClr val="66FF33"/>
            </a:solidFill>
            <a:prstDash val="solid"/>
            <a:headEnd type="none" w="med" len="med"/>
            <a:tailEnd type="none" w="med" len="med"/>
          </a:ln>
        </p:spPr>
      </p:cxnSp>
      <p:cxnSp>
        <p:nvCxnSpPr>
          <p:cNvPr id="26648" name="AutoShape 24"/>
          <p:cNvCxnSpPr>
            <a:stCxn id="144391" idx="2"/>
            <a:endCxn id="144388" idx="6"/>
          </p:cNvCxnSpPr>
          <p:nvPr/>
        </p:nvCxnSpPr>
        <p:spPr>
          <a:xfrm>
            <a:off x="3352800" y="5021263"/>
            <a:ext cx="2667000" cy="914400"/>
          </a:xfrm>
          <a:prstGeom prst="straightConnector1">
            <a:avLst/>
          </a:prstGeom>
          <a:ln w="25400" cap="flat" cmpd="sng">
            <a:solidFill>
              <a:srgbClr val="66FF33"/>
            </a:solidFill>
            <a:prstDash val="solid"/>
            <a:headEnd type="none" w="med" len="med"/>
            <a:tailEnd type="none" w="med" len="med"/>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500" fill="hold"/>
                                        <p:tgtEl>
                                          <p:spTgt spid="144395"/>
                                        </p:tgtEl>
                                        <p:attrNameLst>
                                          <p:attrName>stroke.color</p:attrName>
                                        </p:attrNameLst>
                                      </p:cBhvr>
                                      <p:to>
                                        <a:srgbClr val="66FF33"/>
                                      </p:to>
                                    </p:animClr>
                                    <p:set>
                                      <p:cBhvr>
                                        <p:cTn id="7" dur="500" fill="hold"/>
                                        <p:tgtEl>
                                          <p:spTgt spid="144395"/>
                                        </p:tgtEl>
                                        <p:attrNameLst>
                                          <p:attrName>stroke.on</p:attrName>
                                        </p:attrNameLst>
                                      </p:cBhvr>
                                      <p:to>
                                        <p:strVal val="true"/>
                                      </p:to>
                                    </p:set>
                                  </p:childTnLst>
                                </p:cTn>
                              </p:par>
                            </p:childTnLst>
                          </p:cTn>
                        </p:par>
                        <p:par>
                          <p:cTn id="8" fill="hold">
                            <p:stCondLst>
                              <p:cond delay="500"/>
                            </p:stCondLst>
                            <p:childTnLst>
                              <p:par>
                                <p:cTn id="9" presetID="7" presetClass="emph" presetSubtype="2" fill="hold" nodeType="afterEffect">
                                  <p:stCondLst>
                                    <p:cond delay="0"/>
                                  </p:stCondLst>
                                  <p:childTnLst>
                                    <p:animClr clrSpc="rgb" dir="cw">
                                      <p:cBhvr>
                                        <p:cTn id="10" dur="500" fill="hold"/>
                                        <p:tgtEl>
                                          <p:spTgt spid="144405"/>
                                        </p:tgtEl>
                                        <p:attrNameLst>
                                          <p:attrName>stroke.color</p:attrName>
                                        </p:attrNameLst>
                                      </p:cBhvr>
                                      <p:to>
                                        <a:srgbClr val="FF3300"/>
                                      </p:to>
                                    </p:animClr>
                                    <p:set>
                                      <p:cBhvr>
                                        <p:cTn id="11" dur="500" fill="hold"/>
                                        <p:tgtEl>
                                          <p:spTgt spid="144405"/>
                                        </p:tgtEl>
                                        <p:attrNameLst>
                                          <p:attrName>stroke.on</p:attrName>
                                        </p:attrNameLst>
                                      </p:cBhvr>
                                      <p:to>
                                        <p:strVal val="true"/>
                                      </p:to>
                                    </p:set>
                                  </p:childTnLst>
                                </p:cTn>
                              </p:par>
                            </p:childTnLst>
                          </p:cTn>
                        </p:par>
                        <p:par>
                          <p:cTn id="12" fill="hold">
                            <p:stCondLst>
                              <p:cond delay="1000"/>
                            </p:stCondLst>
                            <p:childTnLst>
                              <p:par>
                                <p:cTn id="13" presetID="7" presetClass="emph" presetSubtype="2" fill="hold" nodeType="afterEffect">
                                  <p:stCondLst>
                                    <p:cond delay="0"/>
                                  </p:stCondLst>
                                  <p:childTnLst>
                                    <p:animClr clrSpc="rgb" dir="cw">
                                      <p:cBhvr>
                                        <p:cTn id="14" dur="500" fill="hold"/>
                                        <p:tgtEl>
                                          <p:spTgt spid="144403"/>
                                        </p:tgtEl>
                                        <p:attrNameLst>
                                          <p:attrName>stroke.color</p:attrName>
                                        </p:attrNameLst>
                                      </p:cBhvr>
                                      <p:to>
                                        <a:srgbClr val="FF3300"/>
                                      </p:to>
                                    </p:animClr>
                                    <p:set>
                                      <p:cBhvr>
                                        <p:cTn id="15" dur="500" fill="hold"/>
                                        <p:tgtEl>
                                          <p:spTgt spid="144403"/>
                                        </p:tgtEl>
                                        <p:attrNameLst>
                                          <p:attrName>stroke.on</p:attrName>
                                        </p:attrNameLst>
                                      </p:cBhvr>
                                      <p:to>
                                        <p:strVal val="true"/>
                                      </p:to>
                                    </p:set>
                                  </p:childTnLst>
                                </p:cTn>
                              </p:par>
                            </p:childTnLst>
                          </p:cTn>
                        </p:par>
                        <p:par>
                          <p:cTn id="16" fill="hold">
                            <p:stCondLst>
                              <p:cond delay="1500"/>
                            </p:stCondLst>
                            <p:childTnLst>
                              <p:par>
                                <p:cTn id="17" presetID="7" presetClass="emph" presetSubtype="2" fill="hold" nodeType="afterEffect">
                                  <p:stCondLst>
                                    <p:cond delay="0"/>
                                  </p:stCondLst>
                                  <p:childTnLst>
                                    <p:animClr clrSpc="rgb" dir="cw">
                                      <p:cBhvr>
                                        <p:cTn id="18" dur="500" fill="hold"/>
                                        <p:tgtEl>
                                          <p:spTgt spid="144407"/>
                                        </p:tgtEl>
                                        <p:attrNameLst>
                                          <p:attrName>stroke.color</p:attrName>
                                        </p:attrNameLst>
                                      </p:cBhvr>
                                      <p:to>
                                        <a:srgbClr val="FF3300"/>
                                      </p:to>
                                    </p:animClr>
                                    <p:set>
                                      <p:cBhvr>
                                        <p:cTn id="19" dur="500" fill="hold"/>
                                        <p:tgtEl>
                                          <p:spTgt spid="144407"/>
                                        </p:tgtEl>
                                        <p:attrNameLst>
                                          <p:attrName>stroke.on</p:attrName>
                                        </p:attrNameLst>
                                      </p:cBhvr>
                                      <p:to>
                                        <p:strVal val="true"/>
                                      </p:to>
                                    </p:set>
                                  </p:childTnLst>
                                </p:cTn>
                              </p:par>
                            </p:childTnLst>
                          </p:cTn>
                        </p:par>
                        <p:par>
                          <p:cTn id="20" fill="hold">
                            <p:stCondLst>
                              <p:cond delay="2000"/>
                            </p:stCondLst>
                            <p:childTnLst>
                              <p:par>
                                <p:cTn id="21" presetID="7" presetClass="emph" presetSubtype="2" fill="hold" nodeType="afterEffect">
                                  <p:stCondLst>
                                    <p:cond delay="0"/>
                                  </p:stCondLst>
                                  <p:childTnLst>
                                    <p:animClr clrSpc="rgb" dir="cw">
                                      <p:cBhvr>
                                        <p:cTn id="22" dur="500" fill="hold"/>
                                        <p:tgtEl>
                                          <p:spTgt spid="144399"/>
                                        </p:tgtEl>
                                        <p:attrNameLst>
                                          <p:attrName>stroke.color</p:attrName>
                                        </p:attrNameLst>
                                      </p:cBhvr>
                                      <p:to>
                                        <a:srgbClr val="66FF33"/>
                                      </p:to>
                                    </p:animClr>
                                    <p:set>
                                      <p:cBhvr>
                                        <p:cTn id="23" dur="500" fill="hold"/>
                                        <p:tgtEl>
                                          <p:spTgt spid="144399"/>
                                        </p:tgtEl>
                                        <p:attrNameLst>
                                          <p:attrName>stroke.on</p:attrName>
                                        </p:attrNameLst>
                                      </p:cBhvr>
                                      <p:to>
                                        <p:strVal val="true"/>
                                      </p:to>
                                    </p:set>
                                  </p:childTnLst>
                                </p:cTn>
                              </p:par>
                            </p:childTnLst>
                          </p:cTn>
                        </p:par>
                        <p:par>
                          <p:cTn id="24" fill="hold">
                            <p:stCondLst>
                              <p:cond delay="2500"/>
                            </p:stCondLst>
                            <p:childTnLst>
                              <p:par>
                                <p:cTn id="25" presetID="7" presetClass="emph" presetSubtype="2" fill="hold" nodeType="afterEffect">
                                  <p:stCondLst>
                                    <p:cond delay="0"/>
                                  </p:stCondLst>
                                  <p:childTnLst>
                                    <p:animClr clrSpc="rgb" dir="cw">
                                      <p:cBhvr>
                                        <p:cTn id="26" dur="500" fill="hold"/>
                                        <p:tgtEl>
                                          <p:spTgt spid="144394"/>
                                        </p:tgtEl>
                                        <p:attrNameLst>
                                          <p:attrName>stroke.color</p:attrName>
                                        </p:attrNameLst>
                                      </p:cBhvr>
                                      <p:to>
                                        <a:srgbClr val="66FF33"/>
                                      </p:to>
                                    </p:animClr>
                                    <p:set>
                                      <p:cBhvr>
                                        <p:cTn id="27" dur="500" fill="hold"/>
                                        <p:tgtEl>
                                          <p:spTgt spid="144394"/>
                                        </p:tgtEl>
                                        <p:attrNameLst>
                                          <p:attrName>stroke.on</p:attrName>
                                        </p:attrNameLst>
                                      </p:cBhvr>
                                      <p:to>
                                        <p:strVal val="true"/>
                                      </p:to>
                                    </p:set>
                                  </p:childTnLst>
                                </p:cTn>
                              </p:par>
                            </p:childTnLst>
                          </p:cTn>
                        </p:par>
                        <p:par>
                          <p:cTn id="28" fill="hold">
                            <p:stCondLst>
                              <p:cond delay="3000"/>
                            </p:stCondLst>
                            <p:childTnLst>
                              <p:par>
                                <p:cTn id="29" presetID="7" presetClass="emph" presetSubtype="2" fill="hold" nodeType="afterEffect">
                                  <p:stCondLst>
                                    <p:cond delay="0"/>
                                  </p:stCondLst>
                                  <p:childTnLst>
                                    <p:animClr clrSpc="rgb" dir="cw">
                                      <p:cBhvr>
                                        <p:cTn id="30" dur="500" fill="hold"/>
                                        <p:tgtEl>
                                          <p:spTgt spid="144398"/>
                                        </p:tgtEl>
                                        <p:attrNameLst>
                                          <p:attrName>stroke.color</p:attrName>
                                        </p:attrNameLst>
                                      </p:cBhvr>
                                      <p:to>
                                        <a:srgbClr val="FF3300"/>
                                      </p:to>
                                    </p:animClr>
                                    <p:set>
                                      <p:cBhvr>
                                        <p:cTn id="31" dur="500" fill="hold"/>
                                        <p:tgtEl>
                                          <p:spTgt spid="144398"/>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Ramsey</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数</a:t>
            </a:r>
          </a:p>
        </p:txBody>
      </p:sp>
      <p:sp>
        <p:nvSpPr>
          <p:cNvPr id="145411"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推广为一般问题：给定任意正整数</a:t>
            </a:r>
            <a:r>
              <a:rPr kumimoji="0" lang="en-US" altLang="zh-CN" sz="3600" b="0" i="1"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a:t>
            </a:r>
            <a:r>
              <a:rPr kumimoji="0" lang="zh-CN" altLang="en-US"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3600" b="0" i="1"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b</a:t>
            </a:r>
            <a:r>
              <a:rPr kumimoji="0" lang="zh-CN" altLang="en-US"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，总存在一个最小整数</a:t>
            </a:r>
            <a:r>
              <a:rPr kumimoji="0" lang="en-US" altLang="zh-CN"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600" b="0" i="1"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r(a,b)</a:t>
            </a:r>
            <a:r>
              <a:rPr kumimoji="0" lang="zh-CN" altLang="en-US"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，使得</a:t>
            </a:r>
            <a:r>
              <a:rPr kumimoji="0" lang="en-US" altLang="zh-CN" sz="3600" b="0" i="1"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r(a,b) </a:t>
            </a:r>
            <a:r>
              <a:rPr kumimoji="0" lang="zh-CN" altLang="en-US"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个人中或者有</a:t>
            </a:r>
            <a:r>
              <a:rPr kumimoji="0" lang="en-US" altLang="zh-CN"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600" b="0" i="1"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 </a:t>
            </a:r>
            <a:r>
              <a:rPr kumimoji="0" lang="zh-CN" altLang="en-US"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个人互相认识，或者有</a:t>
            </a:r>
            <a:r>
              <a:rPr kumimoji="0" lang="en-US" altLang="zh-CN"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600" b="0" i="1"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b </a:t>
            </a:r>
            <a:r>
              <a:rPr kumimoji="0" lang="zh-CN" altLang="en-US"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个人互相不认识。称</a:t>
            </a:r>
            <a:r>
              <a:rPr kumimoji="0" lang="en-US" altLang="zh-CN"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600" b="0" i="1"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r(a,b)</a:t>
            </a:r>
            <a:r>
              <a:rPr kumimoji="0" lang="en-US" altLang="zh-CN"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为</a:t>
            </a:r>
            <a:r>
              <a:rPr kumimoji="0" lang="en-US" altLang="zh-CN" sz="3600" b="0" i="0" u="none" strike="noStrike" kern="0" cap="none" spc="0" normalizeH="0" baseline="0" noProof="0">
                <a:ln>
                  <a:noFill/>
                </a:ln>
                <a:solidFill>
                  <a:srgbClr val="FF3300"/>
                </a:solidFill>
                <a:effectLst>
                  <a:outerShdw blurRad="38100" dist="38100" dir="2700000" algn="tl">
                    <a:srgbClr val="000000"/>
                  </a:outerShdw>
                </a:effectLst>
                <a:uLnTx/>
                <a:uFillTx/>
                <a:latin typeface="+mn-lt"/>
                <a:ea typeface="+mn-ea"/>
                <a:cs typeface="+mn-cs"/>
              </a:rPr>
              <a:t>Ramsey</a:t>
            </a:r>
            <a:r>
              <a:rPr kumimoji="0" lang="zh-CN" altLang="en-US" sz="3600" b="0" i="0" u="none" strike="noStrike" kern="0" cap="none" spc="0" normalizeH="0" baseline="0" noProof="0">
                <a:ln>
                  <a:noFill/>
                </a:ln>
                <a:solidFill>
                  <a:srgbClr val="FF3300"/>
                </a:solidFill>
                <a:effectLst>
                  <a:outerShdw blurRad="38100" dist="38100" dir="2700000" algn="tl">
                    <a:srgbClr val="000000"/>
                  </a:outerShdw>
                </a:effectLst>
                <a:uLnTx/>
                <a:uFillTx/>
                <a:latin typeface="+mn-lt"/>
                <a:ea typeface="+mn-ea"/>
                <a:cs typeface="+mn-cs"/>
              </a:rPr>
              <a:t>数</a:t>
            </a:r>
            <a:r>
              <a:rPr kumimoji="0" lang="zh-CN" altLang="en-US" sz="36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上述例子可以看作是</a:t>
            </a: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R(3,3)=6</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endPar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Char char="n"/>
              <a:defRPr/>
            </a:pPr>
            <a:r>
              <a:rPr kumimoji="1" lang="en-US"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已知的</a:t>
            </a: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Ramsey</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数非常少，保罗</a:t>
            </a: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艾狄胥曾以一个故事来描述寻找</a:t>
            </a: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hlinkClick r:id="rId2"/>
              </a:rPr>
              <a:t>Ramsey</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hlinkClick r:id="rId2"/>
              </a:rPr>
              <a:t>数</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的难度：</a:t>
            </a:r>
          </a:p>
          <a:p>
            <a:pPr marL="342900" marR="0" lvl="0" indent="-34290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“想像有队外星人军队在地球降落，要求取得</a:t>
            </a: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R(5,5)</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的值，否则便会毁灭地球。在这个情况，我们应该集中所有电脑和数学家尝试去找这个数值。若它们要求的是</a:t>
            </a:r>
            <a:r>
              <a:rPr kumimoji="1"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R(6,6)</a:t>
            </a:r>
            <a:r>
              <a:rPr kumimoji="1"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的值，我们唯一的选择就是誓死抵抗。”</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55" name="Rectangle 87"/>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Ramsey</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数</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R(p,q)</a:t>
            </a:r>
          </a:p>
        </p:txBody>
      </p:sp>
      <p:graphicFrame>
        <p:nvGraphicFramePr>
          <p:cNvPr id="29699" name="表格占位符 29698"/>
          <p:cNvGraphicFramePr>
            <a:graphicFrameLocks noGrp="1"/>
          </p:cNvGraphicFramePr>
          <p:nvPr>
            <p:ph type="tbl" idx="1"/>
          </p:nvPr>
        </p:nvGraphicFramePr>
        <p:xfrm>
          <a:off x="468313" y="1905000"/>
          <a:ext cx="8377238" cy="3973513"/>
        </p:xfrm>
        <a:graphic>
          <a:graphicData uri="http://schemas.openxmlformats.org/drawingml/2006/table">
            <a:tbl>
              <a:tblPr/>
              <a:tblGrid>
                <a:gridCol w="1084263">
                  <a:extLst>
                    <a:ext uri="{9D8B030D-6E8A-4147-A177-3AD203B41FA5}">
                      <a16:colId xmlns:a16="http://schemas.microsoft.com/office/drawing/2014/main" val="20000"/>
                    </a:ext>
                  </a:extLst>
                </a:gridCol>
                <a:gridCol w="641350">
                  <a:extLst>
                    <a:ext uri="{9D8B030D-6E8A-4147-A177-3AD203B41FA5}">
                      <a16:colId xmlns:a16="http://schemas.microsoft.com/office/drawing/2014/main" val="20001"/>
                    </a:ext>
                  </a:extLst>
                </a:gridCol>
                <a:gridCol w="784225">
                  <a:extLst>
                    <a:ext uri="{9D8B030D-6E8A-4147-A177-3AD203B41FA5}">
                      <a16:colId xmlns:a16="http://schemas.microsoft.com/office/drawing/2014/main" val="20002"/>
                    </a:ext>
                  </a:extLst>
                </a:gridCol>
                <a:gridCol w="985837">
                  <a:extLst>
                    <a:ext uri="{9D8B030D-6E8A-4147-A177-3AD203B41FA5}">
                      <a16:colId xmlns:a16="http://schemas.microsoft.com/office/drawing/2014/main" val="20003"/>
                    </a:ext>
                  </a:extLst>
                </a:gridCol>
                <a:gridCol w="1189038">
                  <a:extLst>
                    <a:ext uri="{9D8B030D-6E8A-4147-A177-3AD203B41FA5}">
                      <a16:colId xmlns:a16="http://schemas.microsoft.com/office/drawing/2014/main" val="20004"/>
                    </a:ext>
                  </a:extLst>
                </a:gridCol>
                <a:gridCol w="1074737">
                  <a:extLst>
                    <a:ext uri="{9D8B030D-6E8A-4147-A177-3AD203B41FA5}">
                      <a16:colId xmlns:a16="http://schemas.microsoft.com/office/drawing/2014/main" val="20005"/>
                    </a:ext>
                  </a:extLst>
                </a:gridCol>
                <a:gridCol w="1303338">
                  <a:extLst>
                    <a:ext uri="{9D8B030D-6E8A-4147-A177-3AD203B41FA5}">
                      <a16:colId xmlns:a16="http://schemas.microsoft.com/office/drawing/2014/main" val="20006"/>
                    </a:ext>
                  </a:extLst>
                </a:gridCol>
                <a:gridCol w="1314450">
                  <a:extLst>
                    <a:ext uri="{9D8B030D-6E8A-4147-A177-3AD203B41FA5}">
                      <a16:colId xmlns:a16="http://schemas.microsoft.com/office/drawing/2014/main" val="20007"/>
                    </a:ext>
                  </a:extLst>
                </a:gridCol>
              </a:tblGrid>
              <a:tr h="496888">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p,q</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3</a:t>
                      </a:r>
                      <a:endParaRPr lang="en-US" altLang="zh-CN" sz="1800" baseline="0" dirty="0">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4</a:t>
                      </a:r>
                      <a:endParaRPr lang="en-US" altLang="zh-CN" sz="1800" baseline="0" dirty="0">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5</a:t>
                      </a:r>
                      <a:endParaRPr lang="en-US" altLang="zh-CN" sz="1800" baseline="0" dirty="0">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6</a:t>
                      </a:r>
                      <a:endParaRPr lang="en-US" altLang="zh-CN" sz="1800" baseline="0" dirty="0">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7</a:t>
                      </a:r>
                      <a:endParaRPr lang="en-US" altLang="zh-CN" sz="1800" baseline="0" dirty="0">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8</a:t>
                      </a:r>
                      <a:endParaRPr lang="en-US" altLang="zh-CN" sz="1800" baseline="0" dirty="0">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9</a:t>
                      </a:r>
                      <a:endParaRPr lang="en-US" altLang="zh-CN" sz="1800" baseline="0" dirty="0">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5300">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3</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 6</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9</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14</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18</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23</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28</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36</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6887">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4</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18</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 25</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35–41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49–61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56–84</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69–115</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5300">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5</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 43–49</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58–87</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80–143</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101–216</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121–316</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6888">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6</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102–165</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111–298</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127–495</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169–780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5300">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7</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205–540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216–1031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232–1713</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96887">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8</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282–1870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317–3583</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0063">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1" baseline="0" dirty="0">
                          <a:effectLst/>
                          <a:latin typeface="Arial" panose="020B0604020202090204" pitchFamily="34" charset="0"/>
                        </a:rPr>
                        <a:t>9</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endParaRPr lang="zh-CN" altLang="en-US" sz="1800" baseline="0" dirty="0">
                        <a:solidFill>
                          <a:srgbClr val="FFCC00"/>
                        </a:solidFill>
                        <a:effectLst/>
                        <a:latin typeface="Arial" panose="020B0604020202090204" pitchFamily="34" charset="0"/>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25000">
                          <a:solidFill>
                            <a:schemeClr val="tx1"/>
                          </a:solidFill>
                          <a:latin typeface="Garamond" pitchFamily="18" charset="0"/>
                          <a:ea typeface="宋体" pitchFamily="2" charset="-122"/>
                          <a:cs typeface="+mn-cs"/>
                        </a:defRPr>
                      </a:lvl5pPr>
                    </a:lstStyle>
                    <a:p>
                      <a:pPr marL="342900" lvl="0" indent="-342900" algn="ctr" eaLnBrk="1" fontAlgn="t" hangingPunct="1">
                        <a:buClr>
                          <a:schemeClr val="folHlink"/>
                        </a:buClr>
                        <a:buSzPct val="85000"/>
                        <a:buFont typeface="Wingdings 2" panose="05020102010507070707" pitchFamily="18" charset="2"/>
                        <a:buNone/>
                      </a:pPr>
                      <a:r>
                        <a:rPr lang="en-US" altLang="zh-CN" sz="1800" baseline="0" dirty="0">
                          <a:solidFill>
                            <a:srgbClr val="FFCC00"/>
                          </a:solidFill>
                          <a:effectLst/>
                          <a:latin typeface="Arial" panose="020B0604020202090204" pitchFamily="34" charset="0"/>
                        </a:rPr>
                        <a:t>565–6588</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机器证明</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Arial" panose="020B0604020202090204" pitchFamily="34" charset="0"/>
                <a:ea typeface="+mj-ea"/>
                <a:cs typeface="+mj-cs"/>
              </a:rPr>
              <a:t>——</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吴消元法</a:t>
            </a:r>
          </a:p>
        </p:txBody>
      </p:sp>
      <p:sp>
        <p:nvSpPr>
          <p:cNvPr id="10342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1976</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年</a:t>
            </a:r>
            <a:r>
              <a:rPr kumimoji="0" lang="zh-CN" altLang="en-US" sz="3200" b="0" i="0" u="none" strike="noStrike" kern="0" cap="none" spc="0" normalizeH="0" baseline="0" noProof="0">
                <a:ln>
                  <a:noFill/>
                </a:ln>
                <a:solidFill>
                  <a:schemeClr val="hlink"/>
                </a:solidFill>
                <a:effectLst>
                  <a:outerShdw blurRad="38100" dist="38100" dir="2700000" algn="tl">
                    <a:srgbClr val="000000"/>
                  </a:outerShdw>
                </a:effectLst>
                <a:uLnTx/>
                <a:uFillTx/>
                <a:latin typeface="Verdana" panose="020B0604030504040204" pitchFamily="34" charset="0"/>
                <a:ea typeface="+mn-ea"/>
                <a:cs typeface="+mn-cs"/>
              </a:rPr>
              <a:t>吴文俊</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教授开始进行研究几何定理的机器证明，并在很短的时间内取得重大突破。</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他的基本思想如下：引进坐标，将几何定理用代数方程组的形式表达；提出一套完整可行的符号解法，将此代数方程组求解。此两步中，一般第二步更为困难。</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机器证明</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Arial" panose="020B0604020202090204" pitchFamily="34" charset="0"/>
                <a:ea typeface="+mj-ea"/>
                <a:cs typeface="+mj-cs"/>
              </a:rPr>
              <a:t>——</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吴消元法</a:t>
            </a:r>
          </a:p>
        </p:txBody>
      </p:sp>
      <p:sp>
        <p:nvSpPr>
          <p:cNvPr id="104451"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Verdana" panose="020B0604030504040204" pitchFamily="34" charset="0"/>
                <a:ea typeface="+mn-ea"/>
                <a:cs typeface="+mn-cs"/>
              </a:rPr>
              <a:t>周咸青</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利用并发展吴方法，编制出计算机软件，证明了</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500</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多条有相当难度的几何定理，并在美国出版了几何定理机器证明的专著。</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吴方法不仅可证明已有的几何定理，而且可以自动发现新的定理。可以从</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Verdana" panose="020B0604030504040204" pitchFamily="34" charset="0"/>
                <a:ea typeface="+mn-ea"/>
                <a:cs typeface="+mn-cs"/>
              </a:rPr>
              <a:t>Kerler</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定律推导牛顿定律；解决一些非线性规划问题；给出</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Puma</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型机器人的逆运动方程的解。</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吴文俊教授还将其方法推广到微分几何定理的机器证明上。</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j-ea"/>
                <a:cs typeface="+mj-cs"/>
              </a:rPr>
              <a:t>稳定的婚姻问题</a:t>
            </a:r>
          </a:p>
        </p:txBody>
      </p:sp>
      <p:sp>
        <p:nvSpPr>
          <p:cNvPr id="105475" name="Rectangle 3"/>
          <p:cNvSpPr>
            <a:spLocks noGrp="1" noChangeArrowheads="1"/>
          </p:cNvSpPr>
          <p:nvPr>
            <p:ph type="body" sz="half" idx="1"/>
          </p:nvPr>
        </p:nvSpPr>
        <p:spPr>
          <a:xfrm>
            <a:off x="461963" y="1752600"/>
            <a:ext cx="8072438" cy="234791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en-US" altLang="zh-CN" sz="2400" b="0" i="0" u="none" strike="noStrike" kern="0" cap="none" spc="0" normalizeH="0" baseline="0" noProof="0">
                <a:ln>
                  <a:noFill/>
                </a:ln>
                <a:solidFill>
                  <a:srgbClr val="000000"/>
                </a:solidFill>
                <a:effectLst>
                  <a:outerShdw blurRad="38100" dist="38100" dir="2700000" algn="tl">
                    <a:srgbClr val="FFFFFF"/>
                  </a:outerShdw>
                </a:effectLst>
                <a:uLnTx/>
                <a:uFillTx/>
                <a:latin typeface="+mn-lt"/>
                <a:ea typeface="+mn-ea"/>
                <a:cs typeface="+mn-cs"/>
              </a:rPr>
              <a:t> </a:t>
            </a:r>
            <a:r>
              <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rPr>
              <a:t>组合数学中有一个著名定理：如果一个村子里每一个女孩都恰好认识</a:t>
            </a:r>
            <a:r>
              <a:rPr kumimoji="0" lang="en-US" altLang="zh-CN" sz="2400" b="0" i="0" u="none" strike="noStrike" kern="0" cap="none" spc="0" normalizeH="0" baseline="0" noProof="0">
                <a:ln>
                  <a:noFill/>
                </a:ln>
                <a:solidFill>
                  <a:schemeClr val="tx1"/>
                </a:solidFill>
                <a:effectLst/>
                <a:uLnTx/>
                <a:uFillTx/>
                <a:latin typeface="宋体" pitchFamily="2" charset="-122"/>
                <a:ea typeface="+mn-ea"/>
                <a:cs typeface="+mn-cs"/>
              </a:rPr>
              <a:t>k</a:t>
            </a:r>
            <a:r>
              <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rPr>
              <a:t>个男孩，并且每一个男孩也恰好认识</a:t>
            </a:r>
            <a:r>
              <a:rPr kumimoji="0" lang="en-US" altLang="zh-CN" sz="2400" b="0" i="0" u="none" strike="noStrike" kern="0" cap="none" spc="0" normalizeH="0" baseline="0" noProof="0">
                <a:ln>
                  <a:noFill/>
                </a:ln>
                <a:solidFill>
                  <a:schemeClr val="tx1"/>
                </a:solidFill>
                <a:effectLst/>
                <a:uLnTx/>
                <a:uFillTx/>
                <a:latin typeface="宋体" pitchFamily="2" charset="-122"/>
                <a:ea typeface="+mn-ea"/>
                <a:cs typeface="+mn-cs"/>
              </a:rPr>
              <a:t>k</a:t>
            </a:r>
            <a:r>
              <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rPr>
              <a:t>个女孩，那么每一个女孩都可以嫁给她认识的一个男孩，并且每一个男孩都可以娶一个他认识的女孩。（</a:t>
            </a:r>
            <a:r>
              <a:rPr kumimoji="0" lang="en-US" altLang="zh-CN" sz="2400" b="0" i="0" u="none" strike="noStrike" kern="0" cap="none" spc="0" normalizeH="0" baseline="0" noProof="0">
                <a:ln>
                  <a:noFill/>
                </a:ln>
                <a:solidFill>
                  <a:schemeClr val="tx1"/>
                </a:solidFill>
                <a:effectLst/>
                <a:uLnTx/>
                <a:uFillTx/>
                <a:latin typeface="宋体" pitchFamily="2" charset="-122"/>
                <a:ea typeface="+mn-ea"/>
                <a:cs typeface="+mn-cs"/>
              </a:rPr>
              <a:t> </a:t>
            </a:r>
            <a:r>
              <a:rPr kumimoji="0" lang="en-US" altLang="zh-CN" sz="2800" b="0" i="0" u="none" strike="noStrike" kern="0" cap="none" spc="0" normalizeH="0" baseline="0" noProof="0">
                <a:ln>
                  <a:noFill/>
                </a:ln>
                <a:solidFill>
                  <a:srgbClr val="FF0000"/>
                </a:solidFill>
                <a:effectLst/>
                <a:uLnTx/>
                <a:uFillTx/>
                <a:latin typeface="宋体" pitchFamily="2" charset="-122"/>
                <a:ea typeface="+mn-ea"/>
                <a:cs typeface="+mn-cs"/>
              </a:rPr>
              <a:t>k</a:t>
            </a:r>
            <a:r>
              <a:rPr kumimoji="0" lang="en-US" altLang="zh-CN" sz="2400" b="0" i="0" u="none" strike="noStrike" kern="0" cap="none" spc="0" normalizeH="0" baseline="0" noProof="0">
                <a:ln>
                  <a:noFill/>
                </a:ln>
                <a:solidFill>
                  <a:srgbClr val="FF0000"/>
                </a:solidFill>
                <a:effectLst/>
                <a:uLnTx/>
                <a:uFillTx/>
                <a:latin typeface="宋体" pitchFamily="2" charset="-122"/>
                <a:ea typeface="+mn-ea"/>
                <a:cs typeface="+mn-cs"/>
              </a:rPr>
              <a:t> </a:t>
            </a:r>
            <a:r>
              <a:rPr kumimoji="0" lang="zh-CN" altLang="en-US" sz="2400" b="0" i="0" u="none" strike="noStrike" kern="0" cap="none" spc="0" normalizeH="0" baseline="0" noProof="0">
                <a:ln>
                  <a:noFill/>
                </a:ln>
                <a:solidFill>
                  <a:srgbClr val="FF0000"/>
                </a:solidFill>
                <a:effectLst/>
                <a:uLnTx/>
                <a:uFillTx/>
                <a:latin typeface="宋体" pitchFamily="2" charset="-122"/>
                <a:ea typeface="+mn-ea"/>
                <a:cs typeface="+mn-cs"/>
              </a:rPr>
              <a:t>正则二部图，一定存在一个完美匹配</a:t>
            </a:r>
            <a:r>
              <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rPr>
              <a:t>）</a:t>
            </a:r>
            <a:endParaRPr kumimoji="0" lang="en-US" altLang="zh-CN" sz="2400" b="0" i="0" u="none" strike="noStrike" kern="0" cap="none" spc="0" normalizeH="0" baseline="0" noProof="0">
              <a:ln>
                <a:noFill/>
              </a:ln>
              <a:solidFill>
                <a:schemeClr val="tx1"/>
              </a:solidFill>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endParaRPr>
          </a:p>
        </p:txBody>
      </p:sp>
      <p:sp>
        <p:nvSpPr>
          <p:cNvPr id="105480" name="Line 8"/>
          <p:cNvSpPr>
            <a:spLocks noChangeShapeType="1"/>
          </p:cNvSpPr>
          <p:nvPr/>
        </p:nvSpPr>
        <p:spPr bwMode="auto">
          <a:xfrm flipH="1">
            <a:off x="3349625" y="4800600"/>
            <a:ext cx="17463" cy="1149350"/>
          </a:xfrm>
          <a:prstGeom prst="line">
            <a:avLst/>
          </a:prstGeom>
          <a:noFill/>
          <a:ln w="9525">
            <a:solidFill>
              <a:srgbClr val="FF3300"/>
            </a:solidFill>
            <a:round/>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481" name="Line 9"/>
          <p:cNvSpPr>
            <a:spLocks noChangeShapeType="1"/>
          </p:cNvSpPr>
          <p:nvPr/>
        </p:nvSpPr>
        <p:spPr bwMode="auto">
          <a:xfrm>
            <a:off x="6300788" y="4797425"/>
            <a:ext cx="0" cy="1223963"/>
          </a:xfrm>
          <a:prstGeom prst="line">
            <a:avLst/>
          </a:prstGeom>
          <a:noFill/>
          <a:ln w="9525">
            <a:solidFill>
              <a:srgbClr val="FF3300"/>
            </a:solidFill>
            <a:round/>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482" name="Line 10"/>
          <p:cNvSpPr>
            <a:spLocks noChangeShapeType="1"/>
          </p:cNvSpPr>
          <p:nvPr/>
        </p:nvSpPr>
        <p:spPr bwMode="auto">
          <a:xfrm flipH="1">
            <a:off x="4510088" y="4724400"/>
            <a:ext cx="914400" cy="1447800"/>
          </a:xfrm>
          <a:prstGeom prst="line">
            <a:avLst/>
          </a:prstGeom>
          <a:noFill/>
          <a:ln w="9525">
            <a:solidFill>
              <a:srgbClr val="FF3300"/>
            </a:solidFill>
            <a:round/>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483" name="Line 11"/>
          <p:cNvSpPr>
            <a:spLocks noChangeShapeType="1"/>
          </p:cNvSpPr>
          <p:nvPr/>
        </p:nvSpPr>
        <p:spPr bwMode="auto">
          <a:xfrm>
            <a:off x="4586288" y="4724400"/>
            <a:ext cx="706438" cy="1225550"/>
          </a:xfrm>
          <a:prstGeom prst="line">
            <a:avLst/>
          </a:prstGeom>
          <a:noFill/>
          <a:ln w="9525">
            <a:solidFill>
              <a:srgbClr val="FF3300"/>
            </a:solidFill>
            <a:round/>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488" name="Line 16"/>
          <p:cNvSpPr>
            <a:spLocks noChangeShapeType="1"/>
          </p:cNvSpPr>
          <p:nvPr/>
        </p:nvSpPr>
        <p:spPr bwMode="auto">
          <a:xfrm>
            <a:off x="3519488" y="4800600"/>
            <a:ext cx="762000" cy="1295400"/>
          </a:xfrm>
          <a:prstGeom prst="line">
            <a:avLst/>
          </a:prstGeom>
          <a:noFill/>
          <a:ln w="9525">
            <a:solidFill>
              <a:schemeClr val="tx1"/>
            </a:solidFill>
            <a:round/>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489" name="Line 17"/>
          <p:cNvSpPr>
            <a:spLocks noChangeShapeType="1"/>
          </p:cNvSpPr>
          <p:nvPr/>
        </p:nvSpPr>
        <p:spPr bwMode="auto">
          <a:xfrm>
            <a:off x="3595688" y="4724400"/>
            <a:ext cx="2514600" cy="1371600"/>
          </a:xfrm>
          <a:prstGeom prst="line">
            <a:avLst/>
          </a:prstGeom>
          <a:noFill/>
          <a:ln w="9525">
            <a:solidFill>
              <a:schemeClr val="tx1"/>
            </a:solidFill>
            <a:round/>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490" name="Line 18"/>
          <p:cNvSpPr>
            <a:spLocks noChangeShapeType="1"/>
          </p:cNvSpPr>
          <p:nvPr/>
        </p:nvSpPr>
        <p:spPr bwMode="auto">
          <a:xfrm flipH="1">
            <a:off x="3519488" y="4800600"/>
            <a:ext cx="838200" cy="1219200"/>
          </a:xfrm>
          <a:prstGeom prst="line">
            <a:avLst/>
          </a:prstGeom>
          <a:noFill/>
          <a:ln w="9525">
            <a:solidFill>
              <a:schemeClr val="tx1"/>
            </a:solidFill>
            <a:round/>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491" name="Line 19"/>
          <p:cNvSpPr>
            <a:spLocks noChangeShapeType="1"/>
          </p:cNvSpPr>
          <p:nvPr/>
        </p:nvSpPr>
        <p:spPr bwMode="auto">
          <a:xfrm flipH="1">
            <a:off x="3595688" y="4800600"/>
            <a:ext cx="2667000" cy="1295400"/>
          </a:xfrm>
          <a:prstGeom prst="line">
            <a:avLst/>
          </a:prstGeom>
          <a:noFill/>
          <a:ln w="9525">
            <a:solidFill>
              <a:schemeClr val="tx1"/>
            </a:solidFill>
            <a:round/>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492" name="Line 20"/>
          <p:cNvSpPr>
            <a:spLocks noChangeShapeType="1"/>
          </p:cNvSpPr>
          <p:nvPr/>
        </p:nvSpPr>
        <p:spPr bwMode="auto">
          <a:xfrm flipH="1">
            <a:off x="5500688" y="4800600"/>
            <a:ext cx="762000" cy="1295400"/>
          </a:xfrm>
          <a:prstGeom prst="line">
            <a:avLst/>
          </a:prstGeom>
          <a:noFill/>
          <a:ln w="9525">
            <a:solidFill>
              <a:schemeClr val="tx1"/>
            </a:solidFill>
            <a:round/>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493" name="Line 21"/>
          <p:cNvSpPr>
            <a:spLocks noChangeShapeType="1"/>
          </p:cNvSpPr>
          <p:nvPr/>
        </p:nvSpPr>
        <p:spPr bwMode="auto">
          <a:xfrm>
            <a:off x="4433888" y="4800600"/>
            <a:ext cx="0" cy="1295400"/>
          </a:xfrm>
          <a:prstGeom prst="line">
            <a:avLst/>
          </a:prstGeom>
          <a:noFill/>
          <a:ln w="9525">
            <a:solidFill>
              <a:schemeClr val="tx1"/>
            </a:solidFill>
            <a:round/>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494" name="Line 22"/>
          <p:cNvSpPr>
            <a:spLocks noChangeShapeType="1"/>
          </p:cNvSpPr>
          <p:nvPr/>
        </p:nvSpPr>
        <p:spPr bwMode="auto">
          <a:xfrm>
            <a:off x="5424488" y="4724400"/>
            <a:ext cx="0" cy="1295400"/>
          </a:xfrm>
          <a:prstGeom prst="line">
            <a:avLst/>
          </a:prstGeom>
          <a:noFill/>
          <a:ln w="9525">
            <a:solidFill>
              <a:schemeClr val="tx1"/>
            </a:solidFill>
            <a:round/>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495" name="Line 23"/>
          <p:cNvSpPr>
            <a:spLocks noChangeShapeType="1"/>
          </p:cNvSpPr>
          <p:nvPr/>
        </p:nvSpPr>
        <p:spPr bwMode="auto">
          <a:xfrm>
            <a:off x="5581650" y="4724400"/>
            <a:ext cx="576263" cy="1223963"/>
          </a:xfrm>
          <a:prstGeom prst="line">
            <a:avLst/>
          </a:prstGeom>
          <a:noFill/>
          <a:ln w="9525">
            <a:solidFill>
              <a:schemeClr val="tx1"/>
            </a:solidFill>
            <a:round/>
            <a:tailEnd type="triangl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496" name="Freeform 24"/>
          <p:cNvSpPr/>
          <p:nvPr/>
        </p:nvSpPr>
        <p:spPr bwMode="auto">
          <a:xfrm>
            <a:off x="6084888" y="4221163"/>
            <a:ext cx="287338" cy="504825"/>
          </a:xfrm>
          <a:custGeom>
            <a:avLst/>
            <a:gdLst>
              <a:gd name="T0" fmla="*/ 13244 w 998"/>
              <a:gd name="T1" fmla="*/ 0 h 2449"/>
              <a:gd name="T2" fmla="*/ 13244 w 998"/>
              <a:gd name="T3" fmla="*/ 196241 h 2449"/>
              <a:gd name="T4" fmla="*/ 39156 w 998"/>
              <a:gd name="T5" fmla="*/ 196241 h 2449"/>
              <a:gd name="T6" fmla="*/ 39156 w 998"/>
              <a:gd name="T7" fmla="*/ 18758 h 2449"/>
              <a:gd name="T8" fmla="*/ 65356 w 998"/>
              <a:gd name="T9" fmla="*/ 18758 h 2449"/>
              <a:gd name="T10" fmla="*/ 65356 w 998"/>
              <a:gd name="T11" fmla="*/ 196241 h 2449"/>
              <a:gd name="T12" fmla="*/ 0 w 998"/>
              <a:gd name="T13" fmla="*/ 289826 h 2449"/>
              <a:gd name="T14" fmla="*/ 91556 w 998"/>
              <a:gd name="T15" fmla="*/ 289826 h 2449"/>
              <a:gd name="T16" fmla="*/ 91556 w 998"/>
              <a:gd name="T17" fmla="*/ 504825 h 2449"/>
              <a:gd name="T18" fmla="*/ 117756 w 998"/>
              <a:gd name="T19" fmla="*/ 504825 h 2449"/>
              <a:gd name="T20" fmla="*/ 117756 w 998"/>
              <a:gd name="T21" fmla="*/ 289826 h 2449"/>
              <a:gd name="T22" fmla="*/ 182825 w 998"/>
              <a:gd name="T23" fmla="*/ 289826 h 2449"/>
              <a:gd name="T24" fmla="*/ 182825 w 998"/>
              <a:gd name="T25" fmla="*/ 504825 h 2449"/>
              <a:gd name="T26" fmla="*/ 209025 w 998"/>
              <a:gd name="T27" fmla="*/ 504825 h 2449"/>
              <a:gd name="T28" fmla="*/ 209025 w 998"/>
              <a:gd name="T29" fmla="*/ 289826 h 2449"/>
              <a:gd name="T30" fmla="*/ 287337 w 998"/>
              <a:gd name="T31" fmla="*/ 289826 h 2449"/>
              <a:gd name="T32" fmla="*/ 221981 w 998"/>
              <a:gd name="T33" fmla="*/ 196241 h 2449"/>
              <a:gd name="T34" fmla="*/ 221981 w 998"/>
              <a:gd name="T35" fmla="*/ 28034 h 2449"/>
              <a:gd name="T36" fmla="*/ 248181 w 998"/>
              <a:gd name="T37" fmla="*/ 28034 h 2449"/>
              <a:gd name="T38" fmla="*/ 248181 w 998"/>
              <a:gd name="T39" fmla="*/ 196241 h 2449"/>
              <a:gd name="T40" fmla="*/ 274381 w 998"/>
              <a:gd name="T41" fmla="*/ 196241 h 2449"/>
              <a:gd name="T42" fmla="*/ 274381 w 998"/>
              <a:gd name="T43" fmla="*/ 0 h 2449"/>
              <a:gd name="T44" fmla="*/ 13244 w 998"/>
              <a:gd name="T45" fmla="*/ 0 h 24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998" h="2449">
                <a:moveTo>
                  <a:pt x="46" y="0"/>
                </a:moveTo>
                <a:lnTo>
                  <a:pt x="46" y="952"/>
                </a:lnTo>
                <a:lnTo>
                  <a:pt x="136" y="952"/>
                </a:lnTo>
                <a:lnTo>
                  <a:pt x="136" y="91"/>
                </a:lnTo>
                <a:lnTo>
                  <a:pt x="227" y="91"/>
                </a:lnTo>
                <a:lnTo>
                  <a:pt x="227" y="952"/>
                </a:lnTo>
                <a:lnTo>
                  <a:pt x="0" y="1406"/>
                </a:lnTo>
                <a:lnTo>
                  <a:pt x="318" y="1406"/>
                </a:lnTo>
                <a:lnTo>
                  <a:pt x="318" y="2449"/>
                </a:lnTo>
                <a:lnTo>
                  <a:pt x="409" y="2449"/>
                </a:lnTo>
                <a:lnTo>
                  <a:pt x="409" y="1406"/>
                </a:lnTo>
                <a:lnTo>
                  <a:pt x="635" y="1406"/>
                </a:lnTo>
                <a:lnTo>
                  <a:pt x="635" y="2449"/>
                </a:lnTo>
                <a:lnTo>
                  <a:pt x="726" y="2449"/>
                </a:lnTo>
                <a:lnTo>
                  <a:pt x="726" y="1406"/>
                </a:lnTo>
                <a:lnTo>
                  <a:pt x="998" y="1406"/>
                </a:lnTo>
                <a:lnTo>
                  <a:pt x="771" y="952"/>
                </a:lnTo>
                <a:lnTo>
                  <a:pt x="771" y="136"/>
                </a:lnTo>
                <a:lnTo>
                  <a:pt x="862" y="136"/>
                </a:lnTo>
                <a:lnTo>
                  <a:pt x="862" y="952"/>
                </a:lnTo>
                <a:lnTo>
                  <a:pt x="953" y="952"/>
                </a:lnTo>
                <a:lnTo>
                  <a:pt x="953" y="0"/>
                </a:lnTo>
                <a:lnTo>
                  <a:pt x="46" y="0"/>
                </a:lnTo>
                <a:close/>
              </a:path>
            </a:pathLst>
          </a:custGeom>
          <a:solidFill>
            <a:srgbClr val="FF6699"/>
          </a:solidFill>
          <a:ln w="9525">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05497" name="Oval 25"/>
          <p:cNvSpPr>
            <a:spLocks noChangeArrowheads="1"/>
          </p:cNvSpPr>
          <p:nvPr/>
        </p:nvSpPr>
        <p:spPr bwMode="auto">
          <a:xfrm>
            <a:off x="6156325" y="4076700"/>
            <a:ext cx="144463" cy="142875"/>
          </a:xfrm>
          <a:prstGeom prst="ellipse">
            <a:avLst/>
          </a:prstGeom>
          <a:solidFill>
            <a:schemeClr val="accent1"/>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498" name="Freeform 26"/>
          <p:cNvSpPr/>
          <p:nvPr/>
        </p:nvSpPr>
        <p:spPr bwMode="auto">
          <a:xfrm>
            <a:off x="5292725" y="4221163"/>
            <a:ext cx="287338" cy="504825"/>
          </a:xfrm>
          <a:custGeom>
            <a:avLst/>
            <a:gdLst>
              <a:gd name="T0" fmla="*/ 13244 w 998"/>
              <a:gd name="T1" fmla="*/ 0 h 2449"/>
              <a:gd name="T2" fmla="*/ 13244 w 998"/>
              <a:gd name="T3" fmla="*/ 196241 h 2449"/>
              <a:gd name="T4" fmla="*/ 39156 w 998"/>
              <a:gd name="T5" fmla="*/ 196241 h 2449"/>
              <a:gd name="T6" fmla="*/ 39156 w 998"/>
              <a:gd name="T7" fmla="*/ 18758 h 2449"/>
              <a:gd name="T8" fmla="*/ 65356 w 998"/>
              <a:gd name="T9" fmla="*/ 18758 h 2449"/>
              <a:gd name="T10" fmla="*/ 65356 w 998"/>
              <a:gd name="T11" fmla="*/ 196241 h 2449"/>
              <a:gd name="T12" fmla="*/ 0 w 998"/>
              <a:gd name="T13" fmla="*/ 289826 h 2449"/>
              <a:gd name="T14" fmla="*/ 91557 w 998"/>
              <a:gd name="T15" fmla="*/ 289826 h 2449"/>
              <a:gd name="T16" fmla="*/ 91557 w 998"/>
              <a:gd name="T17" fmla="*/ 504825 h 2449"/>
              <a:gd name="T18" fmla="*/ 117757 w 998"/>
              <a:gd name="T19" fmla="*/ 504825 h 2449"/>
              <a:gd name="T20" fmla="*/ 117757 w 998"/>
              <a:gd name="T21" fmla="*/ 289826 h 2449"/>
              <a:gd name="T22" fmla="*/ 182825 w 998"/>
              <a:gd name="T23" fmla="*/ 289826 h 2449"/>
              <a:gd name="T24" fmla="*/ 182825 w 998"/>
              <a:gd name="T25" fmla="*/ 504825 h 2449"/>
              <a:gd name="T26" fmla="*/ 209025 w 998"/>
              <a:gd name="T27" fmla="*/ 504825 h 2449"/>
              <a:gd name="T28" fmla="*/ 209025 w 998"/>
              <a:gd name="T29" fmla="*/ 289826 h 2449"/>
              <a:gd name="T30" fmla="*/ 287338 w 998"/>
              <a:gd name="T31" fmla="*/ 289826 h 2449"/>
              <a:gd name="T32" fmla="*/ 221982 w 998"/>
              <a:gd name="T33" fmla="*/ 196241 h 2449"/>
              <a:gd name="T34" fmla="*/ 221982 w 998"/>
              <a:gd name="T35" fmla="*/ 28034 h 2449"/>
              <a:gd name="T36" fmla="*/ 248182 w 998"/>
              <a:gd name="T37" fmla="*/ 28034 h 2449"/>
              <a:gd name="T38" fmla="*/ 248182 w 998"/>
              <a:gd name="T39" fmla="*/ 196241 h 2449"/>
              <a:gd name="T40" fmla="*/ 274382 w 998"/>
              <a:gd name="T41" fmla="*/ 196241 h 2449"/>
              <a:gd name="T42" fmla="*/ 274382 w 998"/>
              <a:gd name="T43" fmla="*/ 0 h 2449"/>
              <a:gd name="T44" fmla="*/ 13244 w 998"/>
              <a:gd name="T45" fmla="*/ 0 h 24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998" h="2449">
                <a:moveTo>
                  <a:pt x="46" y="0"/>
                </a:moveTo>
                <a:lnTo>
                  <a:pt x="46" y="952"/>
                </a:lnTo>
                <a:lnTo>
                  <a:pt x="136" y="952"/>
                </a:lnTo>
                <a:lnTo>
                  <a:pt x="136" y="91"/>
                </a:lnTo>
                <a:lnTo>
                  <a:pt x="227" y="91"/>
                </a:lnTo>
                <a:lnTo>
                  <a:pt x="227" y="952"/>
                </a:lnTo>
                <a:lnTo>
                  <a:pt x="0" y="1406"/>
                </a:lnTo>
                <a:lnTo>
                  <a:pt x="318" y="1406"/>
                </a:lnTo>
                <a:lnTo>
                  <a:pt x="318" y="2449"/>
                </a:lnTo>
                <a:lnTo>
                  <a:pt x="409" y="2449"/>
                </a:lnTo>
                <a:lnTo>
                  <a:pt x="409" y="1406"/>
                </a:lnTo>
                <a:lnTo>
                  <a:pt x="635" y="1406"/>
                </a:lnTo>
                <a:lnTo>
                  <a:pt x="635" y="2449"/>
                </a:lnTo>
                <a:lnTo>
                  <a:pt x="726" y="2449"/>
                </a:lnTo>
                <a:lnTo>
                  <a:pt x="726" y="1406"/>
                </a:lnTo>
                <a:lnTo>
                  <a:pt x="998" y="1406"/>
                </a:lnTo>
                <a:lnTo>
                  <a:pt x="771" y="952"/>
                </a:lnTo>
                <a:lnTo>
                  <a:pt x="771" y="136"/>
                </a:lnTo>
                <a:lnTo>
                  <a:pt x="862" y="136"/>
                </a:lnTo>
                <a:lnTo>
                  <a:pt x="862" y="952"/>
                </a:lnTo>
                <a:lnTo>
                  <a:pt x="953" y="952"/>
                </a:lnTo>
                <a:lnTo>
                  <a:pt x="953" y="0"/>
                </a:lnTo>
                <a:lnTo>
                  <a:pt x="46" y="0"/>
                </a:lnTo>
                <a:close/>
              </a:path>
            </a:pathLst>
          </a:custGeom>
          <a:solidFill>
            <a:srgbClr val="FF3300"/>
          </a:solidFill>
          <a:ln w="9525">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05499" name="Oval 27"/>
          <p:cNvSpPr>
            <a:spLocks noChangeArrowheads="1"/>
          </p:cNvSpPr>
          <p:nvPr/>
        </p:nvSpPr>
        <p:spPr bwMode="auto">
          <a:xfrm>
            <a:off x="4356100" y="4006850"/>
            <a:ext cx="144463" cy="142875"/>
          </a:xfrm>
          <a:prstGeom prst="ellipse">
            <a:avLst/>
          </a:prstGeom>
          <a:solidFill>
            <a:schemeClr val="accent1"/>
          </a:solid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500" name="Freeform 28"/>
          <p:cNvSpPr/>
          <p:nvPr/>
        </p:nvSpPr>
        <p:spPr bwMode="auto">
          <a:xfrm>
            <a:off x="4284663" y="4149725"/>
            <a:ext cx="287338" cy="504825"/>
          </a:xfrm>
          <a:custGeom>
            <a:avLst/>
            <a:gdLst>
              <a:gd name="T0" fmla="*/ 13244 w 998"/>
              <a:gd name="T1" fmla="*/ 0 h 2449"/>
              <a:gd name="T2" fmla="*/ 13244 w 998"/>
              <a:gd name="T3" fmla="*/ 196241 h 2449"/>
              <a:gd name="T4" fmla="*/ 39156 w 998"/>
              <a:gd name="T5" fmla="*/ 196241 h 2449"/>
              <a:gd name="T6" fmla="*/ 39156 w 998"/>
              <a:gd name="T7" fmla="*/ 18758 h 2449"/>
              <a:gd name="T8" fmla="*/ 65356 w 998"/>
              <a:gd name="T9" fmla="*/ 18758 h 2449"/>
              <a:gd name="T10" fmla="*/ 65356 w 998"/>
              <a:gd name="T11" fmla="*/ 196241 h 2449"/>
              <a:gd name="T12" fmla="*/ 0 w 998"/>
              <a:gd name="T13" fmla="*/ 289826 h 2449"/>
              <a:gd name="T14" fmla="*/ 91556 w 998"/>
              <a:gd name="T15" fmla="*/ 289826 h 2449"/>
              <a:gd name="T16" fmla="*/ 91556 w 998"/>
              <a:gd name="T17" fmla="*/ 504825 h 2449"/>
              <a:gd name="T18" fmla="*/ 117756 w 998"/>
              <a:gd name="T19" fmla="*/ 504825 h 2449"/>
              <a:gd name="T20" fmla="*/ 117756 w 998"/>
              <a:gd name="T21" fmla="*/ 289826 h 2449"/>
              <a:gd name="T22" fmla="*/ 182825 w 998"/>
              <a:gd name="T23" fmla="*/ 289826 h 2449"/>
              <a:gd name="T24" fmla="*/ 182825 w 998"/>
              <a:gd name="T25" fmla="*/ 504825 h 2449"/>
              <a:gd name="T26" fmla="*/ 209025 w 998"/>
              <a:gd name="T27" fmla="*/ 504825 h 2449"/>
              <a:gd name="T28" fmla="*/ 209025 w 998"/>
              <a:gd name="T29" fmla="*/ 289826 h 2449"/>
              <a:gd name="T30" fmla="*/ 287337 w 998"/>
              <a:gd name="T31" fmla="*/ 289826 h 2449"/>
              <a:gd name="T32" fmla="*/ 221981 w 998"/>
              <a:gd name="T33" fmla="*/ 196241 h 2449"/>
              <a:gd name="T34" fmla="*/ 221981 w 998"/>
              <a:gd name="T35" fmla="*/ 28034 h 2449"/>
              <a:gd name="T36" fmla="*/ 248181 w 998"/>
              <a:gd name="T37" fmla="*/ 28034 h 2449"/>
              <a:gd name="T38" fmla="*/ 248181 w 998"/>
              <a:gd name="T39" fmla="*/ 196241 h 2449"/>
              <a:gd name="T40" fmla="*/ 274381 w 998"/>
              <a:gd name="T41" fmla="*/ 196241 h 2449"/>
              <a:gd name="T42" fmla="*/ 274381 w 998"/>
              <a:gd name="T43" fmla="*/ 0 h 2449"/>
              <a:gd name="T44" fmla="*/ 13244 w 998"/>
              <a:gd name="T45" fmla="*/ 0 h 24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998" h="2449">
                <a:moveTo>
                  <a:pt x="46" y="0"/>
                </a:moveTo>
                <a:lnTo>
                  <a:pt x="46" y="952"/>
                </a:lnTo>
                <a:lnTo>
                  <a:pt x="136" y="952"/>
                </a:lnTo>
                <a:lnTo>
                  <a:pt x="136" y="91"/>
                </a:lnTo>
                <a:lnTo>
                  <a:pt x="227" y="91"/>
                </a:lnTo>
                <a:lnTo>
                  <a:pt x="227" y="952"/>
                </a:lnTo>
                <a:lnTo>
                  <a:pt x="0" y="1406"/>
                </a:lnTo>
                <a:lnTo>
                  <a:pt x="318" y="1406"/>
                </a:lnTo>
                <a:lnTo>
                  <a:pt x="318" y="2449"/>
                </a:lnTo>
                <a:lnTo>
                  <a:pt x="409" y="2449"/>
                </a:lnTo>
                <a:lnTo>
                  <a:pt x="409" y="1406"/>
                </a:lnTo>
                <a:lnTo>
                  <a:pt x="635" y="1406"/>
                </a:lnTo>
                <a:lnTo>
                  <a:pt x="635" y="2449"/>
                </a:lnTo>
                <a:lnTo>
                  <a:pt x="726" y="2449"/>
                </a:lnTo>
                <a:lnTo>
                  <a:pt x="726" y="1406"/>
                </a:lnTo>
                <a:lnTo>
                  <a:pt x="998" y="1406"/>
                </a:lnTo>
                <a:lnTo>
                  <a:pt x="771" y="952"/>
                </a:lnTo>
                <a:lnTo>
                  <a:pt x="771" y="136"/>
                </a:lnTo>
                <a:lnTo>
                  <a:pt x="862" y="136"/>
                </a:lnTo>
                <a:lnTo>
                  <a:pt x="862" y="952"/>
                </a:lnTo>
                <a:lnTo>
                  <a:pt x="953" y="952"/>
                </a:lnTo>
                <a:lnTo>
                  <a:pt x="953" y="0"/>
                </a:lnTo>
                <a:lnTo>
                  <a:pt x="46" y="0"/>
                </a:lnTo>
                <a:close/>
              </a:path>
            </a:pathLst>
          </a:custGeom>
          <a:solidFill>
            <a:schemeClr val="accent1"/>
          </a:solidFill>
          <a:ln w="9525">
            <a:solidFill>
              <a:schemeClr val="hlink"/>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05501" name="Oval 29"/>
          <p:cNvSpPr>
            <a:spLocks noChangeArrowheads="1"/>
          </p:cNvSpPr>
          <p:nvPr/>
        </p:nvSpPr>
        <p:spPr bwMode="auto">
          <a:xfrm>
            <a:off x="5365750" y="4078288"/>
            <a:ext cx="144463" cy="142875"/>
          </a:xfrm>
          <a:prstGeom prst="ellipse">
            <a:avLst/>
          </a:prstGeom>
          <a:solidFill>
            <a:schemeClr val="accent1"/>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504" name="Freeform 32"/>
          <p:cNvSpPr/>
          <p:nvPr/>
        </p:nvSpPr>
        <p:spPr bwMode="auto">
          <a:xfrm>
            <a:off x="3276600" y="4149725"/>
            <a:ext cx="287338" cy="504825"/>
          </a:xfrm>
          <a:custGeom>
            <a:avLst/>
            <a:gdLst>
              <a:gd name="T0" fmla="*/ 13244 w 998"/>
              <a:gd name="T1" fmla="*/ 0 h 2449"/>
              <a:gd name="T2" fmla="*/ 13244 w 998"/>
              <a:gd name="T3" fmla="*/ 196241 h 2449"/>
              <a:gd name="T4" fmla="*/ 39156 w 998"/>
              <a:gd name="T5" fmla="*/ 196241 h 2449"/>
              <a:gd name="T6" fmla="*/ 39156 w 998"/>
              <a:gd name="T7" fmla="*/ 18758 h 2449"/>
              <a:gd name="T8" fmla="*/ 65356 w 998"/>
              <a:gd name="T9" fmla="*/ 18758 h 2449"/>
              <a:gd name="T10" fmla="*/ 65356 w 998"/>
              <a:gd name="T11" fmla="*/ 196241 h 2449"/>
              <a:gd name="T12" fmla="*/ 0 w 998"/>
              <a:gd name="T13" fmla="*/ 289826 h 2449"/>
              <a:gd name="T14" fmla="*/ 91557 w 998"/>
              <a:gd name="T15" fmla="*/ 289826 h 2449"/>
              <a:gd name="T16" fmla="*/ 91557 w 998"/>
              <a:gd name="T17" fmla="*/ 504825 h 2449"/>
              <a:gd name="T18" fmla="*/ 117757 w 998"/>
              <a:gd name="T19" fmla="*/ 504825 h 2449"/>
              <a:gd name="T20" fmla="*/ 117757 w 998"/>
              <a:gd name="T21" fmla="*/ 289826 h 2449"/>
              <a:gd name="T22" fmla="*/ 182825 w 998"/>
              <a:gd name="T23" fmla="*/ 289826 h 2449"/>
              <a:gd name="T24" fmla="*/ 182825 w 998"/>
              <a:gd name="T25" fmla="*/ 504825 h 2449"/>
              <a:gd name="T26" fmla="*/ 209025 w 998"/>
              <a:gd name="T27" fmla="*/ 504825 h 2449"/>
              <a:gd name="T28" fmla="*/ 209025 w 998"/>
              <a:gd name="T29" fmla="*/ 289826 h 2449"/>
              <a:gd name="T30" fmla="*/ 287338 w 998"/>
              <a:gd name="T31" fmla="*/ 289826 h 2449"/>
              <a:gd name="T32" fmla="*/ 221982 w 998"/>
              <a:gd name="T33" fmla="*/ 196241 h 2449"/>
              <a:gd name="T34" fmla="*/ 221982 w 998"/>
              <a:gd name="T35" fmla="*/ 28034 h 2449"/>
              <a:gd name="T36" fmla="*/ 248182 w 998"/>
              <a:gd name="T37" fmla="*/ 28034 h 2449"/>
              <a:gd name="T38" fmla="*/ 248182 w 998"/>
              <a:gd name="T39" fmla="*/ 196241 h 2449"/>
              <a:gd name="T40" fmla="*/ 274382 w 998"/>
              <a:gd name="T41" fmla="*/ 196241 h 2449"/>
              <a:gd name="T42" fmla="*/ 274382 w 998"/>
              <a:gd name="T43" fmla="*/ 0 h 2449"/>
              <a:gd name="T44" fmla="*/ 13244 w 998"/>
              <a:gd name="T45" fmla="*/ 0 h 24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998" h="2449">
                <a:moveTo>
                  <a:pt x="46" y="0"/>
                </a:moveTo>
                <a:lnTo>
                  <a:pt x="46" y="952"/>
                </a:lnTo>
                <a:lnTo>
                  <a:pt x="136" y="952"/>
                </a:lnTo>
                <a:lnTo>
                  <a:pt x="136" y="91"/>
                </a:lnTo>
                <a:lnTo>
                  <a:pt x="227" y="91"/>
                </a:lnTo>
                <a:lnTo>
                  <a:pt x="227" y="952"/>
                </a:lnTo>
                <a:lnTo>
                  <a:pt x="0" y="1406"/>
                </a:lnTo>
                <a:lnTo>
                  <a:pt x="318" y="1406"/>
                </a:lnTo>
                <a:lnTo>
                  <a:pt x="318" y="2449"/>
                </a:lnTo>
                <a:lnTo>
                  <a:pt x="409" y="2449"/>
                </a:lnTo>
                <a:lnTo>
                  <a:pt x="409" y="1406"/>
                </a:lnTo>
                <a:lnTo>
                  <a:pt x="635" y="1406"/>
                </a:lnTo>
                <a:lnTo>
                  <a:pt x="635" y="2449"/>
                </a:lnTo>
                <a:lnTo>
                  <a:pt x="726" y="2449"/>
                </a:lnTo>
                <a:lnTo>
                  <a:pt x="726" y="1406"/>
                </a:lnTo>
                <a:lnTo>
                  <a:pt x="998" y="1406"/>
                </a:lnTo>
                <a:lnTo>
                  <a:pt x="771" y="952"/>
                </a:lnTo>
                <a:lnTo>
                  <a:pt x="771" y="136"/>
                </a:lnTo>
                <a:lnTo>
                  <a:pt x="862" y="136"/>
                </a:lnTo>
                <a:lnTo>
                  <a:pt x="862" y="952"/>
                </a:lnTo>
                <a:lnTo>
                  <a:pt x="953" y="952"/>
                </a:lnTo>
                <a:lnTo>
                  <a:pt x="953" y="0"/>
                </a:lnTo>
                <a:lnTo>
                  <a:pt x="46" y="0"/>
                </a:lnTo>
                <a:close/>
              </a:path>
            </a:pathLst>
          </a:custGeom>
          <a:solidFill>
            <a:schemeClr val="accent1"/>
          </a:solidFill>
          <a:ln w="9525">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05505" name="Oval 33"/>
          <p:cNvSpPr>
            <a:spLocks noChangeArrowheads="1"/>
          </p:cNvSpPr>
          <p:nvPr/>
        </p:nvSpPr>
        <p:spPr bwMode="auto">
          <a:xfrm>
            <a:off x="3348038" y="4033838"/>
            <a:ext cx="144463" cy="142875"/>
          </a:xfrm>
          <a:prstGeom prst="ellipse">
            <a:avLst/>
          </a:prstGeom>
          <a:solidFill>
            <a:schemeClr val="accent1"/>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506" name="Oval 34"/>
          <p:cNvSpPr>
            <a:spLocks noChangeArrowheads="1"/>
          </p:cNvSpPr>
          <p:nvPr/>
        </p:nvSpPr>
        <p:spPr bwMode="auto">
          <a:xfrm>
            <a:off x="6084888" y="6021388"/>
            <a:ext cx="144463" cy="144463"/>
          </a:xfrm>
          <a:prstGeom prst="ellipse">
            <a:avLst/>
          </a:prstGeom>
          <a:solidFill>
            <a:schemeClr val="accent1"/>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507" name="Freeform 35"/>
          <p:cNvSpPr/>
          <p:nvPr/>
        </p:nvSpPr>
        <p:spPr bwMode="auto">
          <a:xfrm>
            <a:off x="6013450" y="6165850"/>
            <a:ext cx="287338" cy="431800"/>
          </a:xfrm>
          <a:custGeom>
            <a:avLst/>
            <a:gdLst>
              <a:gd name="T0" fmla="*/ 0 w 817"/>
              <a:gd name="T1" fmla="*/ 40821 h 952"/>
              <a:gd name="T2" fmla="*/ 0 w 817"/>
              <a:gd name="T3" fmla="*/ 288018 h 952"/>
              <a:gd name="T4" fmla="*/ 32005 w 817"/>
              <a:gd name="T5" fmla="*/ 288018 h 952"/>
              <a:gd name="T6" fmla="*/ 32005 w 817"/>
              <a:gd name="T7" fmla="*/ 40821 h 952"/>
              <a:gd name="T8" fmla="*/ 79836 w 817"/>
              <a:gd name="T9" fmla="*/ 40821 h 952"/>
              <a:gd name="T10" fmla="*/ 79836 w 817"/>
              <a:gd name="T11" fmla="*/ 431800 h 952"/>
              <a:gd name="T12" fmla="*/ 127667 w 817"/>
              <a:gd name="T13" fmla="*/ 431800 h 952"/>
              <a:gd name="T14" fmla="*/ 127667 w 817"/>
              <a:gd name="T15" fmla="*/ 226332 h 952"/>
              <a:gd name="T16" fmla="*/ 175498 w 817"/>
              <a:gd name="T17" fmla="*/ 226332 h 952"/>
              <a:gd name="T18" fmla="*/ 175498 w 817"/>
              <a:gd name="T19" fmla="*/ 431800 h 952"/>
              <a:gd name="T20" fmla="*/ 223329 w 817"/>
              <a:gd name="T21" fmla="*/ 431800 h 952"/>
              <a:gd name="T22" fmla="*/ 223329 w 817"/>
              <a:gd name="T23" fmla="*/ 226332 h 952"/>
              <a:gd name="T24" fmla="*/ 223329 w 817"/>
              <a:gd name="T25" fmla="*/ 40821 h 952"/>
              <a:gd name="T26" fmla="*/ 255333 w 817"/>
              <a:gd name="T27" fmla="*/ 40821 h 952"/>
              <a:gd name="T28" fmla="*/ 255333 w 817"/>
              <a:gd name="T29" fmla="*/ 267154 h 952"/>
              <a:gd name="T30" fmla="*/ 287338 w 817"/>
              <a:gd name="T31" fmla="*/ 267154 h 952"/>
              <a:gd name="T32" fmla="*/ 287338 w 817"/>
              <a:gd name="T33" fmla="*/ 0 h 952"/>
              <a:gd name="T34" fmla="*/ 16178 w 817"/>
              <a:gd name="T35" fmla="*/ 0 h 952"/>
              <a:gd name="T36" fmla="*/ 0 w 817"/>
              <a:gd name="T37" fmla="*/ 40821 h 9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817" h="952">
                <a:moveTo>
                  <a:pt x="0" y="90"/>
                </a:moveTo>
                <a:lnTo>
                  <a:pt x="0" y="635"/>
                </a:lnTo>
                <a:lnTo>
                  <a:pt x="91" y="635"/>
                </a:lnTo>
                <a:lnTo>
                  <a:pt x="91" y="90"/>
                </a:lnTo>
                <a:lnTo>
                  <a:pt x="227" y="90"/>
                </a:lnTo>
                <a:lnTo>
                  <a:pt x="227" y="952"/>
                </a:lnTo>
                <a:lnTo>
                  <a:pt x="363" y="952"/>
                </a:lnTo>
                <a:lnTo>
                  <a:pt x="363" y="499"/>
                </a:lnTo>
                <a:lnTo>
                  <a:pt x="499" y="499"/>
                </a:lnTo>
                <a:lnTo>
                  <a:pt x="499" y="952"/>
                </a:lnTo>
                <a:lnTo>
                  <a:pt x="635" y="952"/>
                </a:lnTo>
                <a:lnTo>
                  <a:pt x="635" y="499"/>
                </a:lnTo>
                <a:lnTo>
                  <a:pt x="635" y="90"/>
                </a:lnTo>
                <a:lnTo>
                  <a:pt x="726" y="90"/>
                </a:lnTo>
                <a:lnTo>
                  <a:pt x="726" y="589"/>
                </a:lnTo>
                <a:lnTo>
                  <a:pt x="817" y="589"/>
                </a:lnTo>
                <a:lnTo>
                  <a:pt x="817" y="0"/>
                </a:lnTo>
                <a:lnTo>
                  <a:pt x="46" y="0"/>
                </a:lnTo>
                <a:lnTo>
                  <a:pt x="0" y="90"/>
                </a:lnTo>
                <a:close/>
              </a:path>
            </a:pathLst>
          </a:custGeom>
          <a:solidFill>
            <a:schemeClr val="hlink"/>
          </a:solidFill>
          <a:ln w="9525">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05508" name="Oval 36"/>
          <p:cNvSpPr>
            <a:spLocks noChangeArrowheads="1"/>
          </p:cNvSpPr>
          <p:nvPr/>
        </p:nvSpPr>
        <p:spPr bwMode="auto">
          <a:xfrm>
            <a:off x="5292725" y="6021388"/>
            <a:ext cx="144463" cy="144463"/>
          </a:xfrm>
          <a:prstGeom prst="ellipse">
            <a:avLst/>
          </a:prstGeom>
          <a:solidFill>
            <a:schemeClr val="accent1"/>
          </a:solidFill>
          <a:ln w="9525">
            <a:solidFill>
              <a:srgbClr val="FF3300"/>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509" name="Freeform 37"/>
          <p:cNvSpPr/>
          <p:nvPr/>
        </p:nvSpPr>
        <p:spPr bwMode="auto">
          <a:xfrm>
            <a:off x="5221288" y="6165850"/>
            <a:ext cx="287338" cy="431800"/>
          </a:xfrm>
          <a:custGeom>
            <a:avLst/>
            <a:gdLst>
              <a:gd name="T0" fmla="*/ 0 w 817"/>
              <a:gd name="T1" fmla="*/ 40821 h 952"/>
              <a:gd name="T2" fmla="*/ 0 w 817"/>
              <a:gd name="T3" fmla="*/ 288018 h 952"/>
              <a:gd name="T4" fmla="*/ 32004 w 817"/>
              <a:gd name="T5" fmla="*/ 288018 h 952"/>
              <a:gd name="T6" fmla="*/ 32004 w 817"/>
              <a:gd name="T7" fmla="*/ 40821 h 952"/>
              <a:gd name="T8" fmla="*/ 79835 w 817"/>
              <a:gd name="T9" fmla="*/ 40821 h 952"/>
              <a:gd name="T10" fmla="*/ 79835 w 817"/>
              <a:gd name="T11" fmla="*/ 431800 h 952"/>
              <a:gd name="T12" fmla="*/ 127666 w 817"/>
              <a:gd name="T13" fmla="*/ 431800 h 952"/>
              <a:gd name="T14" fmla="*/ 127666 w 817"/>
              <a:gd name="T15" fmla="*/ 226332 h 952"/>
              <a:gd name="T16" fmla="*/ 175497 w 817"/>
              <a:gd name="T17" fmla="*/ 226332 h 952"/>
              <a:gd name="T18" fmla="*/ 175497 w 817"/>
              <a:gd name="T19" fmla="*/ 431800 h 952"/>
              <a:gd name="T20" fmla="*/ 223328 w 817"/>
              <a:gd name="T21" fmla="*/ 431800 h 952"/>
              <a:gd name="T22" fmla="*/ 223328 w 817"/>
              <a:gd name="T23" fmla="*/ 226332 h 952"/>
              <a:gd name="T24" fmla="*/ 223328 w 817"/>
              <a:gd name="T25" fmla="*/ 40821 h 952"/>
              <a:gd name="T26" fmla="*/ 255333 w 817"/>
              <a:gd name="T27" fmla="*/ 40821 h 952"/>
              <a:gd name="T28" fmla="*/ 255333 w 817"/>
              <a:gd name="T29" fmla="*/ 267154 h 952"/>
              <a:gd name="T30" fmla="*/ 287337 w 817"/>
              <a:gd name="T31" fmla="*/ 267154 h 952"/>
              <a:gd name="T32" fmla="*/ 287337 w 817"/>
              <a:gd name="T33" fmla="*/ 0 h 952"/>
              <a:gd name="T34" fmla="*/ 16178 w 817"/>
              <a:gd name="T35" fmla="*/ 0 h 952"/>
              <a:gd name="T36" fmla="*/ 0 w 817"/>
              <a:gd name="T37" fmla="*/ 40821 h 9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817" h="952">
                <a:moveTo>
                  <a:pt x="0" y="90"/>
                </a:moveTo>
                <a:lnTo>
                  <a:pt x="0" y="635"/>
                </a:lnTo>
                <a:lnTo>
                  <a:pt x="91" y="635"/>
                </a:lnTo>
                <a:lnTo>
                  <a:pt x="91" y="90"/>
                </a:lnTo>
                <a:lnTo>
                  <a:pt x="227" y="90"/>
                </a:lnTo>
                <a:lnTo>
                  <a:pt x="227" y="952"/>
                </a:lnTo>
                <a:lnTo>
                  <a:pt x="363" y="952"/>
                </a:lnTo>
                <a:lnTo>
                  <a:pt x="363" y="499"/>
                </a:lnTo>
                <a:lnTo>
                  <a:pt x="499" y="499"/>
                </a:lnTo>
                <a:lnTo>
                  <a:pt x="499" y="952"/>
                </a:lnTo>
                <a:lnTo>
                  <a:pt x="635" y="952"/>
                </a:lnTo>
                <a:lnTo>
                  <a:pt x="635" y="499"/>
                </a:lnTo>
                <a:lnTo>
                  <a:pt x="635" y="90"/>
                </a:lnTo>
                <a:lnTo>
                  <a:pt x="726" y="90"/>
                </a:lnTo>
                <a:lnTo>
                  <a:pt x="726" y="589"/>
                </a:lnTo>
                <a:lnTo>
                  <a:pt x="817" y="589"/>
                </a:lnTo>
                <a:lnTo>
                  <a:pt x="817" y="0"/>
                </a:lnTo>
                <a:lnTo>
                  <a:pt x="46" y="0"/>
                </a:lnTo>
                <a:lnTo>
                  <a:pt x="0" y="90"/>
                </a:lnTo>
                <a:close/>
              </a:path>
            </a:pathLst>
          </a:custGeom>
          <a:solidFill>
            <a:schemeClr val="accent1"/>
          </a:solidFill>
          <a:ln w="9525">
            <a:solidFill>
              <a:srgbClr val="FF3300"/>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05510" name="Oval 38"/>
          <p:cNvSpPr>
            <a:spLocks noChangeArrowheads="1"/>
          </p:cNvSpPr>
          <p:nvPr/>
        </p:nvSpPr>
        <p:spPr bwMode="auto">
          <a:xfrm>
            <a:off x="4356100" y="6092825"/>
            <a:ext cx="144463" cy="144463"/>
          </a:xfrm>
          <a:prstGeom prst="ellipse">
            <a:avLst/>
          </a:prstGeom>
          <a:solidFill>
            <a:srgbClr val="66FF33"/>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511" name="Freeform 39"/>
          <p:cNvSpPr/>
          <p:nvPr/>
        </p:nvSpPr>
        <p:spPr bwMode="auto">
          <a:xfrm>
            <a:off x="4284663" y="6237288"/>
            <a:ext cx="287338" cy="431800"/>
          </a:xfrm>
          <a:custGeom>
            <a:avLst/>
            <a:gdLst>
              <a:gd name="T0" fmla="*/ 0 w 817"/>
              <a:gd name="T1" fmla="*/ 40821 h 952"/>
              <a:gd name="T2" fmla="*/ 0 w 817"/>
              <a:gd name="T3" fmla="*/ 288018 h 952"/>
              <a:gd name="T4" fmla="*/ 32004 w 817"/>
              <a:gd name="T5" fmla="*/ 288018 h 952"/>
              <a:gd name="T6" fmla="*/ 32004 w 817"/>
              <a:gd name="T7" fmla="*/ 40821 h 952"/>
              <a:gd name="T8" fmla="*/ 79835 w 817"/>
              <a:gd name="T9" fmla="*/ 40821 h 952"/>
              <a:gd name="T10" fmla="*/ 79835 w 817"/>
              <a:gd name="T11" fmla="*/ 431800 h 952"/>
              <a:gd name="T12" fmla="*/ 127666 w 817"/>
              <a:gd name="T13" fmla="*/ 431800 h 952"/>
              <a:gd name="T14" fmla="*/ 127666 w 817"/>
              <a:gd name="T15" fmla="*/ 226332 h 952"/>
              <a:gd name="T16" fmla="*/ 175497 w 817"/>
              <a:gd name="T17" fmla="*/ 226332 h 952"/>
              <a:gd name="T18" fmla="*/ 175497 w 817"/>
              <a:gd name="T19" fmla="*/ 431800 h 952"/>
              <a:gd name="T20" fmla="*/ 223328 w 817"/>
              <a:gd name="T21" fmla="*/ 431800 h 952"/>
              <a:gd name="T22" fmla="*/ 223328 w 817"/>
              <a:gd name="T23" fmla="*/ 226332 h 952"/>
              <a:gd name="T24" fmla="*/ 223328 w 817"/>
              <a:gd name="T25" fmla="*/ 40821 h 952"/>
              <a:gd name="T26" fmla="*/ 255333 w 817"/>
              <a:gd name="T27" fmla="*/ 40821 h 952"/>
              <a:gd name="T28" fmla="*/ 255333 w 817"/>
              <a:gd name="T29" fmla="*/ 267154 h 952"/>
              <a:gd name="T30" fmla="*/ 287337 w 817"/>
              <a:gd name="T31" fmla="*/ 267154 h 952"/>
              <a:gd name="T32" fmla="*/ 287337 w 817"/>
              <a:gd name="T33" fmla="*/ 0 h 952"/>
              <a:gd name="T34" fmla="*/ 16178 w 817"/>
              <a:gd name="T35" fmla="*/ 0 h 952"/>
              <a:gd name="T36" fmla="*/ 0 w 817"/>
              <a:gd name="T37" fmla="*/ 40821 h 9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817" h="952">
                <a:moveTo>
                  <a:pt x="0" y="90"/>
                </a:moveTo>
                <a:lnTo>
                  <a:pt x="0" y="635"/>
                </a:lnTo>
                <a:lnTo>
                  <a:pt x="91" y="635"/>
                </a:lnTo>
                <a:lnTo>
                  <a:pt x="91" y="90"/>
                </a:lnTo>
                <a:lnTo>
                  <a:pt x="227" y="90"/>
                </a:lnTo>
                <a:lnTo>
                  <a:pt x="227" y="952"/>
                </a:lnTo>
                <a:lnTo>
                  <a:pt x="363" y="952"/>
                </a:lnTo>
                <a:lnTo>
                  <a:pt x="363" y="499"/>
                </a:lnTo>
                <a:lnTo>
                  <a:pt x="499" y="499"/>
                </a:lnTo>
                <a:lnTo>
                  <a:pt x="499" y="952"/>
                </a:lnTo>
                <a:lnTo>
                  <a:pt x="635" y="952"/>
                </a:lnTo>
                <a:lnTo>
                  <a:pt x="635" y="499"/>
                </a:lnTo>
                <a:lnTo>
                  <a:pt x="635" y="90"/>
                </a:lnTo>
                <a:lnTo>
                  <a:pt x="726" y="90"/>
                </a:lnTo>
                <a:lnTo>
                  <a:pt x="726" y="589"/>
                </a:lnTo>
                <a:lnTo>
                  <a:pt x="817" y="589"/>
                </a:lnTo>
                <a:lnTo>
                  <a:pt x="817" y="0"/>
                </a:lnTo>
                <a:lnTo>
                  <a:pt x="46" y="0"/>
                </a:lnTo>
                <a:lnTo>
                  <a:pt x="0" y="90"/>
                </a:lnTo>
                <a:close/>
              </a:path>
            </a:pathLst>
          </a:custGeom>
          <a:solidFill>
            <a:srgbClr val="66FF33"/>
          </a:solidFill>
          <a:ln w="9525">
            <a:solidFill>
              <a:schemeClr val="hlink"/>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
        <p:nvSpPr>
          <p:cNvPr id="105512" name="Oval 40"/>
          <p:cNvSpPr>
            <a:spLocks noChangeArrowheads="1"/>
          </p:cNvSpPr>
          <p:nvPr/>
        </p:nvSpPr>
        <p:spPr bwMode="auto">
          <a:xfrm>
            <a:off x="3421063" y="6092825"/>
            <a:ext cx="144463" cy="144463"/>
          </a:xfrm>
          <a:prstGeom prst="ellipse">
            <a:avLst/>
          </a:prstGeom>
          <a:solidFill>
            <a:schemeClr val="bg1"/>
          </a:solidFill>
          <a:ln w="9525">
            <a:solidFill>
              <a:schemeClr val="tx1"/>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05513" name="Freeform 41"/>
          <p:cNvSpPr/>
          <p:nvPr/>
        </p:nvSpPr>
        <p:spPr bwMode="auto">
          <a:xfrm>
            <a:off x="3349625" y="6237288"/>
            <a:ext cx="287338" cy="431800"/>
          </a:xfrm>
          <a:custGeom>
            <a:avLst/>
            <a:gdLst>
              <a:gd name="T0" fmla="*/ 0 w 817"/>
              <a:gd name="T1" fmla="*/ 40821 h 952"/>
              <a:gd name="T2" fmla="*/ 0 w 817"/>
              <a:gd name="T3" fmla="*/ 288018 h 952"/>
              <a:gd name="T4" fmla="*/ 32005 w 817"/>
              <a:gd name="T5" fmla="*/ 288018 h 952"/>
              <a:gd name="T6" fmla="*/ 32005 w 817"/>
              <a:gd name="T7" fmla="*/ 40821 h 952"/>
              <a:gd name="T8" fmla="*/ 79836 w 817"/>
              <a:gd name="T9" fmla="*/ 40821 h 952"/>
              <a:gd name="T10" fmla="*/ 79836 w 817"/>
              <a:gd name="T11" fmla="*/ 431800 h 952"/>
              <a:gd name="T12" fmla="*/ 127667 w 817"/>
              <a:gd name="T13" fmla="*/ 431800 h 952"/>
              <a:gd name="T14" fmla="*/ 127667 w 817"/>
              <a:gd name="T15" fmla="*/ 226332 h 952"/>
              <a:gd name="T16" fmla="*/ 175498 w 817"/>
              <a:gd name="T17" fmla="*/ 226332 h 952"/>
              <a:gd name="T18" fmla="*/ 175498 w 817"/>
              <a:gd name="T19" fmla="*/ 431800 h 952"/>
              <a:gd name="T20" fmla="*/ 223329 w 817"/>
              <a:gd name="T21" fmla="*/ 431800 h 952"/>
              <a:gd name="T22" fmla="*/ 223329 w 817"/>
              <a:gd name="T23" fmla="*/ 226332 h 952"/>
              <a:gd name="T24" fmla="*/ 223329 w 817"/>
              <a:gd name="T25" fmla="*/ 40821 h 952"/>
              <a:gd name="T26" fmla="*/ 255333 w 817"/>
              <a:gd name="T27" fmla="*/ 40821 h 952"/>
              <a:gd name="T28" fmla="*/ 255333 w 817"/>
              <a:gd name="T29" fmla="*/ 267154 h 952"/>
              <a:gd name="T30" fmla="*/ 287338 w 817"/>
              <a:gd name="T31" fmla="*/ 267154 h 952"/>
              <a:gd name="T32" fmla="*/ 287338 w 817"/>
              <a:gd name="T33" fmla="*/ 0 h 952"/>
              <a:gd name="T34" fmla="*/ 16178 w 817"/>
              <a:gd name="T35" fmla="*/ 0 h 952"/>
              <a:gd name="T36" fmla="*/ 0 w 817"/>
              <a:gd name="T37" fmla="*/ 40821 h 9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817" h="952">
                <a:moveTo>
                  <a:pt x="0" y="90"/>
                </a:moveTo>
                <a:lnTo>
                  <a:pt x="0" y="635"/>
                </a:lnTo>
                <a:lnTo>
                  <a:pt x="91" y="635"/>
                </a:lnTo>
                <a:lnTo>
                  <a:pt x="91" y="90"/>
                </a:lnTo>
                <a:lnTo>
                  <a:pt x="227" y="90"/>
                </a:lnTo>
                <a:lnTo>
                  <a:pt x="227" y="952"/>
                </a:lnTo>
                <a:lnTo>
                  <a:pt x="363" y="952"/>
                </a:lnTo>
                <a:lnTo>
                  <a:pt x="363" y="499"/>
                </a:lnTo>
                <a:lnTo>
                  <a:pt x="499" y="499"/>
                </a:lnTo>
                <a:lnTo>
                  <a:pt x="499" y="952"/>
                </a:lnTo>
                <a:lnTo>
                  <a:pt x="635" y="952"/>
                </a:lnTo>
                <a:lnTo>
                  <a:pt x="635" y="499"/>
                </a:lnTo>
                <a:lnTo>
                  <a:pt x="635" y="90"/>
                </a:lnTo>
                <a:lnTo>
                  <a:pt x="726" y="90"/>
                </a:lnTo>
                <a:lnTo>
                  <a:pt x="726" y="589"/>
                </a:lnTo>
                <a:lnTo>
                  <a:pt x="817" y="589"/>
                </a:lnTo>
                <a:lnTo>
                  <a:pt x="817" y="0"/>
                </a:lnTo>
                <a:lnTo>
                  <a:pt x="46" y="0"/>
                </a:lnTo>
                <a:lnTo>
                  <a:pt x="0" y="90"/>
                </a:lnTo>
                <a:close/>
              </a:path>
            </a:pathLst>
          </a:custGeom>
          <a:solidFill>
            <a:srgbClr val="009900"/>
          </a:solidFill>
          <a:ln w="9525">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pitchFamily="2" charset="-122"/>
              <a:cs typeface="+mn-cs"/>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j-ea"/>
                <a:cs typeface="+mj-cs"/>
              </a:rPr>
              <a:t>稳定的婚姻问题</a:t>
            </a:r>
          </a:p>
        </p:txBody>
      </p:sp>
      <p:sp>
        <p:nvSpPr>
          <p:cNvPr id="130051"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但是这样的安排方法不一定是最好的。假如能找到两对夫妇，彼此都更喜欢对方的配偶，那么这样婚姻有潜在的不稳定性。</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用图论匹配理论中</a:t>
            </a:r>
            <a:r>
              <a:rPr kumimoji="0" lang="en-US" altLang="zh-CN" sz="32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Gale-Shapley</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算法，可以找到一种婚姻的安排方法，使得没有上述的不稳定情况出现。</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宋体" pitchFamily="2" charset="-122"/>
                <a:ea typeface="+mj-ea"/>
                <a:cs typeface="+mj-cs"/>
              </a:rPr>
              <a:t>稳定的婚姻问题</a:t>
            </a:r>
            <a:br>
              <a:rPr kumimoji="0" lang="en-US" altLang="zh-CN" sz="4000" b="1" i="0" u="none" strike="noStrike" kern="0" cap="none" spc="0" normalizeH="0" baseline="0" noProof="0">
                <a:ln>
                  <a:noFill/>
                </a:ln>
                <a:solidFill>
                  <a:schemeClr val="tx2"/>
                </a:solidFill>
                <a:effectLst>
                  <a:outerShdw blurRad="38100" dist="38100" dir="2700000" algn="tl">
                    <a:srgbClr val="000000"/>
                  </a:outerShdw>
                </a:effectLst>
                <a:uLnTx/>
                <a:uFillTx/>
                <a:latin typeface="宋体" pitchFamily="2" charset="-122"/>
                <a:ea typeface="+mj-ea"/>
                <a:cs typeface="+mj-cs"/>
              </a:rPr>
            </a:br>
            <a:endParaRPr kumimoji="0" lang="en-US" altLang="zh-CN" sz="4000" b="1" i="0" u="none" strike="noStrike" kern="0" cap="none" spc="0" normalizeH="0" baseline="0" noProof="0">
              <a:ln>
                <a:noFill/>
              </a:ln>
              <a:solidFill>
                <a:schemeClr val="tx2"/>
              </a:solidFill>
              <a:effectLst>
                <a:outerShdw blurRad="38100" dist="38100" dir="2700000" algn="tl">
                  <a:srgbClr val="000000"/>
                </a:outerShdw>
              </a:effectLst>
              <a:uLnTx/>
              <a:uFillTx/>
              <a:latin typeface="宋体" pitchFamily="2" charset="-122"/>
              <a:ea typeface="+mj-ea"/>
              <a:cs typeface="+mj-cs"/>
            </a:endParaRPr>
          </a:p>
        </p:txBody>
      </p:sp>
      <p:sp>
        <p:nvSpPr>
          <p:cNvPr id="5939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这种组合数学的方法有一个实际的用途：美国的医院在确定录取住院医生时，他们将考虑申请者的志愿的先后次序，同时也给申请者排序。按这样的次序考虑出的总的方案将没有医院和申请者两者同时后悔的情况。</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      </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实际上，高考学生的最后录取方案也可以用这种方法。</a:t>
            </a:r>
            <a:br>
              <a:rPr kumimoji="0" lang="en-US" altLang="zh-CN" sz="2800" b="0" i="0" u="none" strike="noStrike" kern="0" cap="none" spc="0" normalizeH="0" baseline="0" noProof="0">
                <a:ln>
                  <a:noFill/>
                </a:ln>
                <a:solidFill>
                  <a:srgbClr val="000000"/>
                </a:solidFill>
                <a:effectLst>
                  <a:outerShdw blurRad="38100" dist="38100" dir="2700000" algn="tl">
                    <a:srgbClr val="FFFFFF"/>
                  </a:outerShdw>
                </a:effectLst>
                <a:uLnTx/>
                <a:uFillTx/>
                <a:latin typeface="+mn-lt"/>
                <a:ea typeface="+mn-ea"/>
                <a:cs typeface="+mn-cs"/>
              </a:rPr>
            </a:br>
            <a:br>
              <a:rPr kumimoji="0" lang="en-US" altLang="zh-CN" sz="2800" b="0" i="0" u="none" strike="noStrike" kern="0" cap="none" spc="0" normalizeH="0" baseline="0" noProof="0">
                <a:ln>
                  <a:noFill/>
                </a:ln>
                <a:solidFill>
                  <a:srgbClr val="000000"/>
                </a:solidFill>
                <a:effectLst>
                  <a:outerShdw blurRad="38100" dist="38100" dir="2700000" algn="tl">
                    <a:srgbClr val="FFFFFF"/>
                  </a:outerShdw>
                </a:effectLst>
                <a:uLnTx/>
                <a:uFillTx/>
                <a:latin typeface="+mn-lt"/>
                <a:ea typeface="+mn-ea"/>
                <a:cs typeface="+mn-cs"/>
              </a:rPr>
            </a:br>
            <a:endParaRPr kumimoji="0" lang="en-US" altLang="zh-CN" sz="2800" b="0" i="0" u="none" strike="noStrike" kern="0" cap="none" spc="0" normalizeH="0" baseline="0" noProof="0">
              <a:ln>
                <a:noFill/>
              </a:ln>
              <a:solidFill>
                <a:srgbClr val="000000"/>
              </a:solidFill>
              <a:effectLst>
                <a:outerShdw blurRad="38100" dist="38100" dir="2700000" algn="tl">
                  <a:srgbClr val="FFFFFF"/>
                </a:outerShdw>
              </a:effectLst>
              <a:uLnTx/>
              <a:uFillTx/>
              <a:latin typeface="+mn-lt"/>
              <a:ea typeface="+mn-ea"/>
              <a:cs typeface="+mn-cs"/>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全一问题</a:t>
            </a:r>
          </a:p>
        </p:txBody>
      </p:sp>
      <p:sp>
        <p:nvSpPr>
          <p:cNvPr id="150531"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假设博物馆里有若干个房间，每个房间里有一盏灯和一个开关，每次按下某个房间的开关，可以改变这个房间以及它相邻的房间的灯的状态。</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endPar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endParaRPr kumimoji="0" lang="en-US" altLang="zh-CN"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pic>
        <p:nvPicPr>
          <p:cNvPr id="35844" name="Picture 5" descr="l2img215"/>
          <p:cNvPicPr>
            <a:picLocks noChangeAspect="1"/>
          </p:cNvPicPr>
          <p:nvPr/>
        </p:nvPicPr>
        <p:blipFill>
          <a:blip r:embed="rId2" cstate="print"/>
          <a:stretch>
            <a:fillRect/>
          </a:stretch>
        </p:blipFill>
        <p:spPr>
          <a:xfrm>
            <a:off x="2627313" y="4221163"/>
            <a:ext cx="4752975" cy="1462087"/>
          </a:xfrm>
          <a:prstGeom prst="rect">
            <a:avLst/>
          </a:prstGeom>
          <a:noFill/>
          <a:ln w="9525">
            <a:noFill/>
          </a:ln>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全一问题</a:t>
            </a:r>
          </a:p>
        </p:txBody>
      </p:sp>
      <p:sp>
        <p:nvSpPr>
          <p:cNvPr id="15155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问是否可以找到一种开灯的方案，使得所有房间的灯由全亮变为全灭？这就是</a:t>
            </a:r>
            <a:r>
              <a:rPr kumimoji="0" lang="en-US" altLang="zh-CN" sz="32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Sutner </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于</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1989</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年提出的</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全一问题</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All-Ones Problem)</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p>
        </p:txBody>
      </p:sp>
      <p:pic>
        <p:nvPicPr>
          <p:cNvPr id="36868" name="Picture 4" descr="l2img230"/>
          <p:cNvPicPr>
            <a:picLocks noChangeAspect="1"/>
          </p:cNvPicPr>
          <p:nvPr/>
        </p:nvPicPr>
        <p:blipFill>
          <a:blip r:embed="rId2" cstate="print"/>
          <a:stretch>
            <a:fillRect/>
          </a:stretch>
        </p:blipFill>
        <p:spPr>
          <a:xfrm>
            <a:off x="611188" y="4652963"/>
            <a:ext cx="7850187" cy="1430337"/>
          </a:xfrm>
          <a:prstGeom prst="rect">
            <a:avLst/>
          </a:prstGeom>
          <a:noFill/>
          <a:ln w="9525">
            <a:noFill/>
          </a:ln>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最小全一问题</a:t>
            </a:r>
          </a:p>
        </p:txBody>
      </p:sp>
      <p:sp>
        <p:nvSpPr>
          <p:cNvPr id="15257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求操作次数最少的解称为</a:t>
            </a:r>
            <a:r>
              <a:rPr kumimoji="0" lang="zh-CN" altLang="en-US" sz="2800" b="0" i="0" u="none" strike="noStrike" kern="0" cap="none" spc="0" normalizeH="0" baseline="0" noProof="0">
                <a:ln>
                  <a:noFill/>
                </a:ln>
                <a:solidFill>
                  <a:srgbClr val="FF3300"/>
                </a:solidFill>
                <a:effectLst>
                  <a:outerShdw blurRad="38100" dist="38100" dir="2700000" algn="tl">
                    <a:srgbClr val="000000"/>
                  </a:outerShdw>
                </a:effectLst>
                <a:uLnTx/>
                <a:uFillTx/>
                <a:latin typeface="+mn-lt"/>
                <a:ea typeface="+mn-ea"/>
                <a:cs typeface="+mn-cs"/>
              </a:rPr>
              <a:t>最小全一问题</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我们已经知道，对于一般图上的最小全一问题是</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NP</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完备的。</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陈永川</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教授与他人合作找到了一个线性时间算法，很好地解决了树和单圈图的最小全一问题。（</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hlinkClick r:id="rId2"/>
              </a:rPr>
              <a:t>SIAM Journal on Computing</a:t>
            </a: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2004</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rrowheads="1"/>
          </p:cNvSpPr>
          <p:nvPr>
            <p:ph type="title"/>
          </p:nvPr>
        </p:nvSpPr>
        <p:spPr>
          <a:xfrm>
            <a:off x="539750" y="404813"/>
            <a:ext cx="8077200" cy="12954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网络可靠性问题</a:t>
            </a:r>
            <a:br>
              <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br>
            <a:endPar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041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一个通讯网络怎样布局稳定性最好，而且费用最节省？</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美国的贝尔实验室和</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IBM</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公司都有世界一流的组合数学家在研究这个问题，这个问题直接关系到巨大的经济利益。</a:t>
            </a:r>
            <a:br>
              <a:rPr kumimoji="0" lang="en-US" altLang="zh-CN" sz="3200" b="0" i="0" u="none" strike="noStrike" kern="0" cap="none" spc="0" normalizeH="0" baseline="0" noProof="0">
                <a:ln>
                  <a:noFill/>
                </a:ln>
                <a:solidFill>
                  <a:srgbClr val="000000"/>
                </a:solidFill>
                <a:effectLst>
                  <a:outerShdw blurRad="38100" dist="38100" dir="2700000" algn="tl">
                    <a:srgbClr val="FFFFFF"/>
                  </a:outerShdw>
                </a:effectLst>
                <a:uLnTx/>
                <a:uFillTx/>
                <a:latin typeface="+mn-lt"/>
                <a:ea typeface="+mn-ea"/>
                <a:cs typeface="+mn-cs"/>
              </a:rPr>
            </a:br>
            <a:br>
              <a:rPr kumimoji="0" lang="en-US" altLang="zh-CN" sz="3200" b="0" i="0" u="none" strike="noStrike" kern="0" cap="none" spc="0" normalizeH="0" baseline="0" noProof="0">
                <a:ln>
                  <a:noFill/>
                </a:ln>
                <a:solidFill>
                  <a:srgbClr val="000000"/>
                </a:solidFill>
                <a:effectLst>
                  <a:outerShdw blurRad="38100" dist="38100" dir="2700000" algn="tl">
                    <a:srgbClr val="FFFFFF"/>
                  </a:outerShdw>
                </a:effectLst>
                <a:uLnTx/>
                <a:uFillTx/>
                <a:latin typeface="+mn-lt"/>
                <a:ea typeface="+mn-ea"/>
                <a:cs typeface="+mn-cs"/>
              </a:rPr>
            </a:br>
            <a:endParaRPr kumimoji="0" lang="en-US" altLang="zh-CN" sz="3200" b="0" i="0" u="none" strike="noStrike" kern="0" cap="none" spc="0" normalizeH="0" baseline="0" noProof="0">
              <a:ln>
                <a:noFill/>
              </a:ln>
              <a:solidFill>
                <a:srgbClr val="000000"/>
              </a:solidFill>
              <a:effectLst>
                <a:outerShdw blurRad="38100" dist="38100" dir="2700000" algn="tl">
                  <a:srgbClr val="FFFFFF"/>
                </a:outerShdw>
              </a:effectLst>
              <a:uLnTx/>
              <a:uFillTx/>
              <a:latin typeface="+mn-lt"/>
              <a:ea typeface="+mn-ea"/>
              <a:cs typeface="+mn-cs"/>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rrowheads="1"/>
          </p:cNvSpPr>
          <p:nvPr>
            <p:ph type="title"/>
          </p:nvPr>
        </p:nvSpPr>
        <p:spPr>
          <a:xfrm>
            <a:off x="539750" y="333375"/>
            <a:ext cx="8229600"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最短网络问题</a:t>
            </a:r>
            <a:br>
              <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br>
            <a:endPar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9939" name="Rectangle 3"/>
          <p:cNvSpPr>
            <a:spLocks noGrp="1"/>
          </p:cNvSpPr>
          <p:nvPr>
            <p:ph type="body" sz="half" idx="1"/>
          </p:nvPr>
        </p:nvSpPr>
        <p:spPr>
          <a:xfrm>
            <a:off x="457200" y="1600200"/>
            <a:ext cx="8156575" cy="1998663"/>
          </a:xfrm>
        </p:spPr>
        <p:txBody>
          <a:bodyPr vert="horz" wrap="square" lIns="91440" tIns="45720" rIns="91440" bIns="45720" anchor="t" anchorCtr="0"/>
          <a:lstStyle/>
          <a:p>
            <a:pPr eaLnBrk="1" hangingPunct="1">
              <a:buClr>
                <a:schemeClr val="hlink"/>
              </a:buClr>
              <a:buSzPct val="70000"/>
              <a:buFont typeface="Wingdings" panose="05000000000000000000" pitchFamily="2" charset="2"/>
            </a:pPr>
            <a:r>
              <a:rPr lang="zh-CN" altLang="en-US" sz="2400" dirty="0">
                <a:effectLst/>
                <a:latin typeface="宋体" pitchFamily="2" charset="-122"/>
              </a:rPr>
              <a:t>如何用最短的线路将三部电话连起来？</a:t>
            </a:r>
            <a:endParaRPr lang="en-US" altLang="zh-CN" sz="2400" dirty="0">
              <a:effectLst/>
              <a:latin typeface="宋体" pitchFamily="2" charset="-122"/>
            </a:endParaRPr>
          </a:p>
          <a:p>
            <a:pPr eaLnBrk="1" hangingPunct="1">
              <a:buClr>
                <a:schemeClr val="hlink"/>
              </a:buClr>
              <a:buSzPct val="70000"/>
              <a:buFont typeface="Wingdings" panose="05000000000000000000" pitchFamily="2" charset="2"/>
            </a:pPr>
            <a:r>
              <a:rPr lang="zh-CN" altLang="en-US" sz="2400" dirty="0">
                <a:effectLst/>
                <a:latin typeface="宋体" pitchFamily="2" charset="-122"/>
              </a:rPr>
              <a:t>此问题可抽象为设</a:t>
            </a:r>
            <a:r>
              <a:rPr lang="en-US" altLang="zh-CN" sz="2400" dirty="0">
                <a:effectLst/>
                <a:latin typeface="宋体" pitchFamily="2" charset="-122"/>
              </a:rPr>
              <a:t>△</a:t>
            </a:r>
            <a:r>
              <a:rPr lang="en-US" altLang="zh-CN" sz="2400" dirty="0">
                <a:effectLst/>
                <a:latin typeface="Verdana" panose="020B0604030504040204" pitchFamily="34" charset="0"/>
              </a:rPr>
              <a:t>ABC</a:t>
            </a:r>
            <a:r>
              <a:rPr lang="zh-CN" altLang="en-US" sz="2400" dirty="0">
                <a:effectLst/>
                <a:latin typeface="宋体" pitchFamily="2" charset="-122"/>
              </a:rPr>
              <a:t>为等边三角形，，连接三顶点的路线（称为网络）。这种网络有许多个，其中最短路线者显然是二边之和（如</a:t>
            </a:r>
            <a:r>
              <a:rPr lang="en-US" altLang="zh-CN" sz="2400" dirty="0">
                <a:effectLst/>
                <a:latin typeface="Verdana" panose="020B0604030504040204" pitchFamily="34" charset="0"/>
              </a:rPr>
              <a:t>AB</a:t>
            </a:r>
            <a:r>
              <a:rPr lang="en-US" altLang="zh-CN" sz="2400" dirty="0">
                <a:effectLst/>
                <a:latin typeface="宋体" pitchFamily="2" charset="-122"/>
              </a:rPr>
              <a:t>∪</a:t>
            </a:r>
            <a:r>
              <a:rPr lang="en-US" altLang="zh-CN" sz="2400" dirty="0">
                <a:effectLst/>
                <a:latin typeface="Verdana" panose="020B0604030504040204" pitchFamily="34" charset="0"/>
              </a:rPr>
              <a:t>AC</a:t>
            </a:r>
            <a:r>
              <a:rPr lang="zh-CN" altLang="en-US" sz="2400" dirty="0">
                <a:effectLst/>
                <a:latin typeface="宋体" pitchFamily="2" charset="-122"/>
              </a:rPr>
              <a:t>）。</a:t>
            </a:r>
            <a:endParaRPr lang="zh-CN" altLang="en-US" sz="2400" dirty="0">
              <a:effectLst/>
            </a:endParaRPr>
          </a:p>
        </p:txBody>
      </p:sp>
      <p:pic>
        <p:nvPicPr>
          <p:cNvPr id="39940" name="Picture 5" descr="j0283524"/>
          <p:cNvPicPr>
            <a:picLocks noChangeAspect="1"/>
          </p:cNvPicPr>
          <p:nvPr/>
        </p:nvPicPr>
        <p:blipFill>
          <a:blip r:embed="rId2" cstate="print"/>
          <a:stretch>
            <a:fillRect/>
          </a:stretch>
        </p:blipFill>
        <p:spPr>
          <a:xfrm>
            <a:off x="1066800" y="4724400"/>
            <a:ext cx="952500" cy="933450"/>
          </a:xfrm>
          <a:prstGeom prst="rect">
            <a:avLst/>
          </a:prstGeom>
          <a:noFill/>
          <a:ln w="9525">
            <a:noFill/>
          </a:ln>
        </p:spPr>
      </p:pic>
      <p:pic>
        <p:nvPicPr>
          <p:cNvPr id="39941" name="Picture 6" descr="j0283527"/>
          <p:cNvPicPr>
            <a:picLocks noChangeAspect="1"/>
          </p:cNvPicPr>
          <p:nvPr/>
        </p:nvPicPr>
        <p:blipFill>
          <a:blip r:embed="rId3" cstate="print"/>
          <a:stretch>
            <a:fillRect/>
          </a:stretch>
        </p:blipFill>
        <p:spPr>
          <a:xfrm>
            <a:off x="4191000" y="5105400"/>
            <a:ext cx="873125" cy="987425"/>
          </a:xfrm>
          <a:prstGeom prst="rect">
            <a:avLst/>
          </a:prstGeom>
          <a:noFill/>
          <a:ln w="9525">
            <a:noFill/>
          </a:ln>
        </p:spPr>
      </p:pic>
      <p:pic>
        <p:nvPicPr>
          <p:cNvPr id="39942" name="Picture 7" descr="j0303383"/>
          <p:cNvPicPr>
            <a:picLocks noChangeAspect="1"/>
          </p:cNvPicPr>
          <p:nvPr/>
        </p:nvPicPr>
        <p:blipFill>
          <a:blip r:embed="rId4" cstate="print"/>
          <a:stretch>
            <a:fillRect/>
          </a:stretch>
        </p:blipFill>
        <p:spPr>
          <a:xfrm>
            <a:off x="2590800" y="3657600"/>
            <a:ext cx="903288" cy="628650"/>
          </a:xfrm>
          <a:prstGeom prst="rect">
            <a:avLst/>
          </a:prstGeom>
          <a:noFill/>
          <a:ln w="9525">
            <a:noFill/>
          </a:ln>
        </p:spPr>
      </p:pic>
      <p:cxnSp>
        <p:nvCxnSpPr>
          <p:cNvPr id="39943" name="AutoShape 8"/>
          <p:cNvCxnSpPr/>
          <p:nvPr/>
        </p:nvCxnSpPr>
        <p:spPr>
          <a:xfrm>
            <a:off x="3494088" y="3971925"/>
            <a:ext cx="696912" cy="1627188"/>
          </a:xfrm>
          <a:prstGeom prst="curvedConnector3">
            <a:avLst>
              <a:gd name="adj1" fmla="val 49884"/>
            </a:avLst>
          </a:prstGeom>
          <a:ln w="19050" cap="flat" cmpd="sng">
            <a:solidFill>
              <a:schemeClr val="tx1"/>
            </a:solidFill>
            <a:prstDash val="solid"/>
            <a:headEnd type="none" w="med" len="med"/>
            <a:tailEnd type="none" w="med" len="med"/>
          </a:ln>
        </p:spPr>
      </p:cxnSp>
      <p:sp>
        <p:nvSpPr>
          <p:cNvPr id="131081" name="Line 9"/>
          <p:cNvSpPr>
            <a:spLocks noChangeShapeType="1"/>
          </p:cNvSpPr>
          <p:nvPr/>
        </p:nvSpPr>
        <p:spPr bwMode="auto">
          <a:xfrm flipH="1">
            <a:off x="6372225" y="3789363"/>
            <a:ext cx="990600" cy="1676400"/>
          </a:xfrm>
          <a:prstGeom prst="line">
            <a:avLst/>
          </a:prstGeom>
          <a:noFill/>
          <a:ln w="9525">
            <a:solidFill>
              <a:srgbClr val="FF3300"/>
            </a:solidFill>
            <a:roun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31082" name="Line 10"/>
          <p:cNvSpPr>
            <a:spLocks noChangeShapeType="1"/>
          </p:cNvSpPr>
          <p:nvPr/>
        </p:nvSpPr>
        <p:spPr bwMode="auto">
          <a:xfrm>
            <a:off x="6400800" y="5486400"/>
            <a:ext cx="1905000" cy="0"/>
          </a:xfrm>
          <a:prstGeom prst="line">
            <a:avLst/>
          </a:prstGeom>
          <a:noFill/>
          <a:ln w="9525">
            <a:solidFill>
              <a:schemeClr val="tx1"/>
            </a:solidFill>
            <a:roun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31083" name="Line 11"/>
          <p:cNvSpPr>
            <a:spLocks noChangeShapeType="1"/>
          </p:cNvSpPr>
          <p:nvPr/>
        </p:nvSpPr>
        <p:spPr bwMode="auto">
          <a:xfrm>
            <a:off x="7315200" y="3810000"/>
            <a:ext cx="990600" cy="1676400"/>
          </a:xfrm>
          <a:prstGeom prst="line">
            <a:avLst/>
          </a:prstGeom>
          <a:noFill/>
          <a:ln w="9525">
            <a:solidFill>
              <a:srgbClr val="FF3300"/>
            </a:solidFill>
            <a:roun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cxnSp>
        <p:nvCxnSpPr>
          <p:cNvPr id="39947" name="AutoShape 12"/>
          <p:cNvCxnSpPr/>
          <p:nvPr/>
        </p:nvCxnSpPr>
        <p:spPr>
          <a:xfrm rot="-10800000" flipV="1">
            <a:off x="2019300" y="3971925"/>
            <a:ext cx="571500" cy="1219200"/>
          </a:xfrm>
          <a:prstGeom prst="curvedConnector3">
            <a:avLst>
              <a:gd name="adj1" fmla="val 50000"/>
            </a:avLst>
          </a:prstGeom>
          <a:ln w="19050" cap="flat" cmpd="sng">
            <a:solidFill>
              <a:schemeClr val="tx1"/>
            </a:solidFill>
            <a:prstDash val="solid"/>
            <a:headEnd type="none" w="med" len="med"/>
            <a:tailEnd type="none" w="med" len="med"/>
          </a:ln>
        </p:spPr>
      </p:cxnSp>
      <p:sp>
        <p:nvSpPr>
          <p:cNvPr id="39948" name="Text Box 13"/>
          <p:cNvSpPr txBox="1"/>
          <p:nvPr/>
        </p:nvSpPr>
        <p:spPr>
          <a:xfrm>
            <a:off x="7086600" y="3429000"/>
            <a:ext cx="609600" cy="457200"/>
          </a:xfrm>
          <a:prstGeom prst="rect">
            <a:avLst/>
          </a:prstGeom>
          <a:noFill/>
          <a:ln w="9525">
            <a:noFill/>
          </a:ln>
        </p:spPr>
        <p:txBody>
          <a:bodyPr>
            <a:spAutoFit/>
          </a:bodyPr>
          <a:lstStyle/>
          <a:p>
            <a:pPr>
              <a:spcBef>
                <a:spcPct val="50000"/>
              </a:spcBef>
            </a:pPr>
            <a:r>
              <a:rPr lang="en-US" altLang="zh-CN" sz="2400" baseline="0" dirty="0">
                <a:latin typeface="Times New Roman" panose="02020603050405020304" pitchFamily="18" charset="0"/>
              </a:rPr>
              <a:t>A</a:t>
            </a:r>
          </a:p>
        </p:txBody>
      </p:sp>
      <p:sp>
        <p:nvSpPr>
          <p:cNvPr id="39949" name="Text Box 14"/>
          <p:cNvSpPr txBox="1"/>
          <p:nvPr/>
        </p:nvSpPr>
        <p:spPr>
          <a:xfrm>
            <a:off x="5867400" y="5257800"/>
            <a:ext cx="381000" cy="457200"/>
          </a:xfrm>
          <a:prstGeom prst="rect">
            <a:avLst/>
          </a:prstGeom>
          <a:noFill/>
          <a:ln w="9525">
            <a:noFill/>
          </a:ln>
        </p:spPr>
        <p:txBody>
          <a:bodyPr>
            <a:spAutoFit/>
          </a:bodyPr>
          <a:lstStyle/>
          <a:p>
            <a:pPr>
              <a:spcBef>
                <a:spcPct val="50000"/>
              </a:spcBef>
            </a:pPr>
            <a:r>
              <a:rPr lang="en-US" altLang="zh-CN" sz="2400" baseline="0" dirty="0">
                <a:latin typeface="Times New Roman" panose="02020603050405020304" pitchFamily="18" charset="0"/>
              </a:rPr>
              <a:t>B</a:t>
            </a:r>
          </a:p>
        </p:txBody>
      </p:sp>
      <p:sp>
        <p:nvSpPr>
          <p:cNvPr id="39950" name="Text Box 15"/>
          <p:cNvSpPr txBox="1"/>
          <p:nvPr/>
        </p:nvSpPr>
        <p:spPr>
          <a:xfrm>
            <a:off x="8153400" y="5410200"/>
            <a:ext cx="609600" cy="457200"/>
          </a:xfrm>
          <a:prstGeom prst="rect">
            <a:avLst/>
          </a:prstGeom>
          <a:noFill/>
          <a:ln w="9525">
            <a:noFill/>
          </a:ln>
        </p:spPr>
        <p:txBody>
          <a:bodyPr>
            <a:spAutoFit/>
          </a:bodyPr>
          <a:lstStyle/>
          <a:p>
            <a:pPr>
              <a:spcBef>
                <a:spcPct val="50000"/>
              </a:spcBef>
            </a:pPr>
            <a:r>
              <a:rPr lang="en-US" altLang="zh-CN" sz="2400" baseline="0" dirty="0">
                <a:latin typeface="Times New Roman" panose="02020603050405020304" pitchFamily="18" charset="0"/>
              </a:rPr>
              <a:t>C</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最短网络问题</a:t>
            </a:r>
            <a:br>
              <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br>
            <a:endParaRPr kumimoji="0" lang="en-US" altLang="zh-CN"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32099" name="Rectangle 3"/>
          <p:cNvSpPr>
            <a:spLocks noGrp="1" noChangeArrowheads="1"/>
          </p:cNvSpPr>
          <p:nvPr>
            <p:ph type="body" sz="half" idx="1"/>
          </p:nvPr>
        </p:nvSpPr>
        <p:spPr>
          <a:xfrm>
            <a:off x="457200" y="1600200"/>
            <a:ext cx="8077200" cy="208121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rPr>
              <a:t>但若增加一个周转站（新点</a:t>
            </a:r>
            <a:r>
              <a:rPr kumimoji="0" lang="en-US" altLang="zh-CN" sz="2400" b="0" i="0" u="none" strike="noStrike" kern="0" cap="none" spc="0" normalizeH="0" baseline="0" noProof="0">
                <a:ln>
                  <a:noFill/>
                </a:ln>
                <a:solidFill>
                  <a:schemeClr val="tx1"/>
                </a:solidFill>
                <a:effectLst/>
                <a:uLnTx/>
                <a:uFillTx/>
                <a:latin typeface="Verdana" panose="020B0604030504040204" pitchFamily="34" charset="0"/>
                <a:ea typeface="+mn-ea"/>
                <a:cs typeface="+mn-cs"/>
              </a:rPr>
              <a:t>P</a:t>
            </a:r>
            <a:r>
              <a:rPr kumimoji="0" lang="zh-CN" altLang="en-US" sz="2400" b="0" i="0" u="none" strike="noStrike" kern="0" cap="none" spc="0" normalizeH="0" baseline="0" noProof="0">
                <a:ln>
                  <a:noFill/>
                </a:ln>
                <a:solidFill>
                  <a:schemeClr val="tx1"/>
                </a:solidFill>
                <a:effectLst/>
                <a:uLnTx/>
                <a:uFillTx/>
                <a:latin typeface="Verdana" panose="020B0604030504040204" pitchFamily="34" charset="0"/>
                <a:ea typeface="+mn-ea"/>
                <a:cs typeface="+mn-cs"/>
              </a:rPr>
              <a:t>）</a:t>
            </a:r>
            <a:r>
              <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rPr>
              <a:t>，连接</a:t>
            </a:r>
            <a:r>
              <a:rPr kumimoji="0" lang="en-US" altLang="zh-CN" sz="2400" b="0" i="0" u="none" strike="noStrike" kern="0" cap="none" spc="0" normalizeH="0" baseline="0" noProof="0">
                <a:ln>
                  <a:noFill/>
                </a:ln>
                <a:solidFill>
                  <a:schemeClr val="tx1"/>
                </a:solidFill>
                <a:effectLst/>
                <a:uLnTx/>
                <a:uFillTx/>
                <a:latin typeface="Verdana" panose="020B0604030504040204" pitchFamily="34" charset="0"/>
                <a:ea typeface="+mn-ea"/>
                <a:cs typeface="+mn-cs"/>
              </a:rPr>
              <a:t>4</a:t>
            </a:r>
            <a:r>
              <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rPr>
              <a:t>点的新网络的最短路线为</a:t>
            </a:r>
            <a:r>
              <a:rPr kumimoji="0" lang="en-US" altLang="zh-CN" sz="2400" b="0" i="0" u="none" strike="noStrike" kern="0" cap="none" spc="0" normalizeH="0" baseline="0" noProof="0">
                <a:ln>
                  <a:noFill/>
                </a:ln>
                <a:solidFill>
                  <a:schemeClr val="tx1"/>
                </a:solidFill>
                <a:effectLst/>
                <a:uLnTx/>
                <a:uFillTx/>
                <a:latin typeface="Verdana" panose="020B0604030504040204" pitchFamily="34" charset="0"/>
                <a:ea typeface="+mn-ea"/>
                <a:cs typeface="+mn-cs"/>
              </a:rPr>
              <a:t>PA</a:t>
            </a:r>
            <a:r>
              <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rPr>
              <a:t>＋</a:t>
            </a:r>
            <a:r>
              <a:rPr kumimoji="0" lang="en-US" altLang="zh-CN" sz="2400" b="0" i="0" u="none" strike="noStrike" kern="0" cap="none" spc="0" normalizeH="0" baseline="0" noProof="0">
                <a:ln>
                  <a:noFill/>
                </a:ln>
                <a:solidFill>
                  <a:schemeClr val="tx1"/>
                </a:solidFill>
                <a:effectLst/>
                <a:uLnTx/>
                <a:uFillTx/>
                <a:latin typeface="Verdana" panose="020B0604030504040204" pitchFamily="34" charset="0"/>
                <a:ea typeface="+mn-ea"/>
                <a:cs typeface="+mn-cs"/>
              </a:rPr>
              <a:t>PB</a:t>
            </a:r>
            <a:r>
              <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rPr>
              <a:t>＋</a:t>
            </a:r>
            <a:r>
              <a:rPr kumimoji="0" lang="en-US" altLang="zh-CN" sz="2400" b="0" i="0" u="none" strike="noStrike" kern="0" cap="none" spc="0" normalizeH="0" baseline="0" noProof="0">
                <a:ln>
                  <a:noFill/>
                </a:ln>
                <a:solidFill>
                  <a:schemeClr val="tx1"/>
                </a:solidFill>
                <a:effectLst/>
                <a:uLnTx/>
                <a:uFillTx/>
                <a:latin typeface="Verdana" panose="020B0604030504040204" pitchFamily="34" charset="0"/>
                <a:ea typeface="+mn-ea"/>
                <a:cs typeface="+mn-cs"/>
              </a:rPr>
              <a:t>PC</a:t>
            </a:r>
            <a:r>
              <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rPr>
              <a:t>。最短新路径之长</a:t>
            </a:r>
            <a:r>
              <a:rPr kumimoji="0" lang="en-US" altLang="zh-CN" sz="2400" b="0" i="0" u="none" strike="noStrike" kern="0" cap="none" spc="0" normalizeH="0" baseline="0" noProof="0">
                <a:ln>
                  <a:noFill/>
                </a:ln>
                <a:solidFill>
                  <a:schemeClr val="tx1"/>
                </a:solidFill>
                <a:effectLst/>
                <a:uLnTx/>
                <a:uFillTx/>
                <a:latin typeface="Verdana" panose="020B0604030504040204" pitchFamily="34" charset="0"/>
                <a:ea typeface="+mn-ea"/>
                <a:cs typeface="+mn-cs"/>
              </a:rPr>
              <a:t>N</a:t>
            </a:r>
            <a:r>
              <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rPr>
              <a:t>比原来只连三点的最短路径</a:t>
            </a:r>
            <a:r>
              <a:rPr kumimoji="0" lang="en-US" altLang="zh-CN" sz="2400" b="0" i="0" u="none" strike="noStrike" kern="0" cap="none" spc="0" normalizeH="0" baseline="0" noProof="0">
                <a:ln>
                  <a:noFill/>
                </a:ln>
                <a:solidFill>
                  <a:schemeClr val="tx1"/>
                </a:solidFill>
                <a:effectLst/>
                <a:uLnTx/>
                <a:uFillTx/>
                <a:latin typeface="Verdana" panose="020B0604030504040204" pitchFamily="34" charset="0"/>
                <a:ea typeface="+mn-ea"/>
                <a:cs typeface="+mn-cs"/>
              </a:rPr>
              <a:t>O</a:t>
            </a:r>
            <a:r>
              <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rPr>
              <a:t>要短。</a:t>
            </a:r>
            <a:endParaRPr kumimoji="0" lang="en-US" altLang="zh-CN" sz="2400" b="0" i="0" u="none" strike="noStrike" kern="0" cap="none" spc="0" normalizeH="0" baseline="0" noProof="0">
              <a:ln>
                <a:noFill/>
              </a:ln>
              <a:solidFill>
                <a:schemeClr val="tx1"/>
              </a:solidFill>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uLnTx/>
                <a:uFillTx/>
                <a:latin typeface="宋体" pitchFamily="2" charset="-122"/>
                <a:ea typeface="+mn-ea"/>
                <a:cs typeface="+mn-cs"/>
              </a:rPr>
              <a:t>这样得到的网络不仅比原来节省材料，而且稳定性也更好。</a:t>
            </a:r>
            <a:r>
              <a:rPr kumimoji="0" lang="en-US" altLang="zh-CN" sz="2400" b="0" i="0" u="none" strike="noStrike" kern="0" cap="none" spc="0" normalizeH="0" baseline="0" noProof="0">
                <a:ln>
                  <a:noFill/>
                </a:ln>
                <a:solidFill>
                  <a:srgbClr val="000000"/>
                </a:solidFill>
                <a:effectLst>
                  <a:outerShdw blurRad="38100" dist="38100" dir="2700000" algn="tl">
                    <a:srgbClr val="FFFFFF"/>
                  </a:outerShdw>
                </a:effectLst>
                <a:uLnTx/>
                <a:uFillTx/>
                <a:latin typeface="宋体" pitchFamily="2" charset="-122"/>
                <a:ea typeface="+mn-ea"/>
                <a:cs typeface="+mn-cs"/>
              </a:rPr>
              <a:t>                                   </a:t>
            </a:r>
          </a:p>
        </p:txBody>
      </p:sp>
      <p:pic>
        <p:nvPicPr>
          <p:cNvPr id="40964" name="Picture 4" descr="j0283524"/>
          <p:cNvPicPr>
            <a:picLocks noChangeAspect="1"/>
          </p:cNvPicPr>
          <p:nvPr/>
        </p:nvPicPr>
        <p:blipFill>
          <a:blip r:embed="rId2" cstate="print"/>
          <a:stretch>
            <a:fillRect/>
          </a:stretch>
        </p:blipFill>
        <p:spPr>
          <a:xfrm>
            <a:off x="1295400" y="5181600"/>
            <a:ext cx="990600" cy="971550"/>
          </a:xfrm>
          <a:prstGeom prst="rect">
            <a:avLst/>
          </a:prstGeom>
          <a:noFill/>
          <a:ln w="9525">
            <a:noFill/>
          </a:ln>
        </p:spPr>
      </p:pic>
      <p:pic>
        <p:nvPicPr>
          <p:cNvPr id="40965" name="Picture 5" descr="j0283527"/>
          <p:cNvPicPr>
            <a:picLocks noChangeAspect="1"/>
          </p:cNvPicPr>
          <p:nvPr/>
        </p:nvPicPr>
        <p:blipFill>
          <a:blip r:embed="rId3" cstate="print"/>
          <a:stretch>
            <a:fillRect/>
          </a:stretch>
        </p:blipFill>
        <p:spPr>
          <a:xfrm>
            <a:off x="4495800" y="5029200"/>
            <a:ext cx="944563" cy="1066800"/>
          </a:xfrm>
          <a:prstGeom prst="rect">
            <a:avLst/>
          </a:prstGeom>
          <a:noFill/>
          <a:ln w="9525">
            <a:noFill/>
          </a:ln>
        </p:spPr>
      </p:pic>
      <p:pic>
        <p:nvPicPr>
          <p:cNvPr id="40966" name="Picture 6" descr="j0303383"/>
          <p:cNvPicPr>
            <a:picLocks noChangeAspect="1"/>
          </p:cNvPicPr>
          <p:nvPr/>
        </p:nvPicPr>
        <p:blipFill>
          <a:blip r:embed="rId4" cstate="print"/>
          <a:stretch>
            <a:fillRect/>
          </a:stretch>
        </p:blipFill>
        <p:spPr>
          <a:xfrm>
            <a:off x="2590800" y="3581400"/>
            <a:ext cx="903288" cy="628650"/>
          </a:xfrm>
          <a:prstGeom prst="rect">
            <a:avLst/>
          </a:prstGeom>
          <a:noFill/>
          <a:ln w="9525">
            <a:noFill/>
          </a:ln>
        </p:spPr>
      </p:pic>
      <p:cxnSp>
        <p:nvCxnSpPr>
          <p:cNvPr id="40967" name="AutoShape 7"/>
          <p:cNvCxnSpPr/>
          <p:nvPr/>
        </p:nvCxnSpPr>
        <p:spPr>
          <a:xfrm rot="-10800000" flipV="1">
            <a:off x="1295400" y="3895725"/>
            <a:ext cx="1295400" cy="1771650"/>
          </a:xfrm>
          <a:prstGeom prst="curvedConnector3">
            <a:avLst>
              <a:gd name="adj1" fmla="val 117648"/>
            </a:avLst>
          </a:prstGeom>
          <a:ln w="19050" cap="flat" cmpd="sng">
            <a:solidFill>
              <a:schemeClr val="tx1"/>
            </a:solidFill>
            <a:prstDash val="solid"/>
            <a:headEnd type="none" w="med" len="med"/>
            <a:tailEnd type="none" w="med" len="med"/>
          </a:ln>
        </p:spPr>
      </p:cxnSp>
      <p:cxnSp>
        <p:nvCxnSpPr>
          <p:cNvPr id="40968" name="AutoShape 8"/>
          <p:cNvCxnSpPr/>
          <p:nvPr/>
        </p:nvCxnSpPr>
        <p:spPr>
          <a:xfrm>
            <a:off x="3494088" y="3895725"/>
            <a:ext cx="1001712" cy="1666875"/>
          </a:xfrm>
          <a:prstGeom prst="curvedConnector3">
            <a:avLst>
              <a:gd name="adj1" fmla="val 49921"/>
            </a:avLst>
          </a:prstGeom>
          <a:ln w="19050" cap="flat" cmpd="sng">
            <a:solidFill>
              <a:schemeClr val="tx1"/>
            </a:solidFill>
            <a:prstDash val="solid"/>
            <a:headEnd type="none" w="med" len="med"/>
            <a:tailEnd type="none" w="med" len="med"/>
          </a:ln>
        </p:spPr>
      </p:cxnSp>
      <p:pic>
        <p:nvPicPr>
          <p:cNvPr id="40969" name="Picture 9" descr="BS00580_"/>
          <p:cNvPicPr>
            <a:picLocks noChangeAspect="1"/>
          </p:cNvPicPr>
          <p:nvPr/>
        </p:nvPicPr>
        <p:blipFill>
          <a:blip r:embed="rId5" cstate="print"/>
          <a:stretch>
            <a:fillRect/>
          </a:stretch>
        </p:blipFill>
        <p:spPr>
          <a:xfrm>
            <a:off x="2514600" y="4876800"/>
            <a:ext cx="914400" cy="769938"/>
          </a:xfrm>
          <a:prstGeom prst="rect">
            <a:avLst/>
          </a:prstGeom>
          <a:noFill/>
          <a:ln w="9525">
            <a:noFill/>
          </a:ln>
        </p:spPr>
      </p:pic>
      <p:cxnSp>
        <p:nvCxnSpPr>
          <p:cNvPr id="40970" name="AutoShape 10"/>
          <p:cNvCxnSpPr/>
          <p:nvPr/>
        </p:nvCxnSpPr>
        <p:spPr>
          <a:xfrm rot="5400000">
            <a:off x="2673350" y="4506913"/>
            <a:ext cx="666750" cy="71437"/>
          </a:xfrm>
          <a:prstGeom prst="curvedConnector3">
            <a:avLst>
              <a:gd name="adj1" fmla="val 50000"/>
            </a:avLst>
          </a:prstGeom>
          <a:ln w="19050" cap="flat" cmpd="sng">
            <a:solidFill>
              <a:schemeClr val="tx1"/>
            </a:solidFill>
            <a:prstDash val="solid"/>
            <a:headEnd type="none" w="med" len="med"/>
            <a:tailEnd type="none" w="med" len="med"/>
          </a:ln>
        </p:spPr>
      </p:cxnSp>
      <p:cxnSp>
        <p:nvCxnSpPr>
          <p:cNvPr id="40971" name="AutoShape 11"/>
          <p:cNvCxnSpPr/>
          <p:nvPr/>
        </p:nvCxnSpPr>
        <p:spPr>
          <a:xfrm>
            <a:off x="3429000" y="5262563"/>
            <a:ext cx="1539875" cy="833437"/>
          </a:xfrm>
          <a:prstGeom prst="curvedConnector4">
            <a:avLst>
              <a:gd name="adj1" fmla="val 34639"/>
              <a:gd name="adj2" fmla="val 127431"/>
            </a:avLst>
          </a:prstGeom>
          <a:ln w="19050" cap="flat" cmpd="sng">
            <a:solidFill>
              <a:schemeClr val="tx1"/>
            </a:solidFill>
            <a:prstDash val="solid"/>
            <a:headEnd type="none" w="med" len="med"/>
            <a:tailEnd type="none" w="med" len="med"/>
          </a:ln>
        </p:spPr>
      </p:cxnSp>
      <p:cxnSp>
        <p:nvCxnSpPr>
          <p:cNvPr id="40972" name="AutoShape 12"/>
          <p:cNvCxnSpPr/>
          <p:nvPr/>
        </p:nvCxnSpPr>
        <p:spPr>
          <a:xfrm rot="-10800000" flipV="1">
            <a:off x="1790700" y="5262563"/>
            <a:ext cx="723900" cy="890587"/>
          </a:xfrm>
          <a:prstGeom prst="curvedConnector4">
            <a:avLst>
              <a:gd name="adj1" fmla="val 15792"/>
              <a:gd name="adj2" fmla="val 125667"/>
            </a:avLst>
          </a:prstGeom>
          <a:ln w="19050" cap="flat" cmpd="sng">
            <a:solidFill>
              <a:schemeClr val="tx1"/>
            </a:solidFill>
            <a:prstDash val="solid"/>
            <a:headEnd type="none" w="med" len="med"/>
            <a:tailEnd type="none" w="med" len="med"/>
          </a:ln>
        </p:spPr>
      </p:cxnSp>
      <p:sp>
        <p:nvSpPr>
          <p:cNvPr id="132109" name="Line 13"/>
          <p:cNvSpPr>
            <a:spLocks noChangeShapeType="1"/>
          </p:cNvSpPr>
          <p:nvPr/>
        </p:nvSpPr>
        <p:spPr bwMode="auto">
          <a:xfrm flipH="1">
            <a:off x="5638800" y="3657600"/>
            <a:ext cx="1295400" cy="2362200"/>
          </a:xfrm>
          <a:prstGeom prst="line">
            <a:avLst/>
          </a:prstGeom>
          <a:noFill/>
          <a:ln w="9525">
            <a:solidFill>
              <a:schemeClr val="tx1"/>
            </a:solidFill>
            <a:roun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32110" name="Line 14"/>
          <p:cNvSpPr>
            <a:spLocks noChangeShapeType="1"/>
          </p:cNvSpPr>
          <p:nvPr/>
        </p:nvSpPr>
        <p:spPr bwMode="auto">
          <a:xfrm>
            <a:off x="6934200" y="3657600"/>
            <a:ext cx="1447800" cy="2362200"/>
          </a:xfrm>
          <a:prstGeom prst="line">
            <a:avLst/>
          </a:prstGeom>
          <a:noFill/>
          <a:ln w="9525">
            <a:solidFill>
              <a:schemeClr val="tx1"/>
            </a:solidFill>
            <a:roun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32111" name="Line 15"/>
          <p:cNvSpPr>
            <a:spLocks noChangeShapeType="1"/>
          </p:cNvSpPr>
          <p:nvPr/>
        </p:nvSpPr>
        <p:spPr bwMode="auto">
          <a:xfrm>
            <a:off x="5638800" y="6019800"/>
            <a:ext cx="2819400" cy="0"/>
          </a:xfrm>
          <a:prstGeom prst="line">
            <a:avLst/>
          </a:prstGeom>
          <a:noFill/>
          <a:ln w="9525">
            <a:solidFill>
              <a:schemeClr val="tx1"/>
            </a:solidFill>
            <a:roun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32112" name="Line 16"/>
          <p:cNvSpPr>
            <a:spLocks noChangeShapeType="1"/>
          </p:cNvSpPr>
          <p:nvPr/>
        </p:nvSpPr>
        <p:spPr bwMode="auto">
          <a:xfrm>
            <a:off x="6934200" y="3657600"/>
            <a:ext cx="76200" cy="1447800"/>
          </a:xfrm>
          <a:prstGeom prst="line">
            <a:avLst/>
          </a:prstGeom>
          <a:noFill/>
          <a:ln w="9525">
            <a:solidFill>
              <a:srgbClr val="FF3300"/>
            </a:solidFill>
            <a:roun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32113" name="Line 17"/>
          <p:cNvSpPr>
            <a:spLocks noChangeShapeType="1"/>
          </p:cNvSpPr>
          <p:nvPr/>
        </p:nvSpPr>
        <p:spPr bwMode="auto">
          <a:xfrm flipH="1">
            <a:off x="5638800" y="5105400"/>
            <a:ext cx="1371600" cy="914400"/>
          </a:xfrm>
          <a:prstGeom prst="line">
            <a:avLst/>
          </a:prstGeom>
          <a:noFill/>
          <a:ln w="9525">
            <a:solidFill>
              <a:srgbClr val="FF3300"/>
            </a:solidFill>
            <a:roun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132114" name="Line 18"/>
          <p:cNvSpPr>
            <a:spLocks noChangeShapeType="1"/>
          </p:cNvSpPr>
          <p:nvPr/>
        </p:nvSpPr>
        <p:spPr bwMode="auto">
          <a:xfrm>
            <a:off x="7010400" y="5105400"/>
            <a:ext cx="1371600" cy="914400"/>
          </a:xfrm>
          <a:prstGeom prst="line">
            <a:avLst/>
          </a:prstGeom>
          <a:noFill/>
          <a:ln w="9525">
            <a:solidFill>
              <a:srgbClr val="FF3300"/>
            </a:solidFill>
            <a:roun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
        <p:nvSpPr>
          <p:cNvPr id="40979" name="Text Box 19"/>
          <p:cNvSpPr txBox="1"/>
          <p:nvPr/>
        </p:nvSpPr>
        <p:spPr>
          <a:xfrm>
            <a:off x="6858000" y="3352800"/>
            <a:ext cx="685800" cy="457200"/>
          </a:xfrm>
          <a:prstGeom prst="rect">
            <a:avLst/>
          </a:prstGeom>
          <a:noFill/>
          <a:ln w="9525">
            <a:noFill/>
          </a:ln>
        </p:spPr>
        <p:txBody>
          <a:bodyPr>
            <a:spAutoFit/>
          </a:bodyPr>
          <a:lstStyle/>
          <a:p>
            <a:pPr>
              <a:spcBef>
                <a:spcPct val="50000"/>
              </a:spcBef>
            </a:pPr>
            <a:r>
              <a:rPr lang="en-US" altLang="zh-CN" sz="2400" baseline="0" dirty="0">
                <a:latin typeface="Times New Roman" panose="02020603050405020304" pitchFamily="18" charset="0"/>
              </a:rPr>
              <a:t>A</a:t>
            </a:r>
          </a:p>
        </p:txBody>
      </p:sp>
      <p:sp>
        <p:nvSpPr>
          <p:cNvPr id="40980" name="Text Box 20"/>
          <p:cNvSpPr txBox="1"/>
          <p:nvPr/>
        </p:nvSpPr>
        <p:spPr>
          <a:xfrm>
            <a:off x="5410200" y="5943600"/>
            <a:ext cx="381000" cy="457200"/>
          </a:xfrm>
          <a:prstGeom prst="rect">
            <a:avLst/>
          </a:prstGeom>
          <a:noFill/>
          <a:ln w="9525">
            <a:noFill/>
          </a:ln>
        </p:spPr>
        <p:txBody>
          <a:bodyPr>
            <a:spAutoFit/>
          </a:bodyPr>
          <a:lstStyle/>
          <a:p>
            <a:pPr>
              <a:spcBef>
                <a:spcPct val="50000"/>
              </a:spcBef>
            </a:pPr>
            <a:r>
              <a:rPr lang="en-US" altLang="zh-CN" sz="2400" baseline="0" dirty="0">
                <a:latin typeface="Times New Roman" panose="02020603050405020304" pitchFamily="18" charset="0"/>
              </a:rPr>
              <a:t>B</a:t>
            </a:r>
          </a:p>
        </p:txBody>
      </p:sp>
      <p:sp>
        <p:nvSpPr>
          <p:cNvPr id="40981" name="Text Box 21"/>
          <p:cNvSpPr txBox="1"/>
          <p:nvPr/>
        </p:nvSpPr>
        <p:spPr>
          <a:xfrm>
            <a:off x="8153400" y="5943600"/>
            <a:ext cx="685800" cy="457200"/>
          </a:xfrm>
          <a:prstGeom prst="rect">
            <a:avLst/>
          </a:prstGeom>
          <a:noFill/>
          <a:ln w="9525">
            <a:noFill/>
          </a:ln>
        </p:spPr>
        <p:txBody>
          <a:bodyPr>
            <a:spAutoFit/>
          </a:bodyPr>
          <a:lstStyle/>
          <a:p>
            <a:pPr>
              <a:spcBef>
                <a:spcPct val="50000"/>
              </a:spcBef>
            </a:pPr>
            <a:r>
              <a:rPr lang="en-US" altLang="zh-CN" sz="2400" baseline="0" dirty="0">
                <a:latin typeface="Times New Roman" panose="02020603050405020304" pitchFamily="18" charset="0"/>
              </a:rPr>
              <a:t>C</a:t>
            </a:r>
          </a:p>
        </p:txBody>
      </p:sp>
      <p:sp>
        <p:nvSpPr>
          <p:cNvPr id="40982" name="Text Box 22"/>
          <p:cNvSpPr txBox="1"/>
          <p:nvPr/>
        </p:nvSpPr>
        <p:spPr>
          <a:xfrm>
            <a:off x="6858000" y="5257800"/>
            <a:ext cx="381000" cy="457200"/>
          </a:xfrm>
          <a:prstGeom prst="rect">
            <a:avLst/>
          </a:prstGeom>
          <a:noFill/>
          <a:ln w="9525">
            <a:noFill/>
          </a:ln>
        </p:spPr>
        <p:txBody>
          <a:bodyPr>
            <a:spAutoFit/>
          </a:bodyPr>
          <a:lstStyle/>
          <a:p>
            <a:pPr>
              <a:spcBef>
                <a:spcPct val="50000"/>
              </a:spcBef>
            </a:pPr>
            <a:r>
              <a:rPr lang="en-US" altLang="zh-CN" sz="2400" baseline="0" dirty="0">
                <a:latin typeface="Times New Roman" panose="02020603050405020304" pitchFamily="18" charset="0"/>
              </a:rPr>
              <a:t>P</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j-ea"/>
                <a:cs typeface="+mj-cs"/>
              </a:rPr>
              <a:t>Pollak</a:t>
            </a: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宋体" charset="0"/>
                <a:ea typeface="+mj-ea"/>
                <a:cs typeface="+mj-cs"/>
              </a:rPr>
              <a:t>－</a:t>
            </a:r>
            <a:r>
              <a:rPr kumimoji="0" lang="en-US" altLang="zh-CN" sz="4400" b="1"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j-ea"/>
                <a:cs typeface="+mj-cs"/>
              </a:rPr>
              <a:t>Gilbert</a:t>
            </a: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宋体" charset="0"/>
                <a:ea typeface="+mj-ea"/>
                <a:cs typeface="+mj-cs"/>
              </a:rPr>
              <a:t>猜想</a:t>
            </a:r>
          </a:p>
        </p:txBody>
      </p:sp>
      <p:sp>
        <p:nvSpPr>
          <p:cNvPr id="13312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由于最短网络在运输、通讯和计算机等现代经济与科技领域中都有重要的应用，对这个问题的研究也越来越深入。问题的对象已由三个点扩展到任意有限个点集。</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j-ea"/>
                <a:cs typeface="+mj-cs"/>
              </a:rPr>
              <a:t>Pollak</a:t>
            </a: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宋体" charset="0"/>
                <a:ea typeface="+mj-ea"/>
                <a:cs typeface="+mj-cs"/>
              </a:rPr>
              <a:t>－</a:t>
            </a:r>
            <a:r>
              <a:rPr kumimoji="0" lang="en-US" altLang="zh-CN" sz="4400" b="1"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j-ea"/>
                <a:cs typeface="+mj-cs"/>
              </a:rPr>
              <a:t>Gilbert</a:t>
            </a: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宋体" charset="0"/>
                <a:ea typeface="+mj-ea"/>
                <a:cs typeface="+mj-cs"/>
              </a:rPr>
              <a:t>猜想</a:t>
            </a:r>
            <a:endPar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endParaRPr>
          </a:p>
        </p:txBody>
      </p:sp>
      <p:sp>
        <p:nvSpPr>
          <p:cNvPr id="13414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1" i="0" u="none" strike="noStrike" kern="0" cap="none" spc="0" normalizeH="0" baseline="0" noProof="0">
                <a:ln>
                  <a:noFill/>
                </a:ln>
                <a:solidFill>
                  <a:srgbClr val="FF3300"/>
                </a:solidFill>
                <a:effectLst>
                  <a:outerShdw blurRad="38100" dist="38100" dir="2700000" algn="tl">
                    <a:srgbClr val="000000"/>
                  </a:outerShdw>
                </a:effectLst>
                <a:uLnTx/>
                <a:uFillTx/>
                <a:latin typeface="宋体" pitchFamily="2" charset="-122"/>
                <a:ea typeface="+mn-ea"/>
                <a:cs typeface="+mn-cs"/>
              </a:rPr>
              <a:t>斯坦纳（</a:t>
            </a:r>
            <a:r>
              <a:rPr kumimoji="0" lang="en-US" altLang="zh-CN" sz="3200" b="1" i="0" u="none" strike="noStrike" kern="0" cap="none" spc="0" normalizeH="0" baseline="0" noProof="0">
                <a:ln>
                  <a:noFill/>
                </a:ln>
                <a:solidFill>
                  <a:srgbClr val="FF3300"/>
                </a:solidFill>
                <a:effectLst>
                  <a:outerShdw blurRad="38100" dist="38100" dir="2700000" algn="tl">
                    <a:srgbClr val="000000"/>
                  </a:outerShdw>
                </a:effectLst>
                <a:uLnTx/>
                <a:uFillTx/>
                <a:latin typeface="宋体" pitchFamily="2" charset="-122"/>
                <a:ea typeface="+mn-ea"/>
                <a:cs typeface="+mn-cs"/>
              </a:rPr>
              <a:t>Steiner</a:t>
            </a:r>
            <a:r>
              <a:rPr kumimoji="0" lang="zh-CN" altLang="en-US" sz="3200" b="1" i="0" u="none" strike="noStrike" kern="0" cap="none" spc="0" normalizeH="0" baseline="0" noProof="0">
                <a:ln>
                  <a:noFill/>
                </a:ln>
                <a:solidFill>
                  <a:srgbClr val="FF3300"/>
                </a:solidFill>
                <a:effectLst>
                  <a:outerShdw blurRad="38100" dist="38100" dir="2700000" algn="tl">
                    <a:srgbClr val="000000"/>
                  </a:outerShdw>
                </a:effectLst>
                <a:uLnTx/>
                <a:uFillTx/>
                <a:latin typeface="宋体" pitchFamily="2" charset="-122"/>
                <a:ea typeface="+mn-ea"/>
                <a:cs typeface="+mn-cs"/>
              </a:rPr>
              <a:t>）最小树</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是可以在给定的点之外再增加若干个点</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称为</a:t>
            </a:r>
            <a:r>
              <a:rPr kumimoji="0" lang="zh-CN" altLang="en-US" sz="3200" b="1" i="0" u="none" strike="noStrike" kern="0" cap="none" spc="0" normalizeH="0" baseline="0" noProof="0">
                <a:ln>
                  <a:noFill/>
                </a:ln>
                <a:solidFill>
                  <a:srgbClr val="FF3300"/>
                </a:solidFill>
                <a:effectLst>
                  <a:outerShdw blurRad="38100" dist="38100" dir="2700000" algn="tl">
                    <a:srgbClr val="000000"/>
                  </a:outerShdw>
                </a:effectLst>
                <a:uLnTx/>
                <a:uFillTx/>
                <a:latin typeface="宋体" pitchFamily="2" charset="-122"/>
                <a:ea typeface="+mn-ea"/>
                <a:cs typeface="+mn-cs"/>
              </a:rPr>
              <a:t>斯坦纳点</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，然后将所有这些点连起来。</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如果不允许增加任何额外的点作为网络的顶点，这种最短网络称为</a:t>
            </a:r>
            <a:r>
              <a:rPr kumimoji="0" lang="zh-CN" altLang="en-US" sz="3200" b="1" i="0" u="none" strike="noStrike" kern="0" cap="none" spc="0" normalizeH="0" baseline="0" noProof="0">
                <a:ln>
                  <a:noFill/>
                </a:ln>
                <a:solidFill>
                  <a:srgbClr val="FF3300"/>
                </a:solidFill>
                <a:effectLst>
                  <a:outerShdw blurRad="38100" dist="38100" dir="2700000" algn="tl">
                    <a:srgbClr val="000000"/>
                  </a:outerShdw>
                </a:effectLst>
                <a:uLnTx/>
                <a:uFillTx/>
                <a:latin typeface="宋体" pitchFamily="2" charset="-122"/>
                <a:ea typeface="+mn-ea"/>
                <a:cs typeface="+mn-cs"/>
              </a:rPr>
              <a:t>最小生成树</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在前面的例子中</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Steiner</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最小树的长为</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 </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而最小生成树的长为</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2</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a:t>
            </a:r>
          </a:p>
        </p:txBody>
      </p:sp>
      <p:graphicFrame>
        <p:nvGraphicFramePr>
          <p:cNvPr id="3074" name="Object 4"/>
          <p:cNvGraphicFramePr>
            <a:graphicFrameLocks/>
          </p:cNvGraphicFramePr>
          <p:nvPr/>
        </p:nvGraphicFramePr>
        <p:xfrm>
          <a:off x="7596188" y="4221163"/>
          <a:ext cx="649287" cy="649287"/>
        </p:xfrm>
        <a:graphic>
          <a:graphicData uri="http://schemas.openxmlformats.org/presentationml/2006/ole">
            <mc:AlternateContent xmlns:mc="http://schemas.openxmlformats.org/markup-compatibility/2006">
              <mc:Choice xmlns:v="urn:schemas-microsoft-com:vml" Requires="v">
                <p:oleObj name="Equation" r:id="rId2" imgW="228600" imgH="228600" progId="Equation.DSMT4">
                  <p:embed/>
                </p:oleObj>
              </mc:Choice>
              <mc:Fallback>
                <p:oleObj name="Equation" r:id="rId2" imgW="228600" imgH="228600" progId="Equation.DSMT4">
                  <p:embed/>
                  <p:pic>
                    <p:nvPicPr>
                      <p:cNvPr id="0" name="Picture 1" descr="image24"/>
                      <p:cNvPicPr>
                        <a:picLocks noChangeArrowheads="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7596188" y="4221163"/>
                        <a:ext cx="649287"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j-ea"/>
                <a:cs typeface="+mj-cs"/>
              </a:rPr>
              <a:t>Pollak</a:t>
            </a: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宋体" charset="0"/>
                <a:ea typeface="+mj-ea"/>
                <a:cs typeface="+mj-cs"/>
              </a:rPr>
              <a:t>－</a:t>
            </a:r>
            <a:r>
              <a:rPr kumimoji="0" lang="en-US" altLang="zh-CN" sz="4400" b="1"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j-ea"/>
                <a:cs typeface="+mj-cs"/>
              </a:rPr>
              <a:t>Gilbert</a:t>
            </a: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宋体" charset="0"/>
                <a:ea typeface="+mj-ea"/>
                <a:cs typeface="+mj-cs"/>
              </a:rPr>
              <a:t>猜想</a:t>
            </a:r>
            <a:endPar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mj-lt"/>
              <a:ea typeface="+mj-ea"/>
              <a:cs typeface="+mj-cs"/>
            </a:endParaRPr>
          </a:p>
        </p:txBody>
      </p:sp>
      <mc:AlternateContent xmlns:mc="http://schemas.openxmlformats.org/markup-compatibility/2006" xmlns:a14="http://schemas.microsoft.com/office/drawing/2010/main">
        <mc:Choice Requires="a14">
          <p:sp>
            <p:nvSpPr>
              <p:cNvPr id="135171"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itchFamily="2" charset="-122"/>
                    <a:ea typeface="+mn-ea"/>
                    <a:cs typeface="+mn-cs"/>
                  </a:rPr>
                  <a:t>1968</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itchFamily="2" charset="-122"/>
                    <a:ea typeface="+mn-ea"/>
                    <a:cs typeface="+mn-cs"/>
                  </a:rPr>
                  <a:t>年贝尔实验室数学中心主任</a:t>
                </a:r>
                <a:r>
                  <a:rPr kumimoji="0" lang="zh-CN" altLang="en-US" sz="3200" b="0" i="0" u="none" strike="noStrike" kern="0" cap="none" spc="0" normalizeH="0" baseline="0" noProof="0" dirty="0">
                    <a:ln>
                      <a:noFill/>
                    </a:ln>
                    <a:solidFill>
                      <a:schemeClr val="hlink"/>
                    </a:solidFill>
                    <a:effectLst>
                      <a:outerShdw blurRad="38100" dist="38100" dir="2700000" algn="tl">
                        <a:srgbClr val="000000"/>
                      </a:outerShdw>
                    </a:effectLst>
                    <a:uLnTx/>
                    <a:uFillTx/>
                    <a:latin typeface="宋体" pitchFamily="2" charset="-122"/>
                    <a:ea typeface="+mn-ea"/>
                    <a:cs typeface="+mn-cs"/>
                  </a:rPr>
                  <a:t>波雷克</a:t>
                </a:r>
                <a:r>
                  <a:rPr kumimoji="0" lang="en-US" altLang="zh-CN" sz="3200" b="0" i="0" u="none" strike="noStrike" kern="0" cap="none" spc="0" normalizeH="0" baseline="0" noProof="0" dirty="0">
                    <a:ln>
                      <a:noFill/>
                    </a:ln>
                    <a:solidFill>
                      <a:schemeClr val="hlink"/>
                    </a:solidFill>
                    <a:effectLst>
                      <a:outerShdw blurRad="38100" dist="38100" dir="2700000" algn="tl">
                        <a:srgbClr val="000000"/>
                      </a:outerShdw>
                    </a:effectLst>
                    <a:uLnTx/>
                    <a:uFillTx/>
                    <a:latin typeface="宋体" pitchFamily="2" charset="-122"/>
                    <a:ea typeface="+mn-ea"/>
                    <a:cs typeface="+mn-cs"/>
                  </a:rPr>
                  <a:t>(</a:t>
                </a:r>
                <a:r>
                  <a:rPr kumimoji="0" lang="en-US" altLang="zh-CN" sz="3200" b="0" i="0" u="none" strike="noStrike" kern="0" cap="none" spc="0" normalizeH="0" baseline="0" noProof="0" dirty="0" err="1">
                    <a:ln>
                      <a:noFill/>
                    </a:ln>
                    <a:solidFill>
                      <a:schemeClr val="hlink"/>
                    </a:solidFill>
                    <a:effectLst>
                      <a:outerShdw blurRad="38100" dist="38100" dir="2700000" algn="tl">
                        <a:srgbClr val="000000"/>
                      </a:outerShdw>
                    </a:effectLst>
                    <a:uLnTx/>
                    <a:uFillTx/>
                    <a:latin typeface="宋体" pitchFamily="2" charset="-122"/>
                    <a:ea typeface="+mn-ea"/>
                    <a:cs typeface="+mn-cs"/>
                  </a:rPr>
                  <a:t>Pollak</a:t>
                </a:r>
                <a:r>
                  <a:rPr kumimoji="0" lang="en-US" altLang="zh-CN" sz="3200" b="0" i="0" u="none" strike="noStrike" kern="0" cap="none" spc="0" normalizeH="0" baseline="0" noProof="0" dirty="0">
                    <a:ln>
                      <a:noFill/>
                    </a:ln>
                    <a:solidFill>
                      <a:schemeClr val="hlink"/>
                    </a:solidFill>
                    <a:effectLst>
                      <a:outerShdw blurRad="38100" dist="38100" dir="2700000" algn="tl">
                        <a:srgbClr val="000000"/>
                      </a:outerShdw>
                    </a:effectLst>
                    <a:uLnTx/>
                    <a:uFillTx/>
                    <a:latin typeface="宋体" pitchFamily="2" charset="-122"/>
                    <a:ea typeface="+mn-ea"/>
                    <a:cs typeface="+mn-cs"/>
                  </a:rPr>
                  <a: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itchFamily="2" charset="-122"/>
                    <a:ea typeface="+mn-ea"/>
                    <a:cs typeface="+mn-cs"/>
                  </a:rPr>
                  <a:t>和研究员</a:t>
                </a:r>
                <a:r>
                  <a:rPr kumimoji="0" lang="zh-CN" altLang="en-US" sz="3200" b="0" i="0" u="none" strike="noStrike" kern="0" cap="none" spc="0" normalizeH="0" baseline="0" noProof="0" dirty="0">
                    <a:ln>
                      <a:noFill/>
                    </a:ln>
                    <a:solidFill>
                      <a:schemeClr val="hlink"/>
                    </a:solidFill>
                    <a:effectLst>
                      <a:outerShdw blurRad="38100" dist="38100" dir="2700000" algn="tl">
                        <a:srgbClr val="000000"/>
                      </a:outerShdw>
                    </a:effectLst>
                    <a:uLnTx/>
                    <a:uFillTx/>
                    <a:latin typeface="宋体" pitchFamily="2" charset="-122"/>
                    <a:ea typeface="+mn-ea"/>
                    <a:cs typeface="+mn-cs"/>
                  </a:rPr>
                  <a:t>吉尔伯特</a:t>
                </a:r>
                <a:r>
                  <a:rPr kumimoji="0" lang="en-US" altLang="zh-CN" sz="3200" b="0" i="0" u="none" strike="noStrike" kern="0" cap="none" spc="0" normalizeH="0" baseline="0" noProof="0" dirty="0">
                    <a:ln>
                      <a:noFill/>
                    </a:ln>
                    <a:solidFill>
                      <a:schemeClr val="hlink"/>
                    </a:solidFill>
                    <a:effectLst>
                      <a:outerShdw blurRad="38100" dist="38100" dir="2700000" algn="tl">
                        <a:srgbClr val="000000"/>
                      </a:outerShdw>
                    </a:effectLst>
                    <a:uLnTx/>
                    <a:uFillTx/>
                    <a:latin typeface="宋体" pitchFamily="2" charset="-122"/>
                    <a:ea typeface="+mn-ea"/>
                    <a:cs typeface="+mn-cs"/>
                  </a:rPr>
                  <a:t>(Gilbert)</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itchFamily="2" charset="-122"/>
                    <a:ea typeface="+mn-ea"/>
                    <a:cs typeface="+mn-cs"/>
                  </a:rPr>
                  <a:t>提出如下猜想：</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itchFamily="2" charset="-122"/>
                    <a:ea typeface="+mn-ea"/>
                    <a:cs typeface="+mn-cs"/>
                  </a:rPr>
                  <a:t>平面上任意</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n</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itchFamily="2" charset="-122"/>
                    <a:ea typeface="+mn-ea"/>
                    <a:cs typeface="+mn-cs"/>
                  </a:rPr>
                  <a:t>点集，斯坦纳最小树长与最小生成树之长的比值的最小值是</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itchFamily="2" charset="-122"/>
                    <a:ea typeface="+mn-ea"/>
                    <a:cs typeface="+mn-cs"/>
                  </a:rPr>
                  <a:t> </a:t>
                </a:r>
                <a14:m>
                  <m:oMath xmlns:m="http://schemas.openxmlformats.org/officeDocument/2006/math">
                    <m:f>
                      <m:fPr>
                        <m:ctrlPr>
                          <a:rPr kumimoji="0" lang="en-US" altLang="zh-CN" sz="3200" b="0" i="1" u="none" strike="noStrike" kern="0" cap="none" spc="0" normalizeH="0" baseline="0" noProof="0" smtClean="0">
                            <a:ln>
                              <a:noFill/>
                            </a:ln>
                            <a:solidFill>
                              <a:schemeClr val="tx1"/>
                            </a:solidFill>
                            <a:effectLst>
                              <a:outerShdw blurRad="38100" dist="38100" dir="2700000" algn="tl">
                                <a:srgbClr val="000000"/>
                              </a:outerShdw>
                            </a:effectLst>
                            <a:uLnTx/>
                            <a:uFillTx/>
                            <a:latin typeface="Cambria Math" panose="02040503050406030204" pitchFamily="18" charset="0"/>
                            <a:ea typeface="+mn-ea"/>
                            <a:cs typeface="+mn-cs"/>
                          </a:rPr>
                        </m:ctrlPr>
                      </m:fPr>
                      <m:num>
                        <m:rad>
                          <m:radPr>
                            <m:degHide m:val="on"/>
                            <m:ctrlPr>
                              <a:rPr kumimoji="0" lang="en-US" altLang="zh-CN" sz="3200" b="0" i="1" u="none" strike="noStrike" kern="0" cap="none" spc="0" normalizeH="0" baseline="0" noProof="0" smtClean="0">
                                <a:ln>
                                  <a:noFill/>
                                </a:ln>
                                <a:solidFill>
                                  <a:schemeClr val="tx1"/>
                                </a:solidFill>
                                <a:effectLst>
                                  <a:outerShdw blurRad="38100" dist="38100" dir="2700000" algn="tl">
                                    <a:srgbClr val="000000"/>
                                  </a:outerShdw>
                                </a:effectLst>
                                <a:uLnTx/>
                                <a:uFillTx/>
                                <a:latin typeface="Cambria Math" panose="02040503050406030204" pitchFamily="18" charset="0"/>
                                <a:ea typeface="+mn-ea"/>
                                <a:cs typeface="+mn-cs"/>
                              </a:rPr>
                            </m:ctrlPr>
                          </m:radPr>
                          <m:deg/>
                          <m:e>
                            <m:r>
                              <a:rPr kumimoji="0" lang="en-US" altLang="zh-CN" sz="3200" b="0" i="1" u="none" strike="noStrike" kern="0" cap="none" spc="0" normalizeH="0" baseline="0" noProof="0" smtClean="0">
                                <a:ln>
                                  <a:noFill/>
                                </a:ln>
                                <a:solidFill>
                                  <a:schemeClr val="tx1"/>
                                </a:solidFill>
                                <a:effectLst>
                                  <a:outerShdw blurRad="38100" dist="38100" dir="2700000" algn="tl">
                                    <a:srgbClr val="000000"/>
                                  </a:outerShdw>
                                </a:effectLst>
                                <a:uLnTx/>
                                <a:uFillTx/>
                                <a:latin typeface="Cambria Math"/>
                                <a:ea typeface="+mn-ea"/>
                                <a:cs typeface="+mn-cs"/>
                              </a:rPr>
                              <m:t>3</m:t>
                            </m:r>
                          </m:e>
                        </m:rad>
                      </m:num>
                      <m:den>
                        <m:r>
                          <a:rPr kumimoji="0" lang="en-US" altLang="zh-CN" sz="3200" b="0" i="1" u="none" strike="noStrike" kern="0" cap="none" spc="0" normalizeH="0" baseline="0" noProof="0" smtClean="0">
                            <a:ln>
                              <a:noFill/>
                            </a:ln>
                            <a:solidFill>
                              <a:schemeClr val="tx1"/>
                            </a:solidFill>
                            <a:effectLst>
                              <a:outerShdw blurRad="38100" dist="38100" dir="2700000" algn="tl">
                                <a:srgbClr val="000000"/>
                              </a:outerShdw>
                            </a:effectLst>
                            <a:uLnTx/>
                            <a:uFillTx/>
                            <a:latin typeface="Cambria Math"/>
                            <a:ea typeface="+mn-ea"/>
                            <a:cs typeface="+mn-cs"/>
                          </a:rPr>
                          <m:t>2</m:t>
                        </m:r>
                      </m:den>
                    </m:f>
                  </m:oMath>
                </a14:m>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itchFamily="2" charset="-122"/>
                    <a:ea typeface="+mn-ea"/>
                    <a:cs typeface="+mn-cs"/>
                  </a:rPr>
                  <a:t>。</a:t>
                </a:r>
                <a:endPar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itchFamily="2" charset="-122"/>
                    <a:ea typeface="+mn-ea"/>
                    <a:cs typeface="+mn-cs"/>
                  </a:rPr>
                  <a:t>   </a:t>
                </a: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itchFamily="2" charset="-122"/>
                    <a:ea typeface="+mn-ea"/>
                    <a:cs typeface="+mn-cs"/>
                  </a:rPr>
                  <a:t>这个猜想又被称为</a:t>
                </a:r>
                <a:r>
                  <a:rPr kumimoji="0" lang="zh-CN" altLang="en-US" sz="3200" b="1" i="0" u="none" strike="noStrike" kern="0" cap="none" spc="0" normalizeH="0" baseline="0" noProof="0" dirty="0">
                    <a:ln>
                      <a:noFill/>
                    </a:ln>
                    <a:solidFill>
                      <a:srgbClr val="FF3300"/>
                    </a:solidFill>
                    <a:effectLst>
                      <a:outerShdw blurRad="38100" dist="38100" dir="2700000" algn="tl">
                        <a:srgbClr val="000000"/>
                      </a:outerShdw>
                    </a:effectLst>
                    <a:uLnTx/>
                    <a:uFillTx/>
                    <a:latin typeface="宋体" pitchFamily="2" charset="-122"/>
                    <a:ea typeface="+mn-ea"/>
                    <a:cs typeface="+mn-cs"/>
                  </a:rPr>
                  <a:t>斯坦纳比猜想</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宋体" pitchFamily="2" charset="-122"/>
                    <a:ea typeface="+mn-ea"/>
                    <a:cs typeface="+mn-cs"/>
                  </a:rPr>
                  <a:t>。　　</a:t>
                </a:r>
              </a:p>
            </p:txBody>
          </p:sp>
        </mc:Choice>
        <mc:Fallback xmlns="">
          <p:sp>
            <p:nvSpPr>
              <p:cNvPr id="135171" name="Rectangle 3"/>
              <p:cNvSpPr>
                <a:spLocks noGrp="1" noRot="1" noChangeAspect="1" noMove="1" noResize="1" noEditPoints="1" noAdjustHandles="1" noChangeArrowheads="1" noChangeShapeType="1" noTextEdit="1"/>
              </p:cNvSpPr>
              <p:nvPr>
                <p:ph idx="1"/>
              </p:nvPr>
            </p:nvSpPr>
            <p:spPr>
              <a:blipFill rotWithShape="1">
                <a:blip r:embed="rId2"/>
                <a:stretch>
                  <a:fillRect l="-963" t="-2022" r="-370"/>
                </a:stretch>
              </a:blipFill>
            </p:spPr>
            <p:txBody>
              <a:bodyPr/>
              <a:lstStyle/>
              <a:p>
                <a:r>
                  <a:rPr lang="zh-CN" altLang="en-US">
                    <a:noFill/>
                  </a:rPr>
                  <a:t> </a:t>
                </a:r>
              </a:p>
            </p:txBody>
          </p:sp>
        </mc:Fallback>
      </mc:AlternateContent>
      <p:sp>
        <p:nvSpPr>
          <p:cNvPr id="135172" name="Rectangle 4"/>
          <p:cNvSpPr>
            <a:spLocks noChangeArrowheads="1"/>
          </p:cNvSpPr>
          <p:nvPr/>
        </p:nvSpPr>
        <p:spPr bwMode="auto">
          <a:xfrm>
            <a:off x="3862388" y="3195638"/>
            <a:ext cx="9144000" cy="0"/>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0" i="0" u="none" strike="noStrike" kern="1200" cap="none" spc="0" normalizeH="0" baseline="-25000" noProof="0">
              <a:ln>
                <a:noFill/>
              </a:ln>
              <a:solidFill>
                <a:schemeClr val="tx1"/>
              </a:solidFill>
              <a:effectLst>
                <a:outerShdw blurRad="38100" dist="38100" dir="2700000" algn="tl">
                  <a:srgbClr val="000000">
                    <a:alpha val="43137"/>
                  </a:srgbClr>
                </a:outerShdw>
              </a:effectLst>
              <a:uLnTx/>
              <a:uFillTx/>
              <a:latin typeface="Garamond" pitchFamily="18" charset="0"/>
              <a:ea typeface="宋体" charset="0"/>
              <a:cs typeface="+mn-cs"/>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j-ea"/>
                <a:cs typeface="+mj-cs"/>
              </a:rPr>
              <a:t>Pollak</a:t>
            </a: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宋体" charset="0"/>
                <a:ea typeface="+mj-ea"/>
                <a:cs typeface="+mj-cs"/>
              </a:rPr>
              <a:t>－</a:t>
            </a:r>
            <a:r>
              <a:rPr kumimoji="0" lang="en-US" altLang="zh-CN" sz="4400" b="1"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j-ea"/>
                <a:cs typeface="+mj-cs"/>
              </a:rPr>
              <a:t>Gilbert</a:t>
            </a: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宋体" charset="0"/>
                <a:ea typeface="+mj-ea"/>
                <a:cs typeface="+mj-cs"/>
              </a:rPr>
              <a:t>猜想</a:t>
            </a:r>
          </a:p>
        </p:txBody>
      </p:sp>
      <p:sp>
        <p:nvSpPr>
          <p:cNvPr id="13619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Verdana" panose="020B0604030504040204" pitchFamily="34" charset="0"/>
                <a:ea typeface="+mn-ea"/>
                <a:cs typeface="+mn-cs"/>
              </a:rPr>
              <a:t>Pollak</a:t>
            </a: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Verdana" panose="020B0604030504040204" pitchFamily="34" charset="0"/>
                <a:ea typeface="+mn-ea"/>
                <a:cs typeface="+mn-cs"/>
              </a:rPr>
              <a:t>Gilbert</a:t>
            </a: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猜想</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起源于在美国贝尔电话公司发生的一个富有戏剧性的事件。</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1967</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年前，贝尔公司按照连结各分部的最小生成树的长度来收费。</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1967</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年一家航空公司戳了贝尔公司一个大洞。当时这家企业申请要求贝尔公司增加一些服务点，而这些服务点恰恰位于构造该公司各分部的斯坦纳最小树需增加的斯坦纳顶点上。这使得贝尔公司不仅要拉新线，增加服务网点，而且还要减少收费。这一意外事件迫使贝尔公司自此以后便采用了斯坦纳最小树原则</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 </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j-ea"/>
                <a:cs typeface="+mj-cs"/>
              </a:rPr>
              <a:t>Pollak</a:t>
            </a: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宋体" charset="0"/>
                <a:ea typeface="+mj-ea"/>
                <a:cs typeface="+mj-cs"/>
              </a:rPr>
              <a:t>－</a:t>
            </a:r>
            <a:r>
              <a:rPr kumimoji="0" lang="en-US" altLang="zh-CN" sz="4400" b="1"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j-ea"/>
                <a:cs typeface="+mj-cs"/>
              </a:rPr>
              <a:t>Gilbert</a:t>
            </a:r>
            <a:r>
              <a:rPr kumimoji="0" lang="zh-CN" altLang="en-US" sz="4400" b="1" i="0" u="none" strike="noStrike" kern="0" cap="none" spc="0" normalizeH="0" baseline="0" noProof="0">
                <a:ln>
                  <a:noFill/>
                </a:ln>
                <a:solidFill>
                  <a:schemeClr val="tx1"/>
                </a:solidFill>
                <a:effectLst>
                  <a:outerShdw blurRad="38100" dist="38100" dir="2700000" algn="tl">
                    <a:srgbClr val="000000"/>
                  </a:outerShdw>
                </a:effectLst>
                <a:uLnTx/>
                <a:uFillTx/>
                <a:latin typeface="宋体" charset="0"/>
                <a:ea typeface="+mj-ea"/>
                <a:cs typeface="+mj-cs"/>
              </a:rPr>
              <a:t>猜想</a:t>
            </a:r>
          </a:p>
        </p:txBody>
      </p:sp>
      <p:sp>
        <p:nvSpPr>
          <p:cNvPr id="13721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1990</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年，中科院应用数学所研究员</a:t>
            </a: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堵丁柱</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与美籍华人</a:t>
            </a: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黄光明</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合作，证明了</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Verdana" panose="020B0604030504040204" pitchFamily="34" charset="0"/>
                <a:ea typeface="+mn-ea"/>
                <a:cs typeface="+mn-cs"/>
              </a:rPr>
              <a:t>Pollak</a:t>
            </a: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Verdana" panose="020B0604030504040204" pitchFamily="34" charset="0"/>
                <a:ea typeface="+mn-ea"/>
                <a:cs typeface="+mn-cs"/>
              </a:rPr>
              <a:t>Gilbert</a:t>
            </a:r>
            <a:r>
              <a:rPr kumimoji="0" lang="zh-CN" altLang="en-US" sz="2800" b="0" i="0" u="none" strike="noStrike" kern="0" cap="none" spc="0" normalizeH="0" baseline="0" noProof="0">
                <a:ln>
                  <a:noFill/>
                </a:ln>
                <a:solidFill>
                  <a:schemeClr val="hlink"/>
                </a:solidFill>
                <a:effectLst>
                  <a:outerShdw blurRad="38100" dist="38100" dir="2700000" algn="tl">
                    <a:srgbClr val="000000"/>
                  </a:outerShdw>
                </a:effectLst>
                <a:uLnTx/>
                <a:uFillTx/>
                <a:latin typeface="宋体" pitchFamily="2" charset="-122"/>
                <a:ea typeface="+mn-ea"/>
                <a:cs typeface="+mn-cs"/>
              </a:rPr>
              <a:t>猜想</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。在美国离散数学界引起轰动，被列为</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mn-ea"/>
                <a:cs typeface="+mn-cs"/>
              </a:rPr>
              <a:t>1989—1990</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年度美国离散数学界与理论计算机科学界的两项重大成果之一。</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在</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不列颠百科全书</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1992</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年鉴</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的数学评论中，该成果被列为世界上当年六项数学成果首项。</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该成果被我国列为</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1992</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宋体" pitchFamily="2" charset="-122"/>
                <a:ea typeface="+mn-ea"/>
                <a:cs typeface="+mn-cs"/>
              </a:rPr>
              <a:t>年十大科技成就之一。</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无尺度网络</a:t>
            </a:r>
          </a:p>
        </p:txBody>
      </p:sp>
      <p:sp>
        <p:nvSpPr>
          <p:cNvPr id="25605" name="Rectangle 5"/>
          <p:cNvSpPr>
            <a:spLocks noGrp="1" noChangeArrowheads="1"/>
          </p:cNvSpPr>
          <p:nvPr>
            <p:ph idx="1"/>
          </p:nvPr>
        </p:nvSpPr>
        <p:spPr>
          <a:xfrm>
            <a:off x="457200" y="1600200"/>
            <a:ext cx="8229600" cy="4492625"/>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20</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世纪</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20</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年代，由</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Karinthy</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提出。</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1950</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年，</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Pool</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和</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Kochen</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提出这样一个问题：</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两个毫无关系的人，要让他们互相认识，至少要经过多少人？</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美国哈佛大学社会心理学家</a:t>
            </a:r>
            <a:r>
              <a:rPr kumimoji="0" lang="en-US" altLang="zh-CN" sz="28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S. Milgram</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1967</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年做过一项有趣的实验，据说他从内布拉斯加州的奥马哈随机选了</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300</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人，然后请他们每个人尝试寄一封信到波士顿的一位证券业务员。寄信的规则很简单，就是任何收信者只能把信寄给自己熟识的人。</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惊奇的结论</a:t>
            </a:r>
          </a:p>
        </p:txBody>
      </p:sp>
      <p:sp>
        <p:nvSpPr>
          <p:cNvPr id="29699" name="Rectangle 3"/>
          <p:cNvSpPr>
            <a:spLocks noGrp="1" noChangeArrowheads="1"/>
          </p:cNvSpPr>
          <p:nvPr>
            <p:ph idx="1"/>
          </p:nvPr>
        </p:nvSpPr>
        <p:spPr>
          <a:xfrm>
            <a:off x="468313" y="1628775"/>
            <a:ext cx="8229600"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en-US" altLang="zh-CN" sz="32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6</a:t>
            </a:r>
            <a:r>
              <a:rPr kumimoji="0" lang="zh-CN" altLang="en-US" sz="32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度分离</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对每个人来说，平均大约只需要通过６个人就能将信寄到目的地。</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研究无尺度网络，对于防备黑客攻击、防治流行病、和开发新药等，都具有重要的意义。</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1999</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年，</a:t>
            </a:r>
            <a:r>
              <a:rPr kumimoji="0" lang="en-US" altLang="zh-CN" sz="32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Barab´asi et al.</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发现在因特网上，任意两个网页间的链接最多为</a:t>
            </a:r>
            <a:r>
              <a:rPr kumimoji="0" lang="en-US" altLang="zh-CN" sz="3200" b="0" i="0" u="none" strike="noStrike" kern="0" cap="none" spc="0" normalizeH="0" baseline="0" noProof="0">
                <a:ln>
                  <a:noFill/>
                </a:ln>
                <a:solidFill>
                  <a:schemeClr val="hlink"/>
                </a:solidFill>
                <a:effectLst>
                  <a:outerShdw blurRad="38100" dist="38100" dir="2700000" algn="tl">
                    <a:srgbClr val="000000"/>
                  </a:outerShdw>
                </a:effectLst>
                <a:uLnTx/>
                <a:uFillTx/>
                <a:latin typeface="+mn-lt"/>
                <a:ea typeface="+mn-ea"/>
                <a:cs typeface="+mn-cs"/>
              </a:rPr>
              <a:t>19</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次。</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6" name="Rectangle 4"/>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无尺度网络的一个例子</a:t>
            </a:r>
          </a:p>
        </p:txBody>
      </p:sp>
      <p:pic>
        <p:nvPicPr>
          <p:cNvPr id="47107" name="Picture 3"/>
          <p:cNvPicPr>
            <a:picLocks noGrp="1" noChangeAspect="1"/>
          </p:cNvPicPr>
          <p:nvPr>
            <p:ph sz="half" idx="1"/>
          </p:nvPr>
        </p:nvPicPr>
        <p:blipFill>
          <a:blip r:embed="rId2" cstate="print"/>
          <a:srcRect/>
          <a:stretch>
            <a:fillRect/>
          </a:stretch>
        </p:blipFill>
        <p:spPr>
          <a:xfrm>
            <a:off x="611188" y="1916113"/>
            <a:ext cx="3513137" cy="3529012"/>
          </a:xfrm>
        </p:spPr>
      </p:pic>
      <p:sp>
        <p:nvSpPr>
          <p:cNvPr id="182277" name="Rectangle 5"/>
          <p:cNvSpPr>
            <a:spLocks noGrp="1" noChangeArrowheads="1"/>
          </p:cNvSpPr>
          <p:nvPr>
            <p:ph sz="half" idx="2"/>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因特网是一个无尺度网络，左图的星爆形结构描绘了从某一测试站点到其他约十万个站点的最短连结路径。图中以相同的颜色来表示相类似的站点。</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生物数学</a:t>
            </a:r>
          </a:p>
        </p:txBody>
      </p:sp>
      <p:sp>
        <p:nvSpPr>
          <p:cNvPr id="10137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目前，计算生物学、基因理论、生物信息学都是最前沿的研究领域。</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latin typeface="Arial" panose="020B0604020202090204" pitchFamily="34" charset="0"/>
                <a:ea typeface="+mn-ea"/>
                <a:cs typeface="+mn-cs"/>
              </a:rPr>
              <a:t> </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随着人类基因组计划的完成和其他基因计划的完成，所有公认的和潜在的蛋白质元都可以被确定，通过大规模的实验技术</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可以生成大量的生物学数据。</a:t>
            </a:r>
            <a:endParaRPr kumimoji="0" lang="en-US" altLang="zh-CN" sz="32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生物数学</a:t>
            </a:r>
          </a:p>
        </p:txBody>
      </p:sp>
      <p:sp>
        <p:nvSpPr>
          <p:cNvPr id="13824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如何处理这些数据来获得生物学的信息，这里</a:t>
            </a: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组合数学和随机图论都起到了关键的作用。</a:t>
            </a:r>
            <a:endPar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outerShdw blurRad="38100" dist="38100" dir="2700000" algn="tl">
                    <a:srgbClr val="000000"/>
                  </a:outerShdw>
                </a:effectLst>
                <a:uLnTx/>
                <a:uFillTx/>
                <a:ea typeface="+mn-ea"/>
                <a:cs typeface="+mn-cs"/>
              </a:rPr>
              <a:t>如果将基因看作网络中的顶点，将他们之间的作用看作网络中的边，那么每一次大规模实验将给我们带来关于基因交互作用网络的一些信息。这个网络的拓扑性质是科学家们关心的焦点（如每一个顶点的度和网络中的最小距离问题是两个初步的问题）。</a:t>
            </a:r>
            <a:r>
              <a:rPr kumimoji="0" lang="en-US" altLang="zh-CN" sz="28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rPr>
              <a:t> </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bg>
      <p:bgPr>
        <a:blipFill rotWithShape="0">
          <a:blip r:embed="rId2" cstate="print"/>
          <a:stretch>
            <a:fillRect/>
          </a:stretch>
        </a:blipFill>
        <a:effectLst/>
      </p:bgPr>
    </p:bg>
    <p:spTree>
      <p:nvGrpSpPr>
        <p:cNvPr id="1" name=""/>
        <p:cNvGrpSpPr/>
        <p:nvPr/>
      </p:nvGrpSpPr>
      <p:grpSpPr>
        <a:xfrm>
          <a:off x="0" y="0"/>
          <a:ext cx="0" cy="0"/>
          <a:chOff x="0" y="0"/>
          <a:chExt cx="0" cy="0"/>
        </a:xfrm>
      </p:grpSpPr>
      <p:sp>
        <p:nvSpPr>
          <p:cNvPr id="12800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endParaRPr kumimoji="0" lang="en-US" altLang="zh-CN" sz="7200" b="0" i="0" u="none" strike="noStrike" kern="0" cap="none" spc="0" normalizeH="0" baseline="0" noProof="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0" lang="zh-CN" altLang="en-US" sz="7200" b="0" i="0" u="none" strike="noStrike" kern="0" cap="none" spc="0" normalizeH="0" baseline="0" noProof="0">
                <a:ln>
                  <a:noFill/>
                </a:ln>
                <a:solidFill>
                  <a:srgbClr val="66FF33"/>
                </a:solidFill>
                <a:effectLst>
                  <a:outerShdw blurRad="38100" dist="38100" dir="2700000" algn="tl">
                    <a:srgbClr val="000000"/>
                  </a:outerShdw>
                </a:effectLst>
                <a:uLnTx/>
                <a:uFillTx/>
                <a:latin typeface="+mn-lt"/>
                <a:ea typeface="+mn-ea"/>
                <a:cs typeface="+mn-cs"/>
              </a:rPr>
              <a:t>　</a:t>
            </a:r>
            <a:r>
              <a:rPr kumimoji="0" lang="zh-CN" altLang="en-US" sz="8800" b="0" i="0" u="none" strike="noStrike" kern="0" cap="none" spc="0" normalizeH="0" baseline="0" noProof="0">
                <a:ln>
                  <a:noFill/>
                </a:ln>
                <a:solidFill>
                  <a:srgbClr val="FF9900"/>
                </a:solidFill>
                <a:effectLst>
                  <a:outerShdw blurRad="38100" dist="38100" dir="2700000" algn="tl">
                    <a:srgbClr val="000000"/>
                  </a:outerShdw>
                </a:effectLst>
                <a:uLnTx/>
                <a:uFillTx/>
                <a:latin typeface="+mn-lt"/>
                <a:ea typeface="+mn-ea"/>
                <a:cs typeface="+mn-cs"/>
              </a:rPr>
              <a:t>谢</a:t>
            </a:r>
            <a:r>
              <a:rPr kumimoji="0" lang="en-US" altLang="zh-CN" sz="8800" b="0" i="0" u="none" strike="noStrike" kern="0" cap="none" spc="0" normalizeH="0" baseline="0" noProof="0">
                <a:ln>
                  <a:noFill/>
                </a:ln>
                <a:solidFill>
                  <a:srgbClr val="FF9900"/>
                </a:solidFill>
                <a:effectLst>
                  <a:outerShdw blurRad="38100" dist="38100" dir="2700000" algn="tl">
                    <a:srgbClr val="000000"/>
                  </a:outerShdw>
                </a:effectLst>
                <a:uLnTx/>
                <a:uFillTx/>
                <a:latin typeface="+mn-lt"/>
                <a:ea typeface="+mn-ea"/>
                <a:cs typeface="+mn-cs"/>
              </a:rPr>
              <a:t>   </a:t>
            </a:r>
            <a:r>
              <a:rPr kumimoji="0" lang="zh-CN" altLang="en-US" sz="8800" b="0" i="0" u="none" strike="noStrike" kern="0" cap="none" spc="0" normalizeH="0" baseline="0" noProof="0">
                <a:ln>
                  <a:noFill/>
                </a:ln>
                <a:solidFill>
                  <a:srgbClr val="FF9900"/>
                </a:solidFill>
                <a:effectLst>
                  <a:outerShdw blurRad="38100" dist="38100" dir="2700000" algn="tl">
                    <a:srgbClr val="000000"/>
                  </a:outerShdw>
                </a:effectLst>
                <a:uLnTx/>
                <a:uFillTx/>
                <a:latin typeface="+mn-lt"/>
                <a:ea typeface="+mn-ea"/>
                <a:cs typeface="+mn-cs"/>
              </a:rPr>
              <a:t>谢</a:t>
            </a:r>
            <a:r>
              <a:rPr kumimoji="0" lang="en-US" altLang="zh-CN" sz="8800" b="0" i="0" u="none" strike="noStrike" kern="0" cap="none" spc="0" normalizeH="0" baseline="0" noProof="0">
                <a:ln>
                  <a:noFill/>
                </a:ln>
                <a:solidFill>
                  <a:srgbClr val="FF9900"/>
                </a:solidFill>
                <a:effectLst>
                  <a:outerShdw blurRad="38100" dist="38100" dir="2700000" algn="tl">
                    <a:srgbClr val="000000"/>
                  </a:outerShdw>
                </a:effectLst>
                <a:uLnTx/>
                <a:uFillTx/>
                <a:latin typeface="+mn-lt"/>
                <a:ea typeface="+mn-ea"/>
                <a:cs typeface="+mn-cs"/>
              </a:rPr>
              <a:t> !</a:t>
            </a:r>
          </a:p>
        </p:txBody>
      </p:sp>
    </p:spTree>
  </p:cSld>
  <p:clrMapOvr>
    <a:masterClrMapping/>
  </p:clrMapOvr>
  <p:transition/>
</p:sld>
</file>

<file path=ppt/theme/theme1.xml><?xml version="1.0" encoding="utf-8"?>
<a:theme xmlns:a="http://schemas.openxmlformats.org/drawingml/2006/main" name="Stream">
  <a:themeElements>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Stream">
      <a:majorFont>
        <a:latin typeface="Garamond"/>
        <a:ea typeface="宋体"/>
        <a:cs typeface="宋体"/>
      </a:majorFont>
      <a:minorFont>
        <a:latin typeface="Garamond"/>
        <a:ea typeface="宋体"/>
        <a:cs typeface="宋体"/>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3200" b="0" i="0" u="none" strike="noStrike" cap="none" normalizeH="0" baseline="-25000">
            <a:ln>
              <a:noFill/>
            </a:ln>
            <a:solidFill>
              <a:schemeClr val="tx1"/>
            </a:solidFill>
            <a:effectLst>
              <a:outerShdw blurRad="38100" dist="38100" dir="2700000" algn="tl">
                <a:srgbClr val="000000">
                  <a:alpha val="43137"/>
                </a:srgbClr>
              </a:outerShdw>
            </a:effectLst>
            <a:latin typeface="Garamond" pitchFamily="18" charset="0"/>
            <a:ea typeface="宋体" charset="0"/>
            <a:cs typeface="宋体"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3200" b="0" i="0" u="none" strike="noStrike" cap="none" normalizeH="0" baseline="-25000">
            <a:ln>
              <a:noFill/>
            </a:ln>
            <a:solidFill>
              <a:schemeClr val="tx1"/>
            </a:solidFill>
            <a:effectLst>
              <a:outerShdw blurRad="38100" dist="38100" dir="2700000" algn="tl">
                <a:srgbClr val="000000">
                  <a:alpha val="43137"/>
                </a:srgbClr>
              </a:outerShdw>
            </a:effectLst>
            <a:latin typeface="Garamond" pitchFamily="18" charset="0"/>
            <a:ea typeface="宋体" charset="0"/>
            <a:cs typeface="宋体" charset="0"/>
          </a:defRPr>
        </a:defPPr>
      </a:lstStyle>
    </a:lnDef>
  </a:objectDefaults>
  <a:extraClrSchemeLst>
    <a:extraClrScheme>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Stream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Stream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Stream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Stream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Stream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Stream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Stream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Stream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Stream</Template>
  <TotalTime>87</TotalTime>
  <Words>2902</Words>
  <Application>Microsoft Office PowerPoint</Application>
  <PresentationFormat>全屏显示(4:3)</PresentationFormat>
  <Paragraphs>205</Paragraphs>
  <Slides>44</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44</vt:i4>
      </vt:variant>
    </vt:vector>
  </HeadingPairs>
  <TitlesOfParts>
    <vt:vector size="59" baseType="lpstr">
      <vt:lpstr>黑体</vt:lpstr>
      <vt:lpstr>华文隶书</vt:lpstr>
      <vt:lpstr>楷体_GB2312</vt:lpstr>
      <vt:lpstr>宋体</vt:lpstr>
      <vt:lpstr>Arial</vt:lpstr>
      <vt:lpstr>Cambria Math</vt:lpstr>
      <vt:lpstr>Garamond</vt:lpstr>
      <vt:lpstr>Monotype Corsiva</vt:lpstr>
      <vt:lpstr>Times New Roman</vt:lpstr>
      <vt:lpstr>Verdana</vt:lpstr>
      <vt:lpstr>Wingdings</vt:lpstr>
      <vt:lpstr>Wingdings 2</vt:lpstr>
      <vt:lpstr>Stream</vt:lpstr>
      <vt:lpstr>Equation.DSMT4</vt:lpstr>
      <vt:lpstr>Equation</vt:lpstr>
      <vt:lpstr>浅谈组合数学 </vt:lpstr>
      <vt:lpstr>什么是数学？</vt:lpstr>
      <vt:lpstr>组合数学概述</vt:lpstr>
      <vt:lpstr>组合数学概述</vt:lpstr>
      <vt:lpstr>组合数学的历史</vt:lpstr>
      <vt:lpstr>幻方问题</vt:lpstr>
      <vt:lpstr>贾宪三角</vt:lpstr>
      <vt:lpstr>七桥问题</vt:lpstr>
      <vt:lpstr>Euler 定理</vt:lpstr>
      <vt:lpstr>         36 军官问题 (欧拉 1779)   The Great Frederic的阅兵难题-------欧拉的困惑    拉丁方阵:         (■8(1&amp;2@2&amp;1))    (■8(1&amp;2&amp;3@2&amp;3&amp;1@3&amp;1&amp;2))    (■8(1&amp;2&amp;4&amp;3@2&amp;3&amp;1&amp;4@3&amp;4&amp;2&amp;1@4&amp;1&amp;3&amp;2))</vt:lpstr>
      <vt:lpstr>Euler猜想</vt:lpstr>
      <vt:lpstr>组合数学的应用</vt:lpstr>
      <vt:lpstr>组合数学的应用</vt:lpstr>
      <vt:lpstr>PowerPoint 演示文稿</vt:lpstr>
      <vt:lpstr>组合数学的应用</vt:lpstr>
      <vt:lpstr>四色问题</vt:lpstr>
      <vt:lpstr>四色问题</vt:lpstr>
      <vt:lpstr>相识问题 </vt:lpstr>
      <vt:lpstr>相识问题</vt:lpstr>
      <vt:lpstr>Ramsey数</vt:lpstr>
      <vt:lpstr>PowerPoint 演示文稿</vt:lpstr>
      <vt:lpstr>Ramsey数R(p,q)</vt:lpstr>
      <vt:lpstr>机器证明——吴消元法</vt:lpstr>
      <vt:lpstr>机器证明——吴消元法</vt:lpstr>
      <vt:lpstr>稳定的婚姻问题</vt:lpstr>
      <vt:lpstr>稳定的婚姻问题</vt:lpstr>
      <vt:lpstr>稳定的婚姻问题 </vt:lpstr>
      <vt:lpstr>全一问题</vt:lpstr>
      <vt:lpstr>全一问题</vt:lpstr>
      <vt:lpstr>最小全一问题</vt:lpstr>
      <vt:lpstr>网络可靠性问题 </vt:lpstr>
      <vt:lpstr>最短网络问题 </vt:lpstr>
      <vt:lpstr>最短网络问题 </vt:lpstr>
      <vt:lpstr>Pollak－Gilbert猜想</vt:lpstr>
      <vt:lpstr>Pollak－Gilbert猜想</vt:lpstr>
      <vt:lpstr>Pollak－Gilbert猜想</vt:lpstr>
      <vt:lpstr>Pollak－Gilbert猜想</vt:lpstr>
      <vt:lpstr>Pollak－Gilbert猜想</vt:lpstr>
      <vt:lpstr>无尺度网络</vt:lpstr>
      <vt:lpstr>惊奇的结论</vt:lpstr>
      <vt:lpstr>无尺度网络的一个例子</vt:lpstr>
      <vt:lpstr>生物数学</vt:lpstr>
      <vt:lpstr>生物数学</vt:lpstr>
      <vt:lpstr>PowerPoint 演示文稿</vt:lpstr>
    </vt:vector>
  </TitlesOfParts>
  <Company>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组合数学的鼻祖</dc:title>
  <dc:creator>zhouyue</dc:creator>
  <cp:lastModifiedBy>Yiwen Hu (Student)</cp:lastModifiedBy>
  <cp:revision>201</cp:revision>
  <dcterms:created xsi:type="dcterms:W3CDTF">2024-06-30T03:25:39Z</dcterms:created>
  <dcterms:modified xsi:type="dcterms:W3CDTF">2024-07-02T04:30:47Z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DB96566CBF95698F2ECA8066AD0998CC_43</vt:lpwstr>
  </property>
  <property fmtid="{D5CDD505-2E9C-101B-9397-08002B2CF9AE}" pid="3" name="KSOProductBuildVer">
    <vt:lpwstr>2052-6.2.2.8394</vt:lpwstr>
  </property>
</Properties>
</file>